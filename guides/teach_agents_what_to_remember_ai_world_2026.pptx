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notesMasterIdLst>
    <p:notesMasterId r:id="rId8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hands-on session, so the first half is the mental model and the second half is the notebook. Three promises: by the end you can define agent memory from first principles, you can draw the architecture of a memory system and name every data flow in it, and you leave with a memory-aware agent harness running on Oracle AI Database. Say who you are in one line,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room before anything else. Hands up if you can define agent memory in one sentence. Keep them up if you have shipped it to production. Most hands go down on the second question, which is the point of the session. Then the agenda, and the definition comes back after the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one click each. Foundations first, because the words matter: most disagreements about memory are disagreements about definitions. Then the architecture, so that when we open the notebook every cell maps to a box on that diagram. Then the two disciplines and their techniques. Then Oracle AI Agent Memory, which packages those techniques. Then we build. Decision models at the end for anyone ahead of the room. Click: the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thing everyone in the room has felt. A model call has no memory of the last one. Click: the consequence. Anything the agent knows on this call is what we put in the window, so without memory it starts over every turn. Click: three costs. It rebuilds context, it forgets corrections, and it pays for the same tokens again. Agent memory is the answer to all three, and the rest of the session is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without memory, built one component at a time, with the cost on the right. Click: the user. Click: the harness that runs the loop. Click: the context window, and the harness replays everything into it. Click: the turns land one by one, and with each turn the bars rise: tokens sent on that turn in the top graph, the running bill in the bottom one. Let it play. Click: the model answers, and forgets; by turn ten each call is over five times the first, and the bill has grown faster than that because every turn pays for all the turns before it. The figures are illustrative: a 1.5k system prompt and about 1.6k tokens per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user, same harness, same window, same model: they slide across, and the graphs come with them, empty. Now add memory. Click: the memory manager receives messages and traces. Click: it writes typed memory to the database and recalls from it. Click: the harness builds the window, and the context card lands in it: a summary of the older turns, the relevant memories, and the recent turns verbatim. Click: the turns arrive one by one again. The older ones fold into the summary, the last three stay verbatim, and the bars barely move; the dashed outlines are the previous slide. Let it play. Click: the model answers and memory remembers; about 3.5k tokens a turn, flat, and a third of the bill over ten turns. Illustrative figures again, same assumptions as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loops side by side. Everything on the right is unchanged from the last slide; the left is the loop we started with. The parts are the same four components; memory adds a manager and a database, and changes what the harness puts in the window. Click: the two verdicts. The rest of the session is the right-hand panel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slowly. Agent memory is how an agent retains, reuses, refines and recalls what it learns, across turns, sessions and agents. Those four verbs are the 4 Rs and they come back as the first principle. Click: memory lives in more than one place. Parametric memory is in the weights, of the LLM or of a decision model, and only changes through fine-tuning. Working memory is the context window for this call; from an infrastructure view the KV cache, retained and reused, is memory too. Persistent memory lives in a database and survives across sessions and agents. Memory engineering is mostly about the third and how it feeds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places, visually and technically. Click: model weights, parametric memory. Read on every forward pass, implicitly; you cannot query a weight. Written by training or fine-tuning, a batch job. Frozen at inference, paid for once. Click: the context window, working memory. Read by attention over every token on every call. Written by the harness before each call: system prompt, tools, recalled memory, messages, the query, and the free space. Underneath it the KV cache keeps the prefix warm across calls. Cost is per input token, every call; that is the bill that grows. Click: the database, persistent memory. Read by a query: filter, search, rerank, budget. Written by extraction after a turn or an explicit save. Rows with a type, a scope, a TTL and provenance. Cheap, and the only one of the three you govern. Click: memory engineering is the movement between them. Next: the taxonomy of what goes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one branch at a time. Click: short-term memory, within a session. Click: its three kinds. Working memory is the LLM context window, what the model is actively using on this call. Session memory is the thread: the message history and state the harness keeps across calls within one session. The semantic cache answers repeated questions without a model call. Click: what they are made of: the context window and the KV cache underneath it; the message history and the state object. Session memory is not a kind of working memory: only a slice of it, the recent turns, is loaded into the window on each call. Click: long-term memory, across sessions, the three cognitive types, one at a time with what you build for each. Click: semantic, facts and knowledge: entity memory, a knowledge base, persona memory. Click: episodic, what happened: conversations and summaries. Click: procedural, how to act: workflows, and the toolbox and skillbox, which is where the tool schemas and skills live, and we come back to that as a technique. The three on the right are the ones memory engineering spends its time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bother, in the terms a budget owner uses. Tokenomics is the three things that show up on one invoice: cost, latency and accuracy. Click: cost. Agents that resend history pay for it on every call, and a fleet multiplies it. Click: latency. Prefill scales with the window, so more tokens in means a slower first token and a worse p95. Click: accuracy. Long context is not memory: LongMemEval, ICLR 2025, found commercial assistants and long-context models drop about 30% on memory tasks over sustained interactions. Click: the gate. Memory is enterprise data and has to behave like it, or it does not ship. Click: memory moves all four, which is why everyone is converging on it. The next slide draws the cost curve. Source for the 30%: LongMemEval, arxiv 2410.10813.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Tokenomics is the version of this argument that shows up on an invoice. Three pillars. Cost: input tokens per turn, times turns, times users. Latency: longer prompts mean a slower first token and a worse p95. Accuracy: more context is not better context; models lose facts buried in the middle of long prompts. Click: without memory the agent replays the full history on every turn, so tokens per turn grow with the conversation. Click: with extraction and a context card, tokens per turn stay roughly flat: a summary, the relevant memories, the last few messages. Click: the gap between the lines is the bill. The chart is illustrative. A measured figure comes later: Oracle's 80-turn test, about 1,300 input tokens per request with memory against 13,900 for flat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agents, yours and a competitor's. Click: the stack. The same frontier models by API; the models are converging. The same open-source frameworks; your competitor can pull the same packages this afternoon. The same MCP servers and the same APIs. Equal signs all the way down, so none of it is a moat. Click: the row that differs. What your agents have learned about your customers, your codebase, your processes, your edge cases and your corrections. It accumulates only through your own interactions, and it compounds. Click: the first three rows are a pip install; the last row is the moat. Which raises the question of who owns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it, as a picture. Click: the agents. Most enterprises already run agents from several vendors plus a few of their own, and each vendor agent keeps a siloed memory. They should all attach to one store, through MCP, rather than rebuild it inside each one. Click: the store you control. Your database, your grants, your audit; not inside a vendor's harness, not behind a vendor's API. Click: you can inspect it: what the agent knows, where it came from, who is allowed to see it, when it changed. The alternative is opaque server-side compaction, the trust-me approach, which does not pass a security review. Click: portable. The same memory feeds whichever model you choose, today's frontier model, next quarter's, or a small model of your own trained on the store. Switching is both offence and defence right now. Click: the nuance, in one line. General-purpose memory about a person belongs to the labs; memory shaped to a domain and a workload is the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story from the front line, because the room should know this is hard for everyone. Click: 29 August, Thibault Sottiaux, who leads Codex at OpenAI, posts a list of bugs fixed after thousands of reports, with usage resets. Several are memory bugs in all but name: compaction kept old images and re-triggered itself; background memory workers inherited stop hooks and kept running, one thread asked whether it could stop fifteen thousand times; overlapping summaries fired extra requests. Click: 3 September, GPT-6 Astra ships, and Codex gets notes that persist across context windows with earlier windows searchable: a two-tier memory, opt-in, due to become the default. Click: 12 September, the experiment is switched off: it could stop early, or reply to an older message; four to five thousand users affected. Click: my reading of why. Salience: a retrieved earlier turn outranked the latest message. Consolidation order: a new window before the notes were saved. Say clearly that this is inference from public posts and a public Codex issue, not something OpenAI confirmed, and that they handled it well: named in public, fixed in days. One of the best-resourced teams in the world withdrew a memory feature nine days after launch. If asked for more: in April 2025 OpenAI's sycophancy postmortem said user memory made the effect worse in some cases, and in November 2025 some ChatGPT users lost saved memories with only a partial recovery. Memory needs its own evals, and forget, don't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architecture, three principles. They are the things I would want someone to remember if they forgot everything else. Next click: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principles of agent memory, one click each. One: the 4 Rs, retain, reuse, refine and recall, the operations every memory system implements. Two: forget, don't delete, the lifecycle rule. Three: the RBCs of agent memory, reliable, believable, capable, which is what memory is for. Each gets a slide, and the 4 Rs get the architecture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 Rs, one click each. Retain: decide what is worth keeping; extraction is where that decision happens. Reuse: apply it again, across sessions and across agents, so the organisation does not pay for the same work twice. Refine: correct, merge and update, and let stale memory expire. Recall: bring back the right piece at the right time, inside a token budget. Click: the line to land. Most teams stop at retain, and what they have built is a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by layer. The slide opens on the application layer: the application, the agent harness that runs the loop, and the context window assembled per call. Click: the model layer on the right. The LLM, stateless with a prompt cache, and the three models the memory system uses: an extraction LLM, an embedding model and a reranker, with a decision model dashed in for the advanced section. Click: the data layer, where memory lives: the memory core, a database with typed rows, vector and text indexes, TTL, entitlements and audit. Click: the memory layer between them: the memory manager with its write path and its read path, the operations that move data between the core and the window. Then the flows. Click four: the inference loop. The application sends a request, the harness builds the window, tokens go into the model, and the response comes back to the harness. Click two: the write path, in red. Messages, traces and outputs go to the memory manager; the extraction LLM turns a turn into typed memories; the embedding model vectorises them; dedupe, consolidation and conflict checks run against what exists; the row is written with its type, scope, metadata and TTL. Click six: the read path, in blue. The harness sends a query with a scope; the manager embeds it, runs a scoped hybrid search, gets candidates back, reranks them, budgets them, and injects a context card into the window. Click seven: the rule that makes this safe in an enterprise. Scope and entitlements filter first; similarity only ranks what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diagram, with the four verbs placed on it. Click: retain is the start of the write path, extraction and dedupe, with the extraction model doing the reading. Click: reuse is the end of the read path, inject, plus the context window itself: memory written once in one session shows up in the next, and across agents when the scope allows. Click: refine is the rest of the write path: consolidation, conflict resolution and decay, with the TTL on the row in the core. Click: recall is the read path, scope, retrieve, rerank and budget, with the embedding model and the reranker doing the work. Every operation you implement in the notebook lands in one of these four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two. Deleting is a one-way door, and most deletes in memory systems happen by accident: a vector store wipe, a table truncate, a re-index. The alternative is a lifecycle. On write, every memory gets a time to live and an anchor. Click: on expiry it is hidden first: it drops out of reads, lists, thread windows and every search, but the row exists. Click: on policy, a scheduled purge physically removes it and leaves an audit trail. Click: on change, you update in place instead of appending a contradiction. Click: forget, don't delete. Regulated data leaves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three, the RBCs. Memory is what makes an agent reliable, believable and capable, and each maps to a memory type from the taxonomy. Click: reliable comes from episodic memory, consistent access to what happened. Click: believable comes from semantic memory, behaviour that reflects accumulated knowledge. Click: capable comes from procedural memory, workflows and tools reused instead of rediscovered. Click: the line. Without memory even the best model is a brilliant engineer with amnesia.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again: who has heard the term memory engineering? Keep them up if your team has someone whose job it is. Next click: the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Memory engineering is the discipline of designing how agents retain, reuse, refine and recall information over time, and of owning that memory rather than renting it from someone's opaque server-side compaction. One word for each discipline. Click: prompt engineering is maximisation, the most from one call. Click: context engineering is optimisation, curating what the model sees on this call. Click: memory engineering is continuation, what persists between calls and how it gets better. They nest: most of a good context window is recalled memory, so the window can only be as good as the memory behind it. Next: where each one operates.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memory engineers come from. Click: database engineering: schemas, indexes, transactions, retention, access control. Click: search and retrieval: embeddings, hybrid search, reranking, token budgets. Click: agent design: harness loops, tools, context windows, evals. Click: the overlap is the discipline, and the pairwise overlaps are where the techniques live: one engine for vectors, text and rows; retention and scopes; recall budgets and context cards. Click: what it borrows. Cognitive science for the memory types, consolidation and forgetting. Security and governance for identity, audit and deletion. ML engineering for evals and for the back end in weight space: fine-tuning and distillation, which the traces and memory records feed. SRE for traces, budgets, thresholds and rollbacks, which the Codex story was about. Click: nobody arrives with all three. Ask the room which circle they stand in; most of this audience is in the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architecture, with the three disciplines placed on it. Click: prompt engineering, in gold, is the smallest region: the system prompt and the query inside the window. Maximisation, the most from one call. Click: context engineering, in blue, is the window itself: what the model sees on this call, assembled by the harness. Optimisation. Click: memory engineering, in red, is everything below and beside it: the memory layer, the data layer, and the models the memory system uses. Continuation, what persists between calls. The nesting is the point: most of a good window is recalled memory, so the window can only be as good as the memory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lifecycle every memory system implements, whatever it calls the stages. Encode: extract memory signals from raw conversation and traces. Store: persist with a type, a scope and metadata. Retrieve: filter by scope first, then rank. Inject: deliver memory as clean context within a budget. Forget: expire, decay or prune. Click: the loop back, forgetting feeds the next encode. Click: every stage is a technique. Next, the two with the most leverage: extraction and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one, as an architecture. The application layer is the loop you already know. Click: messages land in the thread store on the foreground path, as they arrive; the agent answers without waiting for anything else. Click: a background worker reads the thread on a schedule or every N messages and hands turns to an extraction LLM, any provider, prompted with your rules; memories come back. Click: the worker runs through the knobs: instructions say what to keep and drop; metadata inheritance copies tenant, case and channel from message to memory so boundaries survive; frequency, window and token limit control cost; dedupe and conflict checks run against what already exists. Click: typed rows land in the data layer: a fact, a preference, a guideline, an episode, each treated differently at recall. Click: extraction is where retain happens. In Oracle AI Agent Memory these are the extraction config, custom instructions and metadata inheritance; check the parameter names against the 26.6 docs before showing code. Next: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Click: three turns from a thread: a date change, a legal requirement, a tool preference, then a coding rule. Click: the extraction worker hands them to the LLM with your instructions, and the thread's metadata is inherited. Click: five typed memories come out. Two facts, scoped to the project, each pointing at the turn it came from. A preference about Redis, scoped to the user. A guideline about bind variables, which the agent will follow in every future session. And an episode: what happened on 27 October, with a TTL. Click: what was dropped: the acknowledgements and the sign-off, because the instructions said durable facts only. Click: five rows with a type, a scope and a source. The example is illustrative; the shape of the rows is what the package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two: retention. Four decisions. Click: per record, a TTL and an anchor on every row, so the row decides its own expiry. Click: per type, defaults that match the data: messages for weeks, episodes for months, facts until corrected, guidelines until withdrawn. Click: decay, where recency and recall count weight retrieval so stale memory loses the ranking long before it is purged. Click: erasure on request, with an audit trail that proves it happened. Click: write the policy as data on the row, and let the purge job and the recall filter read the same fields. That is what makes forget, don't delete operational.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three, as two flows. Ingest on the left, one step per click: start from the tool schema. A small language model rewrites the description to say when to use the tool, when not to, what it needs and what it returns. Generate five to twenty example queries, the things a user would actually say, review them, store them with the schema. Embed the schema and each example separately so a request matches on intent rather than on the schema's wording. The toolbox table holds one row per tool: JSON, vectors, version, owner, risk, scope; governed like any other data. Recall on the right: a request or the agent's current step; hybrid search over schema and example vectors with keywords for exact names, reading the toolbox table; a reranker or a decision model scores and gates it; the top-k tools go into the tools block of the prefix, masking the rest so the cache survives. Click: the skillbox is the same pipeline for procedures, and successful runs write new examples back, which is procedural memory refining itself. Next: what a row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 itself. Click: three tools as rows. The name, the augmented description with the when and the when-not written in, the parameters as JSON, the example queries, the vectors, and the governance columns: version, owner, risk and scope. Notice refund_order carries a high risk and a scope that needs approval; that is what the gate reads at recall. Click: a table definition you could actually run, illustrative but honest: JSON for the schema and the examples, a CLOB for the description, vectors for the schema and each example, or a child table of example vectors, with a vector index and a text index on top. Hybrid search over this is one SQL statement. Column names are mine, not the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toolbox, quickly. Click: consolidation, conflict resolution and scoping. Click: hybrid retrieval, reranking with a budget, and shared memory across a fleet, which is where transactional consistency under concurrent writes starts to matter. Click: every one of these is a database operation under a different name, which is why the choice of substrate matters more than people expect. Next: the discipline that works inside the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show of hands: context engineering. Most of the room will have heard it; the point of the next six slides is to make it concrete enough to code against. Next click: the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Context engineering is the discipline of curating and maintaining the optimal set of information in the context window during inference. Memory engineering decides what to store and recall; context engineering decides what is in the window right now and in what order. Click: why we need it. The attention budget: every token competes with every other token, and precision drops long before the window is full. Context rot: early content gets buried, facts in the middle get lost. Cost and latency: input to output ratios near 100 to 1 are normal for agents, so prefill is the bill and the cache is the discount. Next: what is actually in a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actually in a window, top to bottom. The system prompt and the tool definitions, which should not change during a task. Recalled memory: facts, preferences, summaries and entities the memory manager chose for this call. Recent messages, verbatim. Tool outputs, which are volatile and often huge. The user query at the end. Click: the top two are the stable prefix. Identical on every call, so the prompt cache serves them. Click: the rest is assembled per call by the harness and the memory manager. Click: the four techniques we will cover, each pointing at the part of the window it shapes. Cache-aware construction for the prefix, offloading and just-in-time retrieval for what sits in memory and tool outputs, summarisation for the messages, compaction for the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one: summarisation. On the left, a thread: hundreds of turns, corrections and tool calls. Click: the older turns are summarised, the recent ones stay verbatim, and the result is one compact block, here a context card with four parts. Topics, a fingerprint of the thread. A summary that also states the current intent. Typed relevant memories, so the model treats a truth, a style rule and open task state differently. The last turns verbatim. The summary is itself a memory: write it back, do not only put it in the prompt. Click: a measured number. In Oracle's 80-turn test, a 10,000-token summarisation trigger used about 60% fewer total tokens than flat history; higher triggers approached or exceeded the baseline, so the threshold is a tuning decision. Source: the Oracle Developers blog post on Oracle AI Agent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two: compaction, and the idea of window utility, signal per token. Click: the lightest compaction is clearing used tool results: keep the fact, drop the dump. Click: near the limit, summarise the trajectory: decisions, open issues, state and plan survive; redundant output and dead ends do not; restart from the summary. Click: tune for recall first, never dropping a decision, then for precision. Click: the picture. Before, a 120k window at maybe 20% signal; after, a 30k window at 80%. The figures are illustrative; the shape is what you will see in your own traces. Click: compaction is a memory operation done inside the window, so write the summary back to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three, as a process. The window first. Click: the segments fill in, top to bottom, with their token counts; tool outputs are the largest and the lowest utility. Click: the gauge, 72% used against an 80% threshold with 16k reserved for output. Click: the database the window offloads to: a tool log with the summary and the payload, typed memories, one rolling summary per thread, and files with a path and a size. Now the three operations, in the order they run. Click: monitor, every turn: count tokens per segment and let thresholds decide. Click: offload, a write: summarise the segment, store the payload, keep a reference in the window. Click: retrieve, a read: fetch by id, or search, rerank and budget, inject for this step, then compact again. Click: the window is a cache of the database, not the other way round. The next two slides play one offload and one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offload, step by step. Before: turn 23, 86% used, over the 80% threshold, and the tool output segment is 78k on its own. Click: the policy picks it. Trigger: utilisation above 80%, or a single segment above 10% of the budget. Candidate: the largest segment with the lowest utility, already used, old, restorable. Action: the segment becomes a tool log row, tl_8821, with a 120-token summary, the full payload and a path. Click: after, the same turn: a 60-token reference stub sits where the 78k were, utilisation is 47%, and nothing was lost. Click: the payload is one fetch away, and the summary plus the id is usually all the next step needs. The numbers are illustrative; the shape is what you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recall, eight steps later. Click: step 31 needs rows 40 to 60 of that result. The agent fetches a slice by id, not the whole payload. The harness runs a headroom check first: the limit, minus the output reserve, minus what is in use, is 90k free and the slice asks for 4k. It injects the slice into the tool-result slot for this step, tagged ephemeral, uses it, and compacts it back to the stub. Click: the five rules that keep a recall from undoing the offload. Headroom before inject. Compact form first, payload only on request. A token budget per recall and a rerank threshold instead of a fixed top-k. Ephemeral injection, so the slice lives for one step. And re-offload on use, the same policy running again. The offload policy and the recall policy read the same fields, which is what makes them one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signals from the front line, both from Anthropic, both implementations of what this section has described. Click: the memory tool. The model gets file operations over a memories directory, view, create, str_replace, insert, delete, rename, and decides for itself what to keep. The directory lives on the client, in your harness, so the store is inspectable and portable: the moat argument written into a tool definition. It is designed to pair with context editing and compaction, so memory is written before the window is trimmed, which is the ordering lesson from the Codex story. Click: the tool search tool. Mark tools defer_loading and the model discovers them by search and loads them on demand. Anthropic's own numbers: 58 tools cost about 55K tokens up front; with search, roughly 77K down to 8.7K, an 85% reduction, and accuracy on their tool-selection evaluation went from 49% to 74% on Opus 4 and from 79.5% to 88.1% on Opus 4.5. That is the toolbox-in-the-database technique with the index inside the API. Click: both move state out of the window into a store the harness owns. Figures are from Anthropic's documentation and announcement as checked on 27 October 2026; say the date if you quote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four: construction with the cache in mind. On the left, the window with a line through it: everything above the breakpoint is the cached prefix, everything below is fresh. Click: keep the prefix stable; a timestamp at the top of the system prompt is the classic cache killer. Click: append only and serialise deterministically; unstable JSON key order silently breaks caching. Click: mask tools rather than removing them; changing definitions mid-task invalidates the cache and the model then references tools that no longer exist. Click: volatile content last, with an explicit breakpoint where the provider needs one. Click: the one number to watch is the KV-cache hit rate. Manus reports cached input at roughly a tenth of the uncached price on Claude Sonnet, 0.30 against 3 dollars per million, and input to output ratios around 100 to 1. Prefill is the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was vendor-neutral on purpose. Now the package we will use in the notebook. Next click: what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was built. Memory engineering in a box: the extraction, scoping, hybrid retrieval, context cards and retention we just walked through, as one package on one governed database. Click: the patchwork most production agents run today: a vector store, a chat history table, custom extraction code and a cron for cleanup. Ownership, isolation, audit and erasure become afterthoughts. Click: one memory layer. Memories are rows in Oracle AI Database, typed and scoped; the package carries the operations; the database carries the governance. Click: the distinction that matters. Memory-augmented agents consult a store. Memory-aware agents read and write their own durable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in the package. Click: three primitives, users and agents, memories and threads; extraction by an LLM in the background or explicit writes; context cards that compact long threads; scoped hybrid search with metadata filters; retention with TTL per record, defaults per schema and a managed purge; and Deep Data Security, the end user's identity enforced on every recall inside the engine, which is the governance gate. Click: the code is deliberately short: install, connect, create a thread, add messages, extract, search with a scope, get a context card. The calls are illustrative; the notebook has the exact signatures for release 26.6. Click: the benchmark: 93.8% on LongMemEval, 469 of 500, with the configuration on the slide. The PyPI page may show a newer run, 94.4%, 472 of 500; check it before you present and use whichever is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architecture again, with Oracle names in the boxes. Same geometry so the room can see nothing moved. The models: extraction with any LLM; embedding and reranking can run inside the database with ONNX models, or against an API. The memory manager is the package: add_messages, extraction, dedupe, update_memory and ttl_days on the write path; SearchScope, hybrid search, metadata filters, the context card and the budget on the read path. The memory core is Oracle AI Database: typed memory rows with an HNSW vector index and a text index, JSON, graph and SQL in the same engine, TTL with a purge job, Unified Auditing, transactions under concurrent writes, and Deep Data Security. Click one: the inference loop. Click two: the write path. Click three: the read path. Click four: entitled recall, the database enforces the end user's access before similarity ranks anything. That is the governance gate from the start of the session. Next click: watch the embedding model and the reranker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architecture, and watch the two boxes move: the embedding model and the reranker leave the model column and land inside the database. That is the Oracle AI Database advantage in one picture. Click: one hop, not three. The query is embedded, searched and reranked in one SQL plan inside the engine, with ONNX models loaded into the database; no round trip to an embedding service, no second vendor, no copy of the data leaving the boundary. Click: one security boundary. Deep Data Security applies the end user's identity before anything is ranked, so the reranker only ever sees rows that user is entitled to. The dashed outlines on the right are where those boxes sit in every other architecture, and the decision model stays in the model layer because it is yours to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 One pip install on Python 3.10 to 3.13, a database connection string, a user and password, and the key for whichever LLM you use. Click: three places to go: PyPI for the package and the current benchmark, the 26.6 docs for the API reference, and the Oracle AI Developer Hub on GitHub for the notebooks, including the one we use today. Click: it works with LangGraph and LangChain, the Claude Agent SDK, the OpenAI Agents SDK, WayFlow, CopilotKit, or your own loop; the CopilotKit cookbook has an Oracle Agent Memory recipe. Click: same client, same store, whatever the framework. Swap the model, keep the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goes next. The package is the same everywhere, and the direction is for it to surface across Oracle's products, so you learn one memory model and meet it wherever you build. Click: Private Agent Factory, where agents get memory by default because the factory uses this package. Click: AI Data Platform, shared memory across data and AI workflows. Click: AI Database, where it starts, the memory core native to the engine. Click: Select AI, so agents and natural-language queries remember each user's context. Click: AI Lakehouse, memory for agents over open lakehouse data. Click: OCI, managed memory for agents on OCI services. Keep the safe harbour line on screen: product direction, not a dated roadmap. Check the wording for each surface with the product teams before you promise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Next click: what you are building and what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building. CityOps Copilot: a field assistant for the inspectors who keep a city's infrastructure safe. Click: the user is an inspector on site, writing up what they see in plain language. The job is to interpret the narrative, suggest a likely diagnosis and point at the history of that asset: what earlier inspectors observed, recommended and graded. The twist is memory across inspectors and visits: 26 real assets, about 220 inspection findings, and maintenance narratives the SDK distils into memory. Click: a new inspector on Harbor Bridge already knows what the last one found, without anyone telling them. Everything else in the notebook exists to make that sentence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as one flow. Click: an inspector on site writes a narrative. Click: call_copilot, the harness you finish in Part 6: it reads, asks and writes. Click: four reads assemble the context. The asset record from CITY_ASSET. This inspector's own thread, compacted into a context card. The asset's pooled memory: facts and guidelines earlier inspectors left, found by scoped search. And similar past findings, by vector distance over the findings table. Click: narrative plus context go to the model, llama3.2 running locally, and the diagnosis comes back citing the prior inspector, the grade and the recommended fix. Click: the turn is written back with add_messages, the extractor distils typed records into CITY_MEMORY, and those records are the pooled memory the next inspector reads. Click: Mercer on day 1, Vance on day N. Her write is his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four layers as the reference architecture, with the notebook's parts in the boxes. The application layer is a JupyterLab notebook in the LiveLabs sandbox, the call_copilot harness in plain async Python, and LangChain only for the chat message types and the ChatOllama client. Click: the model layer. One local model, llama3.2 served by Ollama, plays two roles: the copilot LLM through LangChain, and the SDK's extractor through its LiteLLM adapter pointed at Ollama's OpenAI-compatible endpoint. Embeddings never leave the database: ALL_MINILM_L12_V2 runs as ONNX inside Oracle, 384 dimensions, no API key, no per-call cost. There is no reranker in this lab; VECTOR_DISTANCE and SQL filters do the ordering. Click: the data layer, Oracle AI Database 26ai Free running in the sandbox. Two tables you create, CITY_ASSET and CITY_INSPECTION_FINDING with a VECTOR(384) column and an HNSW index; three the SDK creates and owns. Click: the memory layer is the oracleagentmemory SDK: create_thread, add_messages, the extractor, the context card and scoped search, configured with the three scope dimensions, extraction on, and a CITY_ table prefix.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copilot stands on two kinds of state, and both are memory. Click: domain data, the system of record. CITY_INSPECTION_FINDING, about 220 structured findings with a 384-dimension vector per row, and CITY_ASSET, the 26 assets. In taxonomy terms this is institutional semantic memory: entity memory for the assets and a knowledge base of findings; the agent reads it and never invents it. Click: it is written deliberately, by log_finding: one insert, one local embedding, no LLM call. Click: formed memory, which the SDK creates and owns. CITY_MESSAGE holds verbatim turns per private thread; CITY_MEMORY holds the typed records, fact, preference, guideline and memory, pooled per asset; CITY_THREAD keeps a rolling summary. Click: it is written automatically by add_messages, which lands the turn and runs the extractor. Click: both feed the next turn. The difference is how they grow, not whether they are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turn of call_copilot as a sequence, the same eight steps and numbers as the diagram in the notebook. Click: the inspector's narrative arrives, tagged with the asset and the inspector. Click: one, the SDK resolves the inspector's private per-asset thread. Click: two, the asset record from CITY_ASSET. Click: three, the context card for this inspector's own thread plus the asset-pooled search that brings in facts and guidelines earlier inspectors left. Click: four, similar findings by vector distance; the top hit is Mercer's Pier 2 corrosion finding, grade C. Click: five, the system prompt and the assembled context go to the model. Click: six, the diagnosis comes back, citing Mercer, the grade and the 60-day fix. Click: seven, the narrative and the answer are written verbatim with add_messages. Click: eight, the SDK derives the rest: the extractor distils CITY_MEMORY and the thread summary is refreshed. Click: the answer goes back to the inspector. Click: reads, model, writes; you write steps three and four in TODO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instructions, one click each; leave this up while people start. One: get into the lab through LiveLabs, the next five slides, and work in the student notebook; the complete notebook is the answer key, for checking rather than copying. Two: the config cell is already set for the lab: user prism, the free database DSN, the in-database ONNX model, and llama3.2 on the local Ollama. Three: run Part 1 to connect; the reset cell is there if anyone wants a clean slate. Four: Parts 2 to 6 in order; six TODOs of one to three lines, each with a checkpoint cell and a Show answer fold. Five: then the scenario, Mercer's day, Vance's day, and the comparison. Click: a turn takes 30 to 60 seconds because extraction runs a local model; use the wait to read the printed USER MESSAGE, which is exactly what the model sees. If the lab URL or sign-in differs on the day, say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Phones out. The QR code opens the LiveLabs workshop, Zero to Hero: Agent Memory; the short link is under it for anyone typing. Lab 3 is today's notebook, Labs 1 and 2 are background. Click: the three steps, in short; the next five slides walk through each with the actual screen. The link in the QR code is the bit.ly short link; the workshop id on LiveLabs is 4465.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slides that get everyone into the lab; leave each one up until the room has caught up. Step one: open the workshop page from the link or the QR code. The workshop is Zero to Hero: Agent Memory; Lab 3 is the notebook we are using, Labs 1 and 2 are background you can do later. Click: the Start button, top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the Start popup. Click: Run with LiveLabs Sandbox on OCI. The sandbox provisions everything the notebook needs in an Oracle-owned tenancy, so nobody needs their own cloud account. If you are asked to sign in, use your Oracle account; the account help and signup links are in the same popup.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the reservation panel. Your email and timezone are filled in. Leave Start Workshop Now switched on. Click: tick the consent box. Click: Submit Reservation. LiveLabs emails you when the environment is ready, but the next slide shows the quicker way to watch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My Reservations. Click: the new card says Pending creation while the sandbox is built; it usually takes a few minutes. Click: refresh, and when the Launch Workshop button appears, click it. The page is always under your name at the top right, My Reservations. If a card from an earlier day is still there, ignore it; use the one with today's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the workshop guide opens at Connect to the Development Environment. Click: View Login Info, top left, gives you the Development IDE password and the Start Development IDE link. Click: Task 1 walks you into JupyterLab; open notebook_student_ollama.ipynb. Click: the clock at the top right is the reservation; extend it from that link before it runs out, because the copilot turns are slow and the session is two hours. Once the notebook is open, the config cell on the next slide is already set for this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part by part, so you know where you are. Click: the first row. Part 1 connects; nothing to write. Part 2 is TODO 1, the embedder: call embed_documents and return float32; the checkpoint confirms 384 dimensions. Part 3 is the asset registry and auto-extraction: TODO 2 builds the content string that names the asset and the inspector, because the extractor only sees text, then calls add_messages; TODO 3 sets user_id on the search, because records inherit the user_id of the thread that wrote them. Part 4 is findings and similar search: TODO 4 packs the vector as a float32 array, the oracledb pitfall, and TODO 5 is the SQL: VECTOR_DISTANCE with relational filters in one statement. Click: the second row. Part 5 is scoping, run and read. Part 6 assembles call_copilot: TODO 6 adds the context card and the similar-findings read. Then the scenario and the comparison. Click: nothing is throwaway.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the notebook ends on. Click: day one, Mercer. She calls call_copilot to reason about the corrosion she sees, about four model calls. Then she logs the finding formally: grade C, primer within 60 days, zero model calls. Then an afternoon follow-up about coordinating with the Q3 resurfacing, which the extractor turns into a guideline. Click: day N, Vance. He has never met Mercer and only calls call_copilot, because he is diagnosing, not recording. Click: the scoping picture. Each inspector has a private thread, but both threads share user_id Harbor Bridge, and the pooled search relaxes the thread dimension while excluding raw messages. Click: what crosses is her distilled facts and guidelines, and her logged finding through similar-findings search; what does not cross is her raw conversation. Vance's diagnosis is shaped by Mercer's work with no human handoff. Extraction is probabilistic; if the guideline lands as a fact, re-run her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cell of the notebook, and the reason the lab exists. Click: the same narrative from Vance, the same llama3.2, but stripped of every memory layer: no thread, no context card, no pooled search, no similar findings. The model was told to cite prior findings and guidelines, so it did: Inspector Smith in 2018, Inspector Johnson in 2015, guideline 3.2.1. Click: none of them exist. Asked for history it was never given, it wrote one. Click: the copilot you built. Mercer's finding, grade C today and grade B 47 days ago, 25% section loss; the 60-day primer recommendation; annual caliper re-inspection; the standing rule. Click: every citation resolves to a row in the database. Click: without memory the model invents a history, with memory it reads one. The quotes are trimmed from the completed notebook's outputs; your run will differ in wording but not in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back to the taxonomy from the start of the session. Click: the four SDK record types map onto the cognitive types: fact is semantic, preference is persona, guideline is procedural, and memory is the fallback bucket for ongoing state. Click: the rest of the taxonomy was in the lab too. The context card is working memory. The thread is session memory. CITY_MESSAGE is episodic conversation memory and the rolling summary is episodic summary memory. The knowledge base is the domain tables plus fact rows with vector search. Agent-scoped records are shared memory. Click: what stayed with the framework: the semantic cache and the tool orchestration artefacts. Click: the domain tables are institutional semantic memory, read by the agent and written on purpose; memory engineering is deciding which of these you own, and on what substrate.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who finishes early, or for the second half of the hour if the room is fast. Decision models, and where they go in the architecture we drew. Next click: the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A decision model answers a typed question, yes or no, a choice from up to a few hundred options, or a score on an ordered scale, with a calibrated probability, in one prefill pass, without decoding a token. That is why it is ten to a hundred times faster than an LLM for routing, triage and guardrail decisions. Click: three launches in five weeks. Jev from TypeSafe on 15 September, closed and hosted, trained with RLCD. Clef from Cloudflare on 1 October, open weights on a frozen Qwen backbone with a joint schema head, 209 milliseconds median and 39 for Clef-flash. OpenAI's Decisions API, previewed on 29 September and opened more widely in late October, which is Luna with a bounded answer space and no fine-tuning yet. Verify the OpenAI availability wording on the day; it moved during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they belong here. Click: a decision model is memory. Train a classifier on five years of labelled decisions and the weights are a compressed record of every one; that is parametric memory, and it sits next to the database and the KV cache in the definition from the start of the session. Click: most memory operations are decisions. Worth retaining, which type, does it contradict what is stored, is it stale, recall anything this turn. Bounded questions, bounded answers, and most teams answer them with a frontier LLM at one to three seconds each, which is why extraction is the slowest step in the harness. Click: they are the easiest models to keep training: you always know whether the answer was right, the probability tells you which traces to collect next, and the model is small. Click: if you are building agent memory now, the decision model is the first model worth owning.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places in the architecture, one click each, with an honest verdict for each. One: semantic search. The embedding model still does the recall, because a decision model only sees the state you send it and cannot index a corpus; the model decides whether to retrieve and from which store. Keep both. Two: reranking. A calibrated score per candidate and a threshold instead of a fixed top-k; this is the closest fit, a near drop-in for the cross-encoder. Three: toolbox and skillbox. Choice over the registry, so it can only return a tool that exists, with a risk score before the call; select and gate in one pass. Four: the memory write. The LLM still writes the facts, because a decision model cannot produce text; the decision model routes each one to episodic, semantic or procedural memory, or to decay. Click: the substrate underneath, recall up into search, routed writes down, and decay as the forget-don't-delete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notebook for a minute. Click: Part 3 has a pre-built function, classify_asset, that sorts the 26 assets into eight classes by looking for words in the name. Click: that is a classifier: a typed question with a bounded answer and no model call, written by hand. Click: and it breaks the way hand-written classifiers break. Rule order decides, so a water tower is water rather than comms, and the Greenfield Booster Station lands in civil. Every new asset type is another elif, and it never says how sure it is. Click: as a decision model it keeps the same signature and returns a class with a calibrated probability, trained on the registry and the findings, retrained when the registry grows, with low confidence routed to a person. Click: three more typed questions in the same notebook: which record type the extractor should write, what severity and grade a description implies, and whether a turn needs retrieval at all. Next slide: where they plug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notebook's components in the four layers, the slide from the build section without the builds. Three models on the right: the copilot LLM, the extractor, and the in-database embedding model. Everything typed in this system is decided either by hand-written rules or by the general-purpose LLM. Next click: watch the model layer make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existing models move up and four decision models join the model layer, one click each, with a dashed line to where each plugs in. Click: the asset classifier replaces classify_asset and feeds the asset registry, with a calibrated probability instead of rule order. Click: the write router sits in front of the extractor and decides the record type, or decay. Click: severity and grade are proposed to the harness for log_finding, for the inspector to accept or override. Click: the retrieval gate sits in the harness and skips the similar-findings and pooled searches on routine turns. Click: each one sits behind an existing signature and is trained on data the notebook already writes: the registry, the findings, and the traces in CITY_MESSAGE and CITY_MEMORY. That is the loop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that ties the session together. Click: traces from the harness land in the memory store, typed and scoped; a dataset is built from them, filtered by classification so restricted memory never becomes training data; a decision model or a small model is trained, evaluated behind a gate, and deployed. Click: the deployed model produces new traces and the loop runs again. Click: front-end memory engineering fills the store, and that is what you built today. Back-end memory engineering turns it into weights. The harness that keeps the whole loop observable, what changed, why, whether it improved, is what I call the intelligence plane, and that is a different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Models are rented and get better for everyone at once. What your agents remember about your customers, your processes and your decisions is the one thing a competitor cannot rent. Memory is the only moat, and you should own it, in your database, under your governance. pip install oracleagentmemory, the docs and the notebooks are on the slide, and the QR code goes to the Oracle AI Developer Hub, where every technical asset from today lives. Thank you. Questions, and then keep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do next, then how to reach you. Install the package and read the docs. Take the DeepLearning.AI short course, Agent Memory: Building Memory-Aware Agents, and follow 100 Days of Continual Learning. Reproduce and extend today's notebook from the Oracle AI Developer Hub; the QR code on the right goes there, and that is where every technical asset from the session lives. Fill in your LinkedIn or site in the band. Leave this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before you go: the theatre session this afternoon, 1:10 to 1:30 in Theater 1 at the Oracle AI World Hub. Click: when, where, who it is for. Click: what it covers: the framework integrations, the education, and the tools, with the agent memory strategy running through all three. Click: bring the questions you did not get to ask this morning.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E2A2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6040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FFFFFF"/>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374130"/>
            <a:ext cx="10566400" cy="4671070"/>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66040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FFFFFF"/>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374130"/>
            <a:ext cx="10566400" cy="4671070"/>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66040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2D2D2D"/>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374130"/>
            <a:ext cx="10566400" cy="4671070"/>
          </a:xfrm>
          <a:prstGeom prst="rect">
            <a:avLst/>
          </a:prstGeom>
          <a:noFill/>
          <a:ln/>
        </p:spPr>
        <p:txBody>
          <a:bodyPr wrap="square" lIns="0" tIns="0" rIns="0" bIns="0" rtlCol="0" anchor="t"/>
          <a:lstStyle>
            <a:lvl1pPr algn="l" indent="0" marL="0">
              <a:lnSpc>
                <a:spcPct val="140000"/>
              </a:lnSpc>
              <a:buNone/>
              <a:defRPr lang="en-US" sz="1600" dirty="0">
                <a:solidFill>
                  <a:srgbClr val="2D2D2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E2A2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6040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FFFFFF"/>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374130"/>
            <a:ext cx="10566400" cy="4671070"/>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3.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slideLayout" Target="../slideLayouts/slideLayout3.xml"/><Relationship Id="rId1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slideLayout" Target="../slideLayouts/slideLayout3.xml"/><Relationship Id="rId1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3.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slideLayout" Target="../slideLayouts/slideLayout3.xml"/><Relationship Id="rId1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image" Target="../media/image-28-14.png"/><Relationship Id="rId15" Type="http://schemas.openxmlformats.org/officeDocument/2006/relationships/image" Target="../media/image-28-15.png"/><Relationship Id="rId16" Type="http://schemas.openxmlformats.org/officeDocument/2006/relationships/image" Target="../media/image-28-16.png"/><Relationship Id="rId17" Type="http://schemas.openxmlformats.org/officeDocument/2006/relationships/image" Target="../media/image-28-17.png"/><Relationship Id="rId18" Type="http://schemas.openxmlformats.org/officeDocument/2006/relationships/slideLayout" Target="../slideLayouts/slideLayout4.xml"/><Relationship Id="rId1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image" Target="../media/image-31-11.png"/><Relationship Id="rId12" Type="http://schemas.openxmlformats.org/officeDocument/2006/relationships/image" Target="../media/image-31-12.png"/><Relationship Id="rId13" Type="http://schemas.openxmlformats.org/officeDocument/2006/relationships/image" Target="../media/image-31-13.png"/><Relationship Id="rId14" Type="http://schemas.openxmlformats.org/officeDocument/2006/relationships/image" Target="../media/image-31-14.png"/><Relationship Id="rId15" Type="http://schemas.openxmlformats.org/officeDocument/2006/relationships/image" Target="../media/image-31-15.png"/><Relationship Id="rId16" Type="http://schemas.openxmlformats.org/officeDocument/2006/relationships/image" Target="../media/image-31-16.png"/><Relationship Id="rId17" Type="http://schemas.openxmlformats.org/officeDocument/2006/relationships/image" Target="../media/image-31-17.png"/><Relationship Id="rId18" Type="http://schemas.openxmlformats.org/officeDocument/2006/relationships/slideLayout" Target="../slideLayouts/slideLayout4.xml"/><Relationship Id="rId1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3.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4.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image" Target="../media/image-47-8.png"/><Relationship Id="rId9" Type="http://schemas.openxmlformats.org/officeDocument/2006/relationships/image" Target="../media/image-47-9.png"/><Relationship Id="rId10" Type="http://schemas.openxmlformats.org/officeDocument/2006/relationships/image" Target="../media/image-47-10.png"/><Relationship Id="rId11" Type="http://schemas.openxmlformats.org/officeDocument/2006/relationships/image" Target="../media/image-47-11.png"/><Relationship Id="rId12" Type="http://schemas.openxmlformats.org/officeDocument/2006/relationships/image" Target="../media/image-47-12.png"/><Relationship Id="rId13" Type="http://schemas.openxmlformats.org/officeDocument/2006/relationships/image" Target="../media/image-47-13.png"/><Relationship Id="rId14" Type="http://schemas.openxmlformats.org/officeDocument/2006/relationships/slideLayout" Target="../slideLayouts/slideLayout3.xml"/><Relationship Id="rId1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image" Target="../media/image-48-8.png"/><Relationship Id="rId9" Type="http://schemas.openxmlformats.org/officeDocument/2006/relationships/image" Target="../media/image-48-9.png"/><Relationship Id="rId10" Type="http://schemas.openxmlformats.org/officeDocument/2006/relationships/image" Target="../media/image-48-10.png"/><Relationship Id="rId11" Type="http://schemas.openxmlformats.org/officeDocument/2006/relationships/image" Target="../media/image-48-11.png"/><Relationship Id="rId12" Type="http://schemas.openxmlformats.org/officeDocument/2006/relationships/image" Target="../media/image-48-12.png"/><Relationship Id="rId13" Type="http://schemas.openxmlformats.org/officeDocument/2006/relationships/image" Target="../media/image-48-13.png"/><Relationship Id="rId14" Type="http://schemas.openxmlformats.org/officeDocument/2006/relationships/slideLayout" Target="../slideLayouts/slideLayout3.xml"/><Relationship Id="rId1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slideLayout" Target="../slideLayouts/slideLayout4.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image" Target="../media/image-53-7.png"/><Relationship Id="rId8" Type="http://schemas.openxmlformats.org/officeDocument/2006/relationships/image" Target="../media/image-53-8.png"/><Relationship Id="rId9" Type="http://schemas.openxmlformats.org/officeDocument/2006/relationships/image" Target="../media/image-53-9.png"/><Relationship Id="rId10" Type="http://schemas.openxmlformats.org/officeDocument/2006/relationships/image" Target="../media/image-53-10.png"/><Relationship Id="rId11" Type="http://schemas.openxmlformats.org/officeDocument/2006/relationships/image" Target="../media/image-53-11.png"/><Relationship Id="rId12" Type="http://schemas.openxmlformats.org/officeDocument/2006/relationships/image" Target="../media/image-53-12.png"/><Relationship Id="rId13" Type="http://schemas.openxmlformats.org/officeDocument/2006/relationships/image" Target="../media/image-53-13.png"/><Relationship Id="rId14" Type="http://schemas.openxmlformats.org/officeDocument/2006/relationships/image" Target="../media/image-53-14.png"/><Relationship Id="rId15" Type="http://schemas.openxmlformats.org/officeDocument/2006/relationships/image" Target="../media/image-53-15.png"/><Relationship Id="rId16" Type="http://schemas.openxmlformats.org/officeDocument/2006/relationships/image" Target="../media/image-53-16.png"/><Relationship Id="rId17" Type="http://schemas.openxmlformats.org/officeDocument/2006/relationships/image" Target="../media/image-53-17.png"/><Relationship Id="rId18" Type="http://schemas.openxmlformats.org/officeDocument/2006/relationships/image" Target="../media/image-53-18.png"/><Relationship Id="rId19" Type="http://schemas.openxmlformats.org/officeDocument/2006/relationships/slideLayout" Target="../slideLayouts/slideLayout3.xml"/><Relationship Id="rId20"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slideLayout" Target="../slideLayouts/slideLayout3.xml"/><Relationship Id="rId10"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slideLayout" Target="../slideLayouts/slideLayout4.xml"/><Relationship Id="rId7"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image" Target="../media/image-56-9.png"/><Relationship Id="rId10" Type="http://schemas.openxmlformats.org/officeDocument/2006/relationships/image" Target="../media/image-56-10.png"/><Relationship Id="rId11" Type="http://schemas.openxmlformats.org/officeDocument/2006/relationships/image" Target="../media/image-56-11.png"/><Relationship Id="rId12" Type="http://schemas.openxmlformats.org/officeDocument/2006/relationships/image" Target="../media/image-56-12.png"/><Relationship Id="rId13" Type="http://schemas.openxmlformats.org/officeDocument/2006/relationships/image" Target="../media/image-56-13.png"/><Relationship Id="rId14" Type="http://schemas.openxmlformats.org/officeDocument/2006/relationships/image" Target="../media/image-56-14.png"/><Relationship Id="rId15" Type="http://schemas.openxmlformats.org/officeDocument/2006/relationships/slideLayout" Target="../slideLayouts/slideLayout3.xml"/><Relationship Id="rId1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eg"/><Relationship Id="rId2" Type="http://schemas.openxmlformats.org/officeDocument/2006/relationships/slideLayout" Target="../slideLayouts/slideLayout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eg"/><Relationship Id="rId2" Type="http://schemas.openxmlformats.org/officeDocument/2006/relationships/slideLayout" Target="../slideLayouts/slideLayout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eg"/><Relationship Id="rId2" Type="http://schemas.openxmlformats.org/officeDocument/2006/relationships/slideLayout" Target="../slideLayouts/slideLayout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eg"/><Relationship Id="rId2" Type="http://schemas.openxmlformats.org/officeDocument/2006/relationships/image" Target="../media/image-62-2.jpeg"/><Relationship Id="rId3" Type="http://schemas.openxmlformats.org/officeDocument/2006/relationships/slideLayout" Target="../slideLayouts/slideLayout3.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slideLayout" Target="../slideLayouts/slideLayout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image" Target="../media/image-65-7.png"/><Relationship Id="rId8" Type="http://schemas.openxmlformats.org/officeDocument/2006/relationships/slideLayout" Target="../slideLayouts/slideLayout3.xml"/><Relationship Id="rId9"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image" Target="../media/image-73-6.png"/><Relationship Id="rId7" Type="http://schemas.openxmlformats.org/officeDocument/2006/relationships/image" Target="../media/image-73-7.png"/><Relationship Id="rId8" Type="http://schemas.openxmlformats.org/officeDocument/2006/relationships/image" Target="../media/image-73-8.png"/><Relationship Id="rId9" Type="http://schemas.openxmlformats.org/officeDocument/2006/relationships/slideLayout" Target="../slideLayouts/slideLayout3.xml"/><Relationship Id="rId10"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image" Target="../media/image-74-8.png"/><Relationship Id="rId9" Type="http://schemas.openxmlformats.org/officeDocument/2006/relationships/image" Target="../media/image-74-9.png"/><Relationship Id="rId10" Type="http://schemas.openxmlformats.org/officeDocument/2006/relationships/image" Target="../media/image-74-10.png"/><Relationship Id="rId11" Type="http://schemas.openxmlformats.org/officeDocument/2006/relationships/image" Target="../media/image-74-11.png"/><Relationship Id="rId12" Type="http://schemas.openxmlformats.org/officeDocument/2006/relationships/image" Target="../media/image-74-12.png"/><Relationship Id="rId13" Type="http://schemas.openxmlformats.org/officeDocument/2006/relationships/image" Target="../media/image-74-13.png"/><Relationship Id="rId14" Type="http://schemas.openxmlformats.org/officeDocument/2006/relationships/image" Target="../media/image-74-14.png"/><Relationship Id="rId15" Type="http://schemas.openxmlformats.org/officeDocument/2006/relationships/image" Target="../media/image-74-15.png"/><Relationship Id="rId16" Type="http://schemas.openxmlformats.org/officeDocument/2006/relationships/image" Target="../media/image-74-16.png"/><Relationship Id="rId17" Type="http://schemas.openxmlformats.org/officeDocument/2006/relationships/slideLayout" Target="../slideLayouts/slideLayout3.xml"/><Relationship Id="rId18"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slideLayout" Target="../slideLayouts/slideLayout3.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4.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slideLayout" Target="../slideLayouts/slideLayout3.xml"/><Relationship Id="rId5"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937500" y="0"/>
            <a:ext cx="4254500" cy="4953000"/>
          </a:xfrm>
          <a:prstGeom prst="rect">
            <a:avLst/>
          </a:prstGeom>
          <a:gradFill rotWithShape="1">
            <a:gsLst>
              <a:gs pos="0">
                <a:srgbClr val="C74634">
                  <a:alpha val="16000"/>
                </a:srgbClr>
              </a:gs>
              <a:gs pos="70000">
                <a:srgbClr val="C74634">
                  <a:alpha val="0"/>
                </a:srgbClr>
              </a:gs>
            </a:gsLst>
            <a:path path="circle">
              <a:fillToRect l="50000" t="50000" r="50000" b="50000"/>
            </a:path>
          </a:gradFill>
          <a:ln/>
        </p:spPr>
      </p:sp>
      <p:sp>
        <p:nvSpPr>
          <p:cNvPr id="3" name="Shape 1"/>
          <p:cNvSpPr/>
          <p:nvPr/>
        </p:nvSpPr>
        <p:spPr>
          <a:xfrm>
            <a:off x="812800" y="457200"/>
            <a:ext cx="355600" cy="38100"/>
          </a:xfrm>
          <a:prstGeom prst="roundRect">
            <a:avLst>
              <a:gd name="adj" fmla="val 50000"/>
            </a:avLst>
          </a:prstGeom>
          <a:solidFill>
            <a:srgbClr val="C74634"/>
          </a:solidFill>
          <a:ln/>
        </p:spPr>
      </p:sp>
      <p:sp>
        <p:nvSpPr>
          <p:cNvPr id="4" name="Text 2"/>
          <p:cNvSpPr/>
          <p:nvPr/>
        </p:nvSpPr>
        <p:spPr>
          <a:xfrm>
            <a:off x="812800" y="1879600"/>
            <a:ext cx="9156700" cy="25653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DEB068"/>
                </a:solidFill>
                <a:latin typeface="Courier New" pitchFamily="49" charset="0"/>
                <a:ea typeface="Courier New" pitchFamily="49" charset="-122"/>
                <a:cs typeface="Courier New" pitchFamily="49" charset="-120"/>
              </a:rPr>
              <a:t>ORACLE AI WORLD 2026 · HANDS-ON SESSION</a:t>
            </a:r>
            <a:endParaRPr lang="en-US" sz="1300" dirty="0"/>
          </a:p>
        </p:txBody>
      </p:sp>
      <p:sp>
        <p:nvSpPr>
          <p:cNvPr id="5" name="Text 3"/>
          <p:cNvSpPr/>
          <p:nvPr>
            <p:ph type="title"/>
          </p:nvPr>
        </p:nvSpPr>
        <p:spPr>
          <a:xfrm>
            <a:off x="812800" y="2222500"/>
            <a:ext cx="10883392" cy="2025650"/>
          </a:xfrm>
          <a:prstGeom prst="rect">
            <a:avLst/>
          </a:prstGeom>
          <a:noFill/>
          <a:ln/>
        </p:spPr>
        <p:txBody>
          <a:bodyPr wrap="square" lIns="0" tIns="0" rIns="0" bIns="0" rtlCol="0" anchor="t">
            <a:normAutofit/>
          </a:bodyPr>
          <a:lstStyle/>
          <a:p>
            <a:pPr algn="l" indent="0" marL="0">
              <a:lnSpc>
                <a:spcPts val="7875"/>
              </a:lnSpc>
              <a:buNone/>
            </a:pPr>
            <a:r>
              <a:rPr lang="en-US" sz="7500" b="1" i="0" spc="-250" kern="0" dirty="0">
                <a:solidFill>
                  <a:srgbClr val="FFFFFF"/>
                </a:solidFill>
                <a:latin typeface="Arial" pitchFamily="34" charset="0"/>
                <a:ea typeface="Arial" pitchFamily="34" charset="-122"/>
                <a:cs typeface="Arial" pitchFamily="34" charset="-120"/>
              </a:rPr>
              <a:t>Teach Agents</a:t>
            </a:r>
            <a:endParaRPr lang="en-US" sz="7500" dirty="0"/>
          </a:p>
          <a:p>
            <a:pPr algn="l" indent="0" marL="0">
              <a:lnSpc>
                <a:spcPts val="7875"/>
              </a:lnSpc>
              <a:buNone/>
            </a:pPr>
            <a:r>
              <a:rPr lang="en-US" sz="7500" b="1" i="0" spc="-250" kern="0" dirty="0">
                <a:solidFill>
                  <a:srgbClr val="FFFFFF"/>
                </a:solidFill>
                <a:latin typeface="Arial" pitchFamily="34" charset="0"/>
                <a:ea typeface="Arial" pitchFamily="34" charset="-122"/>
                <a:cs typeface="Arial" pitchFamily="34" charset="-120"/>
              </a:rPr>
              <a:t>What To Remember</a:t>
            </a:r>
            <a:endParaRPr lang="en-US" sz="7500" dirty="0"/>
          </a:p>
        </p:txBody>
      </p:sp>
      <p:sp>
        <p:nvSpPr>
          <p:cNvPr id="6" name="Text 4"/>
          <p:cNvSpPr/>
          <p:nvPr/>
        </p:nvSpPr>
        <p:spPr>
          <a:xfrm>
            <a:off x="812800" y="4445000"/>
            <a:ext cx="98107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EB9B7"/>
                </a:solidFill>
                <a:latin typeface="Arial" pitchFamily="34" charset="0"/>
                <a:ea typeface="Arial" pitchFamily="34" charset="-122"/>
                <a:cs typeface="Arial" pitchFamily="34" charset="-120"/>
              </a:rPr>
              <a:t>Agent memory from first principles, and memory engineering as the discipline that makes it work.</a:t>
            </a:r>
            <a:endParaRPr lang="en-US" sz="2200" dirty="0"/>
          </a:p>
        </p:txBody>
      </p:sp>
      <p:sp>
        <p:nvSpPr>
          <p:cNvPr id="7" name="Text 5"/>
          <p:cNvSpPr/>
          <p:nvPr/>
        </p:nvSpPr>
        <p:spPr>
          <a:xfrm>
            <a:off x="812800" y="5499100"/>
            <a:ext cx="91567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EB9B7"/>
                </a:solidFill>
                <a:latin typeface="Courier New" pitchFamily="49" charset="0"/>
                <a:ea typeface="Courier New" pitchFamily="49" charset="-122"/>
                <a:cs typeface="Courier New" pitchFamily="49" charset="-120"/>
              </a:rPr>
              <a:t>Richmond Alake · Director of AI Developer Experience, Oracle</a:t>
            </a:r>
            <a:endParaRPr lang="en-US" sz="1300" dirty="0"/>
          </a:p>
        </p:txBody>
      </p:sp>
      <p:sp>
        <p:nvSpPr>
          <p:cNvPr id="8" name="Text 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raised hands">    </p:cNvPr>
          <p:cNvPicPr>
            <a:picLocks noChangeAspect="1"/>
          </p:cNvPicPr>
          <p:nvPr/>
        </p:nvPicPr>
        <p:blipFill>
          <a:blip r:embed="rId1"/>
          <a:srcRect l="0" r="0" t="0" b="0"/>
          <a:stretch/>
        </p:blipFill>
        <p:spPr>
          <a:xfrm>
            <a:off x="0" y="0"/>
            <a:ext cx="12192000" cy="6858000"/>
          </a:xfrm>
          <a:prstGeom prst="rect">
            <a:avLst/>
          </a:prstGeom>
        </p:spPr>
      </p:pic>
      <p:sp>
        <p:nvSpPr>
          <p:cNvPr id="3" name="Shape 0"/>
          <p:cNvSpPr/>
          <p:nvPr/>
        </p:nvSpPr>
        <p:spPr>
          <a:xfrm>
            <a:off x="812800" y="457200"/>
            <a:ext cx="355600" cy="38100"/>
          </a:xfrm>
          <a:prstGeom prst="roundRect">
            <a:avLst>
              <a:gd name="adj" fmla="val 50000"/>
            </a:avLst>
          </a:prstGeom>
          <a:solidFill>
            <a:srgbClr val="C74634"/>
          </a:solidFill>
          <a:ln/>
        </p:spPr>
      </p:sp>
      <p:sp>
        <p:nvSpPr>
          <p:cNvPr id="4" name="Text 1"/>
          <p:cNvSpPr/>
          <p:nvPr/>
        </p:nvSpPr>
        <p:spPr>
          <a:xfrm>
            <a:off x="2603373" y="2794000"/>
            <a:ext cx="6985254" cy="1073150"/>
          </a:xfrm>
          <a:prstGeom prst="rect">
            <a:avLst/>
          </a:prstGeom>
          <a:noFill/>
          <a:ln/>
        </p:spPr>
        <p:txBody>
          <a:bodyPr wrap="none" lIns="0" tIns="0" rIns="0" bIns="0" rtlCol="0" anchor="t">
            <a:normAutofit/>
          </a:bodyPr>
          <a:lstStyle/>
          <a:p>
            <a:pPr algn="ctr" indent="0" marL="0">
              <a:lnSpc>
                <a:spcPts val="8250"/>
              </a:lnSpc>
              <a:buNone/>
            </a:pPr>
            <a:r>
              <a:rPr lang="en-US" sz="7500" b="1" spc="-150" kern="0" dirty="0">
                <a:solidFill>
                  <a:srgbClr val="FFFFFF"/>
                </a:solidFill>
                <a:latin typeface="Arial" pitchFamily="34" charset="0"/>
                <a:ea typeface="Arial" pitchFamily="34" charset="-122"/>
                <a:cs typeface="Arial" pitchFamily="34" charset="-120"/>
              </a:rPr>
              <a:t>Agent memory</a:t>
            </a:r>
            <a:endParaRPr lang="en-US" sz="7500" dirty="0"/>
          </a:p>
        </p:txBody>
      </p:sp>
      <p:sp>
        <p:nvSpPr>
          <p:cNvPr id="5" name="Text 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What we will cover</a:t>
            </a:r>
            <a:endParaRPr lang="en-US" sz="2800" dirty="0"/>
          </a:p>
        </p:txBody>
      </p:sp>
      <p:sp>
        <p:nvSpPr>
          <p:cNvPr id="4" name="Shape 2"/>
          <p:cNvSpPr/>
          <p:nvPr/>
        </p:nvSpPr>
        <p:spPr>
          <a:xfrm>
            <a:off x="815975" y="1501775"/>
            <a:ext cx="1924050" cy="2406650"/>
          </a:xfrm>
          <a:prstGeom prst="roundRect">
            <a:avLst>
              <a:gd name="adj" fmla="val 709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5" name="Text 3"/>
          <p:cNvSpPr/>
          <p:nvPr/>
        </p:nvSpPr>
        <p:spPr>
          <a:xfrm>
            <a:off x="990600" y="168275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4634"/>
                </a:solidFill>
                <a:latin typeface="Courier New" pitchFamily="49" charset="0"/>
                <a:ea typeface="Courier New" pitchFamily="49" charset="-122"/>
                <a:cs typeface="Courier New" pitchFamily="49" charset="-120"/>
              </a:rPr>
              <a:t>01</a:t>
            </a:r>
            <a:endParaRPr lang="en-US" sz="1200" dirty="0"/>
          </a:p>
        </p:txBody>
      </p:sp>
      <p:sp>
        <p:nvSpPr>
          <p:cNvPr id="6" name="Text 4"/>
          <p:cNvSpPr/>
          <p:nvPr/>
        </p:nvSpPr>
        <p:spPr>
          <a:xfrm>
            <a:off x="990600" y="1972270"/>
            <a:ext cx="137142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D2D2D"/>
                </a:solidFill>
                <a:latin typeface="Arial" pitchFamily="34" charset="0"/>
                <a:ea typeface="Arial" pitchFamily="34" charset="-122"/>
                <a:cs typeface="Arial" pitchFamily="34" charset="-120"/>
              </a:rPr>
              <a:t>Foundations</a:t>
            </a:r>
            <a:endParaRPr lang="en-US" sz="1500" dirty="0"/>
          </a:p>
        </p:txBody>
      </p:sp>
      <p:sp>
        <p:nvSpPr>
          <p:cNvPr id="7" name="Text 5"/>
          <p:cNvSpPr/>
          <p:nvPr/>
        </p:nvSpPr>
        <p:spPr>
          <a:xfrm>
            <a:off x="990600" y="2277070"/>
            <a:ext cx="162560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B6B"/>
                </a:solidFill>
                <a:latin typeface="Arial" pitchFamily="34" charset="0"/>
                <a:ea typeface="Arial" pitchFamily="34" charset="-122"/>
                <a:cs typeface="Arial" pitchFamily="34" charset="-120"/>
              </a:rPr>
              <a:t>What agent memory is, why agents need it, the taxonomy, and the three principles.</a:t>
            </a:r>
            <a:endParaRPr lang="en-US" sz="1300" dirty="0"/>
          </a:p>
        </p:txBody>
      </p:sp>
      <p:sp>
        <p:nvSpPr>
          <p:cNvPr id="8" name="Shape 6"/>
          <p:cNvSpPr/>
          <p:nvPr/>
        </p:nvSpPr>
        <p:spPr>
          <a:xfrm>
            <a:off x="2924175" y="1501775"/>
            <a:ext cx="1924050" cy="2406650"/>
          </a:xfrm>
          <a:prstGeom prst="roundRect">
            <a:avLst>
              <a:gd name="adj" fmla="val 709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9" name="Text 7"/>
          <p:cNvSpPr/>
          <p:nvPr/>
        </p:nvSpPr>
        <p:spPr>
          <a:xfrm>
            <a:off x="3098800" y="168275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4634"/>
                </a:solidFill>
                <a:latin typeface="Courier New" pitchFamily="49" charset="0"/>
                <a:ea typeface="Courier New" pitchFamily="49" charset="-122"/>
                <a:cs typeface="Courier New" pitchFamily="49" charset="-120"/>
              </a:rPr>
              <a:t>02</a:t>
            </a:r>
            <a:endParaRPr lang="en-US" sz="1200" dirty="0"/>
          </a:p>
        </p:txBody>
      </p:sp>
      <p:sp>
        <p:nvSpPr>
          <p:cNvPr id="10" name="Text 8"/>
          <p:cNvSpPr/>
          <p:nvPr/>
        </p:nvSpPr>
        <p:spPr>
          <a:xfrm>
            <a:off x="3098800" y="1972270"/>
            <a:ext cx="13465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D2D2D"/>
                </a:solidFill>
                <a:latin typeface="Arial" pitchFamily="34" charset="0"/>
                <a:ea typeface="Arial" pitchFamily="34" charset="-122"/>
                <a:cs typeface="Arial" pitchFamily="34" charset="-120"/>
              </a:rPr>
              <a:t>Architecture</a:t>
            </a:r>
            <a:endParaRPr lang="en-US" sz="1500" dirty="0"/>
          </a:p>
        </p:txBody>
      </p:sp>
      <p:sp>
        <p:nvSpPr>
          <p:cNvPr id="11" name="Text 9"/>
          <p:cNvSpPr/>
          <p:nvPr/>
        </p:nvSpPr>
        <p:spPr>
          <a:xfrm>
            <a:off x="3098800" y="2277070"/>
            <a:ext cx="162560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B6B"/>
                </a:solidFill>
                <a:latin typeface="Arial" pitchFamily="34" charset="0"/>
                <a:ea typeface="Arial" pitchFamily="34" charset="-122"/>
                <a:cs typeface="Arial" pitchFamily="34" charset="-120"/>
              </a:rPr>
              <a:t>Every component of a memory system, and how data moves between them.</a:t>
            </a:r>
            <a:endParaRPr lang="en-US" sz="1300" dirty="0"/>
          </a:p>
        </p:txBody>
      </p:sp>
      <p:sp>
        <p:nvSpPr>
          <p:cNvPr id="12" name="Shape 10"/>
          <p:cNvSpPr/>
          <p:nvPr/>
        </p:nvSpPr>
        <p:spPr>
          <a:xfrm>
            <a:off x="5032375" y="1501775"/>
            <a:ext cx="1924050" cy="2406650"/>
          </a:xfrm>
          <a:prstGeom prst="roundRect">
            <a:avLst>
              <a:gd name="adj" fmla="val 709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3" name="Text 11"/>
          <p:cNvSpPr/>
          <p:nvPr/>
        </p:nvSpPr>
        <p:spPr>
          <a:xfrm>
            <a:off x="5207000" y="168275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4634"/>
                </a:solidFill>
                <a:latin typeface="Courier New" pitchFamily="49" charset="0"/>
                <a:ea typeface="Courier New" pitchFamily="49" charset="-122"/>
                <a:cs typeface="Courier New" pitchFamily="49" charset="-120"/>
              </a:rPr>
              <a:t>03</a:t>
            </a:r>
            <a:endParaRPr lang="en-US" sz="1200" dirty="0"/>
          </a:p>
        </p:txBody>
      </p:sp>
      <p:sp>
        <p:nvSpPr>
          <p:cNvPr id="14" name="Text 12"/>
          <p:cNvSpPr/>
          <p:nvPr/>
        </p:nvSpPr>
        <p:spPr>
          <a:xfrm>
            <a:off x="5207000" y="1972270"/>
            <a:ext cx="16514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D2D2D"/>
                </a:solidFill>
                <a:latin typeface="Arial" pitchFamily="34" charset="0"/>
                <a:ea typeface="Arial" pitchFamily="34" charset="-122"/>
                <a:cs typeface="Arial" pitchFamily="34" charset="-120"/>
              </a:rPr>
              <a:t>The disciplines</a:t>
            </a:r>
            <a:endParaRPr lang="en-US" sz="1500" dirty="0"/>
          </a:p>
        </p:txBody>
      </p:sp>
      <p:sp>
        <p:nvSpPr>
          <p:cNvPr id="15" name="Text 13"/>
          <p:cNvSpPr/>
          <p:nvPr/>
        </p:nvSpPr>
        <p:spPr>
          <a:xfrm>
            <a:off x="5207000" y="2277070"/>
            <a:ext cx="1625600"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B6B"/>
                </a:solidFill>
                <a:latin typeface="Arial" pitchFamily="34" charset="0"/>
                <a:ea typeface="Arial" pitchFamily="34" charset="-122"/>
                <a:cs typeface="Arial" pitchFamily="34" charset="-120"/>
              </a:rPr>
              <a:t>Memory engineering and context engineering, with the techniques you will use today.</a:t>
            </a:r>
            <a:endParaRPr lang="en-US" sz="1300" dirty="0"/>
          </a:p>
        </p:txBody>
      </p:sp>
      <p:sp>
        <p:nvSpPr>
          <p:cNvPr id="16" name="Shape 14"/>
          <p:cNvSpPr/>
          <p:nvPr/>
        </p:nvSpPr>
        <p:spPr>
          <a:xfrm>
            <a:off x="7140575" y="1501775"/>
            <a:ext cx="1924050" cy="2406650"/>
          </a:xfrm>
          <a:prstGeom prst="roundRect">
            <a:avLst>
              <a:gd name="adj" fmla="val 709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7" name="Text 15"/>
          <p:cNvSpPr/>
          <p:nvPr/>
        </p:nvSpPr>
        <p:spPr>
          <a:xfrm>
            <a:off x="7315200" y="168275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4634"/>
                </a:solidFill>
                <a:latin typeface="Courier New" pitchFamily="49" charset="0"/>
                <a:ea typeface="Courier New" pitchFamily="49" charset="-122"/>
                <a:cs typeface="Courier New" pitchFamily="49" charset="-120"/>
              </a:rPr>
              <a:t>04</a:t>
            </a:r>
            <a:endParaRPr lang="en-US" sz="1200" dirty="0"/>
          </a:p>
        </p:txBody>
      </p:sp>
      <p:sp>
        <p:nvSpPr>
          <p:cNvPr id="18" name="Text 16"/>
          <p:cNvSpPr/>
          <p:nvPr/>
        </p:nvSpPr>
        <p:spPr>
          <a:xfrm>
            <a:off x="7315200" y="1972270"/>
            <a:ext cx="16256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D2D2D"/>
                </a:solidFill>
                <a:latin typeface="Arial" pitchFamily="34" charset="0"/>
                <a:ea typeface="Arial" pitchFamily="34" charset="-122"/>
                <a:cs typeface="Arial" pitchFamily="34" charset="-120"/>
              </a:rPr>
              <a:t>Oracle AI Agent Memory</a:t>
            </a:r>
            <a:endParaRPr lang="en-US" sz="1500" dirty="0"/>
          </a:p>
        </p:txBody>
      </p:sp>
      <p:sp>
        <p:nvSpPr>
          <p:cNvPr id="19" name="Text 17"/>
          <p:cNvSpPr/>
          <p:nvPr/>
        </p:nvSpPr>
        <p:spPr>
          <a:xfrm>
            <a:off x="7315200" y="2505670"/>
            <a:ext cx="162560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B6B"/>
                </a:solidFill>
                <a:latin typeface="Arial" pitchFamily="34" charset="0"/>
                <a:ea typeface="Arial" pitchFamily="34" charset="-122"/>
                <a:cs typeface="Arial" pitchFamily="34" charset="-120"/>
              </a:rPr>
              <a:t>Memory engineering in a box: why it exists, what is in it, where it shows up.</a:t>
            </a:r>
            <a:endParaRPr lang="en-US" sz="1300" dirty="0"/>
          </a:p>
        </p:txBody>
      </p:sp>
      <p:sp>
        <p:nvSpPr>
          <p:cNvPr id="20" name="Shape 18"/>
          <p:cNvSpPr/>
          <p:nvPr/>
        </p:nvSpPr>
        <p:spPr>
          <a:xfrm>
            <a:off x="9251950" y="1504950"/>
            <a:ext cx="1917700" cy="2400300"/>
          </a:xfrm>
          <a:prstGeom prst="roundRect">
            <a:avLst>
              <a:gd name="adj" fmla="val 6954"/>
            </a:avLst>
          </a:prstGeom>
          <a:solidFill>
            <a:srgbClr val="FFF4F1"/>
          </a:solidFill>
          <a:ln w="12700">
            <a:solidFill>
              <a:srgbClr val="C74634">
                <a:alpha val="50000"/>
              </a:srgbClr>
            </a:solidFill>
            <a:prstDash val="solid"/>
          </a:ln>
        </p:spPr>
      </p:sp>
      <p:sp>
        <p:nvSpPr>
          <p:cNvPr id="21" name="Text 19"/>
          <p:cNvSpPr/>
          <p:nvPr/>
        </p:nvSpPr>
        <p:spPr>
          <a:xfrm>
            <a:off x="9423400" y="168910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4634"/>
                </a:solidFill>
                <a:latin typeface="Courier New" pitchFamily="49" charset="0"/>
                <a:ea typeface="Courier New" pitchFamily="49" charset="-122"/>
                <a:cs typeface="Courier New" pitchFamily="49" charset="-120"/>
              </a:rPr>
              <a:t>05</a:t>
            </a:r>
            <a:endParaRPr lang="en-US" sz="1200" dirty="0"/>
          </a:p>
        </p:txBody>
      </p:sp>
      <p:sp>
        <p:nvSpPr>
          <p:cNvPr id="22" name="Text 20"/>
          <p:cNvSpPr/>
          <p:nvPr/>
        </p:nvSpPr>
        <p:spPr>
          <a:xfrm>
            <a:off x="9423400" y="1978620"/>
            <a:ext cx="5714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D2D2D"/>
                </a:solidFill>
                <a:latin typeface="Arial" pitchFamily="34" charset="0"/>
                <a:ea typeface="Arial" pitchFamily="34" charset="-122"/>
                <a:cs typeface="Arial" pitchFamily="34" charset="-120"/>
              </a:rPr>
              <a:t>Build</a:t>
            </a:r>
            <a:endParaRPr lang="en-US" sz="1500" dirty="0"/>
          </a:p>
        </p:txBody>
      </p:sp>
      <p:sp>
        <p:nvSpPr>
          <p:cNvPr id="23" name="Text 21"/>
          <p:cNvSpPr/>
          <p:nvPr/>
        </p:nvSpPr>
        <p:spPr>
          <a:xfrm>
            <a:off x="9423400" y="2283420"/>
            <a:ext cx="1625600" cy="14121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B6B"/>
                </a:solidFill>
                <a:latin typeface="Arial" pitchFamily="34" charset="0"/>
                <a:ea typeface="Arial" pitchFamily="34" charset="-122"/>
                <a:cs typeface="Arial" pitchFamily="34" charset="-120"/>
              </a:rPr>
              <a:t>The CityOps Copilot: a memory-aware field assistant on Oracle AI Database, then decision models.</a:t>
            </a:r>
            <a:endParaRPr lang="en-US" sz="1300" dirty="0"/>
          </a:p>
        </p:txBody>
      </p:sp>
      <p:sp>
        <p:nvSpPr>
          <p:cNvPr id="24" name="Text 22"/>
          <p:cNvSpPr/>
          <p:nvPr/>
        </p:nvSpPr>
        <p:spPr>
          <a:xfrm>
            <a:off x="812800" y="425450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D2D2D"/>
                </a:solidFill>
                <a:latin typeface="Arial" pitchFamily="34" charset="0"/>
                <a:ea typeface="Arial" pitchFamily="34" charset="-122"/>
                <a:cs typeface="Arial" pitchFamily="34" charset="-120"/>
              </a:rPr>
              <a:t>Ninety minutes. The first forty are the mental model, the rest is the notebook, with a short advanced section at the end for anyone who finishes early.</a:t>
            </a:r>
            <a:endParaRPr lang="en-US" sz="1400" dirty="0"/>
          </a:p>
        </p:txBody>
      </p:sp>
      <p:sp>
        <p:nvSpPr>
          <p:cNvPr id="25"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1587500"/>
            <a:ext cx="10883392" cy="1534120"/>
          </a:xfrm>
          <a:prstGeom prst="rect">
            <a:avLst/>
          </a:prstGeom>
          <a:noFill/>
          <a:ln/>
        </p:spPr>
        <p:txBody>
          <a:bodyPr wrap="square" lIns="0" tIns="0" rIns="0" bIns="0" rtlCol="0" anchor="t">
            <a:normAutofit/>
          </a:bodyPr>
          <a:lstStyle/>
          <a:p>
            <a:pPr algn="l" indent="0" marL="0">
              <a:lnSpc>
                <a:spcPts val="5940"/>
              </a:lnSpc>
              <a:buNone/>
            </a:pPr>
            <a:r>
              <a:rPr lang="en-US" sz="5500" b="1" i="0" spc="-150" kern="0" dirty="0">
                <a:solidFill>
                  <a:srgbClr val="FFFFFF"/>
                </a:solidFill>
                <a:latin typeface="Arial" pitchFamily="34" charset="0"/>
                <a:ea typeface="Arial" pitchFamily="34" charset="-122"/>
                <a:cs typeface="Arial" pitchFamily="34" charset="-120"/>
              </a:rPr>
              <a:t>Every model call</a:t>
            </a:r>
            <a:endParaRPr lang="en-US" sz="5500" dirty="0"/>
          </a:p>
          <a:p>
            <a:pPr algn="l" indent="0" marL="0">
              <a:lnSpc>
                <a:spcPts val="5940"/>
              </a:lnSpc>
              <a:buNone/>
            </a:pPr>
            <a:r>
              <a:rPr lang="en-US" sz="5500" b="1" i="0" spc="-150" kern="0" dirty="0">
                <a:solidFill>
                  <a:srgbClr val="FFFFFF"/>
                </a:solidFill>
                <a:latin typeface="Arial" pitchFamily="34" charset="0"/>
                <a:ea typeface="Arial" pitchFamily="34" charset="-122"/>
                <a:cs typeface="Arial" pitchFamily="34" charset="-120"/>
              </a:rPr>
              <a:t>starts </a:t>
            </a:r>
            <a:r>
              <a:rPr lang="en-US" sz="5500" b="1" i="0" spc="-150" kern="0" dirty="0">
                <a:solidFill>
                  <a:srgbClr val="C74634"/>
                </a:solidFill>
                <a:latin typeface="Arial" pitchFamily="34" charset="0"/>
                <a:ea typeface="Arial" pitchFamily="34" charset="-122"/>
                <a:cs typeface="Arial" pitchFamily="34" charset="-120"/>
              </a:rPr>
              <a:t>from zero</a:t>
            </a:r>
            <a:r>
              <a:rPr lang="en-US" sz="5500" b="1" i="0" spc="-150" kern="0" dirty="0">
                <a:solidFill>
                  <a:srgbClr val="FFFFFF"/>
                </a:solidFill>
                <a:latin typeface="Arial" pitchFamily="34" charset="0"/>
                <a:ea typeface="Arial" pitchFamily="34" charset="-122"/>
                <a:cs typeface="Arial" pitchFamily="34" charset="-120"/>
              </a:rPr>
              <a:t>.</a:t>
            </a:r>
            <a:endParaRPr lang="en-US" sz="5500" dirty="0"/>
          </a:p>
        </p:txBody>
      </p:sp>
      <p:sp>
        <p:nvSpPr>
          <p:cNvPr id="4" name="Text 2"/>
          <p:cNvSpPr/>
          <p:nvPr/>
        </p:nvSpPr>
        <p:spPr>
          <a:xfrm>
            <a:off x="812800" y="3365500"/>
            <a:ext cx="9810750" cy="98549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EB9B7"/>
                </a:solidFill>
                <a:latin typeface="Arial" pitchFamily="34" charset="0"/>
                <a:ea typeface="Arial" pitchFamily="34" charset="-122"/>
                <a:cs typeface="Arial" pitchFamily="34" charset="-120"/>
              </a:rPr>
              <a:t>Models are stateless. Everything the agent knows on this call is what the harness put into the context window. Without memory it rebuilds that context on every turn, repeats the mistake it was corrected on last week, and pays for the same tokens again.</a:t>
            </a:r>
            <a:endParaRPr lang="en-US" sz="1800" dirty="0"/>
          </a:p>
        </p:txBody>
      </p:sp>
      <p:sp>
        <p:nvSpPr>
          <p:cNvPr id="5" name="Text 3"/>
          <p:cNvSpPr/>
          <p:nvPr/>
        </p:nvSpPr>
        <p:spPr>
          <a:xfrm>
            <a:off x="817563" y="4957763"/>
            <a:ext cx="2459137" cy="393055"/>
          </a:xfrm>
          <a:prstGeom prst="roundRect">
            <a:avLst>
              <a:gd name="adj" fmla="val 50000"/>
            </a:avLst>
          </a:prstGeom>
          <a:solidFill>
            <a:srgbClr val="C74634">
              <a:alpha val="22000"/>
            </a:srgbClr>
          </a:solidFill>
          <a:ln w="9525">
            <a:solidFill>
              <a:srgbClr val="C74634"/>
            </a:solidFill>
            <a:prstDash val="solid"/>
          </a:ln>
        </p:spPr>
        <p:txBody>
          <a:bodyPr wrap="non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rebuilds context every turn</a:t>
            </a:r>
            <a:endParaRPr lang="en-US" sz="1300" dirty="0"/>
          </a:p>
        </p:txBody>
      </p:sp>
      <p:sp>
        <p:nvSpPr>
          <p:cNvPr id="6" name="Text 4"/>
          <p:cNvSpPr/>
          <p:nvPr/>
        </p:nvSpPr>
        <p:spPr>
          <a:xfrm>
            <a:off x="3413224" y="4957763"/>
            <a:ext cx="2478088" cy="393055"/>
          </a:xfrm>
          <a:prstGeom prst="roundRect">
            <a:avLst>
              <a:gd name="adj" fmla="val 50000"/>
            </a:avLst>
          </a:prstGeom>
          <a:solidFill>
            <a:srgbClr val="C74634">
              <a:alpha val="22000"/>
            </a:srgbClr>
          </a:solidFill>
          <a:ln w="9525">
            <a:solidFill>
              <a:srgbClr val="C74634"/>
            </a:solidFill>
            <a:prstDash val="solid"/>
          </a:ln>
        </p:spPr>
        <p:txBody>
          <a:bodyPr wrap="non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repeats corrected mistakes</a:t>
            </a:r>
            <a:endParaRPr lang="en-US" sz="1300" dirty="0"/>
          </a:p>
        </p:txBody>
      </p:sp>
      <p:sp>
        <p:nvSpPr>
          <p:cNvPr id="7" name="Text 5"/>
          <p:cNvSpPr/>
          <p:nvPr/>
        </p:nvSpPr>
        <p:spPr>
          <a:xfrm>
            <a:off x="6027837" y="4957763"/>
            <a:ext cx="2798763" cy="393055"/>
          </a:xfrm>
          <a:prstGeom prst="roundRect">
            <a:avLst>
              <a:gd name="adj" fmla="val 50000"/>
            </a:avLst>
          </a:prstGeom>
          <a:solidFill>
            <a:srgbClr val="C74634">
              <a:alpha val="22000"/>
            </a:srgbClr>
          </a:solidFill>
          <a:ln w="9525">
            <a:solidFill>
              <a:srgbClr val="C74634"/>
            </a:solidFill>
            <a:prstDash val="solid"/>
          </a:ln>
        </p:spPr>
        <p:txBody>
          <a:bodyPr wrap="none" lIns="0" tIns="0" rIns="0" bIns="0" rtlCol="0" anchor="ctr">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pays for the same tokens again</a:t>
            </a:r>
            <a:endParaRPr lang="en-US" sz="1300" dirty="0"/>
          </a:p>
        </p:txBody>
      </p:sp>
      <p:sp>
        <p:nvSpPr>
          <p:cNvPr id="8" name="Text 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90563" y="1147763"/>
            <a:ext cx="5324475" cy="5451475"/>
          </a:xfrm>
          <a:prstGeom prst="roundRect">
            <a:avLst>
              <a:gd name="adj" fmla="val 3011"/>
            </a:avLst>
          </a:prstGeom>
          <a:solidFill>
            <a:srgbClr val="C74634">
              <a:alpha val="9000"/>
            </a:srgbClr>
          </a:solidFill>
          <a:ln w="9525">
            <a:solidFill>
              <a:srgbClr val="C74634">
                <a:alpha val="40000"/>
              </a:srgbClr>
            </a:solidFill>
            <a:prstDash val="solid"/>
          </a:ln>
        </p:spPr>
      </p:sp>
      <p:sp>
        <p:nvSpPr>
          <p:cNvPr id="3" name="Shape 1"/>
          <p:cNvSpPr/>
          <p:nvPr/>
        </p:nvSpPr>
        <p:spPr>
          <a:xfrm>
            <a:off x="6176963" y="1147763"/>
            <a:ext cx="5324475" cy="5451475"/>
          </a:xfrm>
          <a:prstGeom prst="roundRect">
            <a:avLst>
              <a:gd name="adj" fmla="val 3011"/>
            </a:avLst>
          </a:prstGeom>
          <a:solidFill>
            <a:srgbClr val="FFFFFF">
              <a:alpha val="4000"/>
            </a:srgbClr>
          </a:solidFill>
          <a:ln w="9525">
            <a:solidFill>
              <a:srgbClr val="FFFFFF">
                <a:alpha val="14000"/>
              </a:srgbClr>
            </a:solidFill>
            <a:prstDash val="solid"/>
          </a:ln>
        </p:spPr>
      </p:sp>
      <p:sp>
        <p:nvSpPr>
          <p:cNvPr id="4" name="Shape 2"/>
          <p:cNvSpPr/>
          <p:nvPr/>
        </p:nvSpPr>
        <p:spPr>
          <a:xfrm>
            <a:off x="812800" y="457200"/>
            <a:ext cx="355600" cy="38100"/>
          </a:xfrm>
          <a:prstGeom prst="roundRect">
            <a:avLst>
              <a:gd name="adj" fmla="val 50000"/>
            </a:avLst>
          </a:prstGeom>
          <a:solidFill>
            <a:srgbClr val="C74634"/>
          </a:solidFill>
          <a:ln/>
        </p:spPr>
      </p:sp>
      <p:sp>
        <p:nvSpPr>
          <p:cNvPr id="5" name="Text 3"/>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Without memory: the same loop, turn by turn</a:t>
            </a:r>
            <a:endParaRPr lang="en-US" sz="2800" dirty="0"/>
          </a:p>
        </p:txBody>
      </p:sp>
      <p:sp>
        <p:nvSpPr>
          <p:cNvPr id="6" name="Text 4"/>
          <p:cNvSpPr/>
          <p:nvPr/>
        </p:nvSpPr>
        <p:spPr>
          <a:xfrm>
            <a:off x="838200" y="12573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836F"/>
                </a:solidFill>
                <a:latin typeface="Courier New" pitchFamily="49" charset="0"/>
                <a:ea typeface="Courier New" pitchFamily="49" charset="-122"/>
                <a:cs typeface="Courier New" pitchFamily="49" charset="-120"/>
              </a:rPr>
              <a:t>WITHOUT MEMORY</a:t>
            </a:r>
            <a:endParaRPr lang="en-US" sz="1200" dirty="0"/>
          </a:p>
        </p:txBody>
      </p:sp>
      <p:sp>
        <p:nvSpPr>
          <p:cNvPr id="7" name="Text 5"/>
          <p:cNvSpPr/>
          <p:nvPr/>
        </p:nvSpPr>
        <p:spPr>
          <a:xfrm>
            <a:off x="6324600" y="12573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EB9B7"/>
                </a:solidFill>
                <a:latin typeface="Courier New" pitchFamily="49" charset="0"/>
                <a:ea typeface="Courier New" pitchFamily="49" charset="-122"/>
                <a:cs typeface="Courier New" pitchFamily="49" charset="-120"/>
              </a:rPr>
              <a:t>WHAT IT COSTS, TURN BY TURN</a:t>
            </a:r>
            <a:endParaRPr lang="en-US" sz="1200" dirty="0"/>
          </a:p>
        </p:txBody>
      </p:sp>
      <p:sp>
        <p:nvSpPr>
          <p:cNvPr id="8" name="Shape 6"/>
          <p:cNvSpPr/>
          <p:nvPr/>
        </p:nvSpPr>
        <p:spPr>
          <a:xfrm>
            <a:off x="817563" y="1693863"/>
            <a:ext cx="1641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9" name="Image 0" descr="Users">    </p:cNvPr>
          <p:cNvPicPr>
            <a:picLocks noChangeAspect="1"/>
          </p:cNvPicPr>
          <p:nvPr/>
        </p:nvPicPr>
        <p:blipFill>
          <a:blip r:embed="rId1"/>
          <a:srcRect l="0" r="0" t="0" b="0"/>
          <a:stretch/>
        </p:blipFill>
        <p:spPr>
          <a:xfrm>
            <a:off x="901700" y="1816100"/>
            <a:ext cx="254000" cy="254000"/>
          </a:xfrm>
          <a:prstGeom prst="rect">
            <a:avLst/>
          </a:prstGeom>
        </p:spPr>
      </p:pic>
      <p:sp>
        <p:nvSpPr>
          <p:cNvPr id="10" name="Text 7"/>
          <p:cNvSpPr/>
          <p:nvPr/>
        </p:nvSpPr>
        <p:spPr>
          <a:xfrm>
            <a:off x="1244600" y="1836440"/>
            <a:ext cx="38968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User</a:t>
            </a:r>
            <a:endParaRPr lang="en-US" sz="1200" dirty="0"/>
          </a:p>
        </p:txBody>
      </p:sp>
      <p:sp>
        <p:nvSpPr>
          <p:cNvPr id="11" name="Shape 8"/>
          <p:cNvSpPr/>
          <p:nvPr/>
        </p:nvSpPr>
        <p:spPr>
          <a:xfrm>
            <a:off x="817563" y="2544763"/>
            <a:ext cx="1641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12" name="Image 1" descr="Settings">    </p:cNvPr>
          <p:cNvPicPr>
            <a:picLocks noChangeAspect="1"/>
          </p:cNvPicPr>
          <p:nvPr/>
        </p:nvPicPr>
        <p:blipFill>
          <a:blip r:embed="rId2"/>
          <a:srcRect l="0" r="0" t="0" b="0"/>
          <a:stretch/>
        </p:blipFill>
        <p:spPr>
          <a:xfrm>
            <a:off x="901700" y="2667000"/>
            <a:ext cx="254000" cy="254000"/>
          </a:xfrm>
          <a:prstGeom prst="rect">
            <a:avLst/>
          </a:prstGeom>
        </p:spPr>
      </p:pic>
      <p:sp>
        <p:nvSpPr>
          <p:cNvPr id="13" name="Text 9"/>
          <p:cNvSpPr/>
          <p:nvPr/>
        </p:nvSpPr>
        <p:spPr>
          <a:xfrm>
            <a:off x="1244600" y="268734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Agent harness</a:t>
            </a:r>
            <a:endParaRPr lang="en-US" sz="1200" dirty="0"/>
          </a:p>
        </p:txBody>
      </p:sp>
      <p:pic>
        <p:nvPicPr>
          <p:cNvPr id="14" name="Image 2" descr="user to harness">    </p:cNvPr>
          <p:cNvPicPr>
            <a:picLocks noChangeAspect="1"/>
          </p:cNvPicPr>
          <p:nvPr/>
        </p:nvPicPr>
        <p:blipFill>
          <a:blip r:embed="rId3"/>
          <a:srcRect l="0" r="0" t="0" b="0"/>
          <a:stretch/>
        </p:blipFill>
        <p:spPr>
          <a:xfrm>
            <a:off x="0" y="0"/>
            <a:ext cx="12192000" cy="6858000"/>
          </a:xfrm>
          <a:prstGeom prst="rect">
            <a:avLst/>
          </a:prstGeom>
        </p:spPr>
      </p:pic>
      <p:sp>
        <p:nvSpPr>
          <p:cNvPr id="15" name="Shape 10"/>
          <p:cNvSpPr/>
          <p:nvPr/>
        </p:nvSpPr>
        <p:spPr>
          <a:xfrm>
            <a:off x="817563" y="3395663"/>
            <a:ext cx="5070475" cy="1577975"/>
          </a:xfrm>
          <a:prstGeom prst="roundRect">
            <a:avLst>
              <a:gd name="adj" fmla="val 6942"/>
            </a:avLst>
          </a:prstGeom>
          <a:solidFill>
            <a:srgbClr val="C74634">
              <a:alpha val="10000"/>
            </a:srgbClr>
          </a:solidFill>
          <a:ln w="9525">
            <a:solidFill>
              <a:srgbClr val="C74634">
                <a:alpha val="60000"/>
              </a:srgbClr>
            </a:solidFill>
            <a:prstDash val="solid"/>
          </a:ln>
        </p:spPr>
      </p:sp>
      <p:sp>
        <p:nvSpPr>
          <p:cNvPr id="16" name="Text 11"/>
          <p:cNvSpPr/>
          <p:nvPr/>
        </p:nvSpPr>
        <p:spPr>
          <a:xfrm>
            <a:off x="939800" y="3527425"/>
            <a:ext cx="4505740"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E8836F"/>
                </a:solidFill>
                <a:latin typeface="Courier New" pitchFamily="49" charset="0"/>
                <a:ea typeface="Courier New" pitchFamily="49" charset="-122"/>
                <a:cs typeface="Courier New" pitchFamily="49" charset="-120"/>
              </a:rPr>
              <a:t>CONTEXT WINDOW · whole history, every call</a:t>
            </a:r>
            <a:endParaRPr lang="en-US" sz="1200" dirty="0"/>
          </a:p>
        </p:txBody>
      </p:sp>
      <p:pic>
        <p:nvPicPr>
          <p:cNvPr id="17" name="Image 3" descr="harness to window">    </p:cNvPr>
          <p:cNvPicPr>
            <a:picLocks noChangeAspect="1"/>
          </p:cNvPicPr>
          <p:nvPr/>
        </p:nvPicPr>
        <p:blipFill>
          <a:blip r:embed="rId4"/>
          <a:srcRect l="0" r="0" t="0" b="0"/>
          <a:stretch/>
        </p:blipFill>
        <p:spPr>
          <a:xfrm>
            <a:off x="0" y="0"/>
            <a:ext cx="12192000" cy="6858000"/>
          </a:xfrm>
          <a:prstGeom prst="rect">
            <a:avLst/>
          </a:prstGeom>
        </p:spPr>
      </p:pic>
      <p:sp>
        <p:nvSpPr>
          <p:cNvPr id="18" name="Text 12"/>
          <p:cNvSpPr/>
          <p:nvPr/>
        </p:nvSpPr>
        <p:spPr>
          <a:xfrm>
            <a:off x="1739900" y="31369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replays everything</a:t>
            </a:r>
            <a:endParaRPr lang="en-US" sz="1200" dirty="0"/>
          </a:p>
        </p:txBody>
      </p:sp>
      <p:sp>
        <p:nvSpPr>
          <p:cNvPr id="19" name="Shape 13"/>
          <p:cNvSpPr/>
          <p:nvPr/>
        </p:nvSpPr>
        <p:spPr>
          <a:xfrm>
            <a:off x="6329363" y="1528763"/>
            <a:ext cx="5019675" cy="2466975"/>
          </a:xfrm>
          <a:prstGeom prst="roundRect">
            <a:avLst>
              <a:gd name="adj" fmla="val 4440"/>
            </a:avLst>
          </a:prstGeom>
          <a:solidFill>
            <a:srgbClr val="1E2A2A">
              <a:alpha val="55000"/>
            </a:srgbClr>
          </a:solidFill>
          <a:ln w="9525">
            <a:solidFill>
              <a:srgbClr val="FFFFFF">
                <a:alpha val="16000"/>
              </a:srgbClr>
            </a:solidFill>
            <a:prstDash val="solid"/>
          </a:ln>
        </p:spPr>
      </p:sp>
      <p:sp>
        <p:nvSpPr>
          <p:cNvPr id="20" name="Text 14"/>
          <p:cNvSpPr/>
          <p:nvPr/>
        </p:nvSpPr>
        <p:spPr>
          <a:xfrm>
            <a:off x="6477000" y="1625600"/>
            <a:ext cx="3924300" cy="203200"/>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AEB9B7"/>
                </a:solidFill>
                <a:latin typeface="Courier New" pitchFamily="49" charset="0"/>
                <a:ea typeface="Courier New" pitchFamily="49" charset="-122"/>
                <a:cs typeface="Courier New" pitchFamily="49" charset="-120"/>
              </a:rPr>
              <a:t>TOKENS SENT PER TURN</a:t>
            </a:r>
            <a:endParaRPr lang="en-US" sz="1000" dirty="0"/>
          </a:p>
        </p:txBody>
      </p:sp>
      <p:sp>
        <p:nvSpPr>
          <p:cNvPr id="21" name="Shape 15"/>
          <p:cNvSpPr/>
          <p:nvPr/>
        </p:nvSpPr>
        <p:spPr>
          <a:xfrm>
            <a:off x="6553200" y="3683000"/>
            <a:ext cx="4699000" cy="12700"/>
          </a:xfrm>
          <a:prstGeom prst="rect">
            <a:avLst/>
          </a:prstGeom>
          <a:solidFill>
            <a:srgbClr val="FFFFFF">
              <a:alpha val="30000"/>
            </a:srgbClr>
          </a:solidFill>
          <a:ln/>
        </p:spPr>
      </p:sp>
      <p:sp>
        <p:nvSpPr>
          <p:cNvPr id="22" name="Text 16"/>
          <p:cNvSpPr/>
          <p:nvPr/>
        </p:nvSpPr>
        <p:spPr>
          <a:xfrm>
            <a:off x="65786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1</a:t>
            </a:r>
            <a:endParaRPr lang="en-US" sz="1000" dirty="0"/>
          </a:p>
        </p:txBody>
      </p:sp>
      <p:sp>
        <p:nvSpPr>
          <p:cNvPr id="23" name="Text 17"/>
          <p:cNvSpPr/>
          <p:nvPr/>
        </p:nvSpPr>
        <p:spPr>
          <a:xfrm>
            <a:off x="70485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2</a:t>
            </a:r>
            <a:endParaRPr lang="en-US" sz="1000" dirty="0"/>
          </a:p>
        </p:txBody>
      </p:sp>
      <p:sp>
        <p:nvSpPr>
          <p:cNvPr id="24" name="Text 18"/>
          <p:cNvSpPr/>
          <p:nvPr/>
        </p:nvSpPr>
        <p:spPr>
          <a:xfrm>
            <a:off x="75184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3</a:t>
            </a:r>
            <a:endParaRPr lang="en-US" sz="1000" dirty="0"/>
          </a:p>
        </p:txBody>
      </p:sp>
      <p:sp>
        <p:nvSpPr>
          <p:cNvPr id="25" name="Text 19"/>
          <p:cNvSpPr/>
          <p:nvPr/>
        </p:nvSpPr>
        <p:spPr>
          <a:xfrm>
            <a:off x="79883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4</a:t>
            </a:r>
            <a:endParaRPr lang="en-US" sz="1000" dirty="0"/>
          </a:p>
        </p:txBody>
      </p:sp>
      <p:sp>
        <p:nvSpPr>
          <p:cNvPr id="26" name="Text 20"/>
          <p:cNvSpPr/>
          <p:nvPr/>
        </p:nvSpPr>
        <p:spPr>
          <a:xfrm>
            <a:off x="84582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5</a:t>
            </a:r>
            <a:endParaRPr lang="en-US" sz="1000" dirty="0"/>
          </a:p>
        </p:txBody>
      </p:sp>
      <p:sp>
        <p:nvSpPr>
          <p:cNvPr id="27" name="Text 21"/>
          <p:cNvSpPr/>
          <p:nvPr/>
        </p:nvSpPr>
        <p:spPr>
          <a:xfrm>
            <a:off x="89281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6</a:t>
            </a:r>
            <a:endParaRPr lang="en-US" sz="1000" dirty="0"/>
          </a:p>
        </p:txBody>
      </p:sp>
      <p:sp>
        <p:nvSpPr>
          <p:cNvPr id="28" name="Text 22"/>
          <p:cNvSpPr/>
          <p:nvPr/>
        </p:nvSpPr>
        <p:spPr>
          <a:xfrm>
            <a:off x="93980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7</a:t>
            </a:r>
            <a:endParaRPr lang="en-US" sz="1000" dirty="0"/>
          </a:p>
        </p:txBody>
      </p:sp>
      <p:sp>
        <p:nvSpPr>
          <p:cNvPr id="29" name="Text 23"/>
          <p:cNvSpPr/>
          <p:nvPr/>
        </p:nvSpPr>
        <p:spPr>
          <a:xfrm>
            <a:off x="98679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8</a:t>
            </a:r>
            <a:endParaRPr lang="en-US" sz="1000" dirty="0"/>
          </a:p>
        </p:txBody>
      </p:sp>
      <p:sp>
        <p:nvSpPr>
          <p:cNvPr id="30" name="Text 24"/>
          <p:cNvSpPr/>
          <p:nvPr/>
        </p:nvSpPr>
        <p:spPr>
          <a:xfrm>
            <a:off x="103378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9</a:t>
            </a:r>
            <a:endParaRPr lang="en-US" sz="1000" dirty="0"/>
          </a:p>
        </p:txBody>
      </p:sp>
      <p:sp>
        <p:nvSpPr>
          <p:cNvPr id="31" name="Text 25"/>
          <p:cNvSpPr/>
          <p:nvPr/>
        </p:nvSpPr>
        <p:spPr>
          <a:xfrm>
            <a:off x="108077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10</a:t>
            </a:r>
            <a:endParaRPr lang="en-US" sz="1000" dirty="0"/>
          </a:p>
        </p:txBody>
      </p:sp>
      <p:sp>
        <p:nvSpPr>
          <p:cNvPr id="32" name="Shape 26"/>
          <p:cNvSpPr/>
          <p:nvPr/>
        </p:nvSpPr>
        <p:spPr>
          <a:xfrm>
            <a:off x="6329363" y="4132263"/>
            <a:ext cx="5019675" cy="2466975"/>
          </a:xfrm>
          <a:prstGeom prst="roundRect">
            <a:avLst>
              <a:gd name="adj" fmla="val 4440"/>
            </a:avLst>
          </a:prstGeom>
          <a:solidFill>
            <a:srgbClr val="1E2A2A">
              <a:alpha val="55000"/>
            </a:srgbClr>
          </a:solidFill>
          <a:ln w="9525">
            <a:solidFill>
              <a:srgbClr val="FFFFFF">
                <a:alpha val="16000"/>
              </a:srgbClr>
            </a:solidFill>
            <a:prstDash val="solid"/>
          </a:ln>
        </p:spPr>
      </p:sp>
      <p:sp>
        <p:nvSpPr>
          <p:cNvPr id="33" name="Text 27"/>
          <p:cNvSpPr/>
          <p:nvPr/>
        </p:nvSpPr>
        <p:spPr>
          <a:xfrm>
            <a:off x="6477000" y="4229100"/>
            <a:ext cx="3924300" cy="203200"/>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AEB9B7"/>
                </a:solidFill>
                <a:latin typeface="Courier New" pitchFamily="49" charset="0"/>
                <a:ea typeface="Courier New" pitchFamily="49" charset="-122"/>
                <a:cs typeface="Courier New" pitchFamily="49" charset="-120"/>
              </a:rPr>
              <a:t>TOKENS BILLED, CUMULATIVE</a:t>
            </a:r>
            <a:endParaRPr lang="en-US" sz="1000" dirty="0"/>
          </a:p>
        </p:txBody>
      </p:sp>
      <p:sp>
        <p:nvSpPr>
          <p:cNvPr id="34" name="Shape 28"/>
          <p:cNvSpPr/>
          <p:nvPr/>
        </p:nvSpPr>
        <p:spPr>
          <a:xfrm>
            <a:off x="6553200" y="6286500"/>
            <a:ext cx="4699000" cy="12700"/>
          </a:xfrm>
          <a:prstGeom prst="rect">
            <a:avLst/>
          </a:prstGeom>
          <a:solidFill>
            <a:srgbClr val="FFFFFF">
              <a:alpha val="30000"/>
            </a:srgbClr>
          </a:solidFill>
          <a:ln/>
        </p:spPr>
      </p:sp>
      <p:sp>
        <p:nvSpPr>
          <p:cNvPr id="35" name="Text 29"/>
          <p:cNvSpPr/>
          <p:nvPr/>
        </p:nvSpPr>
        <p:spPr>
          <a:xfrm>
            <a:off x="65786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1</a:t>
            </a:r>
            <a:endParaRPr lang="en-US" sz="1000" dirty="0"/>
          </a:p>
        </p:txBody>
      </p:sp>
      <p:sp>
        <p:nvSpPr>
          <p:cNvPr id="36" name="Text 30"/>
          <p:cNvSpPr/>
          <p:nvPr/>
        </p:nvSpPr>
        <p:spPr>
          <a:xfrm>
            <a:off x="70485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2</a:t>
            </a:r>
            <a:endParaRPr lang="en-US" sz="1000" dirty="0"/>
          </a:p>
        </p:txBody>
      </p:sp>
      <p:sp>
        <p:nvSpPr>
          <p:cNvPr id="37" name="Text 31"/>
          <p:cNvSpPr/>
          <p:nvPr/>
        </p:nvSpPr>
        <p:spPr>
          <a:xfrm>
            <a:off x="75184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3</a:t>
            </a:r>
            <a:endParaRPr lang="en-US" sz="1000" dirty="0"/>
          </a:p>
        </p:txBody>
      </p:sp>
      <p:sp>
        <p:nvSpPr>
          <p:cNvPr id="38" name="Text 32"/>
          <p:cNvSpPr/>
          <p:nvPr/>
        </p:nvSpPr>
        <p:spPr>
          <a:xfrm>
            <a:off x="79883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4</a:t>
            </a:r>
            <a:endParaRPr lang="en-US" sz="1000" dirty="0"/>
          </a:p>
        </p:txBody>
      </p:sp>
      <p:sp>
        <p:nvSpPr>
          <p:cNvPr id="39" name="Text 33"/>
          <p:cNvSpPr/>
          <p:nvPr/>
        </p:nvSpPr>
        <p:spPr>
          <a:xfrm>
            <a:off x="84582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5</a:t>
            </a:r>
            <a:endParaRPr lang="en-US" sz="1000" dirty="0"/>
          </a:p>
        </p:txBody>
      </p:sp>
      <p:sp>
        <p:nvSpPr>
          <p:cNvPr id="40" name="Text 34"/>
          <p:cNvSpPr/>
          <p:nvPr/>
        </p:nvSpPr>
        <p:spPr>
          <a:xfrm>
            <a:off x="89281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6</a:t>
            </a:r>
            <a:endParaRPr lang="en-US" sz="1000" dirty="0"/>
          </a:p>
        </p:txBody>
      </p:sp>
      <p:sp>
        <p:nvSpPr>
          <p:cNvPr id="41" name="Text 35"/>
          <p:cNvSpPr/>
          <p:nvPr/>
        </p:nvSpPr>
        <p:spPr>
          <a:xfrm>
            <a:off x="93980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7</a:t>
            </a:r>
            <a:endParaRPr lang="en-US" sz="1000" dirty="0"/>
          </a:p>
        </p:txBody>
      </p:sp>
      <p:sp>
        <p:nvSpPr>
          <p:cNvPr id="42" name="Text 36"/>
          <p:cNvSpPr/>
          <p:nvPr/>
        </p:nvSpPr>
        <p:spPr>
          <a:xfrm>
            <a:off x="98679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8</a:t>
            </a:r>
            <a:endParaRPr lang="en-US" sz="1000" dirty="0"/>
          </a:p>
        </p:txBody>
      </p:sp>
      <p:sp>
        <p:nvSpPr>
          <p:cNvPr id="43" name="Text 37"/>
          <p:cNvSpPr/>
          <p:nvPr/>
        </p:nvSpPr>
        <p:spPr>
          <a:xfrm>
            <a:off x="103378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9</a:t>
            </a:r>
            <a:endParaRPr lang="en-US" sz="1000" dirty="0"/>
          </a:p>
        </p:txBody>
      </p:sp>
      <p:sp>
        <p:nvSpPr>
          <p:cNvPr id="44" name="Text 38"/>
          <p:cNvSpPr/>
          <p:nvPr/>
        </p:nvSpPr>
        <p:spPr>
          <a:xfrm>
            <a:off x="108077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10</a:t>
            </a:r>
            <a:endParaRPr lang="en-US" sz="1000" dirty="0"/>
          </a:p>
        </p:txBody>
      </p:sp>
      <p:sp>
        <p:nvSpPr>
          <p:cNvPr id="45" name="Text 39"/>
          <p:cNvSpPr/>
          <p:nvPr/>
        </p:nvSpPr>
        <p:spPr>
          <a:xfrm>
            <a:off x="939800" y="37846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1</a:t>
            </a:r>
            <a:endParaRPr lang="en-US" sz="1200" dirty="0"/>
          </a:p>
        </p:txBody>
      </p:sp>
      <p:sp>
        <p:nvSpPr>
          <p:cNvPr id="46" name="Shape 40"/>
          <p:cNvSpPr/>
          <p:nvPr/>
        </p:nvSpPr>
        <p:spPr>
          <a:xfrm>
            <a:off x="6604000" y="3416300"/>
            <a:ext cx="304800" cy="266700"/>
          </a:xfrm>
          <a:prstGeom prst="roundRect">
            <a:avLst>
              <a:gd name="adj" fmla="val 14286"/>
            </a:avLst>
          </a:prstGeom>
          <a:solidFill>
            <a:srgbClr val="E8836F">
              <a:alpha val="85000"/>
            </a:srgbClr>
          </a:solidFill>
          <a:ln/>
        </p:spPr>
      </p:sp>
      <p:sp>
        <p:nvSpPr>
          <p:cNvPr id="47" name="Shape 41"/>
          <p:cNvSpPr/>
          <p:nvPr/>
        </p:nvSpPr>
        <p:spPr>
          <a:xfrm>
            <a:off x="6604000" y="6242050"/>
            <a:ext cx="304800" cy="44450"/>
          </a:xfrm>
          <a:prstGeom prst="roundRect">
            <a:avLst>
              <a:gd name="adj" fmla="val 50000"/>
            </a:avLst>
          </a:prstGeom>
          <a:solidFill>
            <a:srgbClr val="E8836F">
              <a:alpha val="85000"/>
            </a:srgbClr>
          </a:solidFill>
          <a:ln/>
        </p:spPr>
      </p:sp>
      <p:sp>
        <p:nvSpPr>
          <p:cNvPr id="48" name="Text 42"/>
          <p:cNvSpPr/>
          <p:nvPr/>
        </p:nvSpPr>
        <p:spPr>
          <a:xfrm>
            <a:off x="1905000" y="37846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2</a:t>
            </a:r>
            <a:endParaRPr lang="en-US" sz="1200" dirty="0"/>
          </a:p>
        </p:txBody>
      </p:sp>
      <p:sp>
        <p:nvSpPr>
          <p:cNvPr id="49" name="Shape 43"/>
          <p:cNvSpPr/>
          <p:nvPr/>
        </p:nvSpPr>
        <p:spPr>
          <a:xfrm>
            <a:off x="7073900" y="3270250"/>
            <a:ext cx="304800" cy="412750"/>
          </a:xfrm>
          <a:prstGeom prst="roundRect">
            <a:avLst>
              <a:gd name="adj" fmla="val 12500"/>
            </a:avLst>
          </a:prstGeom>
          <a:solidFill>
            <a:srgbClr val="E8836F">
              <a:alpha val="85000"/>
            </a:srgbClr>
          </a:solidFill>
          <a:ln/>
        </p:spPr>
      </p:sp>
      <p:sp>
        <p:nvSpPr>
          <p:cNvPr id="50" name="Shape 44"/>
          <p:cNvSpPr/>
          <p:nvPr/>
        </p:nvSpPr>
        <p:spPr>
          <a:xfrm>
            <a:off x="7073900" y="6172200"/>
            <a:ext cx="304800" cy="114300"/>
          </a:xfrm>
          <a:prstGeom prst="roundRect">
            <a:avLst>
              <a:gd name="adj" fmla="val 33333"/>
            </a:avLst>
          </a:prstGeom>
          <a:solidFill>
            <a:srgbClr val="E8836F">
              <a:alpha val="85000"/>
            </a:srgbClr>
          </a:solidFill>
          <a:ln/>
        </p:spPr>
      </p:sp>
      <p:sp>
        <p:nvSpPr>
          <p:cNvPr id="51" name="Text 45"/>
          <p:cNvSpPr/>
          <p:nvPr/>
        </p:nvSpPr>
        <p:spPr>
          <a:xfrm>
            <a:off x="2870200" y="37846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3</a:t>
            </a:r>
            <a:endParaRPr lang="en-US" sz="1200" dirty="0"/>
          </a:p>
        </p:txBody>
      </p:sp>
      <p:sp>
        <p:nvSpPr>
          <p:cNvPr id="52" name="Shape 46"/>
          <p:cNvSpPr/>
          <p:nvPr/>
        </p:nvSpPr>
        <p:spPr>
          <a:xfrm>
            <a:off x="7543800" y="3136900"/>
            <a:ext cx="304800" cy="546100"/>
          </a:xfrm>
          <a:prstGeom prst="roundRect">
            <a:avLst>
              <a:gd name="adj" fmla="val 12500"/>
            </a:avLst>
          </a:prstGeom>
          <a:solidFill>
            <a:srgbClr val="E8836F">
              <a:alpha val="85000"/>
            </a:srgbClr>
          </a:solidFill>
          <a:ln/>
        </p:spPr>
      </p:sp>
      <p:sp>
        <p:nvSpPr>
          <p:cNvPr id="53" name="Shape 47"/>
          <p:cNvSpPr/>
          <p:nvPr/>
        </p:nvSpPr>
        <p:spPr>
          <a:xfrm>
            <a:off x="7543800" y="6076950"/>
            <a:ext cx="304800" cy="209550"/>
          </a:xfrm>
          <a:prstGeom prst="roundRect">
            <a:avLst>
              <a:gd name="adj" fmla="val 18182"/>
            </a:avLst>
          </a:prstGeom>
          <a:solidFill>
            <a:srgbClr val="E8836F">
              <a:alpha val="85000"/>
            </a:srgbClr>
          </a:solidFill>
          <a:ln/>
        </p:spPr>
      </p:sp>
      <p:sp>
        <p:nvSpPr>
          <p:cNvPr id="54" name="Text 48"/>
          <p:cNvSpPr/>
          <p:nvPr/>
        </p:nvSpPr>
        <p:spPr>
          <a:xfrm>
            <a:off x="3835400" y="37846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4</a:t>
            </a:r>
            <a:endParaRPr lang="en-US" sz="1200" dirty="0"/>
          </a:p>
        </p:txBody>
      </p:sp>
      <p:sp>
        <p:nvSpPr>
          <p:cNvPr id="55" name="Shape 49"/>
          <p:cNvSpPr/>
          <p:nvPr/>
        </p:nvSpPr>
        <p:spPr>
          <a:xfrm>
            <a:off x="8013700" y="2990850"/>
            <a:ext cx="304800" cy="692150"/>
          </a:xfrm>
          <a:prstGeom prst="roundRect">
            <a:avLst>
              <a:gd name="adj" fmla="val 12500"/>
            </a:avLst>
          </a:prstGeom>
          <a:solidFill>
            <a:srgbClr val="E8836F">
              <a:alpha val="85000"/>
            </a:srgbClr>
          </a:solidFill>
          <a:ln/>
        </p:spPr>
      </p:sp>
      <p:sp>
        <p:nvSpPr>
          <p:cNvPr id="56" name="Shape 50"/>
          <p:cNvSpPr/>
          <p:nvPr/>
        </p:nvSpPr>
        <p:spPr>
          <a:xfrm>
            <a:off x="8013700" y="5962650"/>
            <a:ext cx="304800" cy="323850"/>
          </a:xfrm>
          <a:prstGeom prst="roundRect">
            <a:avLst>
              <a:gd name="adj" fmla="val 12500"/>
            </a:avLst>
          </a:prstGeom>
          <a:solidFill>
            <a:srgbClr val="E8836F">
              <a:alpha val="85000"/>
            </a:srgbClr>
          </a:solidFill>
          <a:ln/>
        </p:spPr>
      </p:sp>
      <p:sp>
        <p:nvSpPr>
          <p:cNvPr id="57" name="Text 51"/>
          <p:cNvSpPr/>
          <p:nvPr/>
        </p:nvSpPr>
        <p:spPr>
          <a:xfrm>
            <a:off x="4800600" y="37846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5</a:t>
            </a:r>
            <a:endParaRPr lang="en-US" sz="1200" dirty="0"/>
          </a:p>
        </p:txBody>
      </p:sp>
      <p:sp>
        <p:nvSpPr>
          <p:cNvPr id="58" name="Shape 52"/>
          <p:cNvSpPr/>
          <p:nvPr/>
        </p:nvSpPr>
        <p:spPr>
          <a:xfrm>
            <a:off x="8483600" y="2857500"/>
            <a:ext cx="304800" cy="825500"/>
          </a:xfrm>
          <a:prstGeom prst="roundRect">
            <a:avLst>
              <a:gd name="adj" fmla="val 12500"/>
            </a:avLst>
          </a:prstGeom>
          <a:solidFill>
            <a:srgbClr val="E8836F">
              <a:alpha val="85000"/>
            </a:srgbClr>
          </a:solidFill>
          <a:ln/>
        </p:spPr>
      </p:sp>
      <p:sp>
        <p:nvSpPr>
          <p:cNvPr id="59" name="Shape 53"/>
          <p:cNvSpPr/>
          <p:nvPr/>
        </p:nvSpPr>
        <p:spPr>
          <a:xfrm>
            <a:off x="8483600" y="5822950"/>
            <a:ext cx="304800" cy="463550"/>
          </a:xfrm>
          <a:prstGeom prst="roundRect">
            <a:avLst>
              <a:gd name="adj" fmla="val 12500"/>
            </a:avLst>
          </a:prstGeom>
          <a:solidFill>
            <a:srgbClr val="E8836F">
              <a:alpha val="85000"/>
            </a:srgbClr>
          </a:solidFill>
          <a:ln/>
        </p:spPr>
      </p:sp>
      <p:sp>
        <p:nvSpPr>
          <p:cNvPr id="60" name="Text 54"/>
          <p:cNvSpPr/>
          <p:nvPr/>
        </p:nvSpPr>
        <p:spPr>
          <a:xfrm>
            <a:off x="939800" y="41148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6</a:t>
            </a:r>
            <a:endParaRPr lang="en-US" sz="1200" dirty="0"/>
          </a:p>
        </p:txBody>
      </p:sp>
      <p:sp>
        <p:nvSpPr>
          <p:cNvPr id="61" name="Shape 55"/>
          <p:cNvSpPr/>
          <p:nvPr/>
        </p:nvSpPr>
        <p:spPr>
          <a:xfrm>
            <a:off x="8953500" y="2717800"/>
            <a:ext cx="304800" cy="965200"/>
          </a:xfrm>
          <a:prstGeom prst="roundRect">
            <a:avLst>
              <a:gd name="adj" fmla="val 12500"/>
            </a:avLst>
          </a:prstGeom>
          <a:solidFill>
            <a:srgbClr val="E8836F">
              <a:alpha val="85000"/>
            </a:srgbClr>
          </a:solidFill>
          <a:ln/>
        </p:spPr>
      </p:sp>
      <p:sp>
        <p:nvSpPr>
          <p:cNvPr id="62" name="Shape 56"/>
          <p:cNvSpPr/>
          <p:nvPr/>
        </p:nvSpPr>
        <p:spPr>
          <a:xfrm>
            <a:off x="8953500" y="5657850"/>
            <a:ext cx="304800" cy="628650"/>
          </a:xfrm>
          <a:prstGeom prst="roundRect">
            <a:avLst>
              <a:gd name="adj" fmla="val 12500"/>
            </a:avLst>
          </a:prstGeom>
          <a:solidFill>
            <a:srgbClr val="E8836F">
              <a:alpha val="85000"/>
            </a:srgbClr>
          </a:solidFill>
          <a:ln/>
        </p:spPr>
      </p:sp>
      <p:sp>
        <p:nvSpPr>
          <p:cNvPr id="63" name="Text 57"/>
          <p:cNvSpPr/>
          <p:nvPr/>
        </p:nvSpPr>
        <p:spPr>
          <a:xfrm>
            <a:off x="1905000" y="41148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7</a:t>
            </a:r>
            <a:endParaRPr lang="en-US" sz="1200" dirty="0"/>
          </a:p>
        </p:txBody>
      </p:sp>
      <p:sp>
        <p:nvSpPr>
          <p:cNvPr id="64" name="Shape 58"/>
          <p:cNvSpPr/>
          <p:nvPr/>
        </p:nvSpPr>
        <p:spPr>
          <a:xfrm>
            <a:off x="9423400" y="2578100"/>
            <a:ext cx="304800" cy="1104900"/>
          </a:xfrm>
          <a:prstGeom prst="roundRect">
            <a:avLst>
              <a:gd name="adj" fmla="val 12500"/>
            </a:avLst>
          </a:prstGeom>
          <a:solidFill>
            <a:srgbClr val="E8836F">
              <a:alpha val="85000"/>
            </a:srgbClr>
          </a:solidFill>
          <a:ln/>
        </p:spPr>
      </p:sp>
      <p:sp>
        <p:nvSpPr>
          <p:cNvPr id="65" name="Shape 59"/>
          <p:cNvSpPr/>
          <p:nvPr/>
        </p:nvSpPr>
        <p:spPr>
          <a:xfrm>
            <a:off x="9423400" y="5467350"/>
            <a:ext cx="304800" cy="819150"/>
          </a:xfrm>
          <a:prstGeom prst="roundRect">
            <a:avLst>
              <a:gd name="adj" fmla="val 12500"/>
            </a:avLst>
          </a:prstGeom>
          <a:solidFill>
            <a:srgbClr val="E8836F">
              <a:alpha val="85000"/>
            </a:srgbClr>
          </a:solidFill>
          <a:ln/>
        </p:spPr>
      </p:sp>
      <p:sp>
        <p:nvSpPr>
          <p:cNvPr id="66" name="Text 60"/>
          <p:cNvSpPr/>
          <p:nvPr/>
        </p:nvSpPr>
        <p:spPr>
          <a:xfrm>
            <a:off x="2870200" y="41148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8</a:t>
            </a:r>
            <a:endParaRPr lang="en-US" sz="1200" dirty="0"/>
          </a:p>
        </p:txBody>
      </p:sp>
      <p:sp>
        <p:nvSpPr>
          <p:cNvPr id="67" name="Shape 61"/>
          <p:cNvSpPr/>
          <p:nvPr/>
        </p:nvSpPr>
        <p:spPr>
          <a:xfrm>
            <a:off x="9893300" y="2438400"/>
            <a:ext cx="304800" cy="1244600"/>
          </a:xfrm>
          <a:prstGeom prst="roundRect">
            <a:avLst>
              <a:gd name="adj" fmla="val 12500"/>
            </a:avLst>
          </a:prstGeom>
          <a:solidFill>
            <a:srgbClr val="E8836F">
              <a:alpha val="85000"/>
            </a:srgbClr>
          </a:solidFill>
          <a:ln/>
        </p:spPr>
      </p:sp>
      <p:sp>
        <p:nvSpPr>
          <p:cNvPr id="68" name="Shape 62"/>
          <p:cNvSpPr/>
          <p:nvPr/>
        </p:nvSpPr>
        <p:spPr>
          <a:xfrm>
            <a:off x="9893300" y="5257800"/>
            <a:ext cx="304800" cy="1028700"/>
          </a:xfrm>
          <a:prstGeom prst="roundRect">
            <a:avLst>
              <a:gd name="adj" fmla="val 12500"/>
            </a:avLst>
          </a:prstGeom>
          <a:solidFill>
            <a:srgbClr val="E8836F">
              <a:alpha val="85000"/>
            </a:srgbClr>
          </a:solidFill>
          <a:ln/>
        </p:spPr>
      </p:sp>
      <p:sp>
        <p:nvSpPr>
          <p:cNvPr id="69" name="Text 63"/>
          <p:cNvSpPr/>
          <p:nvPr/>
        </p:nvSpPr>
        <p:spPr>
          <a:xfrm>
            <a:off x="3835400" y="41148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9</a:t>
            </a:r>
            <a:endParaRPr lang="en-US" sz="1200" dirty="0"/>
          </a:p>
        </p:txBody>
      </p:sp>
      <p:sp>
        <p:nvSpPr>
          <p:cNvPr id="70" name="Shape 64"/>
          <p:cNvSpPr/>
          <p:nvPr/>
        </p:nvSpPr>
        <p:spPr>
          <a:xfrm>
            <a:off x="10363200" y="2298700"/>
            <a:ext cx="304800" cy="1384300"/>
          </a:xfrm>
          <a:prstGeom prst="roundRect">
            <a:avLst>
              <a:gd name="adj" fmla="val 12500"/>
            </a:avLst>
          </a:prstGeom>
          <a:solidFill>
            <a:srgbClr val="E8836F">
              <a:alpha val="85000"/>
            </a:srgbClr>
          </a:solidFill>
          <a:ln/>
        </p:spPr>
      </p:sp>
      <p:sp>
        <p:nvSpPr>
          <p:cNvPr id="71" name="Shape 65"/>
          <p:cNvSpPr/>
          <p:nvPr/>
        </p:nvSpPr>
        <p:spPr>
          <a:xfrm>
            <a:off x="10363200" y="5022850"/>
            <a:ext cx="304800" cy="1263650"/>
          </a:xfrm>
          <a:prstGeom prst="roundRect">
            <a:avLst>
              <a:gd name="adj" fmla="val 12500"/>
            </a:avLst>
          </a:prstGeom>
          <a:solidFill>
            <a:srgbClr val="E8836F">
              <a:alpha val="85000"/>
            </a:srgbClr>
          </a:solidFill>
          <a:ln/>
        </p:spPr>
      </p:sp>
      <p:sp>
        <p:nvSpPr>
          <p:cNvPr id="72" name="Text 66"/>
          <p:cNvSpPr/>
          <p:nvPr/>
        </p:nvSpPr>
        <p:spPr>
          <a:xfrm>
            <a:off x="4800600" y="41148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10</a:t>
            </a:r>
            <a:endParaRPr lang="en-US" sz="1200" dirty="0"/>
          </a:p>
        </p:txBody>
      </p:sp>
      <p:sp>
        <p:nvSpPr>
          <p:cNvPr id="73" name="Shape 67"/>
          <p:cNvSpPr/>
          <p:nvPr/>
        </p:nvSpPr>
        <p:spPr>
          <a:xfrm>
            <a:off x="10833100" y="2159000"/>
            <a:ext cx="304800" cy="1524000"/>
          </a:xfrm>
          <a:prstGeom prst="roundRect">
            <a:avLst>
              <a:gd name="adj" fmla="val 12500"/>
            </a:avLst>
          </a:prstGeom>
          <a:solidFill>
            <a:srgbClr val="E8836F">
              <a:alpha val="85000"/>
            </a:srgbClr>
          </a:solidFill>
          <a:ln/>
        </p:spPr>
      </p:sp>
      <p:sp>
        <p:nvSpPr>
          <p:cNvPr id="74" name="Shape 68"/>
          <p:cNvSpPr/>
          <p:nvPr/>
        </p:nvSpPr>
        <p:spPr>
          <a:xfrm>
            <a:off x="10833100" y="4762500"/>
            <a:ext cx="304800" cy="1524000"/>
          </a:xfrm>
          <a:prstGeom prst="roundRect">
            <a:avLst>
              <a:gd name="adj" fmla="val 12500"/>
            </a:avLst>
          </a:prstGeom>
          <a:solidFill>
            <a:srgbClr val="E8836F">
              <a:alpha val="85000"/>
            </a:srgbClr>
          </a:solidFill>
          <a:ln/>
        </p:spPr>
      </p:sp>
      <p:sp>
        <p:nvSpPr>
          <p:cNvPr id="75" name="Shape 69"/>
          <p:cNvSpPr/>
          <p:nvPr/>
        </p:nvSpPr>
        <p:spPr>
          <a:xfrm>
            <a:off x="2544763" y="5300663"/>
            <a:ext cx="2784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76" name="Image 4" descr="Lightbulb">    </p:cNvPr>
          <p:cNvPicPr>
            <a:picLocks noChangeAspect="1"/>
          </p:cNvPicPr>
          <p:nvPr/>
        </p:nvPicPr>
        <p:blipFill>
          <a:blip r:embed="rId5"/>
          <a:srcRect l="0" r="0" t="0" b="0"/>
          <a:stretch/>
        </p:blipFill>
        <p:spPr>
          <a:xfrm>
            <a:off x="2628900" y="5422900"/>
            <a:ext cx="254000" cy="254000"/>
          </a:xfrm>
          <a:prstGeom prst="rect">
            <a:avLst/>
          </a:prstGeom>
        </p:spPr>
      </p:pic>
      <p:sp>
        <p:nvSpPr>
          <p:cNvPr id="77" name="Text 70"/>
          <p:cNvSpPr/>
          <p:nvPr/>
        </p:nvSpPr>
        <p:spPr>
          <a:xfrm>
            <a:off x="2971800" y="5330230"/>
            <a:ext cx="150782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LLM</a:t>
            </a:r>
            <a:endParaRPr lang="en-US" sz="1200" dirty="0"/>
          </a:p>
        </p:txBody>
      </p:sp>
      <p:sp>
        <p:nvSpPr>
          <p:cNvPr id="78" name="Text 71"/>
          <p:cNvSpPr/>
          <p:nvPr/>
        </p:nvSpPr>
        <p:spPr>
          <a:xfrm>
            <a:off x="2971800" y="5556250"/>
            <a:ext cx="150782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answers, then forgets</a:t>
            </a:r>
            <a:endParaRPr lang="en-US" sz="1200" dirty="0"/>
          </a:p>
        </p:txBody>
      </p:sp>
      <p:pic>
        <p:nvPicPr>
          <p:cNvPr id="79" name="Image 5" descr="window to model">    </p:cNvPr>
          <p:cNvPicPr>
            <a:picLocks noChangeAspect="1"/>
          </p:cNvPicPr>
          <p:nvPr/>
        </p:nvPicPr>
        <p:blipFill>
          <a:blip r:embed="rId6"/>
          <a:srcRect l="0" r="0" t="0" b="0"/>
          <a:stretch/>
        </p:blipFill>
        <p:spPr>
          <a:xfrm>
            <a:off x="0" y="0"/>
            <a:ext cx="12192000" cy="6858000"/>
          </a:xfrm>
          <a:prstGeom prst="rect">
            <a:avLst/>
          </a:prstGeom>
        </p:spPr>
      </p:pic>
      <p:sp>
        <p:nvSpPr>
          <p:cNvPr id="80" name="Text 72"/>
          <p:cNvSpPr/>
          <p:nvPr/>
        </p:nvSpPr>
        <p:spPr>
          <a:xfrm>
            <a:off x="3454400" y="5029200"/>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tokens grow every turn</a:t>
            </a:r>
            <a:endParaRPr lang="en-US" sz="1200" dirty="0"/>
          </a:p>
        </p:txBody>
      </p:sp>
      <p:sp>
        <p:nvSpPr>
          <p:cNvPr id="81" name="Text 73"/>
          <p:cNvSpPr/>
          <p:nvPr/>
        </p:nvSpPr>
        <p:spPr>
          <a:xfrm>
            <a:off x="838200" y="5994400"/>
            <a:ext cx="516699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Tokens per turn grow with the conversation. Corrections die with the session.</a:t>
            </a:r>
            <a:endParaRPr lang="en-US" sz="1300" dirty="0"/>
          </a:p>
        </p:txBody>
      </p:sp>
      <p:sp>
        <p:nvSpPr>
          <p:cNvPr id="82" name="Text 74"/>
          <p:cNvSpPr/>
          <p:nvPr/>
        </p:nvSpPr>
        <p:spPr>
          <a:xfrm>
            <a:off x="6527800" y="3200400"/>
            <a:ext cx="457200"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E8836F"/>
                </a:solidFill>
                <a:latin typeface="Courier New" pitchFamily="49" charset="0"/>
                <a:ea typeface="Courier New" pitchFamily="49" charset="-122"/>
                <a:cs typeface="Courier New" pitchFamily="49" charset="-120"/>
              </a:rPr>
              <a:t>3.1k</a:t>
            </a:r>
            <a:endParaRPr lang="en-US" sz="1000" dirty="0"/>
          </a:p>
        </p:txBody>
      </p:sp>
      <p:sp>
        <p:nvSpPr>
          <p:cNvPr id="83" name="Text 75"/>
          <p:cNvSpPr/>
          <p:nvPr/>
        </p:nvSpPr>
        <p:spPr>
          <a:xfrm>
            <a:off x="10502900" y="1943100"/>
            <a:ext cx="863600"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E8836F"/>
                </a:solidFill>
                <a:latin typeface="Courier New" pitchFamily="49" charset="0"/>
                <a:ea typeface="Courier New" pitchFamily="49" charset="-122"/>
                <a:cs typeface="Courier New" pitchFamily="49" charset="-120"/>
              </a:rPr>
              <a:t>17.5k</a:t>
            </a:r>
            <a:endParaRPr lang="en-US" sz="1000" dirty="0"/>
          </a:p>
        </p:txBody>
      </p:sp>
      <p:sp>
        <p:nvSpPr>
          <p:cNvPr id="84" name="Text 76"/>
          <p:cNvSpPr/>
          <p:nvPr/>
        </p:nvSpPr>
        <p:spPr>
          <a:xfrm>
            <a:off x="9969500" y="4546600"/>
            <a:ext cx="1371600" cy="203200"/>
          </a:xfrm>
          <a:prstGeom prst="rect">
            <a:avLst/>
          </a:prstGeom>
          <a:noFill/>
          <a:ln/>
        </p:spPr>
        <p:txBody>
          <a:bodyPr wrap="square" lIns="0" tIns="0" rIns="0" bIns="0" rtlCol="0" anchor="t">
            <a:normAutofit/>
          </a:bodyPr>
          <a:lstStyle/>
          <a:p>
            <a:pPr algn="r" indent="0" marL="0">
              <a:lnSpc>
                <a:spcPts val="1400"/>
              </a:lnSpc>
              <a:buNone/>
            </a:pPr>
            <a:r>
              <a:rPr lang="en-US" sz="1000" b="1" dirty="0">
                <a:solidFill>
                  <a:srgbClr val="E8836F"/>
                </a:solidFill>
                <a:latin typeface="Courier New" pitchFamily="49" charset="0"/>
                <a:ea typeface="Courier New" pitchFamily="49" charset="-122"/>
                <a:cs typeface="Courier New" pitchFamily="49" charset="-120"/>
              </a:rPr>
              <a:t>103k billed</a:t>
            </a:r>
            <a:endParaRPr lang="en-US" sz="1000" dirty="0"/>
          </a:p>
        </p:txBody>
      </p:sp>
      <p:sp>
        <p:nvSpPr>
          <p:cNvPr id="85" name="Text 77"/>
          <p:cNvSpPr/>
          <p:nvPr/>
        </p:nvSpPr>
        <p:spPr>
          <a:xfrm>
            <a:off x="8820658" y="1625600"/>
            <a:ext cx="2380742" cy="220960"/>
          </a:xfrm>
          <a:prstGeom prst="rect">
            <a:avLst/>
          </a:prstGeom>
          <a:noFill/>
          <a:ln/>
        </p:spPr>
        <p:txBody>
          <a:bodyPr wrap="square" lIns="0" tIns="0" rIns="0" bIns="0" rtlCol="0" anchor="t">
            <a:normAutofit/>
          </a:bodyPr>
          <a:lstStyle/>
          <a:p>
            <a:pPr algn="r" indent="0" marL="0">
              <a:lnSpc>
                <a:spcPts val="1540"/>
              </a:lnSpc>
              <a:buNone/>
            </a:pPr>
            <a:r>
              <a:rPr lang="en-US" sz="1100" dirty="0">
                <a:solidFill>
                  <a:srgbClr val="E8836F"/>
                </a:solidFill>
                <a:latin typeface="Courier New" pitchFamily="49" charset="0"/>
                <a:ea typeface="Courier New" pitchFamily="49" charset="-122"/>
                <a:cs typeface="Courier New" pitchFamily="49" charset="-120"/>
              </a:rPr>
              <a:t>5.6× by turn 10</a:t>
            </a:r>
            <a:endParaRPr lang="en-US" sz="1100" dirty="0"/>
          </a:p>
        </p:txBody>
      </p:sp>
      <p:sp>
        <p:nvSpPr>
          <p:cNvPr id="86" name="Text 78"/>
          <p:cNvSpPr/>
          <p:nvPr/>
        </p:nvSpPr>
        <p:spPr>
          <a:xfrm>
            <a:off x="8820658" y="4229100"/>
            <a:ext cx="2380742" cy="220960"/>
          </a:xfrm>
          <a:prstGeom prst="rect">
            <a:avLst/>
          </a:prstGeom>
          <a:noFill/>
          <a:ln/>
        </p:spPr>
        <p:txBody>
          <a:bodyPr wrap="square" lIns="0" tIns="0" rIns="0" bIns="0" rtlCol="0" anchor="t">
            <a:normAutofit/>
          </a:bodyPr>
          <a:lstStyle/>
          <a:p>
            <a:pPr algn="r" indent="0" marL="0">
              <a:lnSpc>
                <a:spcPts val="1540"/>
              </a:lnSpc>
              <a:buNone/>
            </a:pPr>
            <a:r>
              <a:rPr lang="en-US" sz="1100" dirty="0">
                <a:solidFill>
                  <a:srgbClr val="E8836F"/>
                </a:solidFill>
                <a:latin typeface="Courier New" pitchFamily="49" charset="0"/>
                <a:ea typeface="Courier New" pitchFamily="49" charset="-122"/>
                <a:cs typeface="Courier New" pitchFamily="49" charset="-120"/>
              </a:rPr>
              <a:t>the bill grows faster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90563" y="1147763"/>
            <a:ext cx="5324475" cy="5451475"/>
          </a:xfrm>
          <a:prstGeom prst="roundRect">
            <a:avLst>
              <a:gd name="adj" fmla="val 3011"/>
            </a:avLst>
          </a:prstGeom>
          <a:solidFill>
            <a:srgbClr val="FFFFFF">
              <a:alpha val="4000"/>
            </a:srgbClr>
          </a:solidFill>
          <a:ln w="9525">
            <a:solidFill>
              <a:srgbClr val="FFFFFF">
                <a:alpha val="14000"/>
              </a:srgbClr>
            </a:solidFill>
            <a:prstDash val="solid"/>
          </a:ln>
        </p:spPr>
      </p:sp>
      <p:sp>
        <p:nvSpPr>
          <p:cNvPr id="3" name="Shape 1"/>
          <p:cNvSpPr/>
          <p:nvPr/>
        </p:nvSpPr>
        <p:spPr>
          <a:xfrm>
            <a:off x="6176963" y="1147763"/>
            <a:ext cx="5324475" cy="5451475"/>
          </a:xfrm>
          <a:prstGeom prst="roundRect">
            <a:avLst>
              <a:gd name="adj" fmla="val 3011"/>
            </a:avLst>
          </a:prstGeom>
          <a:solidFill>
            <a:srgbClr val="36677D">
              <a:alpha val="22000"/>
            </a:srgbClr>
          </a:solidFill>
          <a:ln w="9525">
            <a:solidFill>
              <a:srgbClr val="7FC4DC">
                <a:alpha val="40000"/>
              </a:srgbClr>
            </a:solidFill>
            <a:prstDash val="solid"/>
          </a:ln>
        </p:spPr>
      </p:sp>
      <p:sp>
        <p:nvSpPr>
          <p:cNvPr id="4" name="Shape 2"/>
          <p:cNvSpPr/>
          <p:nvPr/>
        </p:nvSpPr>
        <p:spPr>
          <a:xfrm>
            <a:off x="812800" y="457200"/>
            <a:ext cx="355600" cy="38100"/>
          </a:xfrm>
          <a:prstGeom prst="roundRect">
            <a:avLst>
              <a:gd name="adj" fmla="val 50000"/>
            </a:avLst>
          </a:prstGeom>
          <a:solidFill>
            <a:srgbClr val="C74634"/>
          </a:solidFill>
          <a:ln/>
        </p:spPr>
      </p:sp>
      <p:sp>
        <p:nvSpPr>
          <p:cNvPr id="5" name="Text 3"/>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With memory: the same loop, turn by turn</a:t>
            </a:r>
            <a:endParaRPr lang="en-US" sz="2800" dirty="0"/>
          </a:p>
        </p:txBody>
      </p:sp>
      <p:sp>
        <p:nvSpPr>
          <p:cNvPr id="6" name="Text 4"/>
          <p:cNvSpPr/>
          <p:nvPr/>
        </p:nvSpPr>
        <p:spPr>
          <a:xfrm>
            <a:off x="838200" y="12573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EB9B7"/>
                </a:solidFill>
                <a:latin typeface="Courier New" pitchFamily="49" charset="0"/>
                <a:ea typeface="Courier New" pitchFamily="49" charset="-122"/>
                <a:cs typeface="Courier New" pitchFamily="49" charset="-120"/>
              </a:rPr>
              <a:t>WHAT IT COSTS, TURN BY TURN</a:t>
            </a:r>
            <a:endParaRPr lang="en-US" sz="1200" dirty="0"/>
          </a:p>
        </p:txBody>
      </p:sp>
      <p:sp>
        <p:nvSpPr>
          <p:cNvPr id="7" name="Text 5"/>
          <p:cNvSpPr/>
          <p:nvPr/>
        </p:nvSpPr>
        <p:spPr>
          <a:xfrm>
            <a:off x="6324600" y="12573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C4DC"/>
                </a:solidFill>
                <a:latin typeface="Courier New" pitchFamily="49" charset="0"/>
                <a:ea typeface="Courier New" pitchFamily="49" charset="-122"/>
                <a:cs typeface="Courier New" pitchFamily="49" charset="-120"/>
              </a:rPr>
              <a:t>WITH MEMORY</a:t>
            </a:r>
            <a:endParaRPr lang="en-US" sz="1200" dirty="0"/>
          </a:p>
        </p:txBody>
      </p:sp>
      <p:sp>
        <p:nvSpPr>
          <p:cNvPr id="8" name="Shape 6"/>
          <p:cNvSpPr/>
          <p:nvPr/>
        </p:nvSpPr>
        <p:spPr>
          <a:xfrm>
            <a:off x="6303963" y="1693863"/>
            <a:ext cx="1641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9" name="Image 0" descr="Users">    </p:cNvPr>
          <p:cNvPicPr>
            <a:picLocks noChangeAspect="1"/>
          </p:cNvPicPr>
          <p:nvPr/>
        </p:nvPicPr>
        <p:blipFill>
          <a:blip r:embed="rId1"/>
          <a:srcRect l="0" r="0" t="0" b="0"/>
          <a:stretch/>
        </p:blipFill>
        <p:spPr>
          <a:xfrm>
            <a:off x="6388100" y="1816100"/>
            <a:ext cx="254000" cy="254000"/>
          </a:xfrm>
          <a:prstGeom prst="rect">
            <a:avLst/>
          </a:prstGeom>
        </p:spPr>
      </p:pic>
      <p:sp>
        <p:nvSpPr>
          <p:cNvPr id="10" name="Text 7"/>
          <p:cNvSpPr/>
          <p:nvPr/>
        </p:nvSpPr>
        <p:spPr>
          <a:xfrm>
            <a:off x="6731000" y="1836440"/>
            <a:ext cx="38968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User</a:t>
            </a:r>
            <a:endParaRPr lang="en-US" sz="1200" dirty="0"/>
          </a:p>
        </p:txBody>
      </p:sp>
      <p:sp>
        <p:nvSpPr>
          <p:cNvPr id="11" name="Shape 8"/>
          <p:cNvSpPr/>
          <p:nvPr/>
        </p:nvSpPr>
        <p:spPr>
          <a:xfrm>
            <a:off x="6303963" y="2544763"/>
            <a:ext cx="1641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12" name="Image 1" descr="Settings">    </p:cNvPr>
          <p:cNvPicPr>
            <a:picLocks noChangeAspect="1"/>
          </p:cNvPicPr>
          <p:nvPr/>
        </p:nvPicPr>
        <p:blipFill>
          <a:blip r:embed="rId2"/>
          <a:srcRect l="0" r="0" t="0" b="0"/>
          <a:stretch/>
        </p:blipFill>
        <p:spPr>
          <a:xfrm>
            <a:off x="6388100" y="2667000"/>
            <a:ext cx="254000" cy="254000"/>
          </a:xfrm>
          <a:prstGeom prst="rect">
            <a:avLst/>
          </a:prstGeom>
        </p:spPr>
      </p:pic>
      <p:sp>
        <p:nvSpPr>
          <p:cNvPr id="13" name="Text 9"/>
          <p:cNvSpPr/>
          <p:nvPr/>
        </p:nvSpPr>
        <p:spPr>
          <a:xfrm>
            <a:off x="6731000" y="268734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Agent harness</a:t>
            </a:r>
            <a:endParaRPr lang="en-US" sz="1200" dirty="0"/>
          </a:p>
        </p:txBody>
      </p:sp>
      <p:pic>
        <p:nvPicPr>
          <p:cNvPr id="14" name="Image 2" descr="user to harness">    </p:cNvPr>
          <p:cNvPicPr>
            <a:picLocks noChangeAspect="1"/>
          </p:cNvPicPr>
          <p:nvPr/>
        </p:nvPicPr>
        <p:blipFill>
          <a:blip r:embed="rId3"/>
          <a:srcRect l="0" r="0" t="0" b="0"/>
          <a:stretch/>
        </p:blipFill>
        <p:spPr>
          <a:xfrm>
            <a:off x="0" y="0"/>
            <a:ext cx="12192000" cy="6858000"/>
          </a:xfrm>
          <a:prstGeom prst="rect">
            <a:avLst/>
          </a:prstGeom>
        </p:spPr>
      </p:pic>
      <p:sp>
        <p:nvSpPr>
          <p:cNvPr id="15" name="Shape 10"/>
          <p:cNvSpPr/>
          <p:nvPr/>
        </p:nvSpPr>
        <p:spPr>
          <a:xfrm>
            <a:off x="6303963" y="3395663"/>
            <a:ext cx="5070475" cy="1577975"/>
          </a:xfrm>
          <a:prstGeom prst="roundRect">
            <a:avLst>
              <a:gd name="adj" fmla="val 6942"/>
            </a:avLst>
          </a:prstGeom>
          <a:solidFill>
            <a:srgbClr val="36677D">
              <a:alpha val="18000"/>
            </a:srgbClr>
          </a:solidFill>
          <a:ln w="9525">
            <a:solidFill>
              <a:srgbClr val="7FC4DC"/>
            </a:solidFill>
            <a:prstDash val="solid"/>
          </a:ln>
        </p:spPr>
      </p:sp>
      <p:sp>
        <p:nvSpPr>
          <p:cNvPr id="16" name="Text 11"/>
          <p:cNvSpPr/>
          <p:nvPr/>
        </p:nvSpPr>
        <p:spPr>
          <a:xfrm>
            <a:off x="6426200" y="3527425"/>
            <a:ext cx="4827604"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7FC4DC"/>
                </a:solidFill>
                <a:latin typeface="Courier New" pitchFamily="49" charset="0"/>
                <a:ea typeface="Courier New" pitchFamily="49" charset="-122"/>
                <a:cs typeface="Courier New" pitchFamily="49" charset="-120"/>
              </a:rPr>
              <a:t>CONTEXT WINDOW · a context card, roughly flat</a:t>
            </a:r>
            <a:endParaRPr lang="en-US" sz="1200" dirty="0"/>
          </a:p>
        </p:txBody>
      </p:sp>
      <p:sp>
        <p:nvSpPr>
          <p:cNvPr id="17" name="Shape 12"/>
          <p:cNvSpPr/>
          <p:nvPr/>
        </p:nvSpPr>
        <p:spPr>
          <a:xfrm>
            <a:off x="7497763" y="5300663"/>
            <a:ext cx="2784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18" name="Image 3" descr="Lightbulb">    </p:cNvPr>
          <p:cNvPicPr>
            <a:picLocks noChangeAspect="1"/>
          </p:cNvPicPr>
          <p:nvPr/>
        </p:nvPicPr>
        <p:blipFill>
          <a:blip r:embed="rId4"/>
          <a:srcRect l="0" r="0" t="0" b="0"/>
          <a:stretch/>
        </p:blipFill>
        <p:spPr>
          <a:xfrm>
            <a:off x="7581900" y="5422900"/>
            <a:ext cx="254000" cy="254000"/>
          </a:xfrm>
          <a:prstGeom prst="rect">
            <a:avLst/>
          </a:prstGeom>
        </p:spPr>
      </p:pic>
      <p:sp>
        <p:nvSpPr>
          <p:cNvPr id="19" name="Text 13"/>
          <p:cNvSpPr/>
          <p:nvPr/>
        </p:nvSpPr>
        <p:spPr>
          <a:xfrm>
            <a:off x="7924800" y="5330230"/>
            <a:ext cx="207599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LLM</a:t>
            </a:r>
            <a:endParaRPr lang="en-US" sz="1200" dirty="0"/>
          </a:p>
        </p:txBody>
      </p:sp>
      <p:sp>
        <p:nvSpPr>
          <p:cNvPr id="20" name="Text 14"/>
          <p:cNvSpPr/>
          <p:nvPr/>
        </p:nvSpPr>
        <p:spPr>
          <a:xfrm>
            <a:off x="7924800" y="5556250"/>
            <a:ext cx="207599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answers, memory remembers</a:t>
            </a:r>
            <a:endParaRPr lang="en-US" sz="1200" dirty="0"/>
          </a:p>
        </p:txBody>
      </p:sp>
      <p:sp>
        <p:nvSpPr>
          <p:cNvPr id="21" name="Shape 15"/>
          <p:cNvSpPr/>
          <p:nvPr/>
        </p:nvSpPr>
        <p:spPr>
          <a:xfrm>
            <a:off x="8361362" y="2544763"/>
            <a:ext cx="1514475" cy="498475"/>
          </a:xfrm>
          <a:prstGeom prst="roundRect">
            <a:avLst>
              <a:gd name="adj" fmla="val 19427"/>
            </a:avLst>
          </a:prstGeom>
          <a:solidFill>
            <a:srgbClr val="36677D">
              <a:alpha val="50000"/>
            </a:srgbClr>
          </a:solidFill>
          <a:ln w="9525">
            <a:solidFill>
              <a:srgbClr val="7FC4DC"/>
            </a:solidFill>
            <a:prstDash val="solid"/>
          </a:ln>
        </p:spPr>
      </p:sp>
      <p:sp>
        <p:nvSpPr>
          <p:cNvPr id="22" name="Text 16"/>
          <p:cNvSpPr/>
          <p:nvPr/>
        </p:nvSpPr>
        <p:spPr>
          <a:xfrm>
            <a:off x="8432800" y="2687340"/>
            <a:ext cx="1312813"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Memory manager</a:t>
            </a:r>
            <a:endParaRPr lang="en-US" sz="1200" dirty="0"/>
          </a:p>
        </p:txBody>
      </p:sp>
      <p:pic>
        <p:nvPicPr>
          <p:cNvPr id="23" name="Image 4" descr="harness to memory manager">    </p:cNvPr>
          <p:cNvPicPr>
            <a:picLocks noChangeAspect="1"/>
          </p:cNvPicPr>
          <p:nvPr/>
        </p:nvPicPr>
        <p:blipFill>
          <a:blip r:embed="rId5"/>
          <a:srcRect l="0" r="0" t="0" b="0"/>
          <a:stretch/>
        </p:blipFill>
        <p:spPr>
          <a:xfrm>
            <a:off x="0" y="0"/>
            <a:ext cx="12192000" cy="6858000"/>
          </a:xfrm>
          <a:prstGeom prst="rect">
            <a:avLst/>
          </a:prstGeom>
        </p:spPr>
      </p:pic>
      <p:sp>
        <p:nvSpPr>
          <p:cNvPr id="24" name="Text 17"/>
          <p:cNvSpPr/>
          <p:nvPr/>
        </p:nvSpPr>
        <p:spPr>
          <a:xfrm>
            <a:off x="7658100" y="2311400"/>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messages, traces</a:t>
            </a:r>
            <a:endParaRPr lang="en-US" sz="1200" dirty="0"/>
          </a:p>
        </p:txBody>
      </p:sp>
      <p:sp>
        <p:nvSpPr>
          <p:cNvPr id="25" name="Shape 18"/>
          <p:cNvSpPr/>
          <p:nvPr/>
        </p:nvSpPr>
        <p:spPr>
          <a:xfrm>
            <a:off x="10240963" y="2544763"/>
            <a:ext cx="1133475" cy="498475"/>
          </a:xfrm>
          <a:prstGeom prst="roundRect">
            <a:avLst>
              <a:gd name="adj" fmla="val 19427"/>
            </a:avLst>
          </a:prstGeom>
          <a:solidFill>
            <a:srgbClr val="DEB068">
              <a:alpha val="18000"/>
            </a:srgbClr>
          </a:solidFill>
          <a:ln w="9525">
            <a:solidFill>
              <a:srgbClr val="DEB068">
                <a:alpha val="70000"/>
              </a:srgbClr>
            </a:solidFill>
            <a:prstDash val="solid"/>
          </a:ln>
        </p:spPr>
      </p:sp>
      <p:sp>
        <p:nvSpPr>
          <p:cNvPr id="26" name="Text 19"/>
          <p:cNvSpPr/>
          <p:nvPr/>
        </p:nvSpPr>
        <p:spPr>
          <a:xfrm>
            <a:off x="10312400" y="2687340"/>
            <a:ext cx="7285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Database</a:t>
            </a:r>
            <a:endParaRPr lang="en-US" sz="1200" dirty="0"/>
          </a:p>
        </p:txBody>
      </p:sp>
      <p:pic>
        <p:nvPicPr>
          <p:cNvPr id="27" name="Image 5" descr="write and recall">    </p:cNvPr>
          <p:cNvPicPr>
            <a:picLocks noChangeAspect="1"/>
          </p:cNvPicPr>
          <p:nvPr/>
        </p:nvPicPr>
        <p:blipFill>
          <a:blip r:embed="rId6"/>
          <a:srcRect l="0" r="0" t="0" b="0"/>
          <a:stretch/>
        </p:blipFill>
        <p:spPr>
          <a:xfrm>
            <a:off x="0" y="0"/>
            <a:ext cx="12192000" cy="6858000"/>
          </a:xfrm>
          <a:prstGeom prst="rect">
            <a:avLst/>
          </a:prstGeom>
        </p:spPr>
      </p:pic>
      <p:sp>
        <p:nvSpPr>
          <p:cNvPr id="28" name="Text 20"/>
          <p:cNvSpPr/>
          <p:nvPr/>
        </p:nvSpPr>
        <p:spPr>
          <a:xfrm>
            <a:off x="9696450" y="23114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write</a:t>
            </a:r>
            <a:endParaRPr lang="en-US" sz="1200" dirty="0"/>
          </a:p>
        </p:txBody>
      </p:sp>
      <p:sp>
        <p:nvSpPr>
          <p:cNvPr id="29" name="Text 21"/>
          <p:cNvSpPr/>
          <p:nvPr/>
        </p:nvSpPr>
        <p:spPr>
          <a:xfrm>
            <a:off x="9696450" y="31115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recall</a:t>
            </a:r>
            <a:endParaRPr lang="en-US" sz="1200" dirty="0"/>
          </a:p>
        </p:txBody>
      </p:sp>
      <p:pic>
        <p:nvPicPr>
          <p:cNvPr id="30" name="Image 6" descr="harness builds the window; the context card lands in it">    </p:cNvPr>
          <p:cNvPicPr>
            <a:picLocks noChangeAspect="1"/>
          </p:cNvPicPr>
          <p:nvPr/>
        </p:nvPicPr>
        <p:blipFill>
          <a:blip r:embed="rId7"/>
          <a:srcRect l="0" r="0" t="0" b="0"/>
          <a:stretch/>
        </p:blipFill>
        <p:spPr>
          <a:xfrm>
            <a:off x="0" y="0"/>
            <a:ext cx="12192000" cy="6858000"/>
          </a:xfrm>
          <a:prstGeom prst="rect">
            <a:avLst/>
          </a:prstGeom>
        </p:spPr>
      </p:pic>
      <p:sp>
        <p:nvSpPr>
          <p:cNvPr id="31" name="Text 22"/>
          <p:cNvSpPr/>
          <p:nvPr/>
        </p:nvSpPr>
        <p:spPr>
          <a:xfrm>
            <a:off x="6248400" y="3136900"/>
            <a:ext cx="8001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builds</a:t>
            </a:r>
            <a:endParaRPr lang="en-US" sz="1200" dirty="0"/>
          </a:p>
        </p:txBody>
      </p:sp>
      <p:sp>
        <p:nvSpPr>
          <p:cNvPr id="32" name="Text 23"/>
          <p:cNvSpPr/>
          <p:nvPr/>
        </p:nvSpPr>
        <p:spPr>
          <a:xfrm>
            <a:off x="7569200" y="313690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context card</a:t>
            </a:r>
            <a:endParaRPr lang="en-US" sz="1200" dirty="0"/>
          </a:p>
        </p:txBody>
      </p:sp>
      <p:sp>
        <p:nvSpPr>
          <p:cNvPr id="33" name="Shape 24"/>
          <p:cNvSpPr/>
          <p:nvPr/>
        </p:nvSpPr>
        <p:spPr>
          <a:xfrm>
            <a:off x="6430963" y="3789363"/>
            <a:ext cx="2657475" cy="625475"/>
          </a:xfrm>
          <a:prstGeom prst="roundRect">
            <a:avLst>
              <a:gd name="adj" fmla="val 13452"/>
            </a:avLst>
          </a:prstGeom>
          <a:solidFill>
            <a:srgbClr val="36677D">
              <a:alpha val="35000"/>
            </a:srgbClr>
          </a:solidFill>
          <a:ln w="9525">
            <a:solidFill>
              <a:srgbClr val="7FC4DC">
                <a:alpha val="70000"/>
              </a:srgbClr>
            </a:solidFill>
            <a:prstDash val="dash"/>
          </a:ln>
        </p:spPr>
      </p:sp>
      <p:sp>
        <p:nvSpPr>
          <p:cNvPr id="34" name="Text 25"/>
          <p:cNvSpPr/>
          <p:nvPr/>
        </p:nvSpPr>
        <p:spPr>
          <a:xfrm>
            <a:off x="6502400" y="3822700"/>
            <a:ext cx="2616200" cy="185390"/>
          </a:xfrm>
          <a:prstGeom prst="rect">
            <a:avLst/>
          </a:prstGeom>
          <a:noFill/>
          <a:ln/>
        </p:spPr>
        <p:txBody>
          <a:bodyPr wrap="square" lIns="0" tIns="0" rIns="0" bIns="0" rtlCol="0" anchor="t">
            <a:normAutofit/>
          </a:bodyPr>
          <a:lstStyle/>
          <a:p>
            <a:pPr algn="l" indent="0" marL="0">
              <a:lnSpc>
                <a:spcPts val="1260"/>
              </a:lnSpc>
              <a:buNone/>
            </a:pPr>
            <a:r>
              <a:rPr lang="en-US" sz="900" spc="50" kern="0" dirty="0">
                <a:solidFill>
                  <a:srgbClr val="7FC4DC"/>
                </a:solidFill>
                <a:latin typeface="Courier New" pitchFamily="49" charset="0"/>
                <a:ea typeface="Courier New" pitchFamily="49" charset="-122"/>
                <a:cs typeface="Courier New" pitchFamily="49" charset="-120"/>
              </a:rPr>
              <a:t>SUMMARY OF OLDER TURNS</a:t>
            </a:r>
            <a:endParaRPr lang="en-US" sz="900" dirty="0"/>
          </a:p>
        </p:txBody>
      </p:sp>
      <p:sp>
        <p:nvSpPr>
          <p:cNvPr id="35" name="Text 26"/>
          <p:cNvSpPr/>
          <p:nvPr/>
        </p:nvSpPr>
        <p:spPr>
          <a:xfrm>
            <a:off x="9182100" y="3784600"/>
            <a:ext cx="2070100" cy="276820"/>
          </a:xfrm>
          <a:custGeom>
            <a:avLst/>
            <a:gdLst/>
            <a:ahLst/>
            <a:cxnLst/>
            <a:rect l="l" t="t" r="r" b="b"/>
            <a:pathLst>
              <a:path w="2070100" h="276820">
                <a:moveTo>
                  <a:pt x="138410" y="0"/>
                </a:moveTo>
                <a:lnTo>
                  <a:pt x="1931690" y="0"/>
                </a:lnTo>
                <a:arcTo hR="138410" wR="138410" stAng="16200000" swAng="5400000"/>
                <a:lnTo>
                  <a:pt x="2070100" y="138410"/>
                </a:lnTo>
                <a:arcTo hR="138410" wR="138410" stAng="0" swAng="5400000"/>
                <a:lnTo>
                  <a:pt x="138410" y="276820"/>
                </a:lnTo>
                <a:arcTo hR="138410" wR="138410" stAng="5400000" swAng="5400000"/>
                <a:lnTo>
                  <a:pt x="0" y="138410"/>
                </a:lnTo>
                <a:arcTo hR="138410" wR="138410" stAng="10800000" swAng="5400000"/>
                <a:close/>
              </a:path>
            </a:pathLst>
          </a:custGeom>
          <a:solidFill>
            <a:srgbClr val="36677D">
              <a:alpha val="55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3 relevant memories</a:t>
            </a:r>
            <a:endParaRPr lang="en-US" sz="1200" dirty="0"/>
          </a:p>
        </p:txBody>
      </p:sp>
      <p:sp>
        <p:nvSpPr>
          <p:cNvPr id="36" name="Text 27"/>
          <p:cNvSpPr/>
          <p:nvPr/>
        </p:nvSpPr>
        <p:spPr>
          <a:xfrm>
            <a:off x="9182100" y="4127500"/>
            <a:ext cx="2132203" cy="185390"/>
          </a:xfrm>
          <a:prstGeom prst="rect">
            <a:avLst/>
          </a:prstGeom>
          <a:noFill/>
          <a:ln/>
        </p:spPr>
        <p:txBody>
          <a:bodyPr wrap="square" lIns="0" tIns="0" rIns="0" bIns="0" rtlCol="0" anchor="t">
            <a:normAutofit/>
          </a:bodyPr>
          <a:lstStyle/>
          <a:p>
            <a:pPr algn="l" indent="0" marL="0">
              <a:lnSpc>
                <a:spcPts val="1260"/>
              </a:lnSpc>
              <a:buNone/>
            </a:pPr>
            <a:r>
              <a:rPr lang="en-US" sz="900" spc="50" kern="0" dirty="0">
                <a:solidFill>
                  <a:srgbClr val="7FC4DC"/>
                </a:solidFill>
                <a:latin typeface="Courier New" pitchFamily="49" charset="0"/>
                <a:ea typeface="Courier New" pitchFamily="49" charset="-122"/>
                <a:cs typeface="Courier New" pitchFamily="49" charset="-120"/>
              </a:rPr>
              <a:t>RECENT TURNS, VERBATIM</a:t>
            </a:r>
            <a:endParaRPr lang="en-US" sz="900" dirty="0"/>
          </a:p>
        </p:txBody>
      </p:sp>
      <p:sp>
        <p:nvSpPr>
          <p:cNvPr id="37" name="Shape 28"/>
          <p:cNvSpPr/>
          <p:nvPr/>
        </p:nvSpPr>
        <p:spPr>
          <a:xfrm>
            <a:off x="842963" y="1528763"/>
            <a:ext cx="5019675" cy="2466975"/>
          </a:xfrm>
          <a:prstGeom prst="roundRect">
            <a:avLst>
              <a:gd name="adj" fmla="val 4440"/>
            </a:avLst>
          </a:prstGeom>
          <a:solidFill>
            <a:srgbClr val="1E2A2A">
              <a:alpha val="55000"/>
            </a:srgbClr>
          </a:solidFill>
          <a:ln w="9525">
            <a:solidFill>
              <a:srgbClr val="FFFFFF">
                <a:alpha val="16000"/>
              </a:srgbClr>
            </a:solidFill>
            <a:prstDash val="solid"/>
          </a:ln>
        </p:spPr>
      </p:sp>
      <p:sp>
        <p:nvSpPr>
          <p:cNvPr id="38" name="Text 29"/>
          <p:cNvSpPr/>
          <p:nvPr/>
        </p:nvSpPr>
        <p:spPr>
          <a:xfrm>
            <a:off x="990600" y="1625600"/>
            <a:ext cx="3924300" cy="203200"/>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AEB9B7"/>
                </a:solidFill>
                <a:latin typeface="Courier New" pitchFamily="49" charset="0"/>
                <a:ea typeface="Courier New" pitchFamily="49" charset="-122"/>
                <a:cs typeface="Courier New" pitchFamily="49" charset="-120"/>
              </a:rPr>
              <a:t>TOKENS SENT PER TURN</a:t>
            </a:r>
            <a:endParaRPr lang="en-US" sz="1000" dirty="0"/>
          </a:p>
        </p:txBody>
      </p:sp>
      <p:sp>
        <p:nvSpPr>
          <p:cNvPr id="39" name="Shape 30"/>
          <p:cNvSpPr/>
          <p:nvPr/>
        </p:nvSpPr>
        <p:spPr>
          <a:xfrm>
            <a:off x="1066800" y="3683000"/>
            <a:ext cx="4699000" cy="12700"/>
          </a:xfrm>
          <a:prstGeom prst="rect">
            <a:avLst/>
          </a:prstGeom>
          <a:solidFill>
            <a:srgbClr val="FFFFFF">
              <a:alpha val="30000"/>
            </a:srgbClr>
          </a:solidFill>
          <a:ln/>
        </p:spPr>
      </p:sp>
      <p:sp>
        <p:nvSpPr>
          <p:cNvPr id="40" name="Text 31"/>
          <p:cNvSpPr/>
          <p:nvPr/>
        </p:nvSpPr>
        <p:spPr>
          <a:xfrm>
            <a:off x="10922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1</a:t>
            </a:r>
            <a:endParaRPr lang="en-US" sz="1000" dirty="0"/>
          </a:p>
        </p:txBody>
      </p:sp>
      <p:sp>
        <p:nvSpPr>
          <p:cNvPr id="41" name="Text 32"/>
          <p:cNvSpPr/>
          <p:nvPr/>
        </p:nvSpPr>
        <p:spPr>
          <a:xfrm>
            <a:off x="15621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2</a:t>
            </a:r>
            <a:endParaRPr lang="en-US" sz="1000" dirty="0"/>
          </a:p>
        </p:txBody>
      </p:sp>
      <p:sp>
        <p:nvSpPr>
          <p:cNvPr id="42" name="Text 33"/>
          <p:cNvSpPr/>
          <p:nvPr/>
        </p:nvSpPr>
        <p:spPr>
          <a:xfrm>
            <a:off x="20320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3</a:t>
            </a:r>
            <a:endParaRPr lang="en-US" sz="1000" dirty="0"/>
          </a:p>
        </p:txBody>
      </p:sp>
      <p:sp>
        <p:nvSpPr>
          <p:cNvPr id="43" name="Text 34"/>
          <p:cNvSpPr/>
          <p:nvPr/>
        </p:nvSpPr>
        <p:spPr>
          <a:xfrm>
            <a:off x="25019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4</a:t>
            </a:r>
            <a:endParaRPr lang="en-US" sz="1000" dirty="0"/>
          </a:p>
        </p:txBody>
      </p:sp>
      <p:sp>
        <p:nvSpPr>
          <p:cNvPr id="44" name="Text 35"/>
          <p:cNvSpPr/>
          <p:nvPr/>
        </p:nvSpPr>
        <p:spPr>
          <a:xfrm>
            <a:off x="29718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5</a:t>
            </a:r>
            <a:endParaRPr lang="en-US" sz="1000" dirty="0"/>
          </a:p>
        </p:txBody>
      </p:sp>
      <p:sp>
        <p:nvSpPr>
          <p:cNvPr id="45" name="Text 36"/>
          <p:cNvSpPr/>
          <p:nvPr/>
        </p:nvSpPr>
        <p:spPr>
          <a:xfrm>
            <a:off x="34417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6</a:t>
            </a:r>
            <a:endParaRPr lang="en-US" sz="1000" dirty="0"/>
          </a:p>
        </p:txBody>
      </p:sp>
      <p:sp>
        <p:nvSpPr>
          <p:cNvPr id="46" name="Text 37"/>
          <p:cNvSpPr/>
          <p:nvPr/>
        </p:nvSpPr>
        <p:spPr>
          <a:xfrm>
            <a:off x="39116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7</a:t>
            </a:r>
            <a:endParaRPr lang="en-US" sz="1000" dirty="0"/>
          </a:p>
        </p:txBody>
      </p:sp>
      <p:sp>
        <p:nvSpPr>
          <p:cNvPr id="47" name="Text 38"/>
          <p:cNvSpPr/>
          <p:nvPr/>
        </p:nvSpPr>
        <p:spPr>
          <a:xfrm>
            <a:off x="43815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8</a:t>
            </a:r>
            <a:endParaRPr lang="en-US" sz="1000" dirty="0"/>
          </a:p>
        </p:txBody>
      </p:sp>
      <p:sp>
        <p:nvSpPr>
          <p:cNvPr id="48" name="Text 39"/>
          <p:cNvSpPr/>
          <p:nvPr/>
        </p:nvSpPr>
        <p:spPr>
          <a:xfrm>
            <a:off x="48514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9</a:t>
            </a:r>
            <a:endParaRPr lang="en-US" sz="1000" dirty="0"/>
          </a:p>
        </p:txBody>
      </p:sp>
      <p:sp>
        <p:nvSpPr>
          <p:cNvPr id="49" name="Text 40"/>
          <p:cNvSpPr/>
          <p:nvPr/>
        </p:nvSpPr>
        <p:spPr>
          <a:xfrm>
            <a:off x="5321300" y="37465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10</a:t>
            </a:r>
            <a:endParaRPr lang="en-US" sz="1000" dirty="0"/>
          </a:p>
        </p:txBody>
      </p:sp>
      <p:sp>
        <p:nvSpPr>
          <p:cNvPr id="50" name="Shape 41"/>
          <p:cNvSpPr/>
          <p:nvPr/>
        </p:nvSpPr>
        <p:spPr>
          <a:xfrm>
            <a:off x="842963" y="4132263"/>
            <a:ext cx="5019675" cy="2466975"/>
          </a:xfrm>
          <a:prstGeom prst="roundRect">
            <a:avLst>
              <a:gd name="adj" fmla="val 4440"/>
            </a:avLst>
          </a:prstGeom>
          <a:solidFill>
            <a:srgbClr val="1E2A2A">
              <a:alpha val="55000"/>
            </a:srgbClr>
          </a:solidFill>
          <a:ln w="9525">
            <a:solidFill>
              <a:srgbClr val="FFFFFF">
                <a:alpha val="16000"/>
              </a:srgbClr>
            </a:solidFill>
            <a:prstDash val="solid"/>
          </a:ln>
        </p:spPr>
      </p:sp>
      <p:sp>
        <p:nvSpPr>
          <p:cNvPr id="51" name="Text 42"/>
          <p:cNvSpPr/>
          <p:nvPr/>
        </p:nvSpPr>
        <p:spPr>
          <a:xfrm>
            <a:off x="990600" y="4229100"/>
            <a:ext cx="3924300" cy="203200"/>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AEB9B7"/>
                </a:solidFill>
                <a:latin typeface="Courier New" pitchFamily="49" charset="0"/>
                <a:ea typeface="Courier New" pitchFamily="49" charset="-122"/>
                <a:cs typeface="Courier New" pitchFamily="49" charset="-120"/>
              </a:rPr>
              <a:t>TOKENS BILLED, CUMULATIVE</a:t>
            </a:r>
            <a:endParaRPr lang="en-US" sz="1000" dirty="0"/>
          </a:p>
        </p:txBody>
      </p:sp>
      <p:sp>
        <p:nvSpPr>
          <p:cNvPr id="52" name="Shape 43"/>
          <p:cNvSpPr/>
          <p:nvPr/>
        </p:nvSpPr>
        <p:spPr>
          <a:xfrm>
            <a:off x="1066800" y="6286500"/>
            <a:ext cx="4699000" cy="12700"/>
          </a:xfrm>
          <a:prstGeom prst="rect">
            <a:avLst/>
          </a:prstGeom>
          <a:solidFill>
            <a:srgbClr val="FFFFFF">
              <a:alpha val="30000"/>
            </a:srgbClr>
          </a:solidFill>
          <a:ln/>
        </p:spPr>
      </p:sp>
      <p:sp>
        <p:nvSpPr>
          <p:cNvPr id="53" name="Text 44"/>
          <p:cNvSpPr/>
          <p:nvPr/>
        </p:nvSpPr>
        <p:spPr>
          <a:xfrm>
            <a:off x="10922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1</a:t>
            </a:r>
            <a:endParaRPr lang="en-US" sz="1000" dirty="0"/>
          </a:p>
        </p:txBody>
      </p:sp>
      <p:sp>
        <p:nvSpPr>
          <p:cNvPr id="54" name="Text 45"/>
          <p:cNvSpPr/>
          <p:nvPr/>
        </p:nvSpPr>
        <p:spPr>
          <a:xfrm>
            <a:off x="15621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2</a:t>
            </a:r>
            <a:endParaRPr lang="en-US" sz="1000" dirty="0"/>
          </a:p>
        </p:txBody>
      </p:sp>
      <p:sp>
        <p:nvSpPr>
          <p:cNvPr id="55" name="Text 46"/>
          <p:cNvSpPr/>
          <p:nvPr/>
        </p:nvSpPr>
        <p:spPr>
          <a:xfrm>
            <a:off x="20320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3</a:t>
            </a:r>
            <a:endParaRPr lang="en-US" sz="1000" dirty="0"/>
          </a:p>
        </p:txBody>
      </p:sp>
      <p:sp>
        <p:nvSpPr>
          <p:cNvPr id="56" name="Text 47"/>
          <p:cNvSpPr/>
          <p:nvPr/>
        </p:nvSpPr>
        <p:spPr>
          <a:xfrm>
            <a:off x="25019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4</a:t>
            </a:r>
            <a:endParaRPr lang="en-US" sz="1000" dirty="0"/>
          </a:p>
        </p:txBody>
      </p:sp>
      <p:sp>
        <p:nvSpPr>
          <p:cNvPr id="57" name="Text 48"/>
          <p:cNvSpPr/>
          <p:nvPr/>
        </p:nvSpPr>
        <p:spPr>
          <a:xfrm>
            <a:off x="29718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5</a:t>
            </a:r>
            <a:endParaRPr lang="en-US" sz="1000" dirty="0"/>
          </a:p>
        </p:txBody>
      </p:sp>
      <p:sp>
        <p:nvSpPr>
          <p:cNvPr id="58" name="Text 49"/>
          <p:cNvSpPr/>
          <p:nvPr/>
        </p:nvSpPr>
        <p:spPr>
          <a:xfrm>
            <a:off x="34417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6</a:t>
            </a:r>
            <a:endParaRPr lang="en-US" sz="1000" dirty="0"/>
          </a:p>
        </p:txBody>
      </p:sp>
      <p:sp>
        <p:nvSpPr>
          <p:cNvPr id="59" name="Text 50"/>
          <p:cNvSpPr/>
          <p:nvPr/>
        </p:nvSpPr>
        <p:spPr>
          <a:xfrm>
            <a:off x="39116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7</a:t>
            </a:r>
            <a:endParaRPr lang="en-US" sz="1000" dirty="0"/>
          </a:p>
        </p:txBody>
      </p:sp>
      <p:sp>
        <p:nvSpPr>
          <p:cNvPr id="60" name="Text 51"/>
          <p:cNvSpPr/>
          <p:nvPr/>
        </p:nvSpPr>
        <p:spPr>
          <a:xfrm>
            <a:off x="43815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8</a:t>
            </a:r>
            <a:endParaRPr lang="en-US" sz="1000" dirty="0"/>
          </a:p>
        </p:txBody>
      </p:sp>
      <p:sp>
        <p:nvSpPr>
          <p:cNvPr id="61" name="Text 52"/>
          <p:cNvSpPr/>
          <p:nvPr/>
        </p:nvSpPr>
        <p:spPr>
          <a:xfrm>
            <a:off x="48514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9</a:t>
            </a:r>
            <a:endParaRPr lang="en-US" sz="1000" dirty="0"/>
          </a:p>
        </p:txBody>
      </p:sp>
      <p:sp>
        <p:nvSpPr>
          <p:cNvPr id="62" name="Text 53"/>
          <p:cNvSpPr/>
          <p:nvPr/>
        </p:nvSpPr>
        <p:spPr>
          <a:xfrm>
            <a:off x="5321300" y="6350000"/>
            <a:ext cx="3556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10</a:t>
            </a:r>
            <a:endParaRPr lang="en-US" sz="1000" dirty="0"/>
          </a:p>
        </p:txBody>
      </p:sp>
      <p:sp>
        <p:nvSpPr>
          <p:cNvPr id="63" name="Shape 54"/>
          <p:cNvSpPr/>
          <p:nvPr/>
        </p:nvSpPr>
        <p:spPr>
          <a:xfrm>
            <a:off x="1122363" y="3421063"/>
            <a:ext cx="295275" cy="257175"/>
          </a:xfrm>
          <a:prstGeom prst="roundRect">
            <a:avLst>
              <a:gd name="adj" fmla="val 12963"/>
            </a:avLst>
          </a:prstGeom>
          <a:noFill/>
          <a:ln w="9525">
            <a:solidFill>
              <a:srgbClr val="E8836F">
                <a:alpha val="55000"/>
              </a:srgbClr>
            </a:solidFill>
            <a:prstDash val="dash"/>
          </a:ln>
        </p:spPr>
      </p:sp>
      <p:sp>
        <p:nvSpPr>
          <p:cNvPr id="64" name="Shape 55"/>
          <p:cNvSpPr/>
          <p:nvPr/>
        </p:nvSpPr>
        <p:spPr>
          <a:xfrm>
            <a:off x="1592263" y="3275013"/>
            <a:ext cx="295275" cy="403225"/>
          </a:xfrm>
          <a:prstGeom prst="roundRect">
            <a:avLst>
              <a:gd name="adj" fmla="val 11290"/>
            </a:avLst>
          </a:prstGeom>
          <a:noFill/>
          <a:ln w="9525">
            <a:solidFill>
              <a:srgbClr val="E8836F">
                <a:alpha val="55000"/>
              </a:srgbClr>
            </a:solidFill>
            <a:prstDash val="dash"/>
          </a:ln>
        </p:spPr>
      </p:sp>
      <p:sp>
        <p:nvSpPr>
          <p:cNvPr id="65" name="Shape 56"/>
          <p:cNvSpPr/>
          <p:nvPr/>
        </p:nvSpPr>
        <p:spPr>
          <a:xfrm>
            <a:off x="2062163" y="3141663"/>
            <a:ext cx="295275" cy="536575"/>
          </a:xfrm>
          <a:prstGeom prst="roundRect">
            <a:avLst>
              <a:gd name="adj" fmla="val 11290"/>
            </a:avLst>
          </a:prstGeom>
          <a:noFill/>
          <a:ln w="9525">
            <a:solidFill>
              <a:srgbClr val="E8836F">
                <a:alpha val="55000"/>
              </a:srgbClr>
            </a:solidFill>
            <a:prstDash val="dash"/>
          </a:ln>
        </p:spPr>
      </p:sp>
      <p:sp>
        <p:nvSpPr>
          <p:cNvPr id="66" name="Shape 57"/>
          <p:cNvSpPr/>
          <p:nvPr/>
        </p:nvSpPr>
        <p:spPr>
          <a:xfrm>
            <a:off x="2532063" y="2995613"/>
            <a:ext cx="295275" cy="682625"/>
          </a:xfrm>
          <a:prstGeom prst="roundRect">
            <a:avLst>
              <a:gd name="adj" fmla="val 11290"/>
            </a:avLst>
          </a:prstGeom>
          <a:noFill/>
          <a:ln w="9525">
            <a:solidFill>
              <a:srgbClr val="E8836F">
                <a:alpha val="55000"/>
              </a:srgbClr>
            </a:solidFill>
            <a:prstDash val="dash"/>
          </a:ln>
        </p:spPr>
      </p:sp>
      <p:sp>
        <p:nvSpPr>
          <p:cNvPr id="67" name="Shape 58"/>
          <p:cNvSpPr/>
          <p:nvPr/>
        </p:nvSpPr>
        <p:spPr>
          <a:xfrm>
            <a:off x="3001963" y="2862263"/>
            <a:ext cx="295275" cy="815975"/>
          </a:xfrm>
          <a:prstGeom prst="roundRect">
            <a:avLst>
              <a:gd name="adj" fmla="val 11290"/>
            </a:avLst>
          </a:prstGeom>
          <a:noFill/>
          <a:ln w="9525">
            <a:solidFill>
              <a:srgbClr val="E8836F">
                <a:alpha val="55000"/>
              </a:srgbClr>
            </a:solidFill>
            <a:prstDash val="dash"/>
          </a:ln>
        </p:spPr>
      </p:sp>
      <p:sp>
        <p:nvSpPr>
          <p:cNvPr id="68" name="Shape 59"/>
          <p:cNvSpPr/>
          <p:nvPr/>
        </p:nvSpPr>
        <p:spPr>
          <a:xfrm>
            <a:off x="3471863" y="2722563"/>
            <a:ext cx="295275" cy="955675"/>
          </a:xfrm>
          <a:prstGeom prst="roundRect">
            <a:avLst>
              <a:gd name="adj" fmla="val 11290"/>
            </a:avLst>
          </a:prstGeom>
          <a:noFill/>
          <a:ln w="9525">
            <a:solidFill>
              <a:srgbClr val="E8836F">
                <a:alpha val="55000"/>
              </a:srgbClr>
            </a:solidFill>
            <a:prstDash val="dash"/>
          </a:ln>
        </p:spPr>
      </p:sp>
      <p:sp>
        <p:nvSpPr>
          <p:cNvPr id="69" name="Shape 60"/>
          <p:cNvSpPr/>
          <p:nvPr/>
        </p:nvSpPr>
        <p:spPr>
          <a:xfrm>
            <a:off x="3941763" y="2582863"/>
            <a:ext cx="295275" cy="1095375"/>
          </a:xfrm>
          <a:prstGeom prst="roundRect">
            <a:avLst>
              <a:gd name="adj" fmla="val 11290"/>
            </a:avLst>
          </a:prstGeom>
          <a:noFill/>
          <a:ln w="9525">
            <a:solidFill>
              <a:srgbClr val="E8836F">
                <a:alpha val="55000"/>
              </a:srgbClr>
            </a:solidFill>
            <a:prstDash val="dash"/>
          </a:ln>
        </p:spPr>
      </p:sp>
      <p:sp>
        <p:nvSpPr>
          <p:cNvPr id="70" name="Shape 61"/>
          <p:cNvSpPr/>
          <p:nvPr/>
        </p:nvSpPr>
        <p:spPr>
          <a:xfrm>
            <a:off x="4411663" y="2443163"/>
            <a:ext cx="295275" cy="1235075"/>
          </a:xfrm>
          <a:prstGeom prst="roundRect">
            <a:avLst>
              <a:gd name="adj" fmla="val 11290"/>
            </a:avLst>
          </a:prstGeom>
          <a:noFill/>
          <a:ln w="9525">
            <a:solidFill>
              <a:srgbClr val="E8836F">
                <a:alpha val="55000"/>
              </a:srgbClr>
            </a:solidFill>
            <a:prstDash val="dash"/>
          </a:ln>
        </p:spPr>
      </p:sp>
      <p:sp>
        <p:nvSpPr>
          <p:cNvPr id="71" name="Shape 62"/>
          <p:cNvSpPr/>
          <p:nvPr/>
        </p:nvSpPr>
        <p:spPr>
          <a:xfrm>
            <a:off x="4881563" y="2303463"/>
            <a:ext cx="295275" cy="1374775"/>
          </a:xfrm>
          <a:prstGeom prst="roundRect">
            <a:avLst>
              <a:gd name="adj" fmla="val 11290"/>
            </a:avLst>
          </a:prstGeom>
          <a:noFill/>
          <a:ln w="9525">
            <a:solidFill>
              <a:srgbClr val="E8836F">
                <a:alpha val="55000"/>
              </a:srgbClr>
            </a:solidFill>
            <a:prstDash val="dash"/>
          </a:ln>
        </p:spPr>
      </p:sp>
      <p:sp>
        <p:nvSpPr>
          <p:cNvPr id="72" name="Shape 63"/>
          <p:cNvSpPr/>
          <p:nvPr/>
        </p:nvSpPr>
        <p:spPr>
          <a:xfrm>
            <a:off x="5351463" y="2163763"/>
            <a:ext cx="295275" cy="1514475"/>
          </a:xfrm>
          <a:prstGeom prst="roundRect">
            <a:avLst>
              <a:gd name="adj" fmla="val 11290"/>
            </a:avLst>
          </a:prstGeom>
          <a:noFill/>
          <a:ln w="9525">
            <a:solidFill>
              <a:srgbClr val="E8836F">
                <a:alpha val="55000"/>
              </a:srgbClr>
            </a:solidFill>
            <a:prstDash val="dash"/>
          </a:ln>
        </p:spPr>
      </p:sp>
      <p:sp>
        <p:nvSpPr>
          <p:cNvPr id="73" name="Shape 64"/>
          <p:cNvSpPr/>
          <p:nvPr/>
        </p:nvSpPr>
        <p:spPr>
          <a:xfrm>
            <a:off x="1122363" y="6246813"/>
            <a:ext cx="295275" cy="34925"/>
          </a:xfrm>
          <a:prstGeom prst="roundRect">
            <a:avLst>
              <a:gd name="adj" fmla="val 50000"/>
            </a:avLst>
          </a:prstGeom>
          <a:noFill/>
          <a:ln w="9525">
            <a:solidFill>
              <a:srgbClr val="E8836F">
                <a:alpha val="55000"/>
              </a:srgbClr>
            </a:solidFill>
            <a:prstDash val="dash"/>
          </a:ln>
        </p:spPr>
      </p:sp>
      <p:sp>
        <p:nvSpPr>
          <p:cNvPr id="74" name="Shape 65"/>
          <p:cNvSpPr/>
          <p:nvPr/>
        </p:nvSpPr>
        <p:spPr>
          <a:xfrm>
            <a:off x="1592263" y="6176963"/>
            <a:ext cx="295275" cy="104775"/>
          </a:xfrm>
          <a:prstGeom prst="roundRect">
            <a:avLst>
              <a:gd name="adj" fmla="val 31818"/>
            </a:avLst>
          </a:prstGeom>
          <a:noFill/>
          <a:ln w="9525">
            <a:solidFill>
              <a:srgbClr val="E8836F">
                <a:alpha val="55000"/>
              </a:srgbClr>
            </a:solidFill>
            <a:prstDash val="dash"/>
          </a:ln>
        </p:spPr>
      </p:sp>
      <p:sp>
        <p:nvSpPr>
          <p:cNvPr id="75" name="Shape 66"/>
          <p:cNvSpPr/>
          <p:nvPr/>
        </p:nvSpPr>
        <p:spPr>
          <a:xfrm>
            <a:off x="2062163" y="6081713"/>
            <a:ext cx="295275" cy="200025"/>
          </a:xfrm>
          <a:prstGeom prst="roundRect">
            <a:avLst>
              <a:gd name="adj" fmla="val 16667"/>
            </a:avLst>
          </a:prstGeom>
          <a:noFill/>
          <a:ln w="9525">
            <a:solidFill>
              <a:srgbClr val="E8836F">
                <a:alpha val="55000"/>
              </a:srgbClr>
            </a:solidFill>
            <a:prstDash val="dash"/>
          </a:ln>
        </p:spPr>
      </p:sp>
      <p:sp>
        <p:nvSpPr>
          <p:cNvPr id="76" name="Shape 67"/>
          <p:cNvSpPr/>
          <p:nvPr/>
        </p:nvSpPr>
        <p:spPr>
          <a:xfrm>
            <a:off x="2532063" y="5967413"/>
            <a:ext cx="295275" cy="314325"/>
          </a:xfrm>
          <a:prstGeom prst="roundRect">
            <a:avLst>
              <a:gd name="adj" fmla="val 11290"/>
            </a:avLst>
          </a:prstGeom>
          <a:noFill/>
          <a:ln w="9525">
            <a:solidFill>
              <a:srgbClr val="E8836F">
                <a:alpha val="55000"/>
              </a:srgbClr>
            </a:solidFill>
            <a:prstDash val="dash"/>
          </a:ln>
        </p:spPr>
      </p:sp>
      <p:sp>
        <p:nvSpPr>
          <p:cNvPr id="77" name="Shape 68"/>
          <p:cNvSpPr/>
          <p:nvPr/>
        </p:nvSpPr>
        <p:spPr>
          <a:xfrm>
            <a:off x="3001963" y="5827713"/>
            <a:ext cx="295275" cy="454025"/>
          </a:xfrm>
          <a:prstGeom prst="roundRect">
            <a:avLst>
              <a:gd name="adj" fmla="val 11290"/>
            </a:avLst>
          </a:prstGeom>
          <a:noFill/>
          <a:ln w="9525">
            <a:solidFill>
              <a:srgbClr val="E8836F">
                <a:alpha val="55000"/>
              </a:srgbClr>
            </a:solidFill>
            <a:prstDash val="dash"/>
          </a:ln>
        </p:spPr>
      </p:sp>
      <p:sp>
        <p:nvSpPr>
          <p:cNvPr id="78" name="Shape 69"/>
          <p:cNvSpPr/>
          <p:nvPr/>
        </p:nvSpPr>
        <p:spPr>
          <a:xfrm>
            <a:off x="3471863" y="5662613"/>
            <a:ext cx="295275" cy="619125"/>
          </a:xfrm>
          <a:prstGeom prst="roundRect">
            <a:avLst>
              <a:gd name="adj" fmla="val 11290"/>
            </a:avLst>
          </a:prstGeom>
          <a:noFill/>
          <a:ln w="9525">
            <a:solidFill>
              <a:srgbClr val="E8836F">
                <a:alpha val="55000"/>
              </a:srgbClr>
            </a:solidFill>
            <a:prstDash val="dash"/>
          </a:ln>
        </p:spPr>
      </p:sp>
      <p:sp>
        <p:nvSpPr>
          <p:cNvPr id="79" name="Shape 70"/>
          <p:cNvSpPr/>
          <p:nvPr/>
        </p:nvSpPr>
        <p:spPr>
          <a:xfrm>
            <a:off x="3941763" y="5472113"/>
            <a:ext cx="295275" cy="809625"/>
          </a:xfrm>
          <a:prstGeom prst="roundRect">
            <a:avLst>
              <a:gd name="adj" fmla="val 11290"/>
            </a:avLst>
          </a:prstGeom>
          <a:noFill/>
          <a:ln w="9525">
            <a:solidFill>
              <a:srgbClr val="E8836F">
                <a:alpha val="55000"/>
              </a:srgbClr>
            </a:solidFill>
            <a:prstDash val="dash"/>
          </a:ln>
        </p:spPr>
      </p:sp>
      <p:sp>
        <p:nvSpPr>
          <p:cNvPr id="80" name="Shape 71"/>
          <p:cNvSpPr/>
          <p:nvPr/>
        </p:nvSpPr>
        <p:spPr>
          <a:xfrm>
            <a:off x="4411663" y="5262563"/>
            <a:ext cx="295275" cy="1019175"/>
          </a:xfrm>
          <a:prstGeom prst="roundRect">
            <a:avLst>
              <a:gd name="adj" fmla="val 11290"/>
            </a:avLst>
          </a:prstGeom>
          <a:noFill/>
          <a:ln w="9525">
            <a:solidFill>
              <a:srgbClr val="E8836F">
                <a:alpha val="55000"/>
              </a:srgbClr>
            </a:solidFill>
            <a:prstDash val="dash"/>
          </a:ln>
        </p:spPr>
      </p:sp>
      <p:sp>
        <p:nvSpPr>
          <p:cNvPr id="81" name="Shape 72"/>
          <p:cNvSpPr/>
          <p:nvPr/>
        </p:nvSpPr>
        <p:spPr>
          <a:xfrm>
            <a:off x="4881563" y="5027613"/>
            <a:ext cx="295275" cy="1254125"/>
          </a:xfrm>
          <a:prstGeom prst="roundRect">
            <a:avLst>
              <a:gd name="adj" fmla="val 11290"/>
            </a:avLst>
          </a:prstGeom>
          <a:noFill/>
          <a:ln w="9525">
            <a:solidFill>
              <a:srgbClr val="E8836F">
                <a:alpha val="55000"/>
              </a:srgbClr>
            </a:solidFill>
            <a:prstDash val="dash"/>
          </a:ln>
        </p:spPr>
      </p:sp>
      <p:sp>
        <p:nvSpPr>
          <p:cNvPr id="82" name="Shape 73"/>
          <p:cNvSpPr/>
          <p:nvPr/>
        </p:nvSpPr>
        <p:spPr>
          <a:xfrm>
            <a:off x="5351463" y="4767263"/>
            <a:ext cx="295275" cy="1514475"/>
          </a:xfrm>
          <a:prstGeom prst="roundRect">
            <a:avLst>
              <a:gd name="adj" fmla="val 11290"/>
            </a:avLst>
          </a:prstGeom>
          <a:noFill/>
          <a:ln w="9525">
            <a:solidFill>
              <a:srgbClr val="E8836F">
                <a:alpha val="55000"/>
              </a:srgbClr>
            </a:solidFill>
            <a:prstDash val="dash"/>
          </a:ln>
        </p:spPr>
      </p:sp>
      <p:sp>
        <p:nvSpPr>
          <p:cNvPr id="83" name="Text 74"/>
          <p:cNvSpPr/>
          <p:nvPr/>
        </p:nvSpPr>
        <p:spPr>
          <a:xfrm>
            <a:off x="65278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t1</a:t>
            </a:r>
            <a:endParaRPr lang="en-US" sz="900" dirty="0"/>
          </a:p>
        </p:txBody>
      </p:sp>
      <p:sp>
        <p:nvSpPr>
          <p:cNvPr id="84" name="Shape 75"/>
          <p:cNvSpPr/>
          <p:nvPr/>
        </p:nvSpPr>
        <p:spPr>
          <a:xfrm>
            <a:off x="1117600" y="3416300"/>
            <a:ext cx="304800" cy="266700"/>
          </a:xfrm>
          <a:prstGeom prst="roundRect">
            <a:avLst>
              <a:gd name="adj" fmla="val 14286"/>
            </a:avLst>
          </a:prstGeom>
          <a:solidFill>
            <a:srgbClr val="7FC4DC">
              <a:alpha val="85000"/>
            </a:srgbClr>
          </a:solidFill>
          <a:ln/>
        </p:spPr>
      </p:sp>
      <p:sp>
        <p:nvSpPr>
          <p:cNvPr id="85" name="Shape 76"/>
          <p:cNvSpPr/>
          <p:nvPr/>
        </p:nvSpPr>
        <p:spPr>
          <a:xfrm>
            <a:off x="1117600" y="6242050"/>
            <a:ext cx="304800" cy="44450"/>
          </a:xfrm>
          <a:prstGeom prst="roundRect">
            <a:avLst>
              <a:gd name="adj" fmla="val 50000"/>
            </a:avLst>
          </a:prstGeom>
          <a:solidFill>
            <a:srgbClr val="7FC4DC">
              <a:alpha val="85000"/>
            </a:srgbClr>
          </a:solidFill>
          <a:ln/>
        </p:spPr>
      </p:sp>
      <p:sp>
        <p:nvSpPr>
          <p:cNvPr id="86" name="Text 77"/>
          <p:cNvSpPr/>
          <p:nvPr/>
        </p:nvSpPr>
        <p:spPr>
          <a:xfrm>
            <a:off x="68834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t2</a:t>
            </a:r>
            <a:endParaRPr lang="en-US" sz="900" dirty="0"/>
          </a:p>
        </p:txBody>
      </p:sp>
      <p:sp>
        <p:nvSpPr>
          <p:cNvPr id="87" name="Shape 78"/>
          <p:cNvSpPr/>
          <p:nvPr/>
        </p:nvSpPr>
        <p:spPr>
          <a:xfrm>
            <a:off x="1587500" y="3384550"/>
            <a:ext cx="304800" cy="298450"/>
          </a:xfrm>
          <a:prstGeom prst="roundRect">
            <a:avLst>
              <a:gd name="adj" fmla="val 12766"/>
            </a:avLst>
          </a:prstGeom>
          <a:solidFill>
            <a:srgbClr val="7FC4DC">
              <a:alpha val="85000"/>
            </a:srgbClr>
          </a:solidFill>
          <a:ln/>
        </p:spPr>
      </p:sp>
      <p:sp>
        <p:nvSpPr>
          <p:cNvPr id="88" name="Shape 79"/>
          <p:cNvSpPr/>
          <p:nvPr/>
        </p:nvSpPr>
        <p:spPr>
          <a:xfrm>
            <a:off x="1587500" y="6191250"/>
            <a:ext cx="304800" cy="95250"/>
          </a:xfrm>
          <a:prstGeom prst="roundRect">
            <a:avLst>
              <a:gd name="adj" fmla="val 40000"/>
            </a:avLst>
          </a:prstGeom>
          <a:solidFill>
            <a:srgbClr val="7FC4DC">
              <a:alpha val="85000"/>
            </a:srgbClr>
          </a:solidFill>
          <a:ln/>
        </p:spPr>
      </p:sp>
      <p:sp>
        <p:nvSpPr>
          <p:cNvPr id="89" name="Text 80"/>
          <p:cNvSpPr/>
          <p:nvPr/>
        </p:nvSpPr>
        <p:spPr>
          <a:xfrm>
            <a:off x="72390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t3</a:t>
            </a:r>
            <a:endParaRPr lang="en-US" sz="900" dirty="0"/>
          </a:p>
        </p:txBody>
      </p:sp>
      <p:sp>
        <p:nvSpPr>
          <p:cNvPr id="90" name="Shape 81"/>
          <p:cNvSpPr/>
          <p:nvPr/>
        </p:nvSpPr>
        <p:spPr>
          <a:xfrm>
            <a:off x="2057400" y="3378200"/>
            <a:ext cx="304800" cy="304800"/>
          </a:xfrm>
          <a:prstGeom prst="roundRect">
            <a:avLst>
              <a:gd name="adj" fmla="val 12500"/>
            </a:avLst>
          </a:prstGeom>
          <a:solidFill>
            <a:srgbClr val="7FC4DC">
              <a:alpha val="85000"/>
            </a:srgbClr>
          </a:solidFill>
          <a:ln/>
        </p:spPr>
      </p:sp>
      <p:sp>
        <p:nvSpPr>
          <p:cNvPr id="91" name="Shape 82"/>
          <p:cNvSpPr/>
          <p:nvPr/>
        </p:nvSpPr>
        <p:spPr>
          <a:xfrm>
            <a:off x="2057400" y="6140450"/>
            <a:ext cx="304800" cy="146050"/>
          </a:xfrm>
          <a:prstGeom prst="roundRect">
            <a:avLst>
              <a:gd name="adj" fmla="val 26087"/>
            </a:avLst>
          </a:prstGeom>
          <a:solidFill>
            <a:srgbClr val="7FC4DC">
              <a:alpha val="85000"/>
            </a:srgbClr>
          </a:solidFill>
          <a:ln/>
        </p:spPr>
      </p:sp>
      <p:sp>
        <p:nvSpPr>
          <p:cNvPr id="92" name="Text 83"/>
          <p:cNvSpPr/>
          <p:nvPr/>
        </p:nvSpPr>
        <p:spPr>
          <a:xfrm>
            <a:off x="75946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t4</a:t>
            </a:r>
            <a:endParaRPr lang="en-US" sz="900" dirty="0"/>
          </a:p>
        </p:txBody>
      </p:sp>
      <p:sp>
        <p:nvSpPr>
          <p:cNvPr id="93" name="Shape 84"/>
          <p:cNvSpPr/>
          <p:nvPr/>
        </p:nvSpPr>
        <p:spPr>
          <a:xfrm>
            <a:off x="2527300" y="3371850"/>
            <a:ext cx="304800" cy="311150"/>
          </a:xfrm>
          <a:prstGeom prst="roundRect">
            <a:avLst>
              <a:gd name="adj" fmla="val 12500"/>
            </a:avLst>
          </a:prstGeom>
          <a:solidFill>
            <a:srgbClr val="7FC4DC">
              <a:alpha val="85000"/>
            </a:srgbClr>
          </a:solidFill>
          <a:ln/>
        </p:spPr>
      </p:sp>
      <p:sp>
        <p:nvSpPr>
          <p:cNvPr id="94" name="Shape 85"/>
          <p:cNvSpPr/>
          <p:nvPr/>
        </p:nvSpPr>
        <p:spPr>
          <a:xfrm>
            <a:off x="2527300" y="6083300"/>
            <a:ext cx="304800" cy="203200"/>
          </a:xfrm>
          <a:prstGeom prst="roundRect">
            <a:avLst>
              <a:gd name="adj" fmla="val 18750"/>
            </a:avLst>
          </a:prstGeom>
          <a:solidFill>
            <a:srgbClr val="7FC4DC">
              <a:alpha val="85000"/>
            </a:srgbClr>
          </a:solidFill>
          <a:ln/>
        </p:spPr>
      </p:sp>
      <p:sp>
        <p:nvSpPr>
          <p:cNvPr id="95" name="Text 86"/>
          <p:cNvSpPr/>
          <p:nvPr/>
        </p:nvSpPr>
        <p:spPr>
          <a:xfrm>
            <a:off x="79502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t5</a:t>
            </a:r>
            <a:endParaRPr lang="en-US" sz="900" dirty="0"/>
          </a:p>
        </p:txBody>
      </p:sp>
      <p:sp>
        <p:nvSpPr>
          <p:cNvPr id="96" name="Shape 87"/>
          <p:cNvSpPr/>
          <p:nvPr/>
        </p:nvSpPr>
        <p:spPr>
          <a:xfrm>
            <a:off x="2997200" y="3378200"/>
            <a:ext cx="304800" cy="304800"/>
          </a:xfrm>
          <a:prstGeom prst="roundRect">
            <a:avLst>
              <a:gd name="adj" fmla="val 12500"/>
            </a:avLst>
          </a:prstGeom>
          <a:solidFill>
            <a:srgbClr val="7FC4DC">
              <a:alpha val="85000"/>
            </a:srgbClr>
          </a:solidFill>
          <a:ln/>
        </p:spPr>
      </p:sp>
      <p:sp>
        <p:nvSpPr>
          <p:cNvPr id="97" name="Shape 88"/>
          <p:cNvSpPr/>
          <p:nvPr/>
        </p:nvSpPr>
        <p:spPr>
          <a:xfrm>
            <a:off x="2997200" y="6032500"/>
            <a:ext cx="304800" cy="254000"/>
          </a:xfrm>
          <a:prstGeom prst="roundRect">
            <a:avLst>
              <a:gd name="adj" fmla="val 15000"/>
            </a:avLst>
          </a:prstGeom>
          <a:solidFill>
            <a:srgbClr val="7FC4DC">
              <a:alpha val="85000"/>
            </a:srgbClr>
          </a:solidFill>
          <a:ln/>
        </p:spPr>
      </p:sp>
      <p:sp>
        <p:nvSpPr>
          <p:cNvPr id="98" name="Text 89"/>
          <p:cNvSpPr/>
          <p:nvPr/>
        </p:nvSpPr>
        <p:spPr>
          <a:xfrm>
            <a:off x="83058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t6</a:t>
            </a:r>
            <a:endParaRPr lang="en-US" sz="900" dirty="0"/>
          </a:p>
        </p:txBody>
      </p:sp>
      <p:sp>
        <p:nvSpPr>
          <p:cNvPr id="99" name="Shape 90"/>
          <p:cNvSpPr/>
          <p:nvPr/>
        </p:nvSpPr>
        <p:spPr>
          <a:xfrm>
            <a:off x="3467100" y="3371850"/>
            <a:ext cx="304800" cy="311150"/>
          </a:xfrm>
          <a:prstGeom prst="roundRect">
            <a:avLst>
              <a:gd name="adj" fmla="val 12500"/>
            </a:avLst>
          </a:prstGeom>
          <a:solidFill>
            <a:srgbClr val="7FC4DC">
              <a:alpha val="85000"/>
            </a:srgbClr>
          </a:solidFill>
          <a:ln/>
        </p:spPr>
      </p:sp>
      <p:sp>
        <p:nvSpPr>
          <p:cNvPr id="100" name="Shape 91"/>
          <p:cNvSpPr/>
          <p:nvPr/>
        </p:nvSpPr>
        <p:spPr>
          <a:xfrm>
            <a:off x="3467100" y="5981700"/>
            <a:ext cx="304800" cy="304800"/>
          </a:xfrm>
          <a:prstGeom prst="roundRect">
            <a:avLst>
              <a:gd name="adj" fmla="val 12500"/>
            </a:avLst>
          </a:prstGeom>
          <a:solidFill>
            <a:srgbClr val="7FC4DC">
              <a:alpha val="85000"/>
            </a:srgbClr>
          </a:solidFill>
          <a:ln/>
        </p:spPr>
      </p:sp>
      <p:sp>
        <p:nvSpPr>
          <p:cNvPr id="101" name="Text 92"/>
          <p:cNvSpPr/>
          <p:nvPr/>
        </p:nvSpPr>
        <p:spPr>
          <a:xfrm>
            <a:off x="86614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t7</a:t>
            </a:r>
            <a:endParaRPr lang="en-US" sz="900" dirty="0"/>
          </a:p>
        </p:txBody>
      </p:sp>
      <p:sp>
        <p:nvSpPr>
          <p:cNvPr id="102" name="Shape 93"/>
          <p:cNvSpPr/>
          <p:nvPr/>
        </p:nvSpPr>
        <p:spPr>
          <a:xfrm>
            <a:off x="3937000" y="3378200"/>
            <a:ext cx="304800" cy="304800"/>
          </a:xfrm>
          <a:prstGeom prst="roundRect">
            <a:avLst>
              <a:gd name="adj" fmla="val 12500"/>
            </a:avLst>
          </a:prstGeom>
          <a:solidFill>
            <a:srgbClr val="7FC4DC">
              <a:alpha val="85000"/>
            </a:srgbClr>
          </a:solidFill>
          <a:ln/>
        </p:spPr>
      </p:sp>
      <p:sp>
        <p:nvSpPr>
          <p:cNvPr id="103" name="Shape 94"/>
          <p:cNvSpPr/>
          <p:nvPr/>
        </p:nvSpPr>
        <p:spPr>
          <a:xfrm>
            <a:off x="3937000" y="5930900"/>
            <a:ext cx="304800" cy="355600"/>
          </a:xfrm>
          <a:prstGeom prst="roundRect">
            <a:avLst>
              <a:gd name="adj" fmla="val 12500"/>
            </a:avLst>
          </a:prstGeom>
          <a:solidFill>
            <a:srgbClr val="7FC4DC">
              <a:alpha val="85000"/>
            </a:srgbClr>
          </a:solidFill>
          <a:ln/>
        </p:spPr>
      </p:sp>
      <p:sp>
        <p:nvSpPr>
          <p:cNvPr id="104" name="Text 95"/>
          <p:cNvSpPr/>
          <p:nvPr/>
        </p:nvSpPr>
        <p:spPr>
          <a:xfrm>
            <a:off x="9182100" y="4305300"/>
            <a:ext cx="660400" cy="276820"/>
          </a:xfrm>
          <a:custGeom>
            <a:avLst/>
            <a:gdLst/>
            <a:ahLst/>
            <a:cxnLst/>
            <a:rect l="l" t="t" r="r" b="b"/>
            <a:pathLst>
              <a:path w="660400" h="276820">
                <a:moveTo>
                  <a:pt x="138410" y="0"/>
                </a:moveTo>
                <a:lnTo>
                  <a:pt x="521990" y="0"/>
                </a:lnTo>
                <a:arcTo hR="138410" wR="138410" stAng="16200000" swAng="5400000"/>
                <a:lnTo>
                  <a:pt x="660400" y="138410"/>
                </a:lnTo>
                <a:arcTo hR="138410" wR="138410" stAng="0" swAng="5400000"/>
                <a:lnTo>
                  <a:pt x="138410" y="276820"/>
                </a:lnTo>
                <a:arcTo hR="138410" wR="138410" stAng="5400000" swAng="5400000"/>
                <a:lnTo>
                  <a:pt x="0" y="138410"/>
                </a:lnTo>
                <a:arcTo hR="138410" wR="138410" stAng="10800000" swAng="5400000"/>
                <a:close/>
              </a:path>
            </a:pathLst>
          </a:custGeom>
          <a:solidFill>
            <a:srgbClr val="36677D">
              <a:alpha val="70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8</a:t>
            </a:r>
            <a:endParaRPr lang="en-US" sz="1200" dirty="0"/>
          </a:p>
        </p:txBody>
      </p:sp>
      <p:sp>
        <p:nvSpPr>
          <p:cNvPr id="105" name="Shape 96"/>
          <p:cNvSpPr/>
          <p:nvPr/>
        </p:nvSpPr>
        <p:spPr>
          <a:xfrm>
            <a:off x="4406900" y="3371850"/>
            <a:ext cx="304800" cy="311150"/>
          </a:xfrm>
          <a:prstGeom prst="roundRect">
            <a:avLst>
              <a:gd name="adj" fmla="val 12500"/>
            </a:avLst>
          </a:prstGeom>
          <a:solidFill>
            <a:srgbClr val="7FC4DC">
              <a:alpha val="85000"/>
            </a:srgbClr>
          </a:solidFill>
          <a:ln/>
        </p:spPr>
      </p:sp>
      <p:sp>
        <p:nvSpPr>
          <p:cNvPr id="106" name="Shape 97"/>
          <p:cNvSpPr/>
          <p:nvPr/>
        </p:nvSpPr>
        <p:spPr>
          <a:xfrm>
            <a:off x="4406900" y="5873750"/>
            <a:ext cx="304800" cy="412750"/>
          </a:xfrm>
          <a:prstGeom prst="roundRect">
            <a:avLst>
              <a:gd name="adj" fmla="val 12500"/>
            </a:avLst>
          </a:prstGeom>
          <a:solidFill>
            <a:srgbClr val="7FC4DC">
              <a:alpha val="85000"/>
            </a:srgbClr>
          </a:solidFill>
          <a:ln/>
        </p:spPr>
      </p:sp>
      <p:sp>
        <p:nvSpPr>
          <p:cNvPr id="107" name="Text 98"/>
          <p:cNvSpPr/>
          <p:nvPr/>
        </p:nvSpPr>
        <p:spPr>
          <a:xfrm>
            <a:off x="9893300" y="4305300"/>
            <a:ext cx="660400" cy="276820"/>
          </a:xfrm>
          <a:custGeom>
            <a:avLst/>
            <a:gdLst/>
            <a:ahLst/>
            <a:cxnLst/>
            <a:rect l="l" t="t" r="r" b="b"/>
            <a:pathLst>
              <a:path w="660400" h="276820">
                <a:moveTo>
                  <a:pt x="138410" y="0"/>
                </a:moveTo>
                <a:lnTo>
                  <a:pt x="521990" y="0"/>
                </a:lnTo>
                <a:arcTo hR="138410" wR="138410" stAng="16200000" swAng="5400000"/>
                <a:lnTo>
                  <a:pt x="660400" y="138410"/>
                </a:lnTo>
                <a:arcTo hR="138410" wR="138410" stAng="0" swAng="5400000"/>
                <a:lnTo>
                  <a:pt x="138410" y="276820"/>
                </a:lnTo>
                <a:arcTo hR="138410" wR="138410" stAng="5400000" swAng="5400000"/>
                <a:lnTo>
                  <a:pt x="0" y="138410"/>
                </a:lnTo>
                <a:arcTo hR="138410" wR="138410" stAng="10800000" swAng="5400000"/>
                <a:close/>
              </a:path>
            </a:pathLst>
          </a:custGeom>
          <a:solidFill>
            <a:srgbClr val="36677D">
              <a:alpha val="70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9</a:t>
            </a:r>
            <a:endParaRPr lang="en-US" sz="1200" dirty="0"/>
          </a:p>
        </p:txBody>
      </p:sp>
      <p:sp>
        <p:nvSpPr>
          <p:cNvPr id="108" name="Shape 99"/>
          <p:cNvSpPr/>
          <p:nvPr/>
        </p:nvSpPr>
        <p:spPr>
          <a:xfrm>
            <a:off x="4876800" y="3378200"/>
            <a:ext cx="304800" cy="304800"/>
          </a:xfrm>
          <a:prstGeom prst="roundRect">
            <a:avLst>
              <a:gd name="adj" fmla="val 12500"/>
            </a:avLst>
          </a:prstGeom>
          <a:solidFill>
            <a:srgbClr val="7FC4DC">
              <a:alpha val="85000"/>
            </a:srgbClr>
          </a:solidFill>
          <a:ln/>
        </p:spPr>
      </p:sp>
      <p:sp>
        <p:nvSpPr>
          <p:cNvPr id="109" name="Shape 100"/>
          <p:cNvSpPr/>
          <p:nvPr/>
        </p:nvSpPr>
        <p:spPr>
          <a:xfrm>
            <a:off x="4876800" y="5822950"/>
            <a:ext cx="304800" cy="463550"/>
          </a:xfrm>
          <a:prstGeom prst="roundRect">
            <a:avLst>
              <a:gd name="adj" fmla="val 12500"/>
            </a:avLst>
          </a:prstGeom>
          <a:solidFill>
            <a:srgbClr val="7FC4DC">
              <a:alpha val="85000"/>
            </a:srgbClr>
          </a:solidFill>
          <a:ln/>
        </p:spPr>
      </p:sp>
      <p:sp>
        <p:nvSpPr>
          <p:cNvPr id="110" name="Text 101"/>
          <p:cNvSpPr/>
          <p:nvPr/>
        </p:nvSpPr>
        <p:spPr>
          <a:xfrm>
            <a:off x="10604500" y="4305300"/>
            <a:ext cx="660400" cy="276820"/>
          </a:xfrm>
          <a:custGeom>
            <a:avLst/>
            <a:gdLst/>
            <a:ahLst/>
            <a:cxnLst/>
            <a:rect l="l" t="t" r="r" b="b"/>
            <a:pathLst>
              <a:path w="660400" h="276820">
                <a:moveTo>
                  <a:pt x="138410" y="0"/>
                </a:moveTo>
                <a:lnTo>
                  <a:pt x="521990" y="0"/>
                </a:lnTo>
                <a:arcTo hR="138410" wR="138410" stAng="16200000" swAng="5400000"/>
                <a:lnTo>
                  <a:pt x="660400" y="138410"/>
                </a:lnTo>
                <a:arcTo hR="138410" wR="138410" stAng="0" swAng="5400000"/>
                <a:lnTo>
                  <a:pt x="138410" y="276820"/>
                </a:lnTo>
                <a:arcTo hR="138410" wR="138410" stAng="5400000" swAng="5400000"/>
                <a:lnTo>
                  <a:pt x="0" y="138410"/>
                </a:lnTo>
                <a:arcTo hR="138410" wR="138410" stAng="10800000" swAng="5400000"/>
                <a:close/>
              </a:path>
            </a:pathLst>
          </a:custGeom>
          <a:solidFill>
            <a:srgbClr val="36677D">
              <a:alpha val="70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10</a:t>
            </a:r>
            <a:endParaRPr lang="en-US" sz="1200" dirty="0"/>
          </a:p>
        </p:txBody>
      </p:sp>
      <p:sp>
        <p:nvSpPr>
          <p:cNvPr id="111" name="Shape 102"/>
          <p:cNvSpPr/>
          <p:nvPr/>
        </p:nvSpPr>
        <p:spPr>
          <a:xfrm>
            <a:off x="5346700" y="3371850"/>
            <a:ext cx="304800" cy="311150"/>
          </a:xfrm>
          <a:prstGeom prst="roundRect">
            <a:avLst>
              <a:gd name="adj" fmla="val 12500"/>
            </a:avLst>
          </a:prstGeom>
          <a:solidFill>
            <a:srgbClr val="7FC4DC">
              <a:alpha val="85000"/>
            </a:srgbClr>
          </a:solidFill>
          <a:ln/>
        </p:spPr>
      </p:sp>
      <p:sp>
        <p:nvSpPr>
          <p:cNvPr id="112" name="Shape 103"/>
          <p:cNvSpPr/>
          <p:nvPr/>
        </p:nvSpPr>
        <p:spPr>
          <a:xfrm>
            <a:off x="5346700" y="5772150"/>
            <a:ext cx="304800" cy="514350"/>
          </a:xfrm>
          <a:prstGeom prst="roundRect">
            <a:avLst>
              <a:gd name="adj" fmla="val 12500"/>
            </a:avLst>
          </a:prstGeom>
          <a:solidFill>
            <a:srgbClr val="7FC4DC">
              <a:alpha val="85000"/>
            </a:srgbClr>
          </a:solidFill>
          <a:ln/>
        </p:spPr>
      </p:sp>
      <p:pic>
        <p:nvPicPr>
          <p:cNvPr id="113" name="Image 7" descr="window to model">    </p:cNvPr>
          <p:cNvPicPr>
            <a:picLocks noChangeAspect="1"/>
          </p:cNvPicPr>
          <p:nvPr/>
        </p:nvPicPr>
        <p:blipFill>
          <a:blip r:embed="rId8"/>
          <a:srcRect l="0" r="0" t="0" b="0"/>
          <a:stretch/>
        </p:blipFill>
        <p:spPr>
          <a:xfrm>
            <a:off x="0" y="0"/>
            <a:ext cx="12192000" cy="6858000"/>
          </a:xfrm>
          <a:prstGeom prst="rect">
            <a:avLst/>
          </a:prstGeom>
        </p:spPr>
      </p:pic>
      <p:sp>
        <p:nvSpPr>
          <p:cNvPr id="114" name="Text 104"/>
          <p:cNvSpPr/>
          <p:nvPr/>
        </p:nvSpPr>
        <p:spPr>
          <a:xfrm>
            <a:off x="8940800" y="5029200"/>
            <a:ext cx="25115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tokens in, roughly flat</a:t>
            </a:r>
            <a:endParaRPr lang="en-US" sz="1200" dirty="0"/>
          </a:p>
        </p:txBody>
      </p:sp>
      <p:sp>
        <p:nvSpPr>
          <p:cNvPr id="115" name="Text 105"/>
          <p:cNvSpPr/>
          <p:nvPr/>
        </p:nvSpPr>
        <p:spPr>
          <a:xfrm>
            <a:off x="6324600" y="5994400"/>
            <a:ext cx="516699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Tokens per turn stay roughly flat. Corrections become memory and come back next session.</a:t>
            </a:r>
            <a:endParaRPr lang="en-US" sz="1300" dirty="0"/>
          </a:p>
        </p:txBody>
      </p:sp>
      <p:sp>
        <p:nvSpPr>
          <p:cNvPr id="116" name="Text 106"/>
          <p:cNvSpPr/>
          <p:nvPr/>
        </p:nvSpPr>
        <p:spPr>
          <a:xfrm>
            <a:off x="1041400" y="3200400"/>
            <a:ext cx="457200"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7FC4DC"/>
                </a:solidFill>
                <a:latin typeface="Courier New" pitchFamily="49" charset="0"/>
                <a:ea typeface="Courier New" pitchFamily="49" charset="-122"/>
                <a:cs typeface="Courier New" pitchFamily="49" charset="-120"/>
              </a:rPr>
              <a:t>3.1k</a:t>
            </a:r>
            <a:endParaRPr lang="en-US" sz="1000" dirty="0"/>
          </a:p>
        </p:txBody>
      </p:sp>
      <p:sp>
        <p:nvSpPr>
          <p:cNvPr id="117" name="Text 107"/>
          <p:cNvSpPr/>
          <p:nvPr/>
        </p:nvSpPr>
        <p:spPr>
          <a:xfrm>
            <a:off x="3491230" y="1625600"/>
            <a:ext cx="222377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E8836F">
                    <a:alpha val="80000"/>
                  </a:srgbClr>
                </a:solidFill>
                <a:latin typeface="Courier New" pitchFamily="49" charset="0"/>
                <a:ea typeface="Courier New" pitchFamily="49" charset="-122"/>
                <a:cs typeface="Courier New" pitchFamily="49" charset="-120"/>
              </a:rPr>
              <a:t>dashed: without memory</a:t>
            </a:r>
            <a:endParaRPr lang="en-US" sz="1000" dirty="0"/>
          </a:p>
        </p:txBody>
      </p:sp>
      <p:sp>
        <p:nvSpPr>
          <p:cNvPr id="118" name="Text 108"/>
          <p:cNvSpPr/>
          <p:nvPr/>
        </p:nvSpPr>
        <p:spPr>
          <a:xfrm>
            <a:off x="3491230" y="4229100"/>
            <a:ext cx="222377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E8836F">
                    <a:alpha val="80000"/>
                  </a:srgbClr>
                </a:solidFill>
                <a:latin typeface="Courier New" pitchFamily="49" charset="0"/>
                <a:ea typeface="Courier New" pitchFamily="49" charset="-122"/>
                <a:cs typeface="Courier New" pitchFamily="49" charset="-120"/>
              </a:rPr>
              <a:t>dashed: without memory</a:t>
            </a:r>
            <a:endParaRPr lang="en-US" sz="1000" dirty="0"/>
          </a:p>
        </p:txBody>
      </p:sp>
      <p:sp>
        <p:nvSpPr>
          <p:cNvPr id="119" name="Text 109"/>
          <p:cNvSpPr/>
          <p:nvPr/>
        </p:nvSpPr>
        <p:spPr>
          <a:xfrm>
            <a:off x="1244600" y="2540000"/>
            <a:ext cx="2354580"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7FC4DC"/>
                </a:solidFill>
                <a:latin typeface="Courier New" pitchFamily="49" charset="0"/>
                <a:ea typeface="Courier New" pitchFamily="49" charset="-122"/>
                <a:cs typeface="Courier New" pitchFamily="49" charset="-120"/>
              </a:rPr>
              <a:t>flat: 3.1k to 3.6k a turn</a:t>
            </a:r>
            <a:endParaRPr lang="en-US" sz="1100" dirty="0"/>
          </a:p>
        </p:txBody>
      </p:sp>
      <p:sp>
        <p:nvSpPr>
          <p:cNvPr id="120" name="Text 110"/>
          <p:cNvSpPr/>
          <p:nvPr/>
        </p:nvSpPr>
        <p:spPr>
          <a:xfrm>
            <a:off x="1244600" y="5080000"/>
            <a:ext cx="2354580"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7FC4DC"/>
                </a:solidFill>
                <a:latin typeface="Courier New" pitchFamily="49" charset="0"/>
                <a:ea typeface="Courier New" pitchFamily="49" charset="-122"/>
                <a:cs typeface="Courier New" pitchFamily="49" charset="-120"/>
              </a:rPr>
              <a:t>35k billed: a third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90563" y="1147763"/>
            <a:ext cx="5324475" cy="5451475"/>
          </a:xfrm>
          <a:prstGeom prst="roundRect">
            <a:avLst>
              <a:gd name="adj" fmla="val 3011"/>
            </a:avLst>
          </a:prstGeom>
          <a:solidFill>
            <a:srgbClr val="C74634">
              <a:alpha val="9000"/>
            </a:srgbClr>
          </a:solidFill>
          <a:ln w="9525">
            <a:solidFill>
              <a:srgbClr val="C74634">
                <a:alpha val="40000"/>
              </a:srgbClr>
            </a:solidFill>
            <a:prstDash val="solid"/>
          </a:ln>
        </p:spPr>
      </p:sp>
      <p:sp>
        <p:nvSpPr>
          <p:cNvPr id="3" name="Shape 1"/>
          <p:cNvSpPr/>
          <p:nvPr/>
        </p:nvSpPr>
        <p:spPr>
          <a:xfrm>
            <a:off x="6176963" y="1147763"/>
            <a:ext cx="5324475" cy="5451475"/>
          </a:xfrm>
          <a:prstGeom prst="roundRect">
            <a:avLst>
              <a:gd name="adj" fmla="val 3011"/>
            </a:avLst>
          </a:prstGeom>
          <a:solidFill>
            <a:srgbClr val="36677D">
              <a:alpha val="22000"/>
            </a:srgbClr>
          </a:solidFill>
          <a:ln w="9525">
            <a:solidFill>
              <a:srgbClr val="7FC4DC">
                <a:alpha val="40000"/>
              </a:srgbClr>
            </a:solidFill>
            <a:prstDash val="solid"/>
          </a:ln>
        </p:spPr>
      </p:sp>
      <p:sp>
        <p:nvSpPr>
          <p:cNvPr id="4" name="Shape 2"/>
          <p:cNvSpPr/>
          <p:nvPr/>
        </p:nvSpPr>
        <p:spPr>
          <a:xfrm>
            <a:off x="812800" y="457200"/>
            <a:ext cx="355600" cy="38100"/>
          </a:xfrm>
          <a:prstGeom prst="roundRect">
            <a:avLst>
              <a:gd name="adj" fmla="val 50000"/>
            </a:avLst>
          </a:prstGeom>
          <a:solidFill>
            <a:srgbClr val="C74634"/>
          </a:solidFill>
          <a:ln/>
        </p:spPr>
      </p:sp>
      <p:sp>
        <p:nvSpPr>
          <p:cNvPr id="5" name="Text 3"/>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Side by side: the loop without and with memory</a:t>
            </a:r>
            <a:endParaRPr lang="en-US" sz="2800" dirty="0"/>
          </a:p>
        </p:txBody>
      </p:sp>
      <p:sp>
        <p:nvSpPr>
          <p:cNvPr id="6" name="Text 4"/>
          <p:cNvSpPr/>
          <p:nvPr/>
        </p:nvSpPr>
        <p:spPr>
          <a:xfrm>
            <a:off x="838200" y="12573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836F"/>
                </a:solidFill>
                <a:latin typeface="Courier New" pitchFamily="49" charset="0"/>
                <a:ea typeface="Courier New" pitchFamily="49" charset="-122"/>
                <a:cs typeface="Courier New" pitchFamily="49" charset="-120"/>
              </a:rPr>
              <a:t>WITHOUT MEMORY</a:t>
            </a:r>
            <a:endParaRPr lang="en-US" sz="1200" dirty="0"/>
          </a:p>
        </p:txBody>
      </p:sp>
      <p:sp>
        <p:nvSpPr>
          <p:cNvPr id="7" name="Text 5"/>
          <p:cNvSpPr/>
          <p:nvPr/>
        </p:nvSpPr>
        <p:spPr>
          <a:xfrm>
            <a:off x="6324600" y="12573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C4DC"/>
                </a:solidFill>
                <a:latin typeface="Courier New" pitchFamily="49" charset="0"/>
                <a:ea typeface="Courier New" pitchFamily="49" charset="-122"/>
                <a:cs typeface="Courier New" pitchFamily="49" charset="-120"/>
              </a:rPr>
              <a:t>WITH MEMORY</a:t>
            </a:r>
            <a:endParaRPr lang="en-US" sz="1200" dirty="0"/>
          </a:p>
        </p:txBody>
      </p:sp>
      <p:sp>
        <p:nvSpPr>
          <p:cNvPr id="8" name="Shape 6"/>
          <p:cNvSpPr/>
          <p:nvPr/>
        </p:nvSpPr>
        <p:spPr>
          <a:xfrm>
            <a:off x="817563" y="1693863"/>
            <a:ext cx="1641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9" name="Image 0" descr="Users">    </p:cNvPr>
          <p:cNvPicPr>
            <a:picLocks noChangeAspect="1"/>
          </p:cNvPicPr>
          <p:nvPr/>
        </p:nvPicPr>
        <p:blipFill>
          <a:blip r:embed="rId1"/>
          <a:srcRect l="0" r="0" t="0" b="0"/>
          <a:stretch/>
        </p:blipFill>
        <p:spPr>
          <a:xfrm>
            <a:off x="901700" y="1816100"/>
            <a:ext cx="254000" cy="254000"/>
          </a:xfrm>
          <a:prstGeom prst="rect">
            <a:avLst/>
          </a:prstGeom>
        </p:spPr>
      </p:pic>
      <p:sp>
        <p:nvSpPr>
          <p:cNvPr id="10" name="Text 7"/>
          <p:cNvSpPr/>
          <p:nvPr/>
        </p:nvSpPr>
        <p:spPr>
          <a:xfrm>
            <a:off x="1244600" y="1836440"/>
            <a:ext cx="38968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User</a:t>
            </a:r>
            <a:endParaRPr lang="en-US" sz="1200" dirty="0"/>
          </a:p>
        </p:txBody>
      </p:sp>
      <p:sp>
        <p:nvSpPr>
          <p:cNvPr id="11" name="Shape 8"/>
          <p:cNvSpPr/>
          <p:nvPr/>
        </p:nvSpPr>
        <p:spPr>
          <a:xfrm>
            <a:off x="817563" y="2544763"/>
            <a:ext cx="1641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12" name="Image 1" descr="Settings">    </p:cNvPr>
          <p:cNvPicPr>
            <a:picLocks noChangeAspect="1"/>
          </p:cNvPicPr>
          <p:nvPr/>
        </p:nvPicPr>
        <p:blipFill>
          <a:blip r:embed="rId2"/>
          <a:srcRect l="0" r="0" t="0" b="0"/>
          <a:stretch/>
        </p:blipFill>
        <p:spPr>
          <a:xfrm>
            <a:off x="901700" y="2667000"/>
            <a:ext cx="254000" cy="254000"/>
          </a:xfrm>
          <a:prstGeom prst="rect">
            <a:avLst/>
          </a:prstGeom>
        </p:spPr>
      </p:pic>
      <p:sp>
        <p:nvSpPr>
          <p:cNvPr id="13" name="Text 9"/>
          <p:cNvSpPr/>
          <p:nvPr/>
        </p:nvSpPr>
        <p:spPr>
          <a:xfrm>
            <a:off x="1244600" y="268734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Agent harness</a:t>
            </a:r>
            <a:endParaRPr lang="en-US" sz="1200" dirty="0"/>
          </a:p>
        </p:txBody>
      </p:sp>
      <p:pic>
        <p:nvPicPr>
          <p:cNvPr id="14" name="Image 2" descr="user to harness">    </p:cNvPr>
          <p:cNvPicPr>
            <a:picLocks noChangeAspect="1"/>
          </p:cNvPicPr>
          <p:nvPr/>
        </p:nvPicPr>
        <p:blipFill>
          <a:blip r:embed="rId3"/>
          <a:srcRect l="0" r="0" t="0" b="0"/>
          <a:stretch/>
        </p:blipFill>
        <p:spPr>
          <a:xfrm>
            <a:off x="0" y="0"/>
            <a:ext cx="12192000" cy="6858000"/>
          </a:xfrm>
          <a:prstGeom prst="rect">
            <a:avLst/>
          </a:prstGeom>
        </p:spPr>
      </p:pic>
      <p:sp>
        <p:nvSpPr>
          <p:cNvPr id="15" name="Shape 10"/>
          <p:cNvSpPr/>
          <p:nvPr/>
        </p:nvSpPr>
        <p:spPr>
          <a:xfrm>
            <a:off x="817563" y="3395663"/>
            <a:ext cx="5070475" cy="1577975"/>
          </a:xfrm>
          <a:prstGeom prst="roundRect">
            <a:avLst>
              <a:gd name="adj" fmla="val 6942"/>
            </a:avLst>
          </a:prstGeom>
          <a:solidFill>
            <a:srgbClr val="C74634">
              <a:alpha val="10000"/>
            </a:srgbClr>
          </a:solidFill>
          <a:ln w="9525">
            <a:solidFill>
              <a:srgbClr val="C74634">
                <a:alpha val="60000"/>
              </a:srgbClr>
            </a:solidFill>
            <a:prstDash val="solid"/>
          </a:ln>
        </p:spPr>
      </p:sp>
      <p:sp>
        <p:nvSpPr>
          <p:cNvPr id="16" name="Text 11"/>
          <p:cNvSpPr/>
          <p:nvPr/>
        </p:nvSpPr>
        <p:spPr>
          <a:xfrm>
            <a:off x="939800" y="3527425"/>
            <a:ext cx="4505740"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E8836F"/>
                </a:solidFill>
                <a:latin typeface="Courier New" pitchFamily="49" charset="0"/>
                <a:ea typeface="Courier New" pitchFamily="49" charset="-122"/>
                <a:cs typeface="Courier New" pitchFamily="49" charset="-120"/>
              </a:rPr>
              <a:t>CONTEXT WINDOW · whole history, every call</a:t>
            </a:r>
            <a:endParaRPr lang="en-US" sz="1200" dirty="0"/>
          </a:p>
        </p:txBody>
      </p:sp>
      <p:pic>
        <p:nvPicPr>
          <p:cNvPr id="17" name="Image 3" descr="harness to window">    </p:cNvPr>
          <p:cNvPicPr>
            <a:picLocks noChangeAspect="1"/>
          </p:cNvPicPr>
          <p:nvPr/>
        </p:nvPicPr>
        <p:blipFill>
          <a:blip r:embed="rId4"/>
          <a:srcRect l="0" r="0" t="0" b="0"/>
          <a:stretch/>
        </p:blipFill>
        <p:spPr>
          <a:xfrm>
            <a:off x="0" y="0"/>
            <a:ext cx="12192000" cy="6858000"/>
          </a:xfrm>
          <a:prstGeom prst="rect">
            <a:avLst/>
          </a:prstGeom>
        </p:spPr>
      </p:pic>
      <p:sp>
        <p:nvSpPr>
          <p:cNvPr id="18" name="Text 12"/>
          <p:cNvSpPr/>
          <p:nvPr/>
        </p:nvSpPr>
        <p:spPr>
          <a:xfrm>
            <a:off x="1739900" y="31369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replays everything</a:t>
            </a:r>
            <a:endParaRPr lang="en-US" sz="1200" dirty="0"/>
          </a:p>
        </p:txBody>
      </p:sp>
      <p:sp>
        <p:nvSpPr>
          <p:cNvPr id="19" name="Text 13"/>
          <p:cNvSpPr/>
          <p:nvPr/>
        </p:nvSpPr>
        <p:spPr>
          <a:xfrm>
            <a:off x="939800" y="37846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1</a:t>
            </a:r>
            <a:endParaRPr lang="en-US" sz="1200" dirty="0"/>
          </a:p>
        </p:txBody>
      </p:sp>
      <p:sp>
        <p:nvSpPr>
          <p:cNvPr id="20" name="Text 14"/>
          <p:cNvSpPr/>
          <p:nvPr/>
        </p:nvSpPr>
        <p:spPr>
          <a:xfrm>
            <a:off x="1905000" y="37846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2</a:t>
            </a:r>
            <a:endParaRPr lang="en-US" sz="1200" dirty="0"/>
          </a:p>
        </p:txBody>
      </p:sp>
      <p:sp>
        <p:nvSpPr>
          <p:cNvPr id="21" name="Text 15"/>
          <p:cNvSpPr/>
          <p:nvPr/>
        </p:nvSpPr>
        <p:spPr>
          <a:xfrm>
            <a:off x="2870200" y="37846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3</a:t>
            </a:r>
            <a:endParaRPr lang="en-US" sz="1200" dirty="0"/>
          </a:p>
        </p:txBody>
      </p:sp>
      <p:sp>
        <p:nvSpPr>
          <p:cNvPr id="22" name="Text 16"/>
          <p:cNvSpPr/>
          <p:nvPr/>
        </p:nvSpPr>
        <p:spPr>
          <a:xfrm>
            <a:off x="3835400" y="37846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4</a:t>
            </a:r>
            <a:endParaRPr lang="en-US" sz="1200" dirty="0"/>
          </a:p>
        </p:txBody>
      </p:sp>
      <p:sp>
        <p:nvSpPr>
          <p:cNvPr id="23" name="Text 17"/>
          <p:cNvSpPr/>
          <p:nvPr/>
        </p:nvSpPr>
        <p:spPr>
          <a:xfrm>
            <a:off x="4800600" y="37846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5</a:t>
            </a:r>
            <a:endParaRPr lang="en-US" sz="1200" dirty="0"/>
          </a:p>
        </p:txBody>
      </p:sp>
      <p:sp>
        <p:nvSpPr>
          <p:cNvPr id="24" name="Text 18"/>
          <p:cNvSpPr/>
          <p:nvPr/>
        </p:nvSpPr>
        <p:spPr>
          <a:xfrm>
            <a:off x="939800" y="41148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6</a:t>
            </a:r>
            <a:endParaRPr lang="en-US" sz="1200" dirty="0"/>
          </a:p>
        </p:txBody>
      </p:sp>
      <p:sp>
        <p:nvSpPr>
          <p:cNvPr id="25" name="Text 19"/>
          <p:cNvSpPr/>
          <p:nvPr/>
        </p:nvSpPr>
        <p:spPr>
          <a:xfrm>
            <a:off x="1905000" y="41148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7</a:t>
            </a:r>
            <a:endParaRPr lang="en-US" sz="1200" dirty="0"/>
          </a:p>
        </p:txBody>
      </p:sp>
      <p:sp>
        <p:nvSpPr>
          <p:cNvPr id="26" name="Text 20"/>
          <p:cNvSpPr/>
          <p:nvPr/>
        </p:nvSpPr>
        <p:spPr>
          <a:xfrm>
            <a:off x="2870200" y="41148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8</a:t>
            </a:r>
            <a:endParaRPr lang="en-US" sz="1200" dirty="0"/>
          </a:p>
        </p:txBody>
      </p:sp>
      <p:sp>
        <p:nvSpPr>
          <p:cNvPr id="27" name="Text 21"/>
          <p:cNvSpPr/>
          <p:nvPr/>
        </p:nvSpPr>
        <p:spPr>
          <a:xfrm>
            <a:off x="3835400" y="41148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9</a:t>
            </a:r>
            <a:endParaRPr lang="en-US" sz="1200" dirty="0"/>
          </a:p>
        </p:txBody>
      </p:sp>
      <p:sp>
        <p:nvSpPr>
          <p:cNvPr id="28" name="Text 22"/>
          <p:cNvSpPr/>
          <p:nvPr/>
        </p:nvSpPr>
        <p:spPr>
          <a:xfrm>
            <a:off x="4800600" y="4114800"/>
            <a:ext cx="863600" cy="276820"/>
          </a:xfrm>
          <a:custGeom>
            <a:avLst/>
            <a:gdLst/>
            <a:ahLst/>
            <a:cxnLst/>
            <a:rect l="l" t="t" r="r" b="b"/>
            <a:pathLst>
              <a:path w="863600" h="276820">
                <a:moveTo>
                  <a:pt x="138410" y="0"/>
                </a:moveTo>
                <a:lnTo>
                  <a:pt x="725190" y="0"/>
                </a:lnTo>
                <a:arcTo hR="138410" wR="138410" stAng="16200000" swAng="5400000"/>
                <a:lnTo>
                  <a:pt x="863600" y="138410"/>
                </a:lnTo>
                <a:arcTo hR="138410" wR="138410" stAng="0" swAng="5400000"/>
                <a:lnTo>
                  <a:pt x="138410" y="276820"/>
                </a:lnTo>
                <a:arcTo hR="138410" wR="138410" stAng="5400000" swAng="5400000"/>
                <a:lnTo>
                  <a:pt x="0" y="138410"/>
                </a:lnTo>
                <a:arcTo hR="138410" wR="138410" stAng="10800000" swAng="5400000"/>
                <a:close/>
              </a:path>
            </a:pathLst>
          </a:custGeom>
          <a:solidFill>
            <a:srgbClr val="C74634">
              <a:alpha val="32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10</a:t>
            </a:r>
            <a:endParaRPr lang="en-US" sz="1200" dirty="0"/>
          </a:p>
        </p:txBody>
      </p:sp>
      <p:sp>
        <p:nvSpPr>
          <p:cNvPr id="29" name="Shape 23"/>
          <p:cNvSpPr/>
          <p:nvPr/>
        </p:nvSpPr>
        <p:spPr>
          <a:xfrm>
            <a:off x="2544763" y="5300663"/>
            <a:ext cx="2784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30" name="Image 4" descr="Lightbulb">    </p:cNvPr>
          <p:cNvPicPr>
            <a:picLocks noChangeAspect="1"/>
          </p:cNvPicPr>
          <p:nvPr/>
        </p:nvPicPr>
        <p:blipFill>
          <a:blip r:embed="rId5"/>
          <a:srcRect l="0" r="0" t="0" b="0"/>
          <a:stretch/>
        </p:blipFill>
        <p:spPr>
          <a:xfrm>
            <a:off x="2628900" y="5422900"/>
            <a:ext cx="254000" cy="254000"/>
          </a:xfrm>
          <a:prstGeom prst="rect">
            <a:avLst/>
          </a:prstGeom>
        </p:spPr>
      </p:pic>
      <p:sp>
        <p:nvSpPr>
          <p:cNvPr id="31" name="Text 24"/>
          <p:cNvSpPr/>
          <p:nvPr/>
        </p:nvSpPr>
        <p:spPr>
          <a:xfrm>
            <a:off x="2971800" y="5330230"/>
            <a:ext cx="150782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LLM</a:t>
            </a:r>
            <a:endParaRPr lang="en-US" sz="1200" dirty="0"/>
          </a:p>
        </p:txBody>
      </p:sp>
      <p:sp>
        <p:nvSpPr>
          <p:cNvPr id="32" name="Text 25"/>
          <p:cNvSpPr/>
          <p:nvPr/>
        </p:nvSpPr>
        <p:spPr>
          <a:xfrm>
            <a:off x="2971800" y="5556250"/>
            <a:ext cx="150782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answers, then forgets</a:t>
            </a:r>
            <a:endParaRPr lang="en-US" sz="1200" dirty="0"/>
          </a:p>
        </p:txBody>
      </p:sp>
      <p:pic>
        <p:nvPicPr>
          <p:cNvPr id="33" name="Image 5" descr="window to model">    </p:cNvPr>
          <p:cNvPicPr>
            <a:picLocks noChangeAspect="1"/>
          </p:cNvPicPr>
          <p:nvPr/>
        </p:nvPicPr>
        <p:blipFill>
          <a:blip r:embed="rId6"/>
          <a:srcRect l="0" r="0" t="0" b="0"/>
          <a:stretch/>
        </p:blipFill>
        <p:spPr>
          <a:xfrm>
            <a:off x="0" y="0"/>
            <a:ext cx="12192000" cy="6858000"/>
          </a:xfrm>
          <a:prstGeom prst="rect">
            <a:avLst/>
          </a:prstGeom>
        </p:spPr>
      </p:pic>
      <p:sp>
        <p:nvSpPr>
          <p:cNvPr id="34" name="Text 26"/>
          <p:cNvSpPr/>
          <p:nvPr/>
        </p:nvSpPr>
        <p:spPr>
          <a:xfrm>
            <a:off x="3454400" y="5029200"/>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tokens grow every turn</a:t>
            </a:r>
            <a:endParaRPr lang="en-US" sz="1200" dirty="0"/>
          </a:p>
        </p:txBody>
      </p:sp>
      <p:sp>
        <p:nvSpPr>
          <p:cNvPr id="35" name="Shape 27"/>
          <p:cNvSpPr/>
          <p:nvPr/>
        </p:nvSpPr>
        <p:spPr>
          <a:xfrm>
            <a:off x="6303963" y="1693863"/>
            <a:ext cx="1641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36" name="Image 6" descr="Users">    </p:cNvPr>
          <p:cNvPicPr>
            <a:picLocks noChangeAspect="1"/>
          </p:cNvPicPr>
          <p:nvPr/>
        </p:nvPicPr>
        <p:blipFill>
          <a:blip r:embed="rId7"/>
          <a:srcRect l="0" r="0" t="0" b="0"/>
          <a:stretch/>
        </p:blipFill>
        <p:spPr>
          <a:xfrm>
            <a:off x="6388100" y="1816100"/>
            <a:ext cx="254000" cy="254000"/>
          </a:xfrm>
          <a:prstGeom prst="rect">
            <a:avLst/>
          </a:prstGeom>
        </p:spPr>
      </p:pic>
      <p:sp>
        <p:nvSpPr>
          <p:cNvPr id="37" name="Text 28"/>
          <p:cNvSpPr/>
          <p:nvPr/>
        </p:nvSpPr>
        <p:spPr>
          <a:xfrm>
            <a:off x="6731000" y="1836440"/>
            <a:ext cx="38968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User</a:t>
            </a:r>
            <a:endParaRPr lang="en-US" sz="1200" dirty="0"/>
          </a:p>
        </p:txBody>
      </p:sp>
      <p:sp>
        <p:nvSpPr>
          <p:cNvPr id="38" name="Shape 29"/>
          <p:cNvSpPr/>
          <p:nvPr/>
        </p:nvSpPr>
        <p:spPr>
          <a:xfrm>
            <a:off x="6303963" y="2544763"/>
            <a:ext cx="1641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39" name="Image 7" descr="Settings">    </p:cNvPr>
          <p:cNvPicPr>
            <a:picLocks noChangeAspect="1"/>
          </p:cNvPicPr>
          <p:nvPr/>
        </p:nvPicPr>
        <p:blipFill>
          <a:blip r:embed="rId8"/>
          <a:srcRect l="0" r="0" t="0" b="0"/>
          <a:stretch/>
        </p:blipFill>
        <p:spPr>
          <a:xfrm>
            <a:off x="6388100" y="2667000"/>
            <a:ext cx="254000" cy="254000"/>
          </a:xfrm>
          <a:prstGeom prst="rect">
            <a:avLst/>
          </a:prstGeom>
        </p:spPr>
      </p:pic>
      <p:sp>
        <p:nvSpPr>
          <p:cNvPr id="40" name="Text 30"/>
          <p:cNvSpPr/>
          <p:nvPr/>
        </p:nvSpPr>
        <p:spPr>
          <a:xfrm>
            <a:off x="6731000" y="268734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Agent harness</a:t>
            </a:r>
            <a:endParaRPr lang="en-US" sz="1200" dirty="0"/>
          </a:p>
        </p:txBody>
      </p:sp>
      <p:pic>
        <p:nvPicPr>
          <p:cNvPr id="41" name="Image 8" descr="user to harness">    </p:cNvPr>
          <p:cNvPicPr>
            <a:picLocks noChangeAspect="1"/>
          </p:cNvPicPr>
          <p:nvPr/>
        </p:nvPicPr>
        <p:blipFill>
          <a:blip r:embed="rId9"/>
          <a:srcRect l="0" r="0" t="0" b="0"/>
          <a:stretch/>
        </p:blipFill>
        <p:spPr>
          <a:xfrm>
            <a:off x="0" y="0"/>
            <a:ext cx="12192000" cy="6858000"/>
          </a:xfrm>
          <a:prstGeom prst="rect">
            <a:avLst/>
          </a:prstGeom>
        </p:spPr>
      </p:pic>
      <p:sp>
        <p:nvSpPr>
          <p:cNvPr id="42" name="Shape 31"/>
          <p:cNvSpPr/>
          <p:nvPr/>
        </p:nvSpPr>
        <p:spPr>
          <a:xfrm>
            <a:off x="8361362" y="2544763"/>
            <a:ext cx="1514475" cy="498475"/>
          </a:xfrm>
          <a:prstGeom prst="roundRect">
            <a:avLst>
              <a:gd name="adj" fmla="val 19427"/>
            </a:avLst>
          </a:prstGeom>
          <a:solidFill>
            <a:srgbClr val="36677D">
              <a:alpha val="50000"/>
            </a:srgbClr>
          </a:solidFill>
          <a:ln w="9525">
            <a:solidFill>
              <a:srgbClr val="7FC4DC"/>
            </a:solidFill>
            <a:prstDash val="solid"/>
          </a:ln>
        </p:spPr>
      </p:sp>
      <p:sp>
        <p:nvSpPr>
          <p:cNvPr id="43" name="Text 32"/>
          <p:cNvSpPr/>
          <p:nvPr/>
        </p:nvSpPr>
        <p:spPr>
          <a:xfrm>
            <a:off x="8432800" y="2687340"/>
            <a:ext cx="1312813"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Memory manager</a:t>
            </a:r>
            <a:endParaRPr lang="en-US" sz="1200" dirty="0"/>
          </a:p>
        </p:txBody>
      </p:sp>
      <p:pic>
        <p:nvPicPr>
          <p:cNvPr id="44" name="Image 9" descr="harness to memory manager">    </p:cNvPr>
          <p:cNvPicPr>
            <a:picLocks noChangeAspect="1"/>
          </p:cNvPicPr>
          <p:nvPr/>
        </p:nvPicPr>
        <p:blipFill>
          <a:blip r:embed="rId10"/>
          <a:srcRect l="0" r="0" t="0" b="0"/>
          <a:stretch/>
        </p:blipFill>
        <p:spPr>
          <a:xfrm>
            <a:off x="0" y="0"/>
            <a:ext cx="12192000" cy="6858000"/>
          </a:xfrm>
          <a:prstGeom prst="rect">
            <a:avLst/>
          </a:prstGeom>
        </p:spPr>
      </p:pic>
      <p:sp>
        <p:nvSpPr>
          <p:cNvPr id="45" name="Text 33"/>
          <p:cNvSpPr/>
          <p:nvPr/>
        </p:nvSpPr>
        <p:spPr>
          <a:xfrm>
            <a:off x="7658100" y="2311400"/>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messages, traces</a:t>
            </a:r>
            <a:endParaRPr lang="en-US" sz="1200" dirty="0"/>
          </a:p>
        </p:txBody>
      </p:sp>
      <p:sp>
        <p:nvSpPr>
          <p:cNvPr id="46" name="Shape 34"/>
          <p:cNvSpPr/>
          <p:nvPr/>
        </p:nvSpPr>
        <p:spPr>
          <a:xfrm>
            <a:off x="10240963" y="2544763"/>
            <a:ext cx="1133475" cy="498475"/>
          </a:xfrm>
          <a:prstGeom prst="roundRect">
            <a:avLst>
              <a:gd name="adj" fmla="val 19427"/>
            </a:avLst>
          </a:prstGeom>
          <a:solidFill>
            <a:srgbClr val="DEB068">
              <a:alpha val="18000"/>
            </a:srgbClr>
          </a:solidFill>
          <a:ln w="9525">
            <a:solidFill>
              <a:srgbClr val="DEB068">
                <a:alpha val="70000"/>
              </a:srgbClr>
            </a:solidFill>
            <a:prstDash val="solid"/>
          </a:ln>
        </p:spPr>
      </p:sp>
      <p:sp>
        <p:nvSpPr>
          <p:cNvPr id="47" name="Text 35"/>
          <p:cNvSpPr/>
          <p:nvPr/>
        </p:nvSpPr>
        <p:spPr>
          <a:xfrm>
            <a:off x="10312400" y="2687340"/>
            <a:ext cx="7285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Database</a:t>
            </a:r>
            <a:endParaRPr lang="en-US" sz="1200" dirty="0"/>
          </a:p>
        </p:txBody>
      </p:sp>
      <p:pic>
        <p:nvPicPr>
          <p:cNvPr id="48" name="Image 10" descr="write and recall">    </p:cNvPr>
          <p:cNvPicPr>
            <a:picLocks noChangeAspect="1"/>
          </p:cNvPicPr>
          <p:nvPr/>
        </p:nvPicPr>
        <p:blipFill>
          <a:blip r:embed="rId11"/>
          <a:srcRect l="0" r="0" t="0" b="0"/>
          <a:stretch/>
        </p:blipFill>
        <p:spPr>
          <a:xfrm>
            <a:off x="0" y="0"/>
            <a:ext cx="12192000" cy="6858000"/>
          </a:xfrm>
          <a:prstGeom prst="rect">
            <a:avLst/>
          </a:prstGeom>
        </p:spPr>
      </p:pic>
      <p:sp>
        <p:nvSpPr>
          <p:cNvPr id="49" name="Text 36"/>
          <p:cNvSpPr/>
          <p:nvPr/>
        </p:nvSpPr>
        <p:spPr>
          <a:xfrm>
            <a:off x="9696450" y="23114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write</a:t>
            </a:r>
            <a:endParaRPr lang="en-US" sz="1200" dirty="0"/>
          </a:p>
        </p:txBody>
      </p:sp>
      <p:sp>
        <p:nvSpPr>
          <p:cNvPr id="50" name="Text 37"/>
          <p:cNvSpPr/>
          <p:nvPr/>
        </p:nvSpPr>
        <p:spPr>
          <a:xfrm>
            <a:off x="9696450" y="31115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recall</a:t>
            </a:r>
            <a:endParaRPr lang="en-US" sz="1200" dirty="0"/>
          </a:p>
        </p:txBody>
      </p:sp>
      <p:sp>
        <p:nvSpPr>
          <p:cNvPr id="51" name="Shape 38"/>
          <p:cNvSpPr/>
          <p:nvPr/>
        </p:nvSpPr>
        <p:spPr>
          <a:xfrm>
            <a:off x="6303963" y="3395663"/>
            <a:ext cx="5070475" cy="1577975"/>
          </a:xfrm>
          <a:prstGeom prst="roundRect">
            <a:avLst>
              <a:gd name="adj" fmla="val 6942"/>
            </a:avLst>
          </a:prstGeom>
          <a:solidFill>
            <a:srgbClr val="36677D">
              <a:alpha val="18000"/>
            </a:srgbClr>
          </a:solidFill>
          <a:ln w="9525">
            <a:solidFill>
              <a:srgbClr val="7FC4DC"/>
            </a:solidFill>
            <a:prstDash val="solid"/>
          </a:ln>
        </p:spPr>
      </p:sp>
      <p:sp>
        <p:nvSpPr>
          <p:cNvPr id="52" name="Text 39"/>
          <p:cNvSpPr/>
          <p:nvPr/>
        </p:nvSpPr>
        <p:spPr>
          <a:xfrm>
            <a:off x="6426200" y="3527425"/>
            <a:ext cx="4827604"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7FC4DC"/>
                </a:solidFill>
                <a:latin typeface="Courier New" pitchFamily="49" charset="0"/>
                <a:ea typeface="Courier New" pitchFamily="49" charset="-122"/>
                <a:cs typeface="Courier New" pitchFamily="49" charset="-120"/>
              </a:rPr>
              <a:t>CONTEXT WINDOW · a context card, roughly flat</a:t>
            </a:r>
            <a:endParaRPr lang="en-US" sz="1200" dirty="0"/>
          </a:p>
        </p:txBody>
      </p:sp>
      <p:pic>
        <p:nvPicPr>
          <p:cNvPr id="53" name="Image 11" descr="harness builds the window; the context card lands in it">    </p:cNvPr>
          <p:cNvPicPr>
            <a:picLocks noChangeAspect="1"/>
          </p:cNvPicPr>
          <p:nvPr/>
        </p:nvPicPr>
        <p:blipFill>
          <a:blip r:embed="rId12"/>
          <a:srcRect l="0" r="0" t="0" b="0"/>
          <a:stretch/>
        </p:blipFill>
        <p:spPr>
          <a:xfrm>
            <a:off x="0" y="0"/>
            <a:ext cx="12192000" cy="6858000"/>
          </a:xfrm>
          <a:prstGeom prst="rect">
            <a:avLst/>
          </a:prstGeom>
        </p:spPr>
      </p:pic>
      <p:sp>
        <p:nvSpPr>
          <p:cNvPr id="54" name="Text 40"/>
          <p:cNvSpPr/>
          <p:nvPr/>
        </p:nvSpPr>
        <p:spPr>
          <a:xfrm>
            <a:off x="6248400" y="3136900"/>
            <a:ext cx="8001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builds</a:t>
            </a:r>
            <a:endParaRPr lang="en-US" sz="1200" dirty="0"/>
          </a:p>
        </p:txBody>
      </p:sp>
      <p:sp>
        <p:nvSpPr>
          <p:cNvPr id="55" name="Text 41"/>
          <p:cNvSpPr/>
          <p:nvPr/>
        </p:nvSpPr>
        <p:spPr>
          <a:xfrm>
            <a:off x="7569200" y="3136900"/>
            <a:ext cx="1270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context card</a:t>
            </a:r>
            <a:endParaRPr lang="en-US" sz="1200" dirty="0"/>
          </a:p>
        </p:txBody>
      </p:sp>
      <p:sp>
        <p:nvSpPr>
          <p:cNvPr id="56" name="Shape 42"/>
          <p:cNvSpPr/>
          <p:nvPr/>
        </p:nvSpPr>
        <p:spPr>
          <a:xfrm>
            <a:off x="6430963" y="3789363"/>
            <a:ext cx="2657475" cy="625475"/>
          </a:xfrm>
          <a:prstGeom prst="roundRect">
            <a:avLst>
              <a:gd name="adj" fmla="val 13452"/>
            </a:avLst>
          </a:prstGeom>
          <a:solidFill>
            <a:srgbClr val="36677D">
              <a:alpha val="35000"/>
            </a:srgbClr>
          </a:solidFill>
          <a:ln w="9525">
            <a:solidFill>
              <a:srgbClr val="7FC4DC">
                <a:alpha val="70000"/>
              </a:srgbClr>
            </a:solidFill>
            <a:prstDash val="dash"/>
          </a:ln>
        </p:spPr>
      </p:sp>
      <p:sp>
        <p:nvSpPr>
          <p:cNvPr id="57" name="Text 43"/>
          <p:cNvSpPr/>
          <p:nvPr/>
        </p:nvSpPr>
        <p:spPr>
          <a:xfrm>
            <a:off x="6502400" y="3822700"/>
            <a:ext cx="2616200" cy="185390"/>
          </a:xfrm>
          <a:prstGeom prst="rect">
            <a:avLst/>
          </a:prstGeom>
          <a:noFill/>
          <a:ln/>
        </p:spPr>
        <p:txBody>
          <a:bodyPr wrap="square" lIns="0" tIns="0" rIns="0" bIns="0" rtlCol="0" anchor="t">
            <a:normAutofit/>
          </a:bodyPr>
          <a:lstStyle/>
          <a:p>
            <a:pPr algn="l" indent="0" marL="0">
              <a:lnSpc>
                <a:spcPts val="1260"/>
              </a:lnSpc>
              <a:buNone/>
            </a:pPr>
            <a:r>
              <a:rPr lang="en-US" sz="900" spc="50" kern="0" dirty="0">
                <a:solidFill>
                  <a:srgbClr val="7FC4DC"/>
                </a:solidFill>
                <a:latin typeface="Courier New" pitchFamily="49" charset="0"/>
                <a:ea typeface="Courier New" pitchFamily="49" charset="-122"/>
                <a:cs typeface="Courier New" pitchFamily="49" charset="-120"/>
              </a:rPr>
              <a:t>SUMMARY OF TURNS 1 TO 7</a:t>
            </a:r>
            <a:endParaRPr lang="en-US" sz="900" dirty="0"/>
          </a:p>
        </p:txBody>
      </p:sp>
      <p:sp>
        <p:nvSpPr>
          <p:cNvPr id="58" name="Text 44"/>
          <p:cNvSpPr/>
          <p:nvPr/>
        </p:nvSpPr>
        <p:spPr>
          <a:xfrm>
            <a:off x="9182100" y="3784600"/>
            <a:ext cx="2070100" cy="276820"/>
          </a:xfrm>
          <a:custGeom>
            <a:avLst/>
            <a:gdLst/>
            <a:ahLst/>
            <a:cxnLst/>
            <a:rect l="l" t="t" r="r" b="b"/>
            <a:pathLst>
              <a:path w="2070100" h="276820">
                <a:moveTo>
                  <a:pt x="138410" y="0"/>
                </a:moveTo>
                <a:lnTo>
                  <a:pt x="1931690" y="0"/>
                </a:lnTo>
                <a:arcTo hR="138410" wR="138410" stAng="16200000" swAng="5400000"/>
                <a:lnTo>
                  <a:pt x="2070100" y="138410"/>
                </a:lnTo>
                <a:arcTo hR="138410" wR="138410" stAng="0" swAng="5400000"/>
                <a:lnTo>
                  <a:pt x="138410" y="276820"/>
                </a:lnTo>
                <a:arcTo hR="138410" wR="138410" stAng="5400000" swAng="5400000"/>
                <a:lnTo>
                  <a:pt x="0" y="138410"/>
                </a:lnTo>
                <a:arcTo hR="138410" wR="138410" stAng="10800000" swAng="5400000"/>
                <a:close/>
              </a:path>
            </a:pathLst>
          </a:custGeom>
          <a:solidFill>
            <a:srgbClr val="36677D">
              <a:alpha val="55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3 relevant memories</a:t>
            </a:r>
            <a:endParaRPr lang="en-US" sz="1200" dirty="0"/>
          </a:p>
        </p:txBody>
      </p:sp>
      <p:sp>
        <p:nvSpPr>
          <p:cNvPr id="59" name="Text 45"/>
          <p:cNvSpPr/>
          <p:nvPr/>
        </p:nvSpPr>
        <p:spPr>
          <a:xfrm>
            <a:off x="9182100" y="4127500"/>
            <a:ext cx="2132203" cy="185390"/>
          </a:xfrm>
          <a:prstGeom prst="rect">
            <a:avLst/>
          </a:prstGeom>
          <a:noFill/>
          <a:ln/>
        </p:spPr>
        <p:txBody>
          <a:bodyPr wrap="square" lIns="0" tIns="0" rIns="0" bIns="0" rtlCol="0" anchor="t">
            <a:normAutofit/>
          </a:bodyPr>
          <a:lstStyle/>
          <a:p>
            <a:pPr algn="l" indent="0" marL="0">
              <a:lnSpc>
                <a:spcPts val="1260"/>
              </a:lnSpc>
              <a:buNone/>
            </a:pPr>
            <a:r>
              <a:rPr lang="en-US" sz="900" spc="50" kern="0" dirty="0">
                <a:solidFill>
                  <a:srgbClr val="7FC4DC"/>
                </a:solidFill>
                <a:latin typeface="Courier New" pitchFamily="49" charset="0"/>
                <a:ea typeface="Courier New" pitchFamily="49" charset="-122"/>
                <a:cs typeface="Courier New" pitchFamily="49" charset="-120"/>
              </a:rPr>
              <a:t>RECENT TURNS, VERBATIM</a:t>
            </a:r>
            <a:endParaRPr lang="en-US" sz="900" dirty="0"/>
          </a:p>
        </p:txBody>
      </p:sp>
      <p:sp>
        <p:nvSpPr>
          <p:cNvPr id="60" name="Text 46"/>
          <p:cNvSpPr/>
          <p:nvPr/>
        </p:nvSpPr>
        <p:spPr>
          <a:xfrm>
            <a:off x="65278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t1</a:t>
            </a:r>
            <a:endParaRPr lang="en-US" sz="900" dirty="0"/>
          </a:p>
        </p:txBody>
      </p:sp>
      <p:sp>
        <p:nvSpPr>
          <p:cNvPr id="61" name="Text 47"/>
          <p:cNvSpPr/>
          <p:nvPr/>
        </p:nvSpPr>
        <p:spPr>
          <a:xfrm>
            <a:off x="68834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t2</a:t>
            </a:r>
            <a:endParaRPr lang="en-US" sz="900" dirty="0"/>
          </a:p>
        </p:txBody>
      </p:sp>
      <p:sp>
        <p:nvSpPr>
          <p:cNvPr id="62" name="Text 48"/>
          <p:cNvSpPr/>
          <p:nvPr/>
        </p:nvSpPr>
        <p:spPr>
          <a:xfrm>
            <a:off x="72390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t3</a:t>
            </a:r>
            <a:endParaRPr lang="en-US" sz="900" dirty="0"/>
          </a:p>
        </p:txBody>
      </p:sp>
      <p:sp>
        <p:nvSpPr>
          <p:cNvPr id="63" name="Text 49"/>
          <p:cNvSpPr/>
          <p:nvPr/>
        </p:nvSpPr>
        <p:spPr>
          <a:xfrm>
            <a:off x="75946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t4</a:t>
            </a:r>
            <a:endParaRPr lang="en-US" sz="900" dirty="0"/>
          </a:p>
        </p:txBody>
      </p:sp>
      <p:sp>
        <p:nvSpPr>
          <p:cNvPr id="64" name="Text 50"/>
          <p:cNvSpPr/>
          <p:nvPr/>
        </p:nvSpPr>
        <p:spPr>
          <a:xfrm>
            <a:off x="79502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t5</a:t>
            </a:r>
            <a:endParaRPr lang="en-US" sz="900" dirty="0"/>
          </a:p>
        </p:txBody>
      </p:sp>
      <p:sp>
        <p:nvSpPr>
          <p:cNvPr id="65" name="Text 51"/>
          <p:cNvSpPr/>
          <p:nvPr/>
        </p:nvSpPr>
        <p:spPr>
          <a:xfrm>
            <a:off x="83058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t6</a:t>
            </a:r>
            <a:endParaRPr lang="en-US" sz="900" dirty="0"/>
          </a:p>
        </p:txBody>
      </p:sp>
      <p:sp>
        <p:nvSpPr>
          <p:cNvPr id="66" name="Text 52"/>
          <p:cNvSpPr/>
          <p:nvPr/>
        </p:nvSpPr>
        <p:spPr>
          <a:xfrm>
            <a:off x="8661400" y="4025900"/>
            <a:ext cx="317500" cy="210790"/>
          </a:xfrm>
          <a:custGeom>
            <a:avLst/>
            <a:gdLst/>
            <a:ahLst/>
            <a:cxnLst/>
            <a:rect l="l" t="t" r="r" b="b"/>
            <a:pathLst>
              <a:path w="317500" h="210790">
                <a:moveTo>
                  <a:pt x="105395" y="0"/>
                </a:moveTo>
                <a:lnTo>
                  <a:pt x="212105" y="0"/>
                </a:lnTo>
                <a:arcTo hR="105395" wR="105395" stAng="16200000" swAng="5400000"/>
                <a:lnTo>
                  <a:pt x="317500" y="105395"/>
                </a:lnTo>
                <a:arcTo hR="105395" wR="105395" stAng="0" swAng="5400000"/>
                <a:lnTo>
                  <a:pt x="105395" y="210790"/>
                </a:lnTo>
                <a:arcTo hR="105395" wR="105395" stAng="5400000" swAng="5400000"/>
                <a:lnTo>
                  <a:pt x="0" y="105395"/>
                </a:lnTo>
                <a:arcTo hR="105395" wR="105395" stAng="10800000" swAng="5400000"/>
                <a:close/>
              </a:path>
            </a:pathLst>
          </a:custGeom>
          <a:solidFill>
            <a:srgbClr val="7FC4DC">
              <a:alpha val="35000"/>
            </a:srgbClr>
          </a:solidFill>
          <a:ln/>
        </p:spPr>
        <p:txBody>
          <a:bodyPr wrap="none" lIns="0" tIns="25400" rIns="0" bIns="0" rtlCol="0" anchor="t">
            <a:normAutofit/>
          </a:bodyPr>
          <a:lstStyle/>
          <a:p>
            <a:pPr algn="ctr" indent="0" marL="0">
              <a:lnSpc>
                <a:spcPts val="1260"/>
              </a:lnSpc>
              <a:buNone/>
            </a:pPr>
            <a:r>
              <a:rPr lang="en-US" sz="900" b="1" dirty="0">
                <a:solidFill>
                  <a:srgbClr val="FFFFFF"/>
                </a:solidFill>
                <a:latin typeface="Arial" pitchFamily="34" charset="0"/>
                <a:ea typeface="Arial" pitchFamily="34" charset="-122"/>
                <a:cs typeface="Arial" pitchFamily="34" charset="-120"/>
              </a:rPr>
              <a:t>t7</a:t>
            </a:r>
            <a:endParaRPr lang="en-US" sz="900" dirty="0"/>
          </a:p>
        </p:txBody>
      </p:sp>
      <p:sp>
        <p:nvSpPr>
          <p:cNvPr id="67" name="Text 53"/>
          <p:cNvSpPr/>
          <p:nvPr/>
        </p:nvSpPr>
        <p:spPr>
          <a:xfrm>
            <a:off x="9182100" y="4305300"/>
            <a:ext cx="660400" cy="276820"/>
          </a:xfrm>
          <a:custGeom>
            <a:avLst/>
            <a:gdLst/>
            <a:ahLst/>
            <a:cxnLst/>
            <a:rect l="l" t="t" r="r" b="b"/>
            <a:pathLst>
              <a:path w="660400" h="276820">
                <a:moveTo>
                  <a:pt x="138410" y="0"/>
                </a:moveTo>
                <a:lnTo>
                  <a:pt x="521990" y="0"/>
                </a:lnTo>
                <a:arcTo hR="138410" wR="138410" stAng="16200000" swAng="5400000"/>
                <a:lnTo>
                  <a:pt x="660400" y="138410"/>
                </a:lnTo>
                <a:arcTo hR="138410" wR="138410" stAng="0" swAng="5400000"/>
                <a:lnTo>
                  <a:pt x="138410" y="276820"/>
                </a:lnTo>
                <a:arcTo hR="138410" wR="138410" stAng="5400000" swAng="5400000"/>
                <a:lnTo>
                  <a:pt x="0" y="138410"/>
                </a:lnTo>
                <a:arcTo hR="138410" wR="138410" stAng="10800000" swAng="5400000"/>
                <a:close/>
              </a:path>
            </a:pathLst>
          </a:custGeom>
          <a:solidFill>
            <a:srgbClr val="36677D">
              <a:alpha val="70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8</a:t>
            </a:r>
            <a:endParaRPr lang="en-US" sz="1200" dirty="0"/>
          </a:p>
        </p:txBody>
      </p:sp>
      <p:sp>
        <p:nvSpPr>
          <p:cNvPr id="68" name="Text 54"/>
          <p:cNvSpPr/>
          <p:nvPr/>
        </p:nvSpPr>
        <p:spPr>
          <a:xfrm>
            <a:off x="9893300" y="4305300"/>
            <a:ext cx="660400" cy="276820"/>
          </a:xfrm>
          <a:custGeom>
            <a:avLst/>
            <a:gdLst/>
            <a:ahLst/>
            <a:cxnLst/>
            <a:rect l="l" t="t" r="r" b="b"/>
            <a:pathLst>
              <a:path w="660400" h="276820">
                <a:moveTo>
                  <a:pt x="138410" y="0"/>
                </a:moveTo>
                <a:lnTo>
                  <a:pt x="521990" y="0"/>
                </a:lnTo>
                <a:arcTo hR="138410" wR="138410" stAng="16200000" swAng="5400000"/>
                <a:lnTo>
                  <a:pt x="660400" y="138410"/>
                </a:lnTo>
                <a:arcTo hR="138410" wR="138410" stAng="0" swAng="5400000"/>
                <a:lnTo>
                  <a:pt x="138410" y="276820"/>
                </a:lnTo>
                <a:arcTo hR="138410" wR="138410" stAng="5400000" swAng="5400000"/>
                <a:lnTo>
                  <a:pt x="0" y="138410"/>
                </a:lnTo>
                <a:arcTo hR="138410" wR="138410" stAng="10800000" swAng="5400000"/>
                <a:close/>
              </a:path>
            </a:pathLst>
          </a:custGeom>
          <a:solidFill>
            <a:srgbClr val="36677D">
              <a:alpha val="70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9</a:t>
            </a:r>
            <a:endParaRPr lang="en-US" sz="1200" dirty="0"/>
          </a:p>
        </p:txBody>
      </p:sp>
      <p:sp>
        <p:nvSpPr>
          <p:cNvPr id="69" name="Text 55"/>
          <p:cNvSpPr/>
          <p:nvPr/>
        </p:nvSpPr>
        <p:spPr>
          <a:xfrm>
            <a:off x="10604500" y="4305300"/>
            <a:ext cx="660400" cy="276820"/>
          </a:xfrm>
          <a:custGeom>
            <a:avLst/>
            <a:gdLst/>
            <a:ahLst/>
            <a:cxnLst/>
            <a:rect l="l" t="t" r="r" b="b"/>
            <a:pathLst>
              <a:path w="660400" h="276820">
                <a:moveTo>
                  <a:pt x="138410" y="0"/>
                </a:moveTo>
                <a:lnTo>
                  <a:pt x="521990" y="0"/>
                </a:lnTo>
                <a:arcTo hR="138410" wR="138410" stAng="16200000" swAng="5400000"/>
                <a:lnTo>
                  <a:pt x="660400" y="138410"/>
                </a:lnTo>
                <a:arcTo hR="138410" wR="138410" stAng="0" swAng="5400000"/>
                <a:lnTo>
                  <a:pt x="138410" y="276820"/>
                </a:lnTo>
                <a:arcTo hR="138410" wR="138410" stAng="5400000" swAng="5400000"/>
                <a:lnTo>
                  <a:pt x="0" y="138410"/>
                </a:lnTo>
                <a:arcTo hR="138410" wR="138410" stAng="10800000" swAng="5400000"/>
                <a:close/>
              </a:path>
            </a:pathLst>
          </a:custGeom>
          <a:solidFill>
            <a:srgbClr val="36677D">
              <a:alpha val="70000"/>
            </a:srgbClr>
          </a:solidFill>
          <a:ln/>
        </p:spPr>
        <p:txBody>
          <a:bodyPr wrap="none" lIns="0" tIns="31750" rIns="0" bIns="635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turn 10</a:t>
            </a:r>
            <a:endParaRPr lang="en-US" sz="1200" dirty="0"/>
          </a:p>
        </p:txBody>
      </p:sp>
      <p:sp>
        <p:nvSpPr>
          <p:cNvPr id="70" name="Shape 56"/>
          <p:cNvSpPr/>
          <p:nvPr/>
        </p:nvSpPr>
        <p:spPr>
          <a:xfrm>
            <a:off x="7497763" y="5300663"/>
            <a:ext cx="2784475" cy="498475"/>
          </a:xfrm>
          <a:prstGeom prst="roundRect">
            <a:avLst>
              <a:gd name="adj" fmla="val 19427"/>
            </a:avLst>
          </a:prstGeom>
          <a:solidFill>
            <a:srgbClr val="1E2A2A">
              <a:alpha val="75000"/>
            </a:srgbClr>
          </a:solidFill>
          <a:ln w="9525">
            <a:solidFill>
              <a:srgbClr val="FFFFFF">
                <a:alpha val="22000"/>
              </a:srgbClr>
            </a:solidFill>
            <a:prstDash val="solid"/>
          </a:ln>
        </p:spPr>
      </p:sp>
      <p:pic>
        <p:nvPicPr>
          <p:cNvPr id="71" name="Image 12" descr="Lightbulb">    </p:cNvPr>
          <p:cNvPicPr>
            <a:picLocks noChangeAspect="1"/>
          </p:cNvPicPr>
          <p:nvPr/>
        </p:nvPicPr>
        <p:blipFill>
          <a:blip r:embed="rId13"/>
          <a:srcRect l="0" r="0" t="0" b="0"/>
          <a:stretch/>
        </p:blipFill>
        <p:spPr>
          <a:xfrm>
            <a:off x="7581900" y="5422900"/>
            <a:ext cx="254000" cy="254000"/>
          </a:xfrm>
          <a:prstGeom prst="rect">
            <a:avLst/>
          </a:prstGeom>
        </p:spPr>
      </p:pic>
      <p:sp>
        <p:nvSpPr>
          <p:cNvPr id="72" name="Text 57"/>
          <p:cNvSpPr/>
          <p:nvPr/>
        </p:nvSpPr>
        <p:spPr>
          <a:xfrm>
            <a:off x="7924800" y="5330230"/>
            <a:ext cx="207599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LLM</a:t>
            </a:r>
            <a:endParaRPr lang="en-US" sz="1200" dirty="0"/>
          </a:p>
        </p:txBody>
      </p:sp>
      <p:sp>
        <p:nvSpPr>
          <p:cNvPr id="73" name="Text 58"/>
          <p:cNvSpPr/>
          <p:nvPr/>
        </p:nvSpPr>
        <p:spPr>
          <a:xfrm>
            <a:off x="7924800" y="5556250"/>
            <a:ext cx="207599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answers, memory remembers</a:t>
            </a:r>
            <a:endParaRPr lang="en-US" sz="1200" dirty="0"/>
          </a:p>
        </p:txBody>
      </p:sp>
      <p:pic>
        <p:nvPicPr>
          <p:cNvPr id="74" name="Image 13" descr="window to model">    </p:cNvPr>
          <p:cNvPicPr>
            <a:picLocks noChangeAspect="1"/>
          </p:cNvPicPr>
          <p:nvPr/>
        </p:nvPicPr>
        <p:blipFill>
          <a:blip r:embed="rId14"/>
          <a:srcRect l="0" r="0" t="0" b="0"/>
          <a:stretch/>
        </p:blipFill>
        <p:spPr>
          <a:xfrm>
            <a:off x="0" y="0"/>
            <a:ext cx="12192000" cy="6858000"/>
          </a:xfrm>
          <a:prstGeom prst="rect">
            <a:avLst/>
          </a:prstGeom>
        </p:spPr>
      </p:pic>
      <p:sp>
        <p:nvSpPr>
          <p:cNvPr id="75" name="Text 59"/>
          <p:cNvSpPr/>
          <p:nvPr/>
        </p:nvSpPr>
        <p:spPr>
          <a:xfrm>
            <a:off x="8940800" y="5029200"/>
            <a:ext cx="25115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tokens in, roughly flat</a:t>
            </a:r>
            <a:endParaRPr lang="en-US" sz="1200" dirty="0"/>
          </a:p>
        </p:txBody>
      </p:sp>
      <p:sp>
        <p:nvSpPr>
          <p:cNvPr id="76" name="Text 60"/>
          <p:cNvSpPr/>
          <p:nvPr/>
        </p:nvSpPr>
        <p:spPr>
          <a:xfrm>
            <a:off x="838200" y="5994400"/>
            <a:ext cx="516699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Ten turns: 103k tokens billed, and growing. Corrections die with the session.</a:t>
            </a:r>
            <a:endParaRPr lang="en-US" sz="1300" dirty="0"/>
          </a:p>
        </p:txBody>
      </p:sp>
      <p:sp>
        <p:nvSpPr>
          <p:cNvPr id="77" name="Text 61"/>
          <p:cNvSpPr/>
          <p:nvPr/>
        </p:nvSpPr>
        <p:spPr>
          <a:xfrm>
            <a:off x="6324600" y="5994400"/>
            <a:ext cx="516699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Ten turns: 35k tokens billed, flat. Corrections become memory and come back.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2805875"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Agent memory</a:t>
            </a:r>
            <a:endParaRPr lang="en-US" sz="2800" dirty="0"/>
          </a:p>
        </p:txBody>
      </p:sp>
      <p:sp>
        <p:nvSpPr>
          <p:cNvPr id="4" name="Text 2"/>
          <p:cNvSpPr/>
          <p:nvPr/>
        </p:nvSpPr>
        <p:spPr>
          <a:xfrm>
            <a:off x="812800" y="1905000"/>
            <a:ext cx="10464800" cy="1016000"/>
          </a:xfrm>
          <a:prstGeom prst="rect">
            <a:avLst/>
          </a:prstGeom>
          <a:noFill/>
          <a:ln/>
        </p:spPr>
        <p:txBody>
          <a:bodyPr wrap="square" lIns="0" tIns="0" rIns="0" bIns="0" rtlCol="0" anchor="t">
            <a:normAutofit/>
          </a:bodyPr>
          <a:lstStyle/>
          <a:p>
            <a:pPr algn="l" indent="0" marL="0">
              <a:lnSpc>
                <a:spcPts val="3900"/>
              </a:lnSpc>
              <a:buNone/>
            </a:pPr>
            <a:r>
              <a:rPr lang="en-US" sz="3000" spc="-25" kern="0" dirty="0">
                <a:solidFill>
                  <a:srgbClr val="FFFFFF"/>
                </a:solidFill>
                <a:latin typeface="Arial" pitchFamily="34" charset="0"/>
                <a:ea typeface="Arial" pitchFamily="34" charset="-122"/>
                <a:cs typeface="Arial" pitchFamily="34" charset="-120"/>
              </a:rPr>
              <a:t>Agent memory is how an agent </a:t>
            </a:r>
            <a:r>
              <a:rPr lang="en-US" sz="3000" spc="-25" kern="0" dirty="0">
                <a:solidFill>
                  <a:srgbClr val="DEB068"/>
                </a:solidFill>
                <a:latin typeface="Arial" pitchFamily="34" charset="0"/>
                <a:ea typeface="Arial" pitchFamily="34" charset="-122"/>
                <a:cs typeface="Arial" pitchFamily="34" charset="-120"/>
              </a:rPr>
              <a:t>retains</a:t>
            </a:r>
            <a:r>
              <a:rPr lang="en-US" sz="3000" spc="-25" kern="0" dirty="0">
                <a:solidFill>
                  <a:srgbClr val="FFFFFF"/>
                </a:solidFill>
                <a:latin typeface="Arial" pitchFamily="34" charset="0"/>
                <a:ea typeface="Arial" pitchFamily="34" charset="-122"/>
                <a:cs typeface="Arial" pitchFamily="34" charset="-120"/>
              </a:rPr>
              <a:t>, </a:t>
            </a:r>
            <a:r>
              <a:rPr lang="en-US" sz="3000" spc="-25" kern="0" dirty="0">
                <a:solidFill>
                  <a:srgbClr val="DEB068"/>
                </a:solidFill>
                <a:latin typeface="Arial" pitchFamily="34" charset="0"/>
                <a:ea typeface="Arial" pitchFamily="34" charset="-122"/>
                <a:cs typeface="Arial" pitchFamily="34" charset="-120"/>
              </a:rPr>
              <a:t>reuses</a:t>
            </a:r>
            <a:r>
              <a:rPr lang="en-US" sz="3000" spc="-25" kern="0" dirty="0">
                <a:solidFill>
                  <a:srgbClr val="FFFFFF"/>
                </a:solidFill>
                <a:latin typeface="Arial" pitchFamily="34" charset="0"/>
                <a:ea typeface="Arial" pitchFamily="34" charset="-122"/>
                <a:cs typeface="Arial" pitchFamily="34" charset="-120"/>
              </a:rPr>
              <a:t>, </a:t>
            </a:r>
            <a:r>
              <a:rPr lang="en-US" sz="3000" spc="-25" kern="0" dirty="0">
                <a:solidFill>
                  <a:srgbClr val="DEB068"/>
                </a:solidFill>
                <a:latin typeface="Arial" pitchFamily="34" charset="0"/>
                <a:ea typeface="Arial" pitchFamily="34" charset="-122"/>
                <a:cs typeface="Arial" pitchFamily="34" charset="-120"/>
              </a:rPr>
              <a:t>refines</a:t>
            </a:r>
            <a:r>
              <a:rPr lang="en-US" sz="3000" spc="-25" kern="0" dirty="0">
                <a:solidFill>
                  <a:srgbClr val="FFFFFF"/>
                </a:solidFill>
                <a:latin typeface="Arial" pitchFamily="34" charset="0"/>
                <a:ea typeface="Arial" pitchFamily="34" charset="-122"/>
                <a:cs typeface="Arial" pitchFamily="34" charset="-120"/>
              </a:rPr>
              <a:t> and </a:t>
            </a:r>
            <a:r>
              <a:rPr lang="en-US" sz="3000" spc="-25" kern="0" dirty="0">
                <a:solidFill>
                  <a:srgbClr val="DEB068"/>
                </a:solidFill>
                <a:latin typeface="Arial" pitchFamily="34" charset="0"/>
                <a:ea typeface="Arial" pitchFamily="34" charset="-122"/>
                <a:cs typeface="Arial" pitchFamily="34" charset="-120"/>
              </a:rPr>
              <a:t>recalls</a:t>
            </a:r>
            <a:r>
              <a:rPr lang="en-US" sz="3000" spc="-25" kern="0" dirty="0">
                <a:solidFill>
                  <a:srgbClr val="FFFFFF"/>
                </a:solidFill>
                <a:latin typeface="Arial" pitchFamily="34" charset="0"/>
                <a:ea typeface="Arial" pitchFamily="34" charset="-122"/>
                <a:cs typeface="Arial" pitchFamily="34" charset="-120"/>
              </a:rPr>
              <a:t> what it learns, across turns, sessions and agents.</a:t>
            </a:r>
            <a:endParaRPr lang="en-US" sz="3000" dirty="0"/>
          </a:p>
        </p:txBody>
      </p:sp>
      <p:sp>
        <p:nvSpPr>
          <p:cNvPr id="5" name="Text 3"/>
          <p:cNvSpPr/>
          <p:nvPr/>
        </p:nvSpPr>
        <p:spPr>
          <a:xfrm>
            <a:off x="812800" y="36576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EB9B7"/>
                </a:solidFill>
                <a:latin typeface="Courier New" pitchFamily="49" charset="0"/>
                <a:ea typeface="Courier New" pitchFamily="49" charset="-122"/>
                <a:cs typeface="Courier New" pitchFamily="49" charset="-120"/>
              </a:rPr>
              <a:t>WHERE MEMORY LIVES</a:t>
            </a:r>
            <a:endParaRPr lang="en-US" sz="1200" dirty="0"/>
          </a:p>
        </p:txBody>
      </p:sp>
      <p:sp>
        <p:nvSpPr>
          <p:cNvPr id="6" name="Shape 4"/>
          <p:cNvSpPr/>
          <p:nvPr/>
        </p:nvSpPr>
        <p:spPr>
          <a:xfrm>
            <a:off x="817563" y="3954463"/>
            <a:ext cx="3375025" cy="1793875"/>
          </a:xfrm>
          <a:prstGeom prst="roundRect">
            <a:avLst>
              <a:gd name="adj" fmla="val 7522"/>
            </a:avLst>
          </a:prstGeom>
          <a:solidFill>
            <a:srgbClr val="FFFFFF">
              <a:alpha val="6000"/>
            </a:srgbClr>
          </a:solidFill>
          <a:ln w="9525">
            <a:solidFill>
              <a:srgbClr val="FFFFFF">
                <a:alpha val="18000"/>
              </a:srgbClr>
            </a:solidFill>
            <a:prstDash val="solid"/>
          </a:ln>
        </p:spPr>
      </p:sp>
      <p:sp>
        <p:nvSpPr>
          <p:cNvPr id="7" name="Text 5"/>
          <p:cNvSpPr/>
          <p:nvPr/>
        </p:nvSpPr>
        <p:spPr>
          <a:xfrm>
            <a:off x="1016000" y="4162425"/>
            <a:ext cx="109234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AEB9B7"/>
                </a:solidFill>
                <a:latin typeface="Courier New" pitchFamily="49" charset="0"/>
                <a:ea typeface="Courier New" pitchFamily="49" charset="-122"/>
                <a:cs typeface="Courier New" pitchFamily="49" charset="-120"/>
              </a:rPr>
              <a:t>PARAMETRIC</a:t>
            </a:r>
            <a:endParaRPr lang="en-US" sz="1200" dirty="0"/>
          </a:p>
        </p:txBody>
      </p:sp>
      <p:sp>
        <p:nvSpPr>
          <p:cNvPr id="8" name="Text 6"/>
          <p:cNvSpPr/>
          <p:nvPr/>
        </p:nvSpPr>
        <p:spPr>
          <a:xfrm>
            <a:off x="1016000" y="4451945"/>
            <a:ext cx="188987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Arial" pitchFamily="34" charset="0"/>
                <a:ea typeface="Arial" pitchFamily="34" charset="-122"/>
                <a:cs typeface="Arial" pitchFamily="34" charset="-120"/>
              </a:rPr>
              <a:t>Model weights</a:t>
            </a:r>
            <a:endParaRPr lang="en-US" sz="1800" dirty="0"/>
          </a:p>
        </p:txBody>
      </p:sp>
      <p:sp>
        <p:nvSpPr>
          <p:cNvPr id="9" name="Text 7"/>
          <p:cNvSpPr/>
          <p:nvPr/>
        </p:nvSpPr>
        <p:spPr>
          <a:xfrm>
            <a:off x="1016000" y="4802436"/>
            <a:ext cx="306749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What the LLM, or a decision model, learned in training. Changed only by fine-tuning.</a:t>
            </a:r>
            <a:endParaRPr lang="en-US" sz="1300" dirty="0"/>
          </a:p>
        </p:txBody>
      </p:sp>
      <p:sp>
        <p:nvSpPr>
          <p:cNvPr id="10" name="Shape 8"/>
          <p:cNvSpPr/>
          <p:nvPr/>
        </p:nvSpPr>
        <p:spPr>
          <a:xfrm>
            <a:off x="4405313" y="3954463"/>
            <a:ext cx="3375025" cy="1793875"/>
          </a:xfrm>
          <a:prstGeom prst="roundRect">
            <a:avLst>
              <a:gd name="adj" fmla="val 7522"/>
            </a:avLst>
          </a:prstGeom>
          <a:solidFill>
            <a:srgbClr val="FFFFFF">
              <a:alpha val="6000"/>
            </a:srgbClr>
          </a:solidFill>
          <a:ln w="9525">
            <a:solidFill>
              <a:srgbClr val="FFFFFF">
                <a:alpha val="18000"/>
              </a:srgbClr>
            </a:solidFill>
            <a:prstDash val="solid"/>
          </a:ln>
        </p:spPr>
      </p:sp>
      <p:sp>
        <p:nvSpPr>
          <p:cNvPr id="11" name="Text 9"/>
          <p:cNvSpPr/>
          <p:nvPr/>
        </p:nvSpPr>
        <p:spPr>
          <a:xfrm>
            <a:off x="4603750" y="4162425"/>
            <a:ext cx="77990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AEB9B7"/>
                </a:solidFill>
                <a:latin typeface="Courier New" pitchFamily="49" charset="0"/>
                <a:ea typeface="Courier New" pitchFamily="49" charset="-122"/>
                <a:cs typeface="Courier New" pitchFamily="49" charset="-120"/>
              </a:rPr>
              <a:t>WORKING</a:t>
            </a:r>
            <a:endParaRPr lang="en-US" sz="1200" dirty="0"/>
          </a:p>
        </p:txBody>
      </p:sp>
      <p:sp>
        <p:nvSpPr>
          <p:cNvPr id="12" name="Text 10"/>
          <p:cNvSpPr/>
          <p:nvPr/>
        </p:nvSpPr>
        <p:spPr>
          <a:xfrm>
            <a:off x="4603750" y="4451945"/>
            <a:ext cx="210294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Arial" pitchFamily="34" charset="0"/>
                <a:ea typeface="Arial" pitchFamily="34" charset="-122"/>
                <a:cs typeface="Arial" pitchFamily="34" charset="-120"/>
              </a:rPr>
              <a:t>Context window</a:t>
            </a:r>
            <a:endParaRPr lang="en-US" sz="1800" dirty="0"/>
          </a:p>
        </p:txBody>
      </p:sp>
      <p:sp>
        <p:nvSpPr>
          <p:cNvPr id="13" name="Text 11"/>
          <p:cNvSpPr/>
          <p:nvPr/>
        </p:nvSpPr>
        <p:spPr>
          <a:xfrm>
            <a:off x="4603750" y="4802436"/>
            <a:ext cx="306749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What the model sees on this call, plus the KV cache that is retained and reused.</a:t>
            </a:r>
            <a:endParaRPr lang="en-US" sz="1300" dirty="0"/>
          </a:p>
        </p:txBody>
      </p:sp>
      <p:sp>
        <p:nvSpPr>
          <p:cNvPr id="14" name="Shape 12"/>
          <p:cNvSpPr/>
          <p:nvPr/>
        </p:nvSpPr>
        <p:spPr>
          <a:xfrm>
            <a:off x="7993063" y="3954463"/>
            <a:ext cx="3381375" cy="1793875"/>
          </a:xfrm>
          <a:prstGeom prst="roundRect">
            <a:avLst>
              <a:gd name="adj" fmla="val 7522"/>
            </a:avLst>
          </a:prstGeom>
          <a:solidFill>
            <a:srgbClr val="C74634">
              <a:alpha val="14000"/>
            </a:srgbClr>
          </a:solidFill>
          <a:ln w="9525">
            <a:solidFill>
              <a:srgbClr val="C74634">
                <a:alpha val="70000"/>
              </a:srgbClr>
            </a:solidFill>
            <a:prstDash val="solid"/>
          </a:ln>
        </p:spPr>
      </p:sp>
      <p:sp>
        <p:nvSpPr>
          <p:cNvPr id="15" name="Text 13"/>
          <p:cNvSpPr/>
          <p:nvPr/>
        </p:nvSpPr>
        <p:spPr>
          <a:xfrm>
            <a:off x="8191500" y="4162425"/>
            <a:ext cx="109234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E8836F"/>
                </a:solidFill>
                <a:latin typeface="Courier New" pitchFamily="49" charset="0"/>
                <a:ea typeface="Courier New" pitchFamily="49" charset="-122"/>
                <a:cs typeface="Courier New" pitchFamily="49" charset="-120"/>
              </a:rPr>
              <a:t>PERSISTENT</a:t>
            </a:r>
            <a:endParaRPr lang="en-US" sz="1200" dirty="0"/>
          </a:p>
        </p:txBody>
      </p:sp>
      <p:sp>
        <p:nvSpPr>
          <p:cNvPr id="16" name="Text 14"/>
          <p:cNvSpPr/>
          <p:nvPr/>
        </p:nvSpPr>
        <p:spPr>
          <a:xfrm>
            <a:off x="8191500" y="4451945"/>
            <a:ext cx="121985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Arial" pitchFamily="34" charset="0"/>
                <a:ea typeface="Arial" pitchFamily="34" charset="-122"/>
                <a:cs typeface="Arial" pitchFamily="34" charset="-120"/>
              </a:rPr>
              <a:t>Database</a:t>
            </a:r>
            <a:endParaRPr lang="en-US" sz="1800" dirty="0"/>
          </a:p>
        </p:txBody>
      </p:sp>
      <p:sp>
        <p:nvSpPr>
          <p:cNvPr id="17" name="Text 15"/>
          <p:cNvSpPr/>
          <p:nvPr/>
        </p:nvSpPr>
        <p:spPr>
          <a:xfrm>
            <a:off x="8191500" y="4802436"/>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What survives across sessions and agents, governed like the rest of your data.</a:t>
            </a:r>
            <a:endParaRPr lang="en-US" sz="13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2805875"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Agent memory</a:t>
            </a:r>
            <a:endParaRPr lang="en-US" sz="2800" dirty="0"/>
          </a:p>
        </p:txBody>
      </p:sp>
      <p:sp>
        <p:nvSpPr>
          <p:cNvPr id="4" name="Text 2"/>
          <p:cNvSpPr/>
          <p:nvPr/>
        </p:nvSpPr>
        <p:spPr>
          <a:xfrm>
            <a:off x="812800" y="1206500"/>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2EFEA"/>
                </a:solidFill>
                <a:latin typeface="Arial" pitchFamily="34" charset="0"/>
                <a:ea typeface="Arial" pitchFamily="34" charset="-122"/>
                <a:cs typeface="Arial" pitchFamily="34" charset="-120"/>
              </a:rPr>
              <a:t>Agent memory is how an agent </a:t>
            </a:r>
            <a:r>
              <a:rPr lang="en-US" sz="1500" dirty="0">
                <a:solidFill>
                  <a:srgbClr val="DEB068"/>
                </a:solidFill>
                <a:latin typeface="Arial" pitchFamily="34" charset="0"/>
                <a:ea typeface="Arial" pitchFamily="34" charset="-122"/>
                <a:cs typeface="Arial" pitchFamily="34" charset="-120"/>
              </a:rPr>
              <a:t>retains</a:t>
            </a:r>
            <a:r>
              <a:rPr lang="en-US" sz="1500" dirty="0">
                <a:solidFill>
                  <a:srgbClr val="F2EFEA"/>
                </a:solidFill>
                <a:latin typeface="Arial" pitchFamily="34" charset="0"/>
                <a:ea typeface="Arial" pitchFamily="34" charset="-122"/>
                <a:cs typeface="Arial" pitchFamily="34" charset="-120"/>
              </a:rPr>
              <a:t>, </a:t>
            </a:r>
            <a:r>
              <a:rPr lang="en-US" sz="1500" dirty="0">
                <a:solidFill>
                  <a:srgbClr val="DEB068"/>
                </a:solidFill>
                <a:latin typeface="Arial" pitchFamily="34" charset="0"/>
                <a:ea typeface="Arial" pitchFamily="34" charset="-122"/>
                <a:cs typeface="Arial" pitchFamily="34" charset="-120"/>
              </a:rPr>
              <a:t>reuses</a:t>
            </a:r>
            <a:r>
              <a:rPr lang="en-US" sz="1500" dirty="0">
                <a:solidFill>
                  <a:srgbClr val="F2EFEA"/>
                </a:solidFill>
                <a:latin typeface="Arial" pitchFamily="34" charset="0"/>
                <a:ea typeface="Arial" pitchFamily="34" charset="-122"/>
                <a:cs typeface="Arial" pitchFamily="34" charset="-120"/>
              </a:rPr>
              <a:t>, </a:t>
            </a:r>
            <a:r>
              <a:rPr lang="en-US" sz="1500" dirty="0">
                <a:solidFill>
                  <a:srgbClr val="DEB068"/>
                </a:solidFill>
                <a:latin typeface="Arial" pitchFamily="34" charset="0"/>
                <a:ea typeface="Arial" pitchFamily="34" charset="-122"/>
                <a:cs typeface="Arial" pitchFamily="34" charset="-120"/>
              </a:rPr>
              <a:t>refines</a:t>
            </a:r>
            <a:r>
              <a:rPr lang="en-US" sz="1500" dirty="0">
                <a:solidFill>
                  <a:srgbClr val="F2EFEA"/>
                </a:solidFill>
                <a:latin typeface="Arial" pitchFamily="34" charset="0"/>
                <a:ea typeface="Arial" pitchFamily="34" charset="-122"/>
                <a:cs typeface="Arial" pitchFamily="34" charset="-120"/>
              </a:rPr>
              <a:t> and </a:t>
            </a:r>
            <a:r>
              <a:rPr lang="en-US" sz="1500" dirty="0">
                <a:solidFill>
                  <a:srgbClr val="DEB068"/>
                </a:solidFill>
                <a:latin typeface="Arial" pitchFamily="34" charset="0"/>
                <a:ea typeface="Arial" pitchFamily="34" charset="-122"/>
                <a:cs typeface="Arial" pitchFamily="34" charset="-120"/>
              </a:rPr>
              <a:t>recalls</a:t>
            </a:r>
            <a:r>
              <a:rPr lang="en-US" sz="1500" dirty="0">
                <a:solidFill>
                  <a:srgbClr val="F2EFEA"/>
                </a:solidFill>
                <a:latin typeface="Arial" pitchFamily="34" charset="0"/>
                <a:ea typeface="Arial" pitchFamily="34" charset="-122"/>
                <a:cs typeface="Arial" pitchFamily="34" charset="-120"/>
              </a:rPr>
              <a:t> what it learns, across turns, sessions and agents.</a:t>
            </a:r>
            <a:endParaRPr lang="en-US" sz="1500" dirty="0"/>
          </a:p>
        </p:txBody>
      </p:sp>
      <p:sp>
        <p:nvSpPr>
          <p:cNvPr id="5" name="Shape 3"/>
          <p:cNvSpPr/>
          <p:nvPr/>
        </p:nvSpPr>
        <p:spPr>
          <a:xfrm>
            <a:off x="817563" y="1528763"/>
            <a:ext cx="3375025" cy="3990975"/>
          </a:xfrm>
          <a:prstGeom prst="roundRect">
            <a:avLst>
              <a:gd name="adj" fmla="val 3998"/>
            </a:avLst>
          </a:prstGeom>
          <a:solidFill>
            <a:srgbClr val="FFFFFF">
              <a:alpha val="6000"/>
            </a:srgbClr>
          </a:solidFill>
          <a:ln w="9525">
            <a:solidFill>
              <a:srgbClr val="FFFFFF">
                <a:alpha val="18000"/>
              </a:srgbClr>
            </a:solidFill>
            <a:prstDash val="solid"/>
          </a:ln>
        </p:spPr>
      </p:sp>
      <p:sp>
        <p:nvSpPr>
          <p:cNvPr id="6" name="Text 4"/>
          <p:cNvSpPr/>
          <p:nvPr/>
        </p:nvSpPr>
        <p:spPr>
          <a:xfrm>
            <a:off x="990600" y="1711325"/>
            <a:ext cx="2789268"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AEB9B7"/>
                </a:solidFill>
                <a:latin typeface="Courier New" pitchFamily="49" charset="0"/>
                <a:ea typeface="Courier New" pitchFamily="49" charset="-122"/>
                <a:cs typeface="Courier New" pitchFamily="49" charset="-120"/>
              </a:rPr>
              <a:t>PARAMETRIC · model weights</a:t>
            </a:r>
            <a:endParaRPr lang="en-US" sz="1200" dirty="0"/>
          </a:p>
        </p:txBody>
      </p:sp>
      <p:sp>
        <p:nvSpPr>
          <p:cNvPr id="7" name="Text 5"/>
          <p:cNvSpPr/>
          <p:nvPr/>
        </p:nvSpPr>
        <p:spPr>
          <a:xfrm>
            <a:off x="990600" y="1988145"/>
            <a:ext cx="178486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Arial" pitchFamily="34" charset="0"/>
                <a:ea typeface="Arial" pitchFamily="34" charset="-122"/>
                <a:cs typeface="Arial" pitchFamily="34" charset="-120"/>
              </a:rPr>
              <a:t>Model weights</a:t>
            </a:r>
            <a:endParaRPr lang="en-US" sz="1700" dirty="0"/>
          </a:p>
        </p:txBody>
      </p:sp>
      <p:pic>
        <p:nvPicPr>
          <p:cNvPr id="8" name="Image 0" descr="a network with a few weights lit">    </p:cNvPr>
          <p:cNvPicPr>
            <a:picLocks noChangeAspect="1"/>
          </p:cNvPicPr>
          <p:nvPr/>
        </p:nvPicPr>
        <p:blipFill>
          <a:blip r:embed="rId1"/>
          <a:srcRect l="0" r="0" t="0" b="0"/>
          <a:stretch/>
        </p:blipFill>
        <p:spPr>
          <a:xfrm>
            <a:off x="990600" y="2310705"/>
            <a:ext cx="3028950" cy="1143000"/>
          </a:xfrm>
          <a:prstGeom prst="rect">
            <a:avLst/>
          </a:prstGeom>
        </p:spPr>
      </p:pic>
      <p:sp>
        <p:nvSpPr>
          <p:cNvPr id="9" name="Text 6"/>
          <p:cNvSpPr/>
          <p:nvPr/>
        </p:nvSpPr>
        <p:spPr>
          <a:xfrm>
            <a:off x="990600" y="3517205"/>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AEB9B7"/>
                </a:solidFill>
                <a:latin typeface="Courier New" pitchFamily="49" charset="0"/>
                <a:ea typeface="Courier New" pitchFamily="49" charset="-122"/>
                <a:cs typeface="Courier New" pitchFamily="49" charset="-120"/>
              </a:rPr>
              <a:t>READ</a:t>
            </a:r>
            <a:endParaRPr lang="en-US" sz="1000" dirty="0"/>
          </a:p>
        </p:txBody>
      </p:sp>
      <p:sp>
        <p:nvSpPr>
          <p:cNvPr id="10" name="Text 7"/>
          <p:cNvSpPr/>
          <p:nvPr/>
        </p:nvSpPr>
        <p:spPr>
          <a:xfrm>
            <a:off x="1701800" y="3517205"/>
            <a:ext cx="23872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every forward pass, implicitly; nothing to query</a:t>
            </a:r>
            <a:endParaRPr lang="en-US" sz="1100" dirty="0"/>
          </a:p>
        </p:txBody>
      </p:sp>
      <p:sp>
        <p:nvSpPr>
          <p:cNvPr id="11" name="Text 8"/>
          <p:cNvSpPr/>
          <p:nvPr/>
        </p:nvSpPr>
        <p:spPr>
          <a:xfrm>
            <a:off x="990600" y="3957836"/>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AEB9B7"/>
                </a:solidFill>
                <a:latin typeface="Courier New" pitchFamily="49" charset="0"/>
                <a:ea typeface="Courier New" pitchFamily="49" charset="-122"/>
                <a:cs typeface="Courier New" pitchFamily="49" charset="-120"/>
              </a:rPr>
              <a:t>WRITE</a:t>
            </a:r>
            <a:endParaRPr lang="en-US" sz="1000" dirty="0"/>
          </a:p>
        </p:txBody>
      </p:sp>
      <p:sp>
        <p:nvSpPr>
          <p:cNvPr id="12" name="Text 9"/>
          <p:cNvSpPr/>
          <p:nvPr/>
        </p:nvSpPr>
        <p:spPr>
          <a:xfrm>
            <a:off x="1701800" y="3957836"/>
            <a:ext cx="23872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training and fine-tuning; a batch job, not a turn</a:t>
            </a:r>
            <a:endParaRPr lang="en-US" sz="1100" dirty="0"/>
          </a:p>
        </p:txBody>
      </p:sp>
      <p:sp>
        <p:nvSpPr>
          <p:cNvPr id="13" name="Text 10"/>
          <p:cNvSpPr/>
          <p:nvPr/>
        </p:nvSpPr>
        <p:spPr>
          <a:xfrm>
            <a:off x="990600" y="4398466"/>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AEB9B7"/>
                </a:solidFill>
                <a:latin typeface="Courier New" pitchFamily="49" charset="0"/>
                <a:ea typeface="Courier New" pitchFamily="49" charset="-122"/>
                <a:cs typeface="Courier New" pitchFamily="49" charset="-120"/>
              </a:rPr>
              <a:t>LIVES</a:t>
            </a:r>
            <a:endParaRPr lang="en-US" sz="1000" dirty="0"/>
          </a:p>
        </p:txBody>
      </p:sp>
      <p:sp>
        <p:nvSpPr>
          <p:cNvPr id="14" name="Text 11"/>
          <p:cNvSpPr/>
          <p:nvPr/>
        </p:nvSpPr>
        <p:spPr>
          <a:xfrm>
            <a:off x="1701800" y="4398466"/>
            <a:ext cx="23872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on the accelerator, frozen at inference</a:t>
            </a:r>
            <a:endParaRPr lang="en-US" sz="1100" dirty="0"/>
          </a:p>
        </p:txBody>
      </p:sp>
      <p:sp>
        <p:nvSpPr>
          <p:cNvPr id="15" name="Text 12"/>
          <p:cNvSpPr/>
          <p:nvPr/>
        </p:nvSpPr>
        <p:spPr>
          <a:xfrm>
            <a:off x="990600" y="4839097"/>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AEB9B7"/>
                </a:solidFill>
                <a:latin typeface="Courier New" pitchFamily="49" charset="0"/>
                <a:ea typeface="Courier New" pitchFamily="49" charset="-122"/>
                <a:cs typeface="Courier New" pitchFamily="49" charset="-120"/>
              </a:rPr>
              <a:t>COST</a:t>
            </a:r>
            <a:endParaRPr lang="en-US" sz="1000" dirty="0"/>
          </a:p>
        </p:txBody>
      </p:sp>
      <p:sp>
        <p:nvSpPr>
          <p:cNvPr id="16" name="Text 13"/>
          <p:cNvSpPr/>
          <p:nvPr/>
        </p:nvSpPr>
        <p:spPr>
          <a:xfrm>
            <a:off x="1701800" y="4839097"/>
            <a:ext cx="2387283" cy="213965"/>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paid once per model; free per call</a:t>
            </a:r>
            <a:endParaRPr lang="en-US" sz="1100" dirty="0"/>
          </a:p>
        </p:txBody>
      </p:sp>
      <p:sp>
        <p:nvSpPr>
          <p:cNvPr id="17" name="Shape 14"/>
          <p:cNvSpPr/>
          <p:nvPr/>
        </p:nvSpPr>
        <p:spPr>
          <a:xfrm>
            <a:off x="4405313" y="1528763"/>
            <a:ext cx="3375025" cy="3990975"/>
          </a:xfrm>
          <a:prstGeom prst="roundRect">
            <a:avLst>
              <a:gd name="adj" fmla="val 3998"/>
            </a:avLst>
          </a:prstGeom>
          <a:solidFill>
            <a:srgbClr val="36677D">
              <a:alpha val="18000"/>
            </a:srgbClr>
          </a:solidFill>
          <a:ln w="9525">
            <a:solidFill>
              <a:srgbClr val="7FC4DC">
                <a:alpha val="60000"/>
              </a:srgbClr>
            </a:solidFill>
            <a:prstDash val="solid"/>
          </a:ln>
        </p:spPr>
      </p:sp>
      <p:sp>
        <p:nvSpPr>
          <p:cNvPr id="18" name="Text 15"/>
          <p:cNvSpPr/>
          <p:nvPr/>
        </p:nvSpPr>
        <p:spPr>
          <a:xfrm>
            <a:off x="4578350" y="1711325"/>
            <a:ext cx="257470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7FC4DC"/>
                </a:solidFill>
                <a:latin typeface="Courier New" pitchFamily="49" charset="0"/>
                <a:ea typeface="Courier New" pitchFamily="49" charset="-122"/>
                <a:cs typeface="Courier New" pitchFamily="49" charset="-120"/>
              </a:rPr>
              <a:t>WORKING · context window</a:t>
            </a:r>
            <a:endParaRPr lang="en-US" sz="1200" dirty="0"/>
          </a:p>
        </p:txBody>
      </p:sp>
      <p:sp>
        <p:nvSpPr>
          <p:cNvPr id="19" name="Text 16"/>
          <p:cNvSpPr/>
          <p:nvPr/>
        </p:nvSpPr>
        <p:spPr>
          <a:xfrm>
            <a:off x="4578350" y="1988145"/>
            <a:ext cx="198614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Arial" pitchFamily="34" charset="0"/>
                <a:ea typeface="Arial" pitchFamily="34" charset="-122"/>
                <a:cs typeface="Arial" pitchFamily="34" charset="-120"/>
              </a:rPr>
              <a:t>Context window</a:t>
            </a:r>
            <a:endParaRPr lang="en-US" sz="1700" dirty="0"/>
          </a:p>
        </p:txBody>
      </p:sp>
      <p:pic>
        <p:nvPicPr>
          <p:cNvPr id="20" name="Image 1" descr="a context window with its segments and the KV cache">    </p:cNvPr>
          <p:cNvPicPr>
            <a:picLocks noChangeAspect="1"/>
          </p:cNvPicPr>
          <p:nvPr/>
        </p:nvPicPr>
        <p:blipFill>
          <a:blip r:embed="rId2"/>
          <a:srcRect l="0" r="0" t="0" b="0"/>
          <a:stretch/>
        </p:blipFill>
        <p:spPr>
          <a:xfrm>
            <a:off x="4578350" y="2310705"/>
            <a:ext cx="3028950" cy="1143000"/>
          </a:xfrm>
          <a:prstGeom prst="rect">
            <a:avLst/>
          </a:prstGeom>
        </p:spPr>
      </p:pic>
      <p:sp>
        <p:nvSpPr>
          <p:cNvPr id="21" name="Text 17"/>
          <p:cNvSpPr/>
          <p:nvPr/>
        </p:nvSpPr>
        <p:spPr>
          <a:xfrm>
            <a:off x="4578350" y="3517205"/>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7FC4DC"/>
                </a:solidFill>
                <a:latin typeface="Courier New" pitchFamily="49" charset="0"/>
                <a:ea typeface="Courier New" pitchFamily="49" charset="-122"/>
                <a:cs typeface="Courier New" pitchFamily="49" charset="-120"/>
              </a:rPr>
              <a:t>READ</a:t>
            </a:r>
            <a:endParaRPr lang="en-US" sz="1000" dirty="0"/>
          </a:p>
        </p:txBody>
      </p:sp>
      <p:sp>
        <p:nvSpPr>
          <p:cNvPr id="22" name="Text 18"/>
          <p:cNvSpPr/>
          <p:nvPr/>
        </p:nvSpPr>
        <p:spPr>
          <a:xfrm>
            <a:off x="5289550" y="3517205"/>
            <a:ext cx="23872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attention over every token, on every call</a:t>
            </a:r>
            <a:endParaRPr lang="en-US" sz="1100" dirty="0"/>
          </a:p>
        </p:txBody>
      </p:sp>
      <p:sp>
        <p:nvSpPr>
          <p:cNvPr id="23" name="Text 19"/>
          <p:cNvSpPr/>
          <p:nvPr/>
        </p:nvSpPr>
        <p:spPr>
          <a:xfrm>
            <a:off x="4578350" y="3957836"/>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7FC4DC"/>
                </a:solidFill>
                <a:latin typeface="Courier New" pitchFamily="49" charset="0"/>
                <a:ea typeface="Courier New" pitchFamily="49" charset="-122"/>
                <a:cs typeface="Courier New" pitchFamily="49" charset="-120"/>
              </a:rPr>
              <a:t>WRITE</a:t>
            </a:r>
            <a:endParaRPr lang="en-US" sz="1000" dirty="0"/>
          </a:p>
        </p:txBody>
      </p:sp>
      <p:sp>
        <p:nvSpPr>
          <p:cNvPr id="24" name="Text 20"/>
          <p:cNvSpPr/>
          <p:nvPr/>
        </p:nvSpPr>
        <p:spPr>
          <a:xfrm>
            <a:off x="5289550" y="3957836"/>
            <a:ext cx="23872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the harness assembles it before each call</a:t>
            </a:r>
            <a:endParaRPr lang="en-US" sz="1100" dirty="0"/>
          </a:p>
        </p:txBody>
      </p:sp>
      <p:sp>
        <p:nvSpPr>
          <p:cNvPr id="25" name="Text 21"/>
          <p:cNvSpPr/>
          <p:nvPr/>
        </p:nvSpPr>
        <p:spPr>
          <a:xfrm>
            <a:off x="4578350" y="4398466"/>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7FC4DC"/>
                </a:solidFill>
                <a:latin typeface="Courier New" pitchFamily="49" charset="0"/>
                <a:ea typeface="Courier New" pitchFamily="49" charset="-122"/>
                <a:cs typeface="Courier New" pitchFamily="49" charset="-120"/>
              </a:rPr>
              <a:t>LIVES</a:t>
            </a:r>
            <a:endParaRPr lang="en-US" sz="1000" dirty="0"/>
          </a:p>
        </p:txBody>
      </p:sp>
      <p:sp>
        <p:nvSpPr>
          <p:cNvPr id="26" name="Text 22"/>
          <p:cNvSpPr/>
          <p:nvPr/>
        </p:nvSpPr>
        <p:spPr>
          <a:xfrm>
            <a:off x="5289550" y="4398466"/>
            <a:ext cx="23872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tokens for one call; the KV cache keeps the prefix warm</a:t>
            </a:r>
            <a:endParaRPr lang="en-US" sz="1100" dirty="0"/>
          </a:p>
        </p:txBody>
      </p:sp>
      <p:sp>
        <p:nvSpPr>
          <p:cNvPr id="27" name="Text 23"/>
          <p:cNvSpPr/>
          <p:nvPr/>
        </p:nvSpPr>
        <p:spPr>
          <a:xfrm>
            <a:off x="4578350" y="4839097"/>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7FC4DC"/>
                </a:solidFill>
                <a:latin typeface="Courier New" pitchFamily="49" charset="0"/>
                <a:ea typeface="Courier New" pitchFamily="49" charset="-122"/>
                <a:cs typeface="Courier New" pitchFamily="49" charset="-120"/>
              </a:rPr>
              <a:t>COST</a:t>
            </a:r>
            <a:endParaRPr lang="en-US" sz="1000" dirty="0"/>
          </a:p>
        </p:txBody>
      </p:sp>
      <p:sp>
        <p:nvSpPr>
          <p:cNvPr id="28" name="Text 24"/>
          <p:cNvSpPr/>
          <p:nvPr/>
        </p:nvSpPr>
        <p:spPr>
          <a:xfrm>
            <a:off x="5289550" y="4839097"/>
            <a:ext cx="23872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per input token, every call; the growing bill</a:t>
            </a:r>
            <a:endParaRPr lang="en-US" sz="1100" dirty="0"/>
          </a:p>
        </p:txBody>
      </p:sp>
      <p:sp>
        <p:nvSpPr>
          <p:cNvPr id="29" name="Shape 25"/>
          <p:cNvSpPr/>
          <p:nvPr/>
        </p:nvSpPr>
        <p:spPr>
          <a:xfrm>
            <a:off x="7993063" y="1528763"/>
            <a:ext cx="3381375" cy="3990975"/>
          </a:xfrm>
          <a:prstGeom prst="roundRect">
            <a:avLst>
              <a:gd name="adj" fmla="val 3991"/>
            </a:avLst>
          </a:prstGeom>
          <a:solidFill>
            <a:srgbClr val="DEB068">
              <a:alpha val="10000"/>
            </a:srgbClr>
          </a:solidFill>
          <a:ln w="9525">
            <a:solidFill>
              <a:srgbClr val="DEB068">
                <a:alpha val="60000"/>
              </a:srgbClr>
            </a:solidFill>
            <a:prstDash val="solid"/>
          </a:ln>
        </p:spPr>
      </p:sp>
      <p:sp>
        <p:nvSpPr>
          <p:cNvPr id="30" name="Text 26"/>
          <p:cNvSpPr/>
          <p:nvPr/>
        </p:nvSpPr>
        <p:spPr>
          <a:xfrm>
            <a:off x="8166100" y="1711325"/>
            <a:ext cx="2252896"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DEB068"/>
                </a:solidFill>
                <a:latin typeface="Courier New" pitchFamily="49" charset="0"/>
                <a:ea typeface="Courier New" pitchFamily="49" charset="-122"/>
                <a:cs typeface="Courier New" pitchFamily="49" charset="-120"/>
              </a:rPr>
              <a:t>PERSISTENT · database</a:t>
            </a:r>
            <a:endParaRPr lang="en-US" sz="1200" dirty="0"/>
          </a:p>
        </p:txBody>
      </p:sp>
      <p:sp>
        <p:nvSpPr>
          <p:cNvPr id="31" name="Text 27"/>
          <p:cNvSpPr/>
          <p:nvPr/>
        </p:nvSpPr>
        <p:spPr>
          <a:xfrm>
            <a:off x="8166100" y="1988145"/>
            <a:ext cx="11521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Arial" pitchFamily="34" charset="0"/>
                <a:ea typeface="Arial" pitchFamily="34" charset="-122"/>
                <a:cs typeface="Arial" pitchFamily="34" charset="-120"/>
              </a:rPr>
              <a:t>Database</a:t>
            </a:r>
            <a:endParaRPr lang="en-US" sz="1700" dirty="0"/>
          </a:p>
        </p:txBody>
      </p:sp>
      <p:pic>
        <p:nvPicPr>
          <p:cNvPr id="32" name="Image 2" descr="a database with typed memory tables">    </p:cNvPr>
          <p:cNvPicPr>
            <a:picLocks noChangeAspect="1"/>
          </p:cNvPicPr>
          <p:nvPr/>
        </p:nvPicPr>
        <p:blipFill>
          <a:blip r:embed="rId3"/>
          <a:srcRect l="0" r="0" t="0" b="0"/>
          <a:stretch/>
        </p:blipFill>
        <p:spPr>
          <a:xfrm>
            <a:off x="8166100" y="2310705"/>
            <a:ext cx="3028950" cy="1143000"/>
          </a:xfrm>
          <a:prstGeom prst="rect">
            <a:avLst/>
          </a:prstGeom>
        </p:spPr>
      </p:pic>
      <p:sp>
        <p:nvSpPr>
          <p:cNvPr id="33" name="Text 28"/>
          <p:cNvSpPr/>
          <p:nvPr/>
        </p:nvSpPr>
        <p:spPr>
          <a:xfrm>
            <a:off x="8166100" y="3517205"/>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DEB068"/>
                </a:solidFill>
                <a:latin typeface="Courier New" pitchFamily="49" charset="0"/>
                <a:ea typeface="Courier New" pitchFamily="49" charset="-122"/>
                <a:cs typeface="Courier New" pitchFamily="49" charset="-120"/>
              </a:rPr>
              <a:t>READ</a:t>
            </a:r>
            <a:endParaRPr lang="en-US" sz="1000" dirty="0"/>
          </a:p>
        </p:txBody>
      </p:sp>
      <p:sp>
        <p:nvSpPr>
          <p:cNvPr id="34" name="Text 29"/>
          <p:cNvSpPr/>
          <p:nvPr/>
        </p:nvSpPr>
        <p:spPr>
          <a:xfrm>
            <a:off x="8877300" y="3517205"/>
            <a:ext cx="2492375" cy="213965"/>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a query: filter, search, rerank, budget</a:t>
            </a:r>
            <a:endParaRPr lang="en-US" sz="1100" dirty="0"/>
          </a:p>
        </p:txBody>
      </p:sp>
      <p:sp>
        <p:nvSpPr>
          <p:cNvPr id="35" name="Text 30"/>
          <p:cNvSpPr/>
          <p:nvPr/>
        </p:nvSpPr>
        <p:spPr>
          <a:xfrm>
            <a:off x="8166100" y="3771205"/>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DEB068"/>
                </a:solidFill>
                <a:latin typeface="Courier New" pitchFamily="49" charset="0"/>
                <a:ea typeface="Courier New" pitchFamily="49" charset="-122"/>
                <a:cs typeface="Courier New" pitchFamily="49" charset="-120"/>
              </a:rPr>
              <a:t>WRITE</a:t>
            </a:r>
            <a:endParaRPr lang="en-US" sz="1000" dirty="0"/>
          </a:p>
        </p:txBody>
      </p:sp>
      <p:sp>
        <p:nvSpPr>
          <p:cNvPr id="36" name="Text 31"/>
          <p:cNvSpPr/>
          <p:nvPr/>
        </p:nvSpPr>
        <p:spPr>
          <a:xfrm>
            <a:off x="8877300" y="3771205"/>
            <a:ext cx="23872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extraction after a turn, or an explicit save</a:t>
            </a:r>
            <a:endParaRPr lang="en-US" sz="1100" dirty="0"/>
          </a:p>
        </p:txBody>
      </p:sp>
      <p:sp>
        <p:nvSpPr>
          <p:cNvPr id="37" name="Text 32"/>
          <p:cNvSpPr/>
          <p:nvPr/>
        </p:nvSpPr>
        <p:spPr>
          <a:xfrm>
            <a:off x="8166100" y="4211836"/>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DEB068"/>
                </a:solidFill>
                <a:latin typeface="Courier New" pitchFamily="49" charset="0"/>
                <a:ea typeface="Courier New" pitchFamily="49" charset="-122"/>
                <a:cs typeface="Courier New" pitchFamily="49" charset="-120"/>
              </a:rPr>
              <a:t>LIVES</a:t>
            </a:r>
            <a:endParaRPr lang="en-US" sz="1000" dirty="0"/>
          </a:p>
        </p:txBody>
      </p:sp>
      <p:sp>
        <p:nvSpPr>
          <p:cNvPr id="38" name="Text 33"/>
          <p:cNvSpPr/>
          <p:nvPr/>
        </p:nvSpPr>
        <p:spPr>
          <a:xfrm>
            <a:off x="8877300" y="4211836"/>
            <a:ext cx="23872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rows with a type, a scope, a TTL and provenance</a:t>
            </a:r>
            <a:endParaRPr lang="en-US" sz="1100" dirty="0"/>
          </a:p>
        </p:txBody>
      </p:sp>
      <p:sp>
        <p:nvSpPr>
          <p:cNvPr id="39" name="Text 34"/>
          <p:cNvSpPr/>
          <p:nvPr/>
        </p:nvSpPr>
        <p:spPr>
          <a:xfrm>
            <a:off x="8166100" y="4652466"/>
            <a:ext cx="685800" cy="215900"/>
          </a:xfrm>
          <a:prstGeom prst="rect">
            <a:avLst/>
          </a:prstGeom>
          <a:noFill/>
          <a:ln/>
        </p:spPr>
        <p:txBody>
          <a:bodyPr wrap="square" lIns="0" tIns="0" rIns="0" bIns="0" rtlCol="0" anchor="t">
            <a:normAutofit/>
          </a:bodyPr>
          <a:lstStyle/>
          <a:p>
            <a:pPr algn="l" indent="0" marL="0">
              <a:lnSpc>
                <a:spcPts val="1500"/>
              </a:lnSpc>
              <a:buNone/>
            </a:pPr>
            <a:r>
              <a:rPr lang="en-US" sz="1000" spc="100" kern="0" dirty="0">
                <a:solidFill>
                  <a:srgbClr val="DEB068"/>
                </a:solidFill>
                <a:latin typeface="Courier New" pitchFamily="49" charset="0"/>
                <a:ea typeface="Courier New" pitchFamily="49" charset="-122"/>
                <a:cs typeface="Courier New" pitchFamily="49" charset="-120"/>
              </a:rPr>
              <a:t>COST</a:t>
            </a:r>
            <a:endParaRPr lang="en-US" sz="1000" dirty="0"/>
          </a:p>
        </p:txBody>
      </p:sp>
      <p:sp>
        <p:nvSpPr>
          <p:cNvPr id="40" name="Text 35"/>
          <p:cNvSpPr/>
          <p:nvPr/>
        </p:nvSpPr>
        <p:spPr>
          <a:xfrm>
            <a:off x="8877300" y="4652466"/>
            <a:ext cx="23872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storage and a query; cheap, and yours to govern</a:t>
            </a:r>
            <a:endParaRPr lang="en-US" sz="1100" dirty="0"/>
          </a:p>
        </p:txBody>
      </p:sp>
      <p:sp>
        <p:nvSpPr>
          <p:cNvPr id="41" name="Text 36"/>
          <p:cNvSpPr/>
          <p:nvPr/>
        </p:nvSpPr>
        <p:spPr>
          <a:xfrm>
            <a:off x="812800" y="5664200"/>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Memory engineering decides what belongs in each place and moves it between them: extract from the window into the database, recall from the database into the window, and train into the weights what has earned it.</a:t>
            </a:r>
            <a:endParaRPr lang="en-US" sz="1300" dirty="0"/>
          </a:p>
        </p:txBody>
      </p:sp>
      <p:sp>
        <p:nvSpPr>
          <p:cNvPr id="42" name="Text 3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pic>
        <p:nvPicPr>
          <p:cNvPr id="3" name="Image 0" descr="agent memory to short-term">    </p:cNvPr>
          <p:cNvPicPr>
            <a:picLocks noChangeAspect="1"/>
          </p:cNvPicPr>
          <p:nvPr/>
        </p:nvPicPr>
        <p:blipFill>
          <a:blip r:embed="rId1"/>
          <a:srcRect l="0" r="0" t="0" b="0"/>
          <a:stretch/>
        </p:blipFill>
        <p:spPr>
          <a:xfrm>
            <a:off x="0" y="0"/>
            <a:ext cx="12192000" cy="6858000"/>
          </a:xfrm>
          <a:prstGeom prst="rect">
            <a:avLst/>
          </a:prstGeom>
        </p:spPr>
      </p:pic>
      <p:pic>
        <p:nvPicPr>
          <p:cNvPr id="4" name="Image 1" descr="short-term branches">    </p:cNvPr>
          <p:cNvPicPr>
            <a:picLocks noChangeAspect="1"/>
          </p:cNvPicPr>
          <p:nvPr/>
        </p:nvPicPr>
        <p:blipFill>
          <a:blip r:embed="rId2"/>
          <a:srcRect l="0" r="0" t="0" b="0"/>
          <a:stretch/>
        </p:blipFill>
        <p:spPr>
          <a:xfrm>
            <a:off x="0" y="0"/>
            <a:ext cx="12192000" cy="6858000"/>
          </a:xfrm>
          <a:prstGeom prst="rect">
            <a:avLst/>
          </a:prstGeom>
        </p:spPr>
      </p:pic>
      <p:pic>
        <p:nvPicPr>
          <p:cNvPr id="5" name="Image 2" descr="what short-term memory is made of">    </p:cNvPr>
          <p:cNvPicPr>
            <a:picLocks noChangeAspect="1"/>
          </p:cNvPicPr>
          <p:nvPr/>
        </p:nvPicPr>
        <p:blipFill>
          <a:blip r:embed="rId3"/>
          <a:srcRect l="0" r="0" t="0" b="0"/>
          <a:stretch/>
        </p:blipFill>
        <p:spPr>
          <a:xfrm>
            <a:off x="0" y="0"/>
            <a:ext cx="12192000" cy="6858000"/>
          </a:xfrm>
          <a:prstGeom prst="rect">
            <a:avLst/>
          </a:prstGeom>
        </p:spPr>
      </p:pic>
      <p:pic>
        <p:nvPicPr>
          <p:cNvPr id="6" name="Image 3" descr="agent memory to long-term">    </p:cNvPr>
          <p:cNvPicPr>
            <a:picLocks noChangeAspect="1"/>
          </p:cNvPicPr>
          <p:nvPr/>
        </p:nvPicPr>
        <p:blipFill>
          <a:blip r:embed="rId4"/>
          <a:srcRect l="0" r="0" t="0" b="0"/>
          <a:stretch/>
        </p:blipFill>
        <p:spPr>
          <a:xfrm>
            <a:off x="0" y="0"/>
            <a:ext cx="12192000" cy="6858000"/>
          </a:xfrm>
          <a:prstGeom prst="rect">
            <a:avLst/>
          </a:prstGeom>
        </p:spPr>
      </p:pic>
      <p:pic>
        <p:nvPicPr>
          <p:cNvPr id="7" name="Image 4" descr="semantic memory and what you build for it">    </p:cNvPr>
          <p:cNvPicPr>
            <a:picLocks noChangeAspect="1"/>
          </p:cNvPicPr>
          <p:nvPr/>
        </p:nvPicPr>
        <p:blipFill>
          <a:blip r:embed="rId5"/>
          <a:srcRect l="0" r="0" t="0" b="0"/>
          <a:stretch/>
        </p:blipFill>
        <p:spPr>
          <a:xfrm>
            <a:off x="0" y="0"/>
            <a:ext cx="12192000" cy="6858000"/>
          </a:xfrm>
          <a:prstGeom prst="rect">
            <a:avLst/>
          </a:prstGeom>
        </p:spPr>
      </p:pic>
      <p:pic>
        <p:nvPicPr>
          <p:cNvPr id="8" name="Image 5" descr="episodic memory and what you build for it">    </p:cNvPr>
          <p:cNvPicPr>
            <a:picLocks noChangeAspect="1"/>
          </p:cNvPicPr>
          <p:nvPr/>
        </p:nvPicPr>
        <p:blipFill>
          <a:blip r:embed="rId6"/>
          <a:srcRect l="0" r="0" t="0" b="0"/>
          <a:stretch/>
        </p:blipFill>
        <p:spPr>
          <a:xfrm>
            <a:off x="0" y="0"/>
            <a:ext cx="12192000" cy="6858000"/>
          </a:xfrm>
          <a:prstGeom prst="rect">
            <a:avLst/>
          </a:prstGeom>
        </p:spPr>
      </p:pic>
      <p:pic>
        <p:nvPicPr>
          <p:cNvPr id="9" name="Image 6" descr="procedural memory and what you build for it">    </p:cNvPr>
          <p:cNvPicPr>
            <a:picLocks noChangeAspect="1"/>
          </p:cNvPicPr>
          <p:nvPr/>
        </p:nvPicPr>
        <p:blipFill>
          <a:blip r:embed="rId7"/>
          <a:srcRect l="0" r="0" t="0" b="0"/>
          <a:stretch/>
        </p:blipFill>
        <p:spPr>
          <a:xfrm>
            <a:off x="0" y="0"/>
            <a:ext cx="12192000" cy="6858000"/>
          </a:xfrm>
          <a:prstGeom prst="rect">
            <a:avLst/>
          </a:prstGeom>
        </p:spPr>
      </p:pic>
      <p:sp>
        <p:nvSpPr>
          <p:cNvPr id="10" name="Text 1"/>
          <p:cNvSpPr/>
          <p:nvPr/>
        </p:nvSpPr>
        <p:spPr>
          <a:xfrm>
            <a:off x="812800" y="660400"/>
            <a:ext cx="2805875"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Agent memory</a:t>
            </a:r>
            <a:endParaRPr lang="en-US" sz="2800" dirty="0"/>
          </a:p>
        </p:txBody>
      </p:sp>
      <p:sp>
        <p:nvSpPr>
          <p:cNvPr id="11" name="Text 2"/>
          <p:cNvSpPr/>
          <p:nvPr/>
        </p:nvSpPr>
        <p:spPr>
          <a:xfrm>
            <a:off x="812800" y="1206500"/>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2EFEA"/>
                </a:solidFill>
                <a:latin typeface="Arial" pitchFamily="34" charset="0"/>
                <a:ea typeface="Arial" pitchFamily="34" charset="-122"/>
                <a:cs typeface="Arial" pitchFamily="34" charset="-120"/>
              </a:rPr>
              <a:t>Agent memory is how an agent </a:t>
            </a:r>
            <a:r>
              <a:rPr lang="en-US" sz="1500" dirty="0">
                <a:solidFill>
                  <a:srgbClr val="DEB068"/>
                </a:solidFill>
                <a:latin typeface="Arial" pitchFamily="34" charset="0"/>
                <a:ea typeface="Arial" pitchFamily="34" charset="-122"/>
                <a:cs typeface="Arial" pitchFamily="34" charset="-120"/>
              </a:rPr>
              <a:t>retains</a:t>
            </a:r>
            <a:r>
              <a:rPr lang="en-US" sz="1500" dirty="0">
                <a:solidFill>
                  <a:srgbClr val="F2EFEA"/>
                </a:solidFill>
                <a:latin typeface="Arial" pitchFamily="34" charset="0"/>
                <a:ea typeface="Arial" pitchFamily="34" charset="-122"/>
                <a:cs typeface="Arial" pitchFamily="34" charset="-120"/>
              </a:rPr>
              <a:t>, </a:t>
            </a:r>
            <a:r>
              <a:rPr lang="en-US" sz="1500" dirty="0">
                <a:solidFill>
                  <a:srgbClr val="DEB068"/>
                </a:solidFill>
                <a:latin typeface="Arial" pitchFamily="34" charset="0"/>
                <a:ea typeface="Arial" pitchFamily="34" charset="-122"/>
                <a:cs typeface="Arial" pitchFamily="34" charset="-120"/>
              </a:rPr>
              <a:t>reuses</a:t>
            </a:r>
            <a:r>
              <a:rPr lang="en-US" sz="1500" dirty="0">
                <a:solidFill>
                  <a:srgbClr val="F2EFEA"/>
                </a:solidFill>
                <a:latin typeface="Arial" pitchFamily="34" charset="0"/>
                <a:ea typeface="Arial" pitchFamily="34" charset="-122"/>
                <a:cs typeface="Arial" pitchFamily="34" charset="-120"/>
              </a:rPr>
              <a:t>, </a:t>
            </a:r>
            <a:r>
              <a:rPr lang="en-US" sz="1500" dirty="0">
                <a:solidFill>
                  <a:srgbClr val="DEB068"/>
                </a:solidFill>
                <a:latin typeface="Arial" pitchFamily="34" charset="0"/>
                <a:ea typeface="Arial" pitchFamily="34" charset="-122"/>
                <a:cs typeface="Arial" pitchFamily="34" charset="-120"/>
              </a:rPr>
              <a:t>refines</a:t>
            </a:r>
            <a:r>
              <a:rPr lang="en-US" sz="1500" dirty="0">
                <a:solidFill>
                  <a:srgbClr val="F2EFEA"/>
                </a:solidFill>
                <a:latin typeface="Arial" pitchFamily="34" charset="0"/>
                <a:ea typeface="Arial" pitchFamily="34" charset="-122"/>
                <a:cs typeface="Arial" pitchFamily="34" charset="-120"/>
              </a:rPr>
              <a:t> and </a:t>
            </a:r>
            <a:r>
              <a:rPr lang="en-US" sz="1500" dirty="0">
                <a:solidFill>
                  <a:srgbClr val="DEB068"/>
                </a:solidFill>
                <a:latin typeface="Arial" pitchFamily="34" charset="0"/>
                <a:ea typeface="Arial" pitchFamily="34" charset="-122"/>
                <a:cs typeface="Arial" pitchFamily="34" charset="-120"/>
              </a:rPr>
              <a:t>recalls</a:t>
            </a:r>
            <a:r>
              <a:rPr lang="en-US" sz="1500" dirty="0">
                <a:solidFill>
                  <a:srgbClr val="F2EFEA"/>
                </a:solidFill>
                <a:latin typeface="Arial" pitchFamily="34" charset="0"/>
                <a:ea typeface="Arial" pitchFamily="34" charset="-122"/>
                <a:cs typeface="Arial" pitchFamily="34" charset="-120"/>
              </a:rPr>
              <a:t> what it learns, across turns, sessions and agents.</a:t>
            </a:r>
            <a:endParaRPr lang="en-US" sz="1500" dirty="0"/>
          </a:p>
        </p:txBody>
      </p:sp>
      <p:sp>
        <p:nvSpPr>
          <p:cNvPr id="12" name="Shape 3"/>
          <p:cNvSpPr/>
          <p:nvPr/>
        </p:nvSpPr>
        <p:spPr>
          <a:xfrm>
            <a:off x="817563" y="3370263"/>
            <a:ext cx="1577975" cy="523875"/>
          </a:xfrm>
          <a:prstGeom prst="roundRect">
            <a:avLst>
              <a:gd name="adj" fmla="val 18485"/>
            </a:avLst>
          </a:prstGeom>
          <a:solidFill>
            <a:srgbClr val="C74634">
              <a:alpha val="22000"/>
            </a:srgbClr>
          </a:solidFill>
          <a:ln w="9525">
            <a:solidFill>
              <a:srgbClr val="C74634"/>
            </a:solidFill>
            <a:prstDash val="solid"/>
          </a:ln>
        </p:spPr>
      </p:sp>
      <p:sp>
        <p:nvSpPr>
          <p:cNvPr id="13" name="Text 4"/>
          <p:cNvSpPr/>
          <p:nvPr/>
        </p:nvSpPr>
        <p:spPr>
          <a:xfrm>
            <a:off x="927100" y="3507730"/>
            <a:ext cx="1295698"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Agent memory</a:t>
            </a:r>
            <a:endParaRPr lang="en-US" sz="1400" dirty="0"/>
          </a:p>
        </p:txBody>
      </p:sp>
      <p:sp>
        <p:nvSpPr>
          <p:cNvPr id="14" name="Shape 5"/>
          <p:cNvSpPr/>
          <p:nvPr/>
        </p:nvSpPr>
        <p:spPr>
          <a:xfrm>
            <a:off x="2989263" y="2322513"/>
            <a:ext cx="1895475" cy="523875"/>
          </a:xfrm>
          <a:prstGeom prst="roundRect">
            <a:avLst>
              <a:gd name="adj" fmla="val 18485"/>
            </a:avLst>
          </a:prstGeom>
          <a:solidFill>
            <a:srgbClr val="FFFFFF">
              <a:alpha val="6000"/>
            </a:srgbClr>
          </a:solidFill>
          <a:ln w="9525">
            <a:solidFill>
              <a:srgbClr val="FFFFFF">
                <a:alpha val="18000"/>
              </a:srgbClr>
            </a:solidFill>
            <a:prstDash val="solid"/>
          </a:ln>
        </p:spPr>
      </p:sp>
      <p:sp>
        <p:nvSpPr>
          <p:cNvPr id="15" name="Text 6"/>
          <p:cNvSpPr/>
          <p:nvPr/>
        </p:nvSpPr>
        <p:spPr>
          <a:xfrm>
            <a:off x="3098800" y="2355850"/>
            <a:ext cx="1582936" cy="25653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FFFFFF"/>
                </a:solidFill>
                <a:latin typeface="Arial" pitchFamily="34" charset="0"/>
                <a:ea typeface="Arial" pitchFamily="34" charset="-122"/>
                <a:cs typeface="Arial" pitchFamily="34" charset="-120"/>
              </a:rPr>
              <a:t>Short-term memory</a:t>
            </a:r>
            <a:endParaRPr lang="en-US" sz="1300" dirty="0"/>
          </a:p>
        </p:txBody>
      </p:sp>
      <p:sp>
        <p:nvSpPr>
          <p:cNvPr id="16" name="Text 7"/>
          <p:cNvSpPr/>
          <p:nvPr/>
        </p:nvSpPr>
        <p:spPr>
          <a:xfrm>
            <a:off x="3098800" y="2599680"/>
            <a:ext cx="1160413"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Within a session</a:t>
            </a:r>
            <a:endParaRPr lang="en-US" sz="1200" dirty="0"/>
          </a:p>
        </p:txBody>
      </p:sp>
      <p:sp>
        <p:nvSpPr>
          <p:cNvPr id="17" name="Shape 8"/>
          <p:cNvSpPr/>
          <p:nvPr/>
        </p:nvSpPr>
        <p:spPr>
          <a:xfrm>
            <a:off x="2989263" y="4405313"/>
            <a:ext cx="1895475" cy="523875"/>
          </a:xfrm>
          <a:prstGeom prst="roundRect">
            <a:avLst>
              <a:gd name="adj" fmla="val 18485"/>
            </a:avLst>
          </a:prstGeom>
          <a:solidFill>
            <a:srgbClr val="FFFFFF">
              <a:alpha val="6000"/>
            </a:srgbClr>
          </a:solidFill>
          <a:ln w="9525">
            <a:solidFill>
              <a:srgbClr val="FFFFFF">
                <a:alpha val="18000"/>
              </a:srgbClr>
            </a:solidFill>
            <a:prstDash val="solid"/>
          </a:ln>
        </p:spPr>
      </p:sp>
      <p:sp>
        <p:nvSpPr>
          <p:cNvPr id="18" name="Text 9"/>
          <p:cNvSpPr/>
          <p:nvPr/>
        </p:nvSpPr>
        <p:spPr>
          <a:xfrm>
            <a:off x="3098800" y="4438650"/>
            <a:ext cx="1555254" cy="25653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FFFFFF"/>
                </a:solidFill>
                <a:latin typeface="Arial" pitchFamily="34" charset="0"/>
                <a:ea typeface="Arial" pitchFamily="34" charset="-122"/>
                <a:cs typeface="Arial" pitchFamily="34" charset="-120"/>
              </a:rPr>
              <a:t>Long-term memory</a:t>
            </a:r>
            <a:endParaRPr lang="en-US" sz="1300" dirty="0"/>
          </a:p>
        </p:txBody>
      </p:sp>
      <p:sp>
        <p:nvSpPr>
          <p:cNvPr id="19" name="Text 10"/>
          <p:cNvSpPr/>
          <p:nvPr/>
        </p:nvSpPr>
        <p:spPr>
          <a:xfrm>
            <a:off x="3098800" y="4682480"/>
            <a:ext cx="115183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Across sessions</a:t>
            </a:r>
            <a:endParaRPr lang="en-US" sz="1200" dirty="0"/>
          </a:p>
        </p:txBody>
      </p:sp>
      <p:sp>
        <p:nvSpPr>
          <p:cNvPr id="20" name="Shape 11"/>
          <p:cNvSpPr/>
          <p:nvPr/>
        </p:nvSpPr>
        <p:spPr>
          <a:xfrm>
            <a:off x="5592763" y="1846263"/>
            <a:ext cx="2085975" cy="434975"/>
          </a:xfrm>
          <a:prstGeom prst="roundRect">
            <a:avLst>
              <a:gd name="adj" fmla="val 22263"/>
            </a:avLst>
          </a:prstGeom>
          <a:solidFill>
            <a:srgbClr val="FFFFFF">
              <a:alpha val="6000"/>
            </a:srgbClr>
          </a:solidFill>
          <a:ln w="9525">
            <a:solidFill>
              <a:srgbClr val="FFFFFF">
                <a:alpha val="18000"/>
              </a:srgbClr>
            </a:solidFill>
            <a:prstDash val="solid"/>
          </a:ln>
        </p:spPr>
      </p:sp>
      <p:sp>
        <p:nvSpPr>
          <p:cNvPr id="21" name="Text 12"/>
          <p:cNvSpPr/>
          <p:nvPr/>
        </p:nvSpPr>
        <p:spPr>
          <a:xfrm>
            <a:off x="5702300" y="1851025"/>
            <a:ext cx="1324719" cy="240010"/>
          </a:xfrm>
          <a:prstGeom prst="rect">
            <a:avLst/>
          </a:prstGeom>
          <a:noFill/>
          <a:ln/>
        </p:spPr>
        <p:txBody>
          <a:bodyPr wrap="none" lIns="0" tIns="0" rIns="0" bIns="0" rtlCol="0" anchor="t">
            <a:normAutofit/>
          </a:bodyPr>
          <a:lstStyle/>
          <a:p>
            <a:pPr algn="l" indent="0" marL="0">
              <a:lnSpc>
                <a:spcPts val="1723"/>
              </a:lnSpc>
              <a:buNone/>
            </a:pPr>
            <a:r>
              <a:rPr lang="en-US" sz="1231" b="1" dirty="0">
                <a:solidFill>
                  <a:srgbClr val="FFFFFF"/>
                </a:solidFill>
                <a:latin typeface="Arial" pitchFamily="34" charset="0"/>
                <a:ea typeface="Arial" pitchFamily="34" charset="-122"/>
                <a:cs typeface="Arial" pitchFamily="34" charset="-120"/>
              </a:rPr>
              <a:t>Working memory</a:t>
            </a:r>
            <a:endParaRPr lang="en-US" sz="1231" dirty="0"/>
          </a:p>
        </p:txBody>
      </p:sp>
      <p:sp>
        <p:nvSpPr>
          <p:cNvPr id="22" name="Text 13"/>
          <p:cNvSpPr/>
          <p:nvPr/>
        </p:nvSpPr>
        <p:spPr>
          <a:xfrm>
            <a:off x="5702300" y="2078335"/>
            <a:ext cx="1578471" cy="223540"/>
          </a:xfrm>
          <a:prstGeom prst="rect">
            <a:avLst/>
          </a:prstGeom>
          <a:noFill/>
          <a:ln/>
        </p:spPr>
        <p:txBody>
          <a:bodyPr wrap="none" lIns="0" tIns="0" rIns="0" bIns="0" rtlCol="0" anchor="t">
            <a:normAutofit/>
          </a:bodyPr>
          <a:lstStyle/>
          <a:p>
            <a:pPr algn="l" indent="0" marL="0">
              <a:lnSpc>
                <a:spcPts val="1570"/>
              </a:lnSpc>
              <a:buNone/>
            </a:pPr>
            <a:r>
              <a:rPr lang="en-US" sz="1121" dirty="0">
                <a:solidFill>
                  <a:srgbClr val="AEB9B7"/>
                </a:solidFill>
                <a:latin typeface="Arial" pitchFamily="34" charset="0"/>
                <a:ea typeface="Arial" pitchFamily="34" charset="-122"/>
                <a:cs typeface="Arial" pitchFamily="34" charset="-120"/>
              </a:rPr>
              <a:t>the LLM context window</a:t>
            </a:r>
            <a:endParaRPr lang="en-US" sz="1121" dirty="0"/>
          </a:p>
        </p:txBody>
      </p:sp>
      <p:sp>
        <p:nvSpPr>
          <p:cNvPr id="23" name="Shape 14"/>
          <p:cNvSpPr/>
          <p:nvPr/>
        </p:nvSpPr>
        <p:spPr>
          <a:xfrm>
            <a:off x="5592763" y="2366963"/>
            <a:ext cx="2085975" cy="434975"/>
          </a:xfrm>
          <a:prstGeom prst="roundRect">
            <a:avLst>
              <a:gd name="adj" fmla="val 22263"/>
            </a:avLst>
          </a:prstGeom>
          <a:solidFill>
            <a:srgbClr val="FFFFFF">
              <a:alpha val="6000"/>
            </a:srgbClr>
          </a:solidFill>
          <a:ln w="9525">
            <a:solidFill>
              <a:srgbClr val="FFFFFF">
                <a:alpha val="18000"/>
              </a:srgbClr>
            </a:solidFill>
            <a:prstDash val="solid"/>
          </a:ln>
        </p:spPr>
      </p:sp>
      <p:sp>
        <p:nvSpPr>
          <p:cNvPr id="24" name="Text 15"/>
          <p:cNvSpPr/>
          <p:nvPr/>
        </p:nvSpPr>
        <p:spPr>
          <a:xfrm>
            <a:off x="5702300" y="2371725"/>
            <a:ext cx="1301800" cy="240010"/>
          </a:xfrm>
          <a:prstGeom prst="rect">
            <a:avLst/>
          </a:prstGeom>
          <a:noFill/>
          <a:ln/>
        </p:spPr>
        <p:txBody>
          <a:bodyPr wrap="none" lIns="0" tIns="0" rIns="0" bIns="0" rtlCol="0" anchor="t">
            <a:normAutofit/>
          </a:bodyPr>
          <a:lstStyle/>
          <a:p>
            <a:pPr algn="l" indent="0" marL="0">
              <a:lnSpc>
                <a:spcPts val="1723"/>
              </a:lnSpc>
              <a:buNone/>
            </a:pPr>
            <a:r>
              <a:rPr lang="en-US" sz="1231" b="1" dirty="0">
                <a:solidFill>
                  <a:srgbClr val="FFFFFF"/>
                </a:solidFill>
                <a:latin typeface="Arial" pitchFamily="34" charset="0"/>
                <a:ea typeface="Arial" pitchFamily="34" charset="-122"/>
                <a:cs typeface="Arial" pitchFamily="34" charset="-120"/>
              </a:rPr>
              <a:t>Session memory</a:t>
            </a:r>
            <a:endParaRPr lang="en-US" sz="1231" dirty="0"/>
          </a:p>
        </p:txBody>
      </p:sp>
      <p:sp>
        <p:nvSpPr>
          <p:cNvPr id="25" name="Text 16"/>
          <p:cNvSpPr/>
          <p:nvPr/>
        </p:nvSpPr>
        <p:spPr>
          <a:xfrm>
            <a:off x="5702300" y="2599035"/>
            <a:ext cx="1515219" cy="223540"/>
          </a:xfrm>
          <a:prstGeom prst="rect">
            <a:avLst/>
          </a:prstGeom>
          <a:noFill/>
          <a:ln/>
        </p:spPr>
        <p:txBody>
          <a:bodyPr wrap="none" lIns="0" tIns="0" rIns="0" bIns="0" rtlCol="0" anchor="t">
            <a:normAutofit/>
          </a:bodyPr>
          <a:lstStyle/>
          <a:p>
            <a:pPr algn="l" indent="0" marL="0">
              <a:lnSpc>
                <a:spcPts val="1570"/>
              </a:lnSpc>
              <a:buNone/>
            </a:pPr>
            <a:r>
              <a:rPr lang="en-US" sz="1121" dirty="0">
                <a:solidFill>
                  <a:srgbClr val="AEB9B7"/>
                </a:solidFill>
                <a:latin typeface="Arial" pitchFamily="34" charset="0"/>
                <a:ea typeface="Arial" pitchFamily="34" charset="-122"/>
                <a:cs typeface="Arial" pitchFamily="34" charset="-120"/>
              </a:rPr>
              <a:t>the thread, this session</a:t>
            </a:r>
            <a:endParaRPr lang="en-US" sz="1121" dirty="0"/>
          </a:p>
        </p:txBody>
      </p:sp>
      <p:sp>
        <p:nvSpPr>
          <p:cNvPr id="26" name="Shape 17"/>
          <p:cNvSpPr/>
          <p:nvPr/>
        </p:nvSpPr>
        <p:spPr>
          <a:xfrm>
            <a:off x="5592763" y="2887663"/>
            <a:ext cx="2085975" cy="434975"/>
          </a:xfrm>
          <a:prstGeom prst="roundRect">
            <a:avLst>
              <a:gd name="adj" fmla="val 22263"/>
            </a:avLst>
          </a:prstGeom>
          <a:solidFill>
            <a:srgbClr val="FFFFFF">
              <a:alpha val="6000"/>
            </a:srgbClr>
          </a:solidFill>
          <a:ln w="9525">
            <a:solidFill>
              <a:srgbClr val="FFFFFF">
                <a:alpha val="18000"/>
              </a:srgbClr>
            </a:solidFill>
            <a:prstDash val="solid"/>
          </a:ln>
        </p:spPr>
      </p:sp>
      <p:sp>
        <p:nvSpPr>
          <p:cNvPr id="27" name="Text 18"/>
          <p:cNvSpPr/>
          <p:nvPr/>
        </p:nvSpPr>
        <p:spPr>
          <a:xfrm>
            <a:off x="5702300" y="2892425"/>
            <a:ext cx="1232446" cy="240010"/>
          </a:xfrm>
          <a:prstGeom prst="rect">
            <a:avLst/>
          </a:prstGeom>
          <a:noFill/>
          <a:ln/>
        </p:spPr>
        <p:txBody>
          <a:bodyPr wrap="none" lIns="0" tIns="0" rIns="0" bIns="0" rtlCol="0" anchor="t">
            <a:normAutofit/>
          </a:bodyPr>
          <a:lstStyle/>
          <a:p>
            <a:pPr algn="l" indent="0" marL="0">
              <a:lnSpc>
                <a:spcPts val="1723"/>
              </a:lnSpc>
              <a:buNone/>
            </a:pPr>
            <a:r>
              <a:rPr lang="en-US" sz="1231" b="1" dirty="0">
                <a:solidFill>
                  <a:srgbClr val="FFFFFF"/>
                </a:solidFill>
                <a:latin typeface="Arial" pitchFamily="34" charset="0"/>
                <a:ea typeface="Arial" pitchFamily="34" charset="-122"/>
                <a:cs typeface="Arial" pitchFamily="34" charset="-120"/>
              </a:rPr>
              <a:t>Semantic cache</a:t>
            </a:r>
            <a:endParaRPr lang="en-US" sz="1231" dirty="0"/>
          </a:p>
        </p:txBody>
      </p:sp>
      <p:sp>
        <p:nvSpPr>
          <p:cNvPr id="28" name="Text 19"/>
          <p:cNvSpPr/>
          <p:nvPr/>
        </p:nvSpPr>
        <p:spPr>
          <a:xfrm>
            <a:off x="5702300" y="3119735"/>
            <a:ext cx="1262112" cy="223540"/>
          </a:xfrm>
          <a:prstGeom prst="rect">
            <a:avLst/>
          </a:prstGeom>
          <a:noFill/>
          <a:ln/>
        </p:spPr>
        <p:txBody>
          <a:bodyPr wrap="none" lIns="0" tIns="0" rIns="0" bIns="0" rtlCol="0" anchor="t">
            <a:normAutofit/>
          </a:bodyPr>
          <a:lstStyle/>
          <a:p>
            <a:pPr algn="l" indent="0" marL="0">
              <a:lnSpc>
                <a:spcPts val="1570"/>
              </a:lnSpc>
              <a:buNone/>
            </a:pPr>
            <a:r>
              <a:rPr lang="en-US" sz="1121" dirty="0">
                <a:solidFill>
                  <a:srgbClr val="AEB9B7"/>
                </a:solidFill>
                <a:latin typeface="Arial" pitchFamily="34" charset="0"/>
                <a:ea typeface="Arial" pitchFamily="34" charset="-122"/>
                <a:cs typeface="Arial" pitchFamily="34" charset="-120"/>
              </a:rPr>
              <a:t>repeated questions</a:t>
            </a:r>
            <a:endParaRPr lang="en-US" sz="1121" dirty="0"/>
          </a:p>
        </p:txBody>
      </p:sp>
      <p:sp>
        <p:nvSpPr>
          <p:cNvPr id="29" name="Shape 20"/>
          <p:cNvSpPr/>
          <p:nvPr/>
        </p:nvSpPr>
        <p:spPr>
          <a:xfrm>
            <a:off x="5592763" y="3560763"/>
            <a:ext cx="2085975" cy="434975"/>
          </a:xfrm>
          <a:prstGeom prst="roundRect">
            <a:avLst>
              <a:gd name="adj" fmla="val 22263"/>
            </a:avLst>
          </a:prstGeom>
          <a:solidFill>
            <a:srgbClr val="FFFFFF">
              <a:alpha val="6000"/>
            </a:srgbClr>
          </a:solidFill>
          <a:ln w="9525">
            <a:solidFill>
              <a:srgbClr val="FFFFFF">
                <a:alpha val="18000"/>
              </a:srgbClr>
            </a:solidFill>
            <a:prstDash val="solid"/>
          </a:ln>
        </p:spPr>
      </p:sp>
      <p:sp>
        <p:nvSpPr>
          <p:cNvPr id="30" name="Text 21"/>
          <p:cNvSpPr/>
          <p:nvPr/>
        </p:nvSpPr>
        <p:spPr>
          <a:xfrm>
            <a:off x="5702300" y="3565525"/>
            <a:ext cx="745827" cy="240010"/>
          </a:xfrm>
          <a:prstGeom prst="rect">
            <a:avLst/>
          </a:prstGeom>
          <a:noFill/>
          <a:ln/>
        </p:spPr>
        <p:txBody>
          <a:bodyPr wrap="none" lIns="0" tIns="0" rIns="0" bIns="0" rtlCol="0" anchor="t">
            <a:normAutofit/>
          </a:bodyPr>
          <a:lstStyle/>
          <a:p>
            <a:pPr algn="l" indent="0" marL="0">
              <a:lnSpc>
                <a:spcPts val="1723"/>
              </a:lnSpc>
              <a:buNone/>
            </a:pPr>
            <a:r>
              <a:rPr lang="en-US" sz="1231" b="1" dirty="0">
                <a:solidFill>
                  <a:srgbClr val="DEB068"/>
                </a:solidFill>
                <a:latin typeface="Arial" pitchFamily="34" charset="0"/>
                <a:ea typeface="Arial" pitchFamily="34" charset="-122"/>
                <a:cs typeface="Arial" pitchFamily="34" charset="-120"/>
              </a:rPr>
              <a:t>Semantic</a:t>
            </a:r>
            <a:endParaRPr lang="en-US" sz="1231" dirty="0"/>
          </a:p>
        </p:txBody>
      </p:sp>
      <p:sp>
        <p:nvSpPr>
          <p:cNvPr id="31" name="Text 22"/>
          <p:cNvSpPr/>
          <p:nvPr/>
        </p:nvSpPr>
        <p:spPr>
          <a:xfrm>
            <a:off x="5702300" y="3792835"/>
            <a:ext cx="1396504" cy="223540"/>
          </a:xfrm>
          <a:prstGeom prst="rect">
            <a:avLst/>
          </a:prstGeom>
          <a:noFill/>
          <a:ln/>
        </p:spPr>
        <p:txBody>
          <a:bodyPr wrap="none" lIns="0" tIns="0" rIns="0" bIns="0" rtlCol="0" anchor="t">
            <a:normAutofit/>
          </a:bodyPr>
          <a:lstStyle/>
          <a:p>
            <a:pPr algn="l" indent="0" marL="0">
              <a:lnSpc>
                <a:spcPts val="1570"/>
              </a:lnSpc>
              <a:buNone/>
            </a:pPr>
            <a:r>
              <a:rPr lang="en-US" sz="1121" dirty="0">
                <a:solidFill>
                  <a:srgbClr val="AEB9B7"/>
                </a:solidFill>
                <a:latin typeface="Arial" pitchFamily="34" charset="0"/>
                <a:ea typeface="Arial" pitchFamily="34" charset="-122"/>
                <a:cs typeface="Arial" pitchFamily="34" charset="-120"/>
              </a:rPr>
              <a:t>Facts and knowledge</a:t>
            </a:r>
            <a:endParaRPr lang="en-US" sz="1121" dirty="0"/>
          </a:p>
        </p:txBody>
      </p:sp>
      <p:sp>
        <p:nvSpPr>
          <p:cNvPr id="32" name="Shape 23"/>
          <p:cNvSpPr/>
          <p:nvPr/>
        </p:nvSpPr>
        <p:spPr>
          <a:xfrm>
            <a:off x="5592763" y="4449763"/>
            <a:ext cx="2085975" cy="434975"/>
          </a:xfrm>
          <a:prstGeom prst="roundRect">
            <a:avLst>
              <a:gd name="adj" fmla="val 22263"/>
            </a:avLst>
          </a:prstGeom>
          <a:solidFill>
            <a:srgbClr val="FFFFFF">
              <a:alpha val="6000"/>
            </a:srgbClr>
          </a:solidFill>
          <a:ln w="9525">
            <a:solidFill>
              <a:srgbClr val="FFFFFF">
                <a:alpha val="18000"/>
              </a:srgbClr>
            </a:solidFill>
            <a:prstDash val="solid"/>
          </a:ln>
        </p:spPr>
      </p:sp>
      <p:sp>
        <p:nvSpPr>
          <p:cNvPr id="33" name="Text 24"/>
          <p:cNvSpPr/>
          <p:nvPr/>
        </p:nvSpPr>
        <p:spPr>
          <a:xfrm>
            <a:off x="5702300" y="4454525"/>
            <a:ext cx="702221" cy="240010"/>
          </a:xfrm>
          <a:prstGeom prst="rect">
            <a:avLst/>
          </a:prstGeom>
          <a:noFill/>
          <a:ln/>
        </p:spPr>
        <p:txBody>
          <a:bodyPr wrap="none" lIns="0" tIns="0" rIns="0" bIns="0" rtlCol="0" anchor="t">
            <a:normAutofit/>
          </a:bodyPr>
          <a:lstStyle/>
          <a:p>
            <a:pPr algn="l" indent="0" marL="0">
              <a:lnSpc>
                <a:spcPts val="1723"/>
              </a:lnSpc>
              <a:buNone/>
            </a:pPr>
            <a:r>
              <a:rPr lang="en-US" sz="1231" b="1" dirty="0">
                <a:solidFill>
                  <a:srgbClr val="DEB068"/>
                </a:solidFill>
                <a:latin typeface="Arial" pitchFamily="34" charset="0"/>
                <a:ea typeface="Arial" pitchFamily="34" charset="-122"/>
                <a:cs typeface="Arial" pitchFamily="34" charset="-120"/>
              </a:rPr>
              <a:t>Episodic</a:t>
            </a:r>
            <a:endParaRPr lang="en-US" sz="1231" dirty="0"/>
          </a:p>
        </p:txBody>
      </p:sp>
      <p:sp>
        <p:nvSpPr>
          <p:cNvPr id="34" name="Text 25"/>
          <p:cNvSpPr/>
          <p:nvPr/>
        </p:nvSpPr>
        <p:spPr>
          <a:xfrm>
            <a:off x="5702300" y="4681835"/>
            <a:ext cx="1056283" cy="223540"/>
          </a:xfrm>
          <a:prstGeom prst="rect">
            <a:avLst/>
          </a:prstGeom>
          <a:noFill/>
          <a:ln/>
        </p:spPr>
        <p:txBody>
          <a:bodyPr wrap="none" lIns="0" tIns="0" rIns="0" bIns="0" rtlCol="0" anchor="t">
            <a:normAutofit/>
          </a:bodyPr>
          <a:lstStyle/>
          <a:p>
            <a:pPr algn="l" indent="0" marL="0">
              <a:lnSpc>
                <a:spcPts val="1570"/>
              </a:lnSpc>
              <a:buNone/>
            </a:pPr>
            <a:r>
              <a:rPr lang="en-US" sz="1121" dirty="0">
                <a:solidFill>
                  <a:srgbClr val="AEB9B7"/>
                </a:solidFill>
                <a:latin typeface="Arial" pitchFamily="34" charset="0"/>
                <a:ea typeface="Arial" pitchFamily="34" charset="-122"/>
                <a:cs typeface="Arial" pitchFamily="34" charset="-120"/>
              </a:rPr>
              <a:t>What happened</a:t>
            </a:r>
            <a:endParaRPr lang="en-US" sz="1121" dirty="0"/>
          </a:p>
        </p:txBody>
      </p:sp>
      <p:sp>
        <p:nvSpPr>
          <p:cNvPr id="35" name="Shape 26"/>
          <p:cNvSpPr/>
          <p:nvPr/>
        </p:nvSpPr>
        <p:spPr>
          <a:xfrm>
            <a:off x="5592763" y="5338763"/>
            <a:ext cx="2085975" cy="434975"/>
          </a:xfrm>
          <a:prstGeom prst="roundRect">
            <a:avLst>
              <a:gd name="adj" fmla="val 22263"/>
            </a:avLst>
          </a:prstGeom>
          <a:solidFill>
            <a:srgbClr val="FFFFFF">
              <a:alpha val="6000"/>
            </a:srgbClr>
          </a:solidFill>
          <a:ln w="9525">
            <a:solidFill>
              <a:srgbClr val="FFFFFF">
                <a:alpha val="18000"/>
              </a:srgbClr>
            </a:solidFill>
            <a:prstDash val="solid"/>
          </a:ln>
        </p:spPr>
      </p:sp>
      <p:sp>
        <p:nvSpPr>
          <p:cNvPr id="36" name="Text 27"/>
          <p:cNvSpPr/>
          <p:nvPr/>
        </p:nvSpPr>
        <p:spPr>
          <a:xfrm>
            <a:off x="5702300" y="5343525"/>
            <a:ext cx="867370" cy="240010"/>
          </a:xfrm>
          <a:prstGeom prst="rect">
            <a:avLst/>
          </a:prstGeom>
          <a:noFill/>
          <a:ln/>
        </p:spPr>
        <p:txBody>
          <a:bodyPr wrap="none" lIns="0" tIns="0" rIns="0" bIns="0" rtlCol="0" anchor="t">
            <a:normAutofit/>
          </a:bodyPr>
          <a:lstStyle/>
          <a:p>
            <a:pPr algn="l" indent="0" marL="0">
              <a:lnSpc>
                <a:spcPts val="1723"/>
              </a:lnSpc>
              <a:buNone/>
            </a:pPr>
            <a:r>
              <a:rPr lang="en-US" sz="1231" b="1" dirty="0">
                <a:solidFill>
                  <a:srgbClr val="DEB068"/>
                </a:solidFill>
                <a:latin typeface="Arial" pitchFamily="34" charset="0"/>
                <a:ea typeface="Arial" pitchFamily="34" charset="-122"/>
                <a:cs typeface="Arial" pitchFamily="34" charset="-120"/>
              </a:rPr>
              <a:t>Procedural</a:t>
            </a:r>
            <a:endParaRPr lang="en-US" sz="1231" dirty="0"/>
          </a:p>
        </p:txBody>
      </p:sp>
      <p:sp>
        <p:nvSpPr>
          <p:cNvPr id="37" name="Text 28"/>
          <p:cNvSpPr/>
          <p:nvPr/>
        </p:nvSpPr>
        <p:spPr>
          <a:xfrm>
            <a:off x="5702300" y="5570835"/>
            <a:ext cx="723553" cy="223540"/>
          </a:xfrm>
          <a:prstGeom prst="rect">
            <a:avLst/>
          </a:prstGeom>
          <a:noFill/>
          <a:ln/>
        </p:spPr>
        <p:txBody>
          <a:bodyPr wrap="none" lIns="0" tIns="0" rIns="0" bIns="0" rtlCol="0" anchor="t">
            <a:normAutofit/>
          </a:bodyPr>
          <a:lstStyle/>
          <a:p>
            <a:pPr algn="l" indent="0" marL="0">
              <a:lnSpc>
                <a:spcPts val="1570"/>
              </a:lnSpc>
              <a:buNone/>
            </a:pPr>
            <a:r>
              <a:rPr lang="en-US" sz="1121" dirty="0">
                <a:solidFill>
                  <a:srgbClr val="AEB9B7"/>
                </a:solidFill>
                <a:latin typeface="Arial" pitchFamily="34" charset="0"/>
                <a:ea typeface="Arial" pitchFamily="34" charset="-122"/>
                <a:cs typeface="Arial" pitchFamily="34" charset="-120"/>
              </a:rPr>
              <a:t>How to act</a:t>
            </a:r>
            <a:endParaRPr lang="en-US" sz="1121" dirty="0"/>
          </a:p>
        </p:txBody>
      </p:sp>
      <p:sp>
        <p:nvSpPr>
          <p:cNvPr id="38" name="Shape 29"/>
          <p:cNvSpPr/>
          <p:nvPr/>
        </p:nvSpPr>
        <p:spPr>
          <a:xfrm>
            <a:off x="8450263" y="1744663"/>
            <a:ext cx="2530475" cy="320675"/>
          </a:xfrm>
          <a:prstGeom prst="roundRect">
            <a:avLst>
              <a:gd name="adj" fmla="val 30198"/>
            </a:avLst>
          </a:prstGeom>
          <a:solidFill>
            <a:srgbClr val="FFFFFF">
              <a:alpha val="5000"/>
            </a:srgbClr>
          </a:solidFill>
          <a:ln w="9525">
            <a:solidFill>
              <a:srgbClr val="FFFFFF">
                <a:alpha val="22000"/>
              </a:srgbClr>
            </a:solidFill>
            <a:prstDash val="solid"/>
          </a:ln>
        </p:spPr>
      </p:sp>
      <p:sp>
        <p:nvSpPr>
          <p:cNvPr id="39" name="Text 30"/>
          <p:cNvSpPr/>
          <p:nvPr/>
        </p:nvSpPr>
        <p:spPr>
          <a:xfrm>
            <a:off x="8559800" y="1798340"/>
            <a:ext cx="154930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2EFEA"/>
                </a:solidFill>
                <a:latin typeface="Arial" pitchFamily="34" charset="0"/>
                <a:ea typeface="Arial" pitchFamily="34" charset="-122"/>
                <a:cs typeface="Arial" pitchFamily="34" charset="-120"/>
              </a:rPr>
              <a:t>LLM context window</a:t>
            </a:r>
            <a:endParaRPr lang="en-US" sz="1200" dirty="0"/>
          </a:p>
        </p:txBody>
      </p:sp>
      <p:sp>
        <p:nvSpPr>
          <p:cNvPr id="40" name="Shape 31"/>
          <p:cNvSpPr/>
          <p:nvPr/>
        </p:nvSpPr>
        <p:spPr>
          <a:xfrm>
            <a:off x="8450263" y="2138363"/>
            <a:ext cx="2530475" cy="320675"/>
          </a:xfrm>
          <a:prstGeom prst="roundRect">
            <a:avLst>
              <a:gd name="adj" fmla="val 30198"/>
            </a:avLst>
          </a:prstGeom>
          <a:solidFill>
            <a:srgbClr val="FFFFFF">
              <a:alpha val="5000"/>
            </a:srgbClr>
          </a:solidFill>
          <a:ln w="9525">
            <a:solidFill>
              <a:srgbClr val="FFFFFF">
                <a:alpha val="22000"/>
              </a:srgbClr>
            </a:solidFill>
            <a:prstDash val="solid"/>
          </a:ln>
        </p:spPr>
      </p:sp>
      <p:sp>
        <p:nvSpPr>
          <p:cNvPr id="41" name="Text 32"/>
          <p:cNvSpPr/>
          <p:nvPr/>
        </p:nvSpPr>
        <p:spPr>
          <a:xfrm>
            <a:off x="8559800" y="2192040"/>
            <a:ext cx="73699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2EFEA"/>
                </a:solidFill>
                <a:latin typeface="Arial" pitchFamily="34" charset="0"/>
                <a:ea typeface="Arial" pitchFamily="34" charset="-122"/>
                <a:cs typeface="Arial" pitchFamily="34" charset="-120"/>
              </a:rPr>
              <a:t>KV cache</a:t>
            </a:r>
            <a:endParaRPr lang="en-US" sz="1200" dirty="0"/>
          </a:p>
        </p:txBody>
      </p:sp>
      <p:sp>
        <p:nvSpPr>
          <p:cNvPr id="42" name="Shape 33"/>
          <p:cNvSpPr/>
          <p:nvPr/>
        </p:nvSpPr>
        <p:spPr>
          <a:xfrm>
            <a:off x="8450263" y="2532063"/>
            <a:ext cx="2530475" cy="320675"/>
          </a:xfrm>
          <a:prstGeom prst="roundRect">
            <a:avLst>
              <a:gd name="adj" fmla="val 30198"/>
            </a:avLst>
          </a:prstGeom>
          <a:solidFill>
            <a:srgbClr val="FFFFFF">
              <a:alpha val="5000"/>
            </a:srgbClr>
          </a:solidFill>
          <a:ln w="9525">
            <a:solidFill>
              <a:srgbClr val="FFFFFF">
                <a:alpha val="22000"/>
              </a:srgbClr>
            </a:solidFill>
            <a:prstDash val="solid"/>
          </a:ln>
        </p:spPr>
      </p:sp>
      <p:sp>
        <p:nvSpPr>
          <p:cNvPr id="43" name="Text 34"/>
          <p:cNvSpPr/>
          <p:nvPr/>
        </p:nvSpPr>
        <p:spPr>
          <a:xfrm>
            <a:off x="8559800" y="2585740"/>
            <a:ext cx="167421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2EFEA"/>
                </a:solidFill>
                <a:latin typeface="Arial" pitchFamily="34" charset="0"/>
                <a:ea typeface="Arial" pitchFamily="34" charset="-122"/>
                <a:cs typeface="Arial" pitchFamily="34" charset="-120"/>
              </a:rPr>
              <a:t>Message history, state</a:t>
            </a:r>
            <a:endParaRPr lang="en-US" sz="1200" dirty="0"/>
          </a:p>
        </p:txBody>
      </p:sp>
      <p:sp>
        <p:nvSpPr>
          <p:cNvPr id="44" name="Shape 35"/>
          <p:cNvSpPr/>
          <p:nvPr/>
        </p:nvSpPr>
        <p:spPr>
          <a:xfrm>
            <a:off x="8450263" y="2925763"/>
            <a:ext cx="2530475" cy="320675"/>
          </a:xfrm>
          <a:prstGeom prst="roundRect">
            <a:avLst>
              <a:gd name="adj" fmla="val 30198"/>
            </a:avLst>
          </a:prstGeom>
          <a:solidFill>
            <a:srgbClr val="DEB068">
              <a:alpha val="8000"/>
            </a:srgbClr>
          </a:solidFill>
          <a:ln w="9525">
            <a:solidFill>
              <a:srgbClr val="DEB068">
                <a:alpha val="35000"/>
              </a:srgbClr>
            </a:solidFill>
            <a:prstDash val="solid"/>
          </a:ln>
        </p:spPr>
      </p:sp>
      <p:sp>
        <p:nvSpPr>
          <p:cNvPr id="45" name="Text 36"/>
          <p:cNvSpPr/>
          <p:nvPr/>
        </p:nvSpPr>
        <p:spPr>
          <a:xfrm>
            <a:off x="8559800" y="297944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2EFEA"/>
                </a:solidFill>
                <a:latin typeface="Arial" pitchFamily="34" charset="0"/>
                <a:ea typeface="Arial" pitchFamily="34" charset="-122"/>
                <a:cs typeface="Arial" pitchFamily="34" charset="-120"/>
              </a:rPr>
              <a:t>Entity memory</a:t>
            </a:r>
            <a:endParaRPr lang="en-US" sz="1200" dirty="0"/>
          </a:p>
        </p:txBody>
      </p:sp>
      <p:sp>
        <p:nvSpPr>
          <p:cNvPr id="46" name="Shape 37"/>
          <p:cNvSpPr/>
          <p:nvPr/>
        </p:nvSpPr>
        <p:spPr>
          <a:xfrm>
            <a:off x="8450263" y="3319463"/>
            <a:ext cx="2530475" cy="320675"/>
          </a:xfrm>
          <a:prstGeom prst="roundRect">
            <a:avLst>
              <a:gd name="adj" fmla="val 30198"/>
            </a:avLst>
          </a:prstGeom>
          <a:solidFill>
            <a:srgbClr val="DEB068">
              <a:alpha val="8000"/>
            </a:srgbClr>
          </a:solidFill>
          <a:ln w="9525">
            <a:solidFill>
              <a:srgbClr val="DEB068">
                <a:alpha val="35000"/>
              </a:srgbClr>
            </a:solidFill>
            <a:prstDash val="solid"/>
          </a:ln>
        </p:spPr>
      </p:sp>
      <p:sp>
        <p:nvSpPr>
          <p:cNvPr id="47" name="Text 38"/>
          <p:cNvSpPr/>
          <p:nvPr/>
        </p:nvSpPr>
        <p:spPr>
          <a:xfrm>
            <a:off x="8559800" y="3373140"/>
            <a:ext cx="125333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2EFEA"/>
                </a:solidFill>
                <a:latin typeface="Arial" pitchFamily="34" charset="0"/>
                <a:ea typeface="Arial" pitchFamily="34" charset="-122"/>
                <a:cs typeface="Arial" pitchFamily="34" charset="-120"/>
              </a:rPr>
              <a:t>Knowledge base</a:t>
            </a:r>
            <a:endParaRPr lang="en-US" sz="1200" dirty="0"/>
          </a:p>
        </p:txBody>
      </p:sp>
      <p:sp>
        <p:nvSpPr>
          <p:cNvPr id="48" name="Shape 39"/>
          <p:cNvSpPr/>
          <p:nvPr/>
        </p:nvSpPr>
        <p:spPr>
          <a:xfrm>
            <a:off x="8450263" y="3713163"/>
            <a:ext cx="2530475" cy="320675"/>
          </a:xfrm>
          <a:prstGeom prst="roundRect">
            <a:avLst>
              <a:gd name="adj" fmla="val 30198"/>
            </a:avLst>
          </a:prstGeom>
          <a:solidFill>
            <a:srgbClr val="DEB068">
              <a:alpha val="8000"/>
            </a:srgbClr>
          </a:solidFill>
          <a:ln w="9525">
            <a:solidFill>
              <a:srgbClr val="DEB068">
                <a:alpha val="35000"/>
              </a:srgbClr>
            </a:solidFill>
            <a:prstDash val="solid"/>
          </a:ln>
        </p:spPr>
      </p:sp>
      <p:sp>
        <p:nvSpPr>
          <p:cNvPr id="49" name="Text 40"/>
          <p:cNvSpPr/>
          <p:nvPr/>
        </p:nvSpPr>
        <p:spPr>
          <a:xfrm>
            <a:off x="8559800" y="3766840"/>
            <a:ext cx="128751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2EFEA"/>
                </a:solidFill>
                <a:latin typeface="Arial" pitchFamily="34" charset="0"/>
                <a:ea typeface="Arial" pitchFamily="34" charset="-122"/>
                <a:cs typeface="Arial" pitchFamily="34" charset="-120"/>
              </a:rPr>
              <a:t>Persona memory</a:t>
            </a:r>
            <a:endParaRPr lang="en-US" sz="1200" dirty="0"/>
          </a:p>
        </p:txBody>
      </p:sp>
      <p:sp>
        <p:nvSpPr>
          <p:cNvPr id="50" name="Shape 41"/>
          <p:cNvSpPr/>
          <p:nvPr/>
        </p:nvSpPr>
        <p:spPr>
          <a:xfrm>
            <a:off x="8450263" y="4106863"/>
            <a:ext cx="2530475" cy="320675"/>
          </a:xfrm>
          <a:prstGeom prst="roundRect">
            <a:avLst>
              <a:gd name="adj" fmla="val 30198"/>
            </a:avLst>
          </a:prstGeom>
          <a:solidFill>
            <a:srgbClr val="DEB068">
              <a:alpha val="8000"/>
            </a:srgbClr>
          </a:solidFill>
          <a:ln w="9525">
            <a:solidFill>
              <a:srgbClr val="DEB068">
                <a:alpha val="35000"/>
              </a:srgbClr>
            </a:solidFill>
            <a:prstDash val="solid"/>
          </a:ln>
        </p:spPr>
      </p:sp>
      <p:sp>
        <p:nvSpPr>
          <p:cNvPr id="51" name="Text 42"/>
          <p:cNvSpPr/>
          <p:nvPr/>
        </p:nvSpPr>
        <p:spPr>
          <a:xfrm>
            <a:off x="8559800" y="416054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2EFEA"/>
                </a:solidFill>
                <a:latin typeface="Arial" pitchFamily="34" charset="0"/>
                <a:ea typeface="Arial" pitchFamily="34" charset="-122"/>
                <a:cs typeface="Arial" pitchFamily="34" charset="-120"/>
              </a:rPr>
              <a:t>Conversations</a:t>
            </a:r>
            <a:endParaRPr lang="en-US" sz="1200" dirty="0"/>
          </a:p>
        </p:txBody>
      </p:sp>
      <p:sp>
        <p:nvSpPr>
          <p:cNvPr id="52" name="Shape 43"/>
          <p:cNvSpPr/>
          <p:nvPr/>
        </p:nvSpPr>
        <p:spPr>
          <a:xfrm>
            <a:off x="8450263" y="4500563"/>
            <a:ext cx="2530475" cy="320675"/>
          </a:xfrm>
          <a:prstGeom prst="roundRect">
            <a:avLst>
              <a:gd name="adj" fmla="val 30198"/>
            </a:avLst>
          </a:prstGeom>
          <a:solidFill>
            <a:srgbClr val="DEB068">
              <a:alpha val="8000"/>
            </a:srgbClr>
          </a:solidFill>
          <a:ln w="9525">
            <a:solidFill>
              <a:srgbClr val="DEB068">
                <a:alpha val="35000"/>
              </a:srgbClr>
            </a:solidFill>
            <a:prstDash val="solid"/>
          </a:ln>
        </p:spPr>
      </p:sp>
      <p:sp>
        <p:nvSpPr>
          <p:cNvPr id="53" name="Text 44"/>
          <p:cNvSpPr/>
          <p:nvPr/>
        </p:nvSpPr>
        <p:spPr>
          <a:xfrm>
            <a:off x="8559800" y="4554240"/>
            <a:ext cx="87248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2EFEA"/>
                </a:solidFill>
                <a:latin typeface="Arial" pitchFamily="34" charset="0"/>
                <a:ea typeface="Arial" pitchFamily="34" charset="-122"/>
                <a:cs typeface="Arial" pitchFamily="34" charset="-120"/>
              </a:rPr>
              <a:t>Summaries</a:t>
            </a:r>
            <a:endParaRPr lang="en-US" sz="1200" dirty="0"/>
          </a:p>
        </p:txBody>
      </p:sp>
      <p:sp>
        <p:nvSpPr>
          <p:cNvPr id="54" name="Shape 45"/>
          <p:cNvSpPr/>
          <p:nvPr/>
        </p:nvSpPr>
        <p:spPr>
          <a:xfrm>
            <a:off x="8450263" y="4894263"/>
            <a:ext cx="2530475" cy="320675"/>
          </a:xfrm>
          <a:prstGeom prst="roundRect">
            <a:avLst>
              <a:gd name="adj" fmla="val 30198"/>
            </a:avLst>
          </a:prstGeom>
          <a:solidFill>
            <a:srgbClr val="DEB068">
              <a:alpha val="8000"/>
            </a:srgbClr>
          </a:solidFill>
          <a:ln w="9525">
            <a:solidFill>
              <a:srgbClr val="DEB068">
                <a:alpha val="35000"/>
              </a:srgbClr>
            </a:solidFill>
            <a:prstDash val="solid"/>
          </a:ln>
        </p:spPr>
      </p:sp>
      <p:sp>
        <p:nvSpPr>
          <p:cNvPr id="55" name="Text 46"/>
          <p:cNvSpPr/>
          <p:nvPr/>
        </p:nvSpPr>
        <p:spPr>
          <a:xfrm>
            <a:off x="8559800" y="4947940"/>
            <a:ext cx="81855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2EFEA"/>
                </a:solidFill>
                <a:latin typeface="Arial" pitchFamily="34" charset="0"/>
                <a:ea typeface="Arial" pitchFamily="34" charset="-122"/>
                <a:cs typeface="Arial" pitchFamily="34" charset="-120"/>
              </a:rPr>
              <a:t>Workflows</a:t>
            </a:r>
            <a:endParaRPr lang="en-US" sz="1200" dirty="0"/>
          </a:p>
        </p:txBody>
      </p:sp>
      <p:sp>
        <p:nvSpPr>
          <p:cNvPr id="56" name="Shape 47"/>
          <p:cNvSpPr/>
          <p:nvPr/>
        </p:nvSpPr>
        <p:spPr>
          <a:xfrm>
            <a:off x="8450263" y="5287963"/>
            <a:ext cx="2530475" cy="320675"/>
          </a:xfrm>
          <a:prstGeom prst="roundRect">
            <a:avLst>
              <a:gd name="adj" fmla="val 30198"/>
            </a:avLst>
          </a:prstGeom>
          <a:solidFill>
            <a:srgbClr val="DEB068">
              <a:alpha val="8000"/>
            </a:srgbClr>
          </a:solidFill>
          <a:ln w="9525">
            <a:solidFill>
              <a:srgbClr val="DEB068">
                <a:alpha val="35000"/>
              </a:srgbClr>
            </a:solidFill>
            <a:prstDash val="solid"/>
          </a:ln>
        </p:spPr>
      </p:sp>
      <p:sp>
        <p:nvSpPr>
          <p:cNvPr id="57" name="Text 48"/>
          <p:cNvSpPr/>
          <p:nvPr/>
        </p:nvSpPr>
        <p:spPr>
          <a:xfrm>
            <a:off x="8559800" y="5341640"/>
            <a:ext cx="128423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2EFEA"/>
                </a:solidFill>
                <a:latin typeface="Arial" pitchFamily="34" charset="0"/>
                <a:ea typeface="Arial" pitchFamily="34" charset="-122"/>
                <a:cs typeface="Arial" pitchFamily="34" charset="-120"/>
              </a:rPr>
              <a:t>Toolbox, skillbox</a:t>
            </a:r>
            <a:endParaRPr lang="en-US" sz="1200" dirty="0"/>
          </a:p>
        </p:txBody>
      </p:sp>
      <p:sp>
        <p:nvSpPr>
          <p:cNvPr id="58" name="Text 4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TOKENOMICS, PLUS THE GATE</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Why your agent needs memory</a:t>
            </a:r>
            <a:endParaRPr lang="en-US" sz="2800" dirty="0"/>
          </a:p>
        </p:txBody>
      </p:sp>
      <p:sp>
        <p:nvSpPr>
          <p:cNvPr id="5" name="Text 3"/>
          <p:cNvSpPr/>
          <p:nvPr/>
        </p:nvSpPr>
        <p:spPr>
          <a:xfrm>
            <a:off x="812800" y="1435100"/>
            <a:ext cx="1046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6B6B"/>
                </a:solidFill>
                <a:latin typeface="Arial" pitchFamily="34" charset="0"/>
                <a:ea typeface="Arial" pitchFamily="34" charset="-122"/>
                <a:cs typeface="Arial" pitchFamily="34" charset="-120"/>
              </a:rPr>
              <a:t>Tokenomics is cost, latency and accuracy on one invoice. Governance decides whether you may ship at all.</a:t>
            </a:r>
            <a:endParaRPr lang="en-US" sz="1500" dirty="0"/>
          </a:p>
        </p:txBody>
      </p:sp>
      <p:sp>
        <p:nvSpPr>
          <p:cNvPr id="6" name="Shape 4"/>
          <p:cNvSpPr/>
          <p:nvPr/>
        </p:nvSpPr>
        <p:spPr>
          <a:xfrm>
            <a:off x="815975" y="1908175"/>
            <a:ext cx="2482850" cy="2533650"/>
          </a:xfrm>
          <a:prstGeom prst="roundRect">
            <a:avLst>
              <a:gd name="adj" fmla="val 6010"/>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7" name="Text 5"/>
          <p:cNvSpPr/>
          <p:nvPr/>
        </p:nvSpPr>
        <p:spPr>
          <a:xfrm>
            <a:off x="1003300" y="2101850"/>
            <a:ext cx="492820"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COST</a:t>
            </a:r>
            <a:endParaRPr lang="en-US" sz="1200" dirty="0"/>
          </a:p>
        </p:txBody>
      </p:sp>
      <p:sp>
        <p:nvSpPr>
          <p:cNvPr id="8" name="Text 6"/>
          <p:cNvSpPr/>
          <p:nvPr/>
        </p:nvSpPr>
        <p:spPr>
          <a:xfrm>
            <a:off x="1003300" y="2404070"/>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D2D2D"/>
                </a:solidFill>
                <a:latin typeface="Arial" pitchFamily="34" charset="0"/>
                <a:ea typeface="Arial" pitchFamily="34" charset="-122"/>
                <a:cs typeface="Arial" pitchFamily="34" charset="-120"/>
              </a:rPr>
              <a:t>Tokens grow with every turn</a:t>
            </a:r>
            <a:endParaRPr lang="en-US" sz="1500" dirty="0"/>
          </a:p>
        </p:txBody>
      </p:sp>
      <p:sp>
        <p:nvSpPr>
          <p:cNvPr id="9" name="Text 7"/>
          <p:cNvSpPr/>
          <p:nvPr/>
        </p:nvSpPr>
        <p:spPr>
          <a:xfrm>
            <a:off x="1003300" y="2950170"/>
            <a:ext cx="2171446"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B6B6B"/>
                </a:solidFill>
                <a:latin typeface="Arial" pitchFamily="34" charset="0"/>
                <a:ea typeface="Arial" pitchFamily="34" charset="-122"/>
                <a:cs typeface="Arial" pitchFamily="34" charset="-120"/>
              </a:rPr>
              <a:t>Agents that resend history pay for it on every call. Inference spend rises with token consumption, and a fleet multiplies it.</a:t>
            </a:r>
            <a:endParaRPr lang="en-US" sz="1200" dirty="0"/>
          </a:p>
        </p:txBody>
      </p:sp>
      <p:sp>
        <p:nvSpPr>
          <p:cNvPr id="10" name="Shape 8"/>
          <p:cNvSpPr/>
          <p:nvPr/>
        </p:nvSpPr>
        <p:spPr>
          <a:xfrm>
            <a:off x="3508375" y="1908175"/>
            <a:ext cx="2482850" cy="2533650"/>
          </a:xfrm>
          <a:prstGeom prst="roundRect">
            <a:avLst>
              <a:gd name="adj" fmla="val 6010"/>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1" name="Text 9"/>
          <p:cNvSpPr/>
          <p:nvPr/>
        </p:nvSpPr>
        <p:spPr>
          <a:xfrm>
            <a:off x="3695700" y="2101850"/>
            <a:ext cx="82435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LATENCY</a:t>
            </a:r>
            <a:endParaRPr lang="en-US" sz="1200" dirty="0"/>
          </a:p>
        </p:txBody>
      </p:sp>
      <p:sp>
        <p:nvSpPr>
          <p:cNvPr id="12" name="Text 10"/>
          <p:cNvSpPr/>
          <p:nvPr/>
        </p:nvSpPr>
        <p:spPr>
          <a:xfrm>
            <a:off x="3695700" y="2404070"/>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D2D2D"/>
                </a:solidFill>
                <a:latin typeface="Arial" pitchFamily="34" charset="0"/>
                <a:ea typeface="Arial" pitchFamily="34" charset="-122"/>
                <a:cs typeface="Arial" pitchFamily="34" charset="-120"/>
              </a:rPr>
              <a:t>Longer prompts, slower answers</a:t>
            </a:r>
            <a:endParaRPr lang="en-US" sz="1500" dirty="0"/>
          </a:p>
        </p:txBody>
      </p:sp>
      <p:sp>
        <p:nvSpPr>
          <p:cNvPr id="13" name="Text 11"/>
          <p:cNvSpPr/>
          <p:nvPr/>
        </p:nvSpPr>
        <p:spPr>
          <a:xfrm>
            <a:off x="3695700" y="2950170"/>
            <a:ext cx="2171446"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B6B6B"/>
                </a:solidFill>
                <a:latin typeface="Arial" pitchFamily="34" charset="0"/>
                <a:ea typeface="Arial" pitchFamily="34" charset="-122"/>
                <a:cs typeface="Arial" pitchFamily="34" charset="-120"/>
              </a:rPr>
              <a:t>Prefill scales with the window. More tokens in means a slower first token and a worse p95, on every turn.</a:t>
            </a:r>
            <a:endParaRPr lang="en-US" sz="1200" dirty="0"/>
          </a:p>
        </p:txBody>
      </p:sp>
      <p:sp>
        <p:nvSpPr>
          <p:cNvPr id="14" name="Shape 12"/>
          <p:cNvSpPr/>
          <p:nvPr/>
        </p:nvSpPr>
        <p:spPr>
          <a:xfrm>
            <a:off x="6200775" y="1908175"/>
            <a:ext cx="2482850" cy="2533650"/>
          </a:xfrm>
          <a:prstGeom prst="roundRect">
            <a:avLst>
              <a:gd name="adj" fmla="val 6010"/>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5" name="Text 13"/>
          <p:cNvSpPr/>
          <p:nvPr/>
        </p:nvSpPr>
        <p:spPr>
          <a:xfrm>
            <a:off x="6388100" y="2101850"/>
            <a:ext cx="93483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ACCURACY</a:t>
            </a:r>
            <a:endParaRPr lang="en-US" sz="1200" dirty="0"/>
          </a:p>
        </p:txBody>
      </p:sp>
      <p:sp>
        <p:nvSpPr>
          <p:cNvPr id="16" name="Text 14"/>
          <p:cNvSpPr/>
          <p:nvPr/>
        </p:nvSpPr>
        <p:spPr>
          <a:xfrm>
            <a:off x="6388100" y="2404070"/>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D2D2D"/>
                </a:solidFill>
                <a:latin typeface="Arial" pitchFamily="34" charset="0"/>
                <a:ea typeface="Arial" pitchFamily="34" charset="-122"/>
                <a:cs typeface="Arial" pitchFamily="34" charset="-120"/>
              </a:rPr>
              <a:t>Long context is not memory</a:t>
            </a:r>
            <a:endParaRPr lang="en-US" sz="1500" dirty="0"/>
          </a:p>
        </p:txBody>
      </p:sp>
      <p:sp>
        <p:nvSpPr>
          <p:cNvPr id="17" name="Text 15"/>
          <p:cNvSpPr/>
          <p:nvPr/>
        </p:nvSpPr>
        <p:spPr>
          <a:xfrm>
            <a:off x="6388100" y="2950170"/>
            <a:ext cx="2171446"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B6B6B"/>
                </a:solidFill>
                <a:latin typeface="Arial" pitchFamily="34" charset="0"/>
                <a:ea typeface="Arial" pitchFamily="34" charset="-122"/>
                <a:cs typeface="Arial" pitchFamily="34" charset="-120"/>
              </a:rPr>
              <a:t>Agents repeat corrected mistakes. LongMemEval measured about a 30% accuracy drop for long-context assistants over sustained use.</a:t>
            </a:r>
            <a:endParaRPr lang="en-US" sz="1200" dirty="0"/>
          </a:p>
        </p:txBody>
      </p:sp>
      <p:sp>
        <p:nvSpPr>
          <p:cNvPr id="18" name="Shape 16"/>
          <p:cNvSpPr/>
          <p:nvPr/>
        </p:nvSpPr>
        <p:spPr>
          <a:xfrm>
            <a:off x="8896350" y="1911350"/>
            <a:ext cx="2476500" cy="2527300"/>
          </a:xfrm>
          <a:prstGeom prst="roundRect">
            <a:avLst>
              <a:gd name="adj" fmla="val 5897"/>
            </a:avLst>
          </a:prstGeom>
          <a:solidFill>
            <a:srgbClr val="FFF4F1"/>
          </a:solidFill>
          <a:ln w="12700">
            <a:solidFill>
              <a:srgbClr val="C74634">
                <a:alpha val="50000"/>
              </a:srgbClr>
            </a:solidFill>
            <a:prstDash val="solid"/>
          </a:ln>
        </p:spPr>
      </p:sp>
      <p:sp>
        <p:nvSpPr>
          <p:cNvPr id="19" name="Text 17"/>
          <p:cNvSpPr/>
          <p:nvPr/>
        </p:nvSpPr>
        <p:spPr>
          <a:xfrm>
            <a:off x="9080500" y="2108200"/>
            <a:ext cx="115584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GOVERNANCE</a:t>
            </a:r>
            <a:endParaRPr lang="en-US" sz="1200" dirty="0"/>
          </a:p>
        </p:txBody>
      </p:sp>
      <p:sp>
        <p:nvSpPr>
          <p:cNvPr id="20" name="Text 18"/>
          <p:cNvSpPr/>
          <p:nvPr/>
        </p:nvSpPr>
        <p:spPr>
          <a:xfrm>
            <a:off x="9080500" y="2410420"/>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D2D2D"/>
                </a:solidFill>
                <a:latin typeface="Arial" pitchFamily="34" charset="0"/>
                <a:ea typeface="Arial" pitchFamily="34" charset="-122"/>
                <a:cs typeface="Arial" pitchFamily="34" charset="-120"/>
              </a:rPr>
              <a:t>Memory is enterprise data</a:t>
            </a:r>
            <a:endParaRPr lang="en-US" sz="1500" dirty="0"/>
          </a:p>
        </p:txBody>
      </p:sp>
      <p:sp>
        <p:nvSpPr>
          <p:cNvPr id="21" name="Text 19"/>
          <p:cNvSpPr/>
          <p:nvPr/>
        </p:nvSpPr>
        <p:spPr>
          <a:xfrm>
            <a:off x="9080500" y="2956520"/>
            <a:ext cx="2171446"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B6B6B"/>
                </a:solidFill>
                <a:latin typeface="Arial" pitchFamily="34" charset="0"/>
                <a:ea typeface="Arial" pitchFamily="34" charset="-122"/>
                <a:cs typeface="Arial" pitchFamily="34" charset="-120"/>
              </a:rPr>
              <a:t>It must respect who may see what, expire on purpose, stay where the data lives, and be auditable like any other record.</a:t>
            </a:r>
            <a:endParaRPr lang="en-US" sz="1200" dirty="0"/>
          </a:p>
        </p:txBody>
      </p:sp>
      <p:sp>
        <p:nvSpPr>
          <p:cNvPr id="22" name="Shape 20"/>
          <p:cNvSpPr/>
          <p:nvPr/>
        </p:nvSpPr>
        <p:spPr>
          <a:xfrm>
            <a:off x="815975" y="4702175"/>
            <a:ext cx="10560050" cy="692150"/>
          </a:xfrm>
          <a:prstGeom prst="roundRect">
            <a:avLst>
              <a:gd name="adj" fmla="val 17890"/>
            </a:avLst>
          </a:prstGeom>
          <a:solidFill>
            <a:srgbClr val="1E2A2A"/>
          </a:solidFill>
          <a:ln w="6350">
            <a:solidFill>
              <a:srgbClr val="1E2A2A"/>
            </a:solidFill>
            <a:prstDash val="solid"/>
          </a:ln>
        </p:spPr>
      </p:sp>
      <p:sp>
        <p:nvSpPr>
          <p:cNvPr id="23" name="Text 21"/>
          <p:cNvSpPr/>
          <p:nvPr/>
        </p:nvSpPr>
        <p:spPr>
          <a:xfrm>
            <a:off x="1066800" y="4914900"/>
            <a:ext cx="1011370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Memory moves all four, which is why hyperscalers, incumbents and startups are all </a:t>
            </a:r>
            <a:r>
              <a:rPr lang="en-US" sz="1500" dirty="0">
                <a:solidFill>
                  <a:srgbClr val="DEB068"/>
                </a:solidFill>
                <a:latin typeface="Arial" pitchFamily="34" charset="0"/>
                <a:ea typeface="Arial" pitchFamily="34" charset="-122"/>
                <a:cs typeface="Arial" pitchFamily="34" charset="-120"/>
              </a:rPr>
              <a:t>converging on it</a:t>
            </a: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24"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TOKENOMICS</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Every turn you replay is a turn you pay for</a:t>
            </a:r>
            <a:endParaRPr lang="en-US" sz="2800" dirty="0"/>
          </a:p>
        </p:txBody>
      </p:sp>
      <p:sp>
        <p:nvSpPr>
          <p:cNvPr id="5" name="Shape 3"/>
          <p:cNvSpPr/>
          <p:nvPr/>
        </p:nvSpPr>
        <p:spPr>
          <a:xfrm>
            <a:off x="815975" y="1717675"/>
            <a:ext cx="3930650" cy="810816"/>
          </a:xfrm>
          <a:prstGeom prst="roundRect">
            <a:avLst>
              <a:gd name="adj" fmla="val 15272"/>
            </a:avLst>
          </a:prstGeom>
          <a:solidFill>
            <a:srgbClr val="FFFFFF">
              <a:alpha val="70000"/>
            </a:srgbClr>
          </a:solidFill>
          <a:ln w="6350">
            <a:solidFill>
              <a:srgbClr val="31535C">
                <a:alpha val="16000"/>
              </a:srgbClr>
            </a:solidFill>
            <a:prstDash val="solid"/>
          </a:ln>
        </p:spPr>
      </p:sp>
      <p:sp>
        <p:nvSpPr>
          <p:cNvPr id="6" name="Text 4"/>
          <p:cNvSpPr/>
          <p:nvPr/>
        </p:nvSpPr>
        <p:spPr>
          <a:xfrm>
            <a:off x="977900" y="1885950"/>
            <a:ext cx="467420"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C74634"/>
                </a:solidFill>
                <a:latin typeface="Courier New" pitchFamily="49" charset="0"/>
                <a:ea typeface="Courier New" pitchFamily="49" charset="-122"/>
                <a:cs typeface="Courier New" pitchFamily="49" charset="-120"/>
              </a:rPr>
              <a:t>COST</a:t>
            </a:r>
            <a:endParaRPr lang="en-US" sz="1200" dirty="0"/>
          </a:p>
        </p:txBody>
      </p:sp>
      <p:sp>
        <p:nvSpPr>
          <p:cNvPr id="7" name="Text 5"/>
          <p:cNvSpPr/>
          <p:nvPr/>
        </p:nvSpPr>
        <p:spPr>
          <a:xfrm>
            <a:off x="977900" y="2137370"/>
            <a:ext cx="376555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D2D2D"/>
                </a:solidFill>
                <a:latin typeface="Arial" pitchFamily="34" charset="0"/>
                <a:ea typeface="Arial" pitchFamily="34" charset="-122"/>
                <a:cs typeface="Arial" pitchFamily="34" charset="-120"/>
              </a:rPr>
              <a:t>Input tokens per turn, times turns, times users.</a:t>
            </a:r>
            <a:endParaRPr lang="en-US" sz="1300" dirty="0"/>
          </a:p>
        </p:txBody>
      </p:sp>
      <p:sp>
        <p:nvSpPr>
          <p:cNvPr id="8" name="Shape 6"/>
          <p:cNvSpPr/>
          <p:nvPr/>
        </p:nvSpPr>
        <p:spPr>
          <a:xfrm>
            <a:off x="815975" y="2670175"/>
            <a:ext cx="3930650" cy="1033661"/>
          </a:xfrm>
          <a:prstGeom prst="roundRect">
            <a:avLst>
              <a:gd name="adj" fmla="val 11979"/>
            </a:avLst>
          </a:prstGeom>
          <a:solidFill>
            <a:srgbClr val="FFFFFF">
              <a:alpha val="70000"/>
            </a:srgbClr>
          </a:solidFill>
          <a:ln w="6350">
            <a:solidFill>
              <a:srgbClr val="31535C">
                <a:alpha val="16000"/>
              </a:srgbClr>
            </a:solidFill>
            <a:prstDash val="solid"/>
          </a:ln>
        </p:spPr>
      </p:sp>
      <p:sp>
        <p:nvSpPr>
          <p:cNvPr id="9" name="Text 7"/>
          <p:cNvSpPr/>
          <p:nvPr/>
        </p:nvSpPr>
        <p:spPr>
          <a:xfrm>
            <a:off x="977900" y="2838450"/>
            <a:ext cx="77990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LATENCY</a:t>
            </a:r>
            <a:endParaRPr lang="en-US" sz="1200" dirty="0"/>
          </a:p>
        </p:txBody>
      </p:sp>
      <p:sp>
        <p:nvSpPr>
          <p:cNvPr id="10" name="Text 8"/>
          <p:cNvSpPr/>
          <p:nvPr/>
        </p:nvSpPr>
        <p:spPr>
          <a:xfrm>
            <a:off x="977900" y="3089870"/>
            <a:ext cx="371500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D2D2D"/>
                </a:solidFill>
                <a:latin typeface="Arial" pitchFamily="34" charset="0"/>
                <a:ea typeface="Arial" pitchFamily="34" charset="-122"/>
                <a:cs typeface="Arial" pitchFamily="34" charset="-120"/>
              </a:rPr>
              <a:t>Longer prompts mean slower first tokens and a worse p95.</a:t>
            </a:r>
            <a:endParaRPr lang="en-US" sz="1300" dirty="0"/>
          </a:p>
        </p:txBody>
      </p:sp>
      <p:sp>
        <p:nvSpPr>
          <p:cNvPr id="11" name="Shape 9"/>
          <p:cNvSpPr/>
          <p:nvPr/>
        </p:nvSpPr>
        <p:spPr>
          <a:xfrm>
            <a:off x="815975" y="3622675"/>
            <a:ext cx="3930650" cy="1033661"/>
          </a:xfrm>
          <a:prstGeom prst="roundRect">
            <a:avLst>
              <a:gd name="adj" fmla="val 11979"/>
            </a:avLst>
          </a:prstGeom>
          <a:solidFill>
            <a:srgbClr val="FFFFFF">
              <a:alpha val="70000"/>
            </a:srgbClr>
          </a:solidFill>
          <a:ln w="6350">
            <a:solidFill>
              <a:srgbClr val="31535C">
                <a:alpha val="16000"/>
              </a:srgbClr>
            </a:solidFill>
            <a:prstDash val="solid"/>
          </a:ln>
        </p:spPr>
      </p:sp>
      <p:sp>
        <p:nvSpPr>
          <p:cNvPr id="12" name="Text 10"/>
          <p:cNvSpPr/>
          <p:nvPr/>
        </p:nvSpPr>
        <p:spPr>
          <a:xfrm>
            <a:off x="977900" y="3790950"/>
            <a:ext cx="88403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A87A2A"/>
                </a:solidFill>
                <a:latin typeface="Courier New" pitchFamily="49" charset="0"/>
                <a:ea typeface="Courier New" pitchFamily="49" charset="-122"/>
                <a:cs typeface="Courier New" pitchFamily="49" charset="-120"/>
              </a:rPr>
              <a:t>ACCURACY</a:t>
            </a:r>
            <a:endParaRPr lang="en-US" sz="1200" dirty="0"/>
          </a:p>
        </p:txBody>
      </p:sp>
      <p:sp>
        <p:nvSpPr>
          <p:cNvPr id="13" name="Text 11"/>
          <p:cNvSpPr/>
          <p:nvPr/>
        </p:nvSpPr>
        <p:spPr>
          <a:xfrm>
            <a:off x="977900" y="4042370"/>
            <a:ext cx="371500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D2D2D"/>
                </a:solidFill>
                <a:latin typeface="Arial" pitchFamily="34" charset="0"/>
                <a:ea typeface="Arial" pitchFamily="34" charset="-122"/>
                <a:cs typeface="Arial" pitchFamily="34" charset="-120"/>
              </a:rPr>
              <a:t>More context is not better context. Models lose facts in the middle.</a:t>
            </a:r>
            <a:endParaRPr lang="en-US" sz="1300" dirty="0"/>
          </a:p>
        </p:txBody>
      </p:sp>
      <p:sp>
        <p:nvSpPr>
          <p:cNvPr id="14" name="Shape 12"/>
          <p:cNvSpPr/>
          <p:nvPr/>
        </p:nvSpPr>
        <p:spPr>
          <a:xfrm>
            <a:off x="5083175" y="1717675"/>
            <a:ext cx="6292850" cy="3930650"/>
          </a:xfrm>
          <a:prstGeom prst="roundRect">
            <a:avLst>
              <a:gd name="adj" fmla="val 3473"/>
            </a:avLst>
          </a:prstGeom>
          <a:solidFill>
            <a:srgbClr val="FFFFFF">
              <a:alpha val="70000"/>
            </a:srgbClr>
          </a:solidFill>
          <a:ln w="6350">
            <a:solidFill>
              <a:srgbClr val="31535C">
                <a:alpha val="16000"/>
              </a:srgbClr>
            </a:solidFill>
            <a:prstDash val="solid"/>
          </a:ln>
        </p:spPr>
      </p:sp>
      <p:sp>
        <p:nvSpPr>
          <p:cNvPr id="15" name="Text 13"/>
          <p:cNvSpPr/>
          <p:nvPr/>
        </p:nvSpPr>
        <p:spPr>
          <a:xfrm>
            <a:off x="5334000" y="18796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Courier New" pitchFamily="49" charset="0"/>
                <a:ea typeface="Courier New" pitchFamily="49" charset="-122"/>
                <a:cs typeface="Courier New" pitchFamily="49" charset="-120"/>
              </a:rPr>
              <a:t>TOKENS PER TURN</a:t>
            </a:r>
            <a:endParaRPr lang="en-US" sz="1200" dirty="0"/>
          </a:p>
        </p:txBody>
      </p:sp>
      <p:pic>
        <p:nvPicPr>
          <p:cNvPr id="16" name="Image 0" descr="axes">    </p:cNvPr>
          <p:cNvPicPr>
            <a:picLocks noChangeAspect="1"/>
          </p:cNvPicPr>
          <p:nvPr/>
        </p:nvPicPr>
        <p:blipFill>
          <a:blip r:embed="rId1"/>
          <a:srcRect l="0" r="0" t="0" b="0"/>
          <a:stretch/>
        </p:blipFill>
        <p:spPr>
          <a:xfrm>
            <a:off x="0" y="0"/>
            <a:ext cx="12192000" cy="6858000"/>
          </a:xfrm>
          <a:prstGeom prst="rect">
            <a:avLst/>
          </a:prstGeom>
        </p:spPr>
      </p:pic>
      <p:pic>
        <p:nvPicPr>
          <p:cNvPr id="17" name="Image 1" descr="full history replay grows every turn">    </p:cNvPr>
          <p:cNvPicPr>
            <a:picLocks noChangeAspect="1"/>
          </p:cNvPicPr>
          <p:nvPr/>
        </p:nvPicPr>
        <p:blipFill>
          <a:blip r:embed="rId2"/>
          <a:srcRect l="0" r="0" t="0" b="0"/>
          <a:stretch/>
        </p:blipFill>
        <p:spPr>
          <a:xfrm>
            <a:off x="0" y="0"/>
            <a:ext cx="12192000" cy="6858000"/>
          </a:xfrm>
          <a:prstGeom prst="rect">
            <a:avLst/>
          </a:prstGeom>
        </p:spPr>
      </p:pic>
      <p:sp>
        <p:nvSpPr>
          <p:cNvPr id="18" name="Text 14"/>
          <p:cNvSpPr/>
          <p:nvPr/>
        </p:nvSpPr>
        <p:spPr>
          <a:xfrm>
            <a:off x="7734300" y="22352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C74634"/>
                </a:solidFill>
                <a:latin typeface="Arial" pitchFamily="34" charset="0"/>
                <a:ea typeface="Arial" pitchFamily="34" charset="-122"/>
                <a:cs typeface="Arial" pitchFamily="34" charset="-120"/>
              </a:rPr>
              <a:t>Full history replay</a:t>
            </a:r>
            <a:endParaRPr lang="en-US" sz="1200" dirty="0"/>
          </a:p>
        </p:txBody>
      </p:sp>
      <p:pic>
        <p:nvPicPr>
          <p:cNvPr id="19" name="Image 2" descr="memory plus context card stays flat">    </p:cNvPr>
          <p:cNvPicPr>
            <a:picLocks noChangeAspect="1"/>
          </p:cNvPicPr>
          <p:nvPr/>
        </p:nvPicPr>
        <p:blipFill>
          <a:blip r:embed="rId3"/>
          <a:srcRect l="0" r="0" t="0" b="0"/>
          <a:stretch/>
        </p:blipFill>
        <p:spPr>
          <a:xfrm>
            <a:off x="0" y="0"/>
            <a:ext cx="12192000" cy="6858000"/>
          </a:xfrm>
          <a:prstGeom prst="rect">
            <a:avLst/>
          </a:prstGeom>
        </p:spPr>
      </p:pic>
      <p:sp>
        <p:nvSpPr>
          <p:cNvPr id="20" name="Text 15"/>
          <p:cNvSpPr/>
          <p:nvPr/>
        </p:nvSpPr>
        <p:spPr>
          <a:xfrm>
            <a:off x="7536180" y="4229100"/>
            <a:ext cx="287782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6677D"/>
                </a:solidFill>
                <a:latin typeface="Arial" pitchFamily="34" charset="0"/>
                <a:ea typeface="Arial" pitchFamily="34" charset="-122"/>
                <a:cs typeface="Arial" pitchFamily="34" charset="-120"/>
              </a:rPr>
              <a:t>Memory + context card</a:t>
            </a:r>
            <a:endParaRPr lang="en-US" sz="1200" dirty="0"/>
          </a:p>
        </p:txBody>
      </p:sp>
      <p:pic>
        <p:nvPicPr>
          <p:cNvPr id="21" name="Image 3" descr="the gap">    </p:cNvPr>
          <p:cNvPicPr>
            <a:picLocks noChangeAspect="1"/>
          </p:cNvPicPr>
          <p:nvPr/>
        </p:nvPicPr>
        <p:blipFill>
          <a:blip r:embed="rId4"/>
          <a:srcRect l="0" r="0" t="0" b="0"/>
          <a:stretch/>
        </p:blipFill>
        <p:spPr>
          <a:xfrm>
            <a:off x="0" y="0"/>
            <a:ext cx="12192000" cy="6858000"/>
          </a:xfrm>
          <a:prstGeom prst="rect">
            <a:avLst/>
          </a:prstGeom>
        </p:spPr>
      </p:pic>
      <p:sp>
        <p:nvSpPr>
          <p:cNvPr id="22" name="Text 16"/>
          <p:cNvSpPr/>
          <p:nvPr/>
        </p:nvSpPr>
        <p:spPr>
          <a:xfrm>
            <a:off x="8705850" y="3302000"/>
            <a:ext cx="1962150" cy="25653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D2D2D"/>
                </a:solidFill>
                <a:latin typeface="Arial" pitchFamily="34" charset="0"/>
                <a:ea typeface="Arial" pitchFamily="34" charset="-122"/>
                <a:cs typeface="Arial" pitchFamily="34" charset="-120"/>
              </a:rPr>
              <a:t>The gap is the bill</a:t>
            </a:r>
            <a:endParaRPr lang="en-US" sz="1300" dirty="0"/>
          </a:p>
        </p:txBody>
      </p:sp>
      <p:sp>
        <p:nvSpPr>
          <p:cNvPr id="23" name="Text 17"/>
          <p:cNvSpPr/>
          <p:nvPr/>
        </p:nvSpPr>
        <p:spPr>
          <a:xfrm>
            <a:off x="5588000" y="51816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turn 1</a:t>
            </a:r>
            <a:endParaRPr lang="en-US" sz="1200" dirty="0"/>
          </a:p>
        </p:txBody>
      </p:sp>
      <p:sp>
        <p:nvSpPr>
          <p:cNvPr id="24" name="Text 18"/>
          <p:cNvSpPr/>
          <p:nvPr/>
        </p:nvSpPr>
        <p:spPr>
          <a:xfrm>
            <a:off x="9728200" y="51816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Arial" pitchFamily="34" charset="0"/>
                <a:ea typeface="Arial" pitchFamily="34" charset="-122"/>
                <a:cs typeface="Arial" pitchFamily="34" charset="-120"/>
              </a:rPr>
              <a:t>turn 100</a:t>
            </a:r>
            <a:endParaRPr lang="en-US" sz="1200" dirty="0"/>
          </a:p>
        </p:txBody>
      </p:sp>
      <p:sp>
        <p:nvSpPr>
          <p:cNvPr id="25" name="Text 1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836F"/>
                </a:solidFill>
                <a:latin typeface="Courier New" pitchFamily="49" charset="0"/>
                <a:ea typeface="Courier New" pitchFamily="49" charset="-122"/>
                <a:cs typeface="Courier New" pitchFamily="49" charset="-120"/>
              </a:rPr>
              <a:t>MEMORY IS YOUR MOAT · 1 OF 2</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Every team starts with the same parts</a:t>
            </a:r>
            <a:endParaRPr lang="en-US" sz="2800" dirty="0"/>
          </a:p>
        </p:txBody>
      </p:sp>
      <p:sp>
        <p:nvSpPr>
          <p:cNvPr id="5" name="Text 3"/>
          <p:cNvSpPr/>
          <p:nvPr/>
        </p:nvSpPr>
        <p:spPr>
          <a:xfrm>
            <a:off x="812800" y="15875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EB9B7"/>
                </a:solidFill>
                <a:latin typeface="Courier New" pitchFamily="49" charset="0"/>
                <a:ea typeface="Courier New" pitchFamily="49" charset="-122"/>
                <a:cs typeface="Courier New" pitchFamily="49" charset="-120"/>
              </a:rPr>
              <a:t>YOUR AGENT</a:t>
            </a:r>
            <a:endParaRPr lang="en-US" sz="1200" dirty="0"/>
          </a:p>
        </p:txBody>
      </p:sp>
      <p:sp>
        <p:nvSpPr>
          <p:cNvPr id="6" name="Text 4"/>
          <p:cNvSpPr/>
          <p:nvPr/>
        </p:nvSpPr>
        <p:spPr>
          <a:xfrm>
            <a:off x="6553200" y="15875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EB9B7"/>
                </a:solidFill>
                <a:latin typeface="Courier New" pitchFamily="49" charset="0"/>
                <a:ea typeface="Courier New" pitchFamily="49" charset="-122"/>
                <a:cs typeface="Courier New" pitchFamily="49" charset="-120"/>
              </a:rPr>
              <a:t>THEIR AGENT</a:t>
            </a:r>
            <a:endParaRPr lang="en-US" sz="1200" dirty="0"/>
          </a:p>
        </p:txBody>
      </p:sp>
      <p:sp>
        <p:nvSpPr>
          <p:cNvPr id="7" name="Shape 5"/>
          <p:cNvSpPr/>
          <p:nvPr/>
        </p:nvSpPr>
        <p:spPr>
          <a:xfrm>
            <a:off x="817563" y="1909762"/>
            <a:ext cx="4816475" cy="625475"/>
          </a:xfrm>
          <a:prstGeom prst="roundRect">
            <a:avLst>
              <a:gd name="adj" fmla="val 15482"/>
            </a:avLst>
          </a:prstGeom>
          <a:solidFill>
            <a:srgbClr val="FFFFFF">
              <a:alpha val="6000"/>
            </a:srgbClr>
          </a:solidFill>
          <a:ln w="9525">
            <a:solidFill>
              <a:srgbClr val="FFFFFF">
                <a:alpha val="18000"/>
              </a:srgbClr>
            </a:solidFill>
            <a:prstDash val="solid"/>
          </a:ln>
        </p:spPr>
      </p:sp>
      <p:sp>
        <p:nvSpPr>
          <p:cNvPr id="8" name="Text 6"/>
          <p:cNvSpPr/>
          <p:nvPr/>
        </p:nvSpPr>
        <p:spPr>
          <a:xfrm>
            <a:off x="914400" y="1996281"/>
            <a:ext cx="571599" cy="238274"/>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AEB9B7"/>
                </a:solidFill>
                <a:latin typeface="Courier New" pitchFamily="49" charset="0"/>
                <a:ea typeface="Courier New" pitchFamily="49" charset="-122"/>
                <a:cs typeface="Courier New" pitchFamily="49" charset="-120"/>
              </a:rPr>
              <a:t>MODEL</a:t>
            </a:r>
            <a:endParaRPr lang="en-US" sz="1200" dirty="0"/>
          </a:p>
        </p:txBody>
      </p:sp>
      <p:sp>
        <p:nvSpPr>
          <p:cNvPr id="9" name="Text 7"/>
          <p:cNvSpPr/>
          <p:nvPr/>
        </p:nvSpPr>
        <p:spPr>
          <a:xfrm>
            <a:off x="914400" y="2234555"/>
            <a:ext cx="3501747" cy="23956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2EFEA"/>
                </a:solidFill>
                <a:latin typeface="Arial" pitchFamily="34" charset="0"/>
                <a:ea typeface="Arial" pitchFamily="34" charset="-122"/>
                <a:cs typeface="Arial" pitchFamily="34" charset="-120"/>
              </a:rPr>
              <a:t>The same frontier models, called by API</a:t>
            </a:r>
            <a:endParaRPr lang="en-US" sz="1300" dirty="0"/>
          </a:p>
        </p:txBody>
      </p:sp>
      <p:sp>
        <p:nvSpPr>
          <p:cNvPr id="10" name="Text 8"/>
          <p:cNvSpPr/>
          <p:nvPr/>
        </p:nvSpPr>
        <p:spPr>
          <a:xfrm>
            <a:off x="5613400" y="2019300"/>
            <a:ext cx="965200" cy="523230"/>
          </a:xfrm>
          <a:prstGeom prst="rect">
            <a:avLst/>
          </a:prstGeom>
          <a:noFill/>
          <a:ln/>
        </p:spPr>
        <p:txBody>
          <a:bodyPr wrap="square" lIns="0" tIns="0" rIns="0" bIns="0" rtlCol="0" anchor="t">
            <a:normAutofit/>
          </a:bodyPr>
          <a:lstStyle/>
          <a:p>
            <a:pPr algn="ctr" indent="0" marL="0">
              <a:lnSpc>
                <a:spcPts val="3920"/>
              </a:lnSpc>
              <a:buNone/>
            </a:pPr>
            <a:r>
              <a:rPr lang="en-US" sz="2800" dirty="0">
                <a:solidFill>
                  <a:srgbClr val="AEB9B7"/>
                </a:solidFill>
                <a:latin typeface="Arial" pitchFamily="34" charset="0"/>
                <a:ea typeface="Arial" pitchFamily="34" charset="-122"/>
                <a:cs typeface="Arial" pitchFamily="34" charset="-120"/>
              </a:rPr>
              <a:t>=</a:t>
            </a:r>
            <a:endParaRPr lang="en-US" sz="2800" dirty="0"/>
          </a:p>
        </p:txBody>
      </p:sp>
      <p:sp>
        <p:nvSpPr>
          <p:cNvPr id="11" name="Shape 9"/>
          <p:cNvSpPr/>
          <p:nvPr/>
        </p:nvSpPr>
        <p:spPr>
          <a:xfrm>
            <a:off x="6557963" y="1909762"/>
            <a:ext cx="4816475" cy="625475"/>
          </a:xfrm>
          <a:prstGeom prst="roundRect">
            <a:avLst>
              <a:gd name="adj" fmla="val 15482"/>
            </a:avLst>
          </a:prstGeom>
          <a:solidFill>
            <a:srgbClr val="FFFFFF">
              <a:alpha val="6000"/>
            </a:srgbClr>
          </a:solidFill>
          <a:ln w="9525">
            <a:solidFill>
              <a:srgbClr val="FFFFFF">
                <a:alpha val="18000"/>
              </a:srgbClr>
            </a:solidFill>
            <a:prstDash val="solid"/>
          </a:ln>
        </p:spPr>
      </p:sp>
      <p:sp>
        <p:nvSpPr>
          <p:cNvPr id="12" name="Text 10"/>
          <p:cNvSpPr/>
          <p:nvPr/>
        </p:nvSpPr>
        <p:spPr>
          <a:xfrm>
            <a:off x="6654800" y="1996281"/>
            <a:ext cx="571599" cy="238274"/>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AEB9B7"/>
                </a:solidFill>
                <a:latin typeface="Courier New" pitchFamily="49" charset="0"/>
                <a:ea typeface="Courier New" pitchFamily="49" charset="-122"/>
                <a:cs typeface="Courier New" pitchFamily="49" charset="-120"/>
              </a:rPr>
              <a:t>MODEL</a:t>
            </a:r>
            <a:endParaRPr lang="en-US" sz="1200" dirty="0"/>
          </a:p>
        </p:txBody>
      </p:sp>
      <p:sp>
        <p:nvSpPr>
          <p:cNvPr id="13" name="Text 11"/>
          <p:cNvSpPr/>
          <p:nvPr/>
        </p:nvSpPr>
        <p:spPr>
          <a:xfrm>
            <a:off x="6654800" y="2234555"/>
            <a:ext cx="3501747" cy="23956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2EFEA"/>
                </a:solidFill>
                <a:latin typeface="Arial" pitchFamily="34" charset="0"/>
                <a:ea typeface="Arial" pitchFamily="34" charset="-122"/>
                <a:cs typeface="Arial" pitchFamily="34" charset="-120"/>
              </a:rPr>
              <a:t>The same frontier models, called by API</a:t>
            </a:r>
            <a:endParaRPr lang="en-US" sz="1300" dirty="0"/>
          </a:p>
        </p:txBody>
      </p:sp>
      <p:sp>
        <p:nvSpPr>
          <p:cNvPr id="14" name="Shape 12"/>
          <p:cNvSpPr/>
          <p:nvPr/>
        </p:nvSpPr>
        <p:spPr>
          <a:xfrm>
            <a:off x="817563" y="2646363"/>
            <a:ext cx="4816475" cy="625475"/>
          </a:xfrm>
          <a:prstGeom prst="roundRect">
            <a:avLst>
              <a:gd name="adj" fmla="val 15482"/>
            </a:avLst>
          </a:prstGeom>
          <a:solidFill>
            <a:srgbClr val="FFFFFF">
              <a:alpha val="6000"/>
            </a:srgbClr>
          </a:solidFill>
          <a:ln w="9525">
            <a:solidFill>
              <a:srgbClr val="FFFFFF">
                <a:alpha val="18000"/>
              </a:srgbClr>
            </a:solidFill>
            <a:prstDash val="solid"/>
          </a:ln>
        </p:spPr>
      </p:sp>
      <p:sp>
        <p:nvSpPr>
          <p:cNvPr id="15" name="Text 13"/>
          <p:cNvSpPr/>
          <p:nvPr/>
        </p:nvSpPr>
        <p:spPr>
          <a:xfrm>
            <a:off x="914400" y="2732881"/>
            <a:ext cx="988219" cy="238274"/>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AEB9B7"/>
                </a:solidFill>
                <a:latin typeface="Courier New" pitchFamily="49" charset="0"/>
                <a:ea typeface="Courier New" pitchFamily="49" charset="-122"/>
                <a:cs typeface="Courier New" pitchFamily="49" charset="-120"/>
              </a:rPr>
              <a:t>FRAMEWORK</a:t>
            </a:r>
            <a:endParaRPr lang="en-US" sz="1200" dirty="0"/>
          </a:p>
        </p:txBody>
      </p:sp>
      <p:sp>
        <p:nvSpPr>
          <p:cNvPr id="16" name="Text 14"/>
          <p:cNvSpPr/>
          <p:nvPr/>
        </p:nvSpPr>
        <p:spPr>
          <a:xfrm>
            <a:off x="914400" y="2971155"/>
            <a:ext cx="4699000" cy="23956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2EFEA"/>
                </a:solidFill>
                <a:latin typeface="Arial" pitchFamily="34" charset="0"/>
                <a:ea typeface="Arial" pitchFamily="34" charset="-122"/>
                <a:cs typeface="Arial" pitchFamily="34" charset="-120"/>
              </a:rPr>
              <a:t>The same open-source frameworks, pulled this afternoon</a:t>
            </a:r>
            <a:endParaRPr lang="en-US" sz="1300" dirty="0"/>
          </a:p>
        </p:txBody>
      </p:sp>
      <p:sp>
        <p:nvSpPr>
          <p:cNvPr id="17" name="Text 15"/>
          <p:cNvSpPr/>
          <p:nvPr/>
        </p:nvSpPr>
        <p:spPr>
          <a:xfrm>
            <a:off x="5613400" y="2755900"/>
            <a:ext cx="965200" cy="523230"/>
          </a:xfrm>
          <a:prstGeom prst="rect">
            <a:avLst/>
          </a:prstGeom>
          <a:noFill/>
          <a:ln/>
        </p:spPr>
        <p:txBody>
          <a:bodyPr wrap="square" lIns="0" tIns="0" rIns="0" bIns="0" rtlCol="0" anchor="t">
            <a:normAutofit/>
          </a:bodyPr>
          <a:lstStyle/>
          <a:p>
            <a:pPr algn="ctr" indent="0" marL="0">
              <a:lnSpc>
                <a:spcPts val="3920"/>
              </a:lnSpc>
              <a:buNone/>
            </a:pPr>
            <a:r>
              <a:rPr lang="en-US" sz="2800" dirty="0">
                <a:solidFill>
                  <a:srgbClr val="AEB9B7"/>
                </a:solidFill>
                <a:latin typeface="Arial" pitchFamily="34" charset="0"/>
                <a:ea typeface="Arial" pitchFamily="34" charset="-122"/>
                <a:cs typeface="Arial" pitchFamily="34" charset="-120"/>
              </a:rPr>
              <a:t>=</a:t>
            </a:r>
            <a:endParaRPr lang="en-US" sz="2800" dirty="0"/>
          </a:p>
        </p:txBody>
      </p:sp>
      <p:sp>
        <p:nvSpPr>
          <p:cNvPr id="18" name="Shape 16"/>
          <p:cNvSpPr/>
          <p:nvPr/>
        </p:nvSpPr>
        <p:spPr>
          <a:xfrm>
            <a:off x="6557963" y="2646363"/>
            <a:ext cx="4816475" cy="625475"/>
          </a:xfrm>
          <a:prstGeom prst="roundRect">
            <a:avLst>
              <a:gd name="adj" fmla="val 15482"/>
            </a:avLst>
          </a:prstGeom>
          <a:solidFill>
            <a:srgbClr val="FFFFFF">
              <a:alpha val="6000"/>
            </a:srgbClr>
          </a:solidFill>
          <a:ln w="9525">
            <a:solidFill>
              <a:srgbClr val="FFFFFF">
                <a:alpha val="18000"/>
              </a:srgbClr>
            </a:solidFill>
            <a:prstDash val="solid"/>
          </a:ln>
        </p:spPr>
      </p:sp>
      <p:sp>
        <p:nvSpPr>
          <p:cNvPr id="19" name="Text 17"/>
          <p:cNvSpPr/>
          <p:nvPr/>
        </p:nvSpPr>
        <p:spPr>
          <a:xfrm>
            <a:off x="6654800" y="2732881"/>
            <a:ext cx="988219" cy="238274"/>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AEB9B7"/>
                </a:solidFill>
                <a:latin typeface="Courier New" pitchFamily="49" charset="0"/>
                <a:ea typeface="Courier New" pitchFamily="49" charset="-122"/>
                <a:cs typeface="Courier New" pitchFamily="49" charset="-120"/>
              </a:rPr>
              <a:t>FRAMEWORK</a:t>
            </a:r>
            <a:endParaRPr lang="en-US" sz="1200" dirty="0"/>
          </a:p>
        </p:txBody>
      </p:sp>
      <p:sp>
        <p:nvSpPr>
          <p:cNvPr id="20" name="Text 18"/>
          <p:cNvSpPr/>
          <p:nvPr/>
        </p:nvSpPr>
        <p:spPr>
          <a:xfrm>
            <a:off x="6654800" y="2971155"/>
            <a:ext cx="4714875" cy="23956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2EFEA"/>
                </a:solidFill>
                <a:latin typeface="Arial" pitchFamily="34" charset="0"/>
                <a:ea typeface="Arial" pitchFamily="34" charset="-122"/>
                <a:cs typeface="Arial" pitchFamily="34" charset="-120"/>
              </a:rPr>
              <a:t>The same open-source frameworks, pulled this afternoon</a:t>
            </a:r>
            <a:endParaRPr lang="en-US" sz="1300" dirty="0"/>
          </a:p>
        </p:txBody>
      </p:sp>
      <p:sp>
        <p:nvSpPr>
          <p:cNvPr id="21" name="Shape 19"/>
          <p:cNvSpPr/>
          <p:nvPr/>
        </p:nvSpPr>
        <p:spPr>
          <a:xfrm>
            <a:off x="817563" y="3382963"/>
            <a:ext cx="4816475" cy="625475"/>
          </a:xfrm>
          <a:prstGeom prst="roundRect">
            <a:avLst>
              <a:gd name="adj" fmla="val 15482"/>
            </a:avLst>
          </a:prstGeom>
          <a:solidFill>
            <a:srgbClr val="FFFFFF">
              <a:alpha val="6000"/>
            </a:srgbClr>
          </a:solidFill>
          <a:ln w="9525">
            <a:solidFill>
              <a:srgbClr val="FFFFFF">
                <a:alpha val="18000"/>
              </a:srgbClr>
            </a:solidFill>
            <a:prstDash val="solid"/>
          </a:ln>
        </p:spPr>
      </p:sp>
      <p:sp>
        <p:nvSpPr>
          <p:cNvPr id="22" name="Text 20"/>
          <p:cNvSpPr/>
          <p:nvPr/>
        </p:nvSpPr>
        <p:spPr>
          <a:xfrm>
            <a:off x="914400" y="3469481"/>
            <a:ext cx="571599" cy="238274"/>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AEB9B7"/>
                </a:solidFill>
                <a:latin typeface="Courier New" pitchFamily="49" charset="0"/>
                <a:ea typeface="Courier New" pitchFamily="49" charset="-122"/>
                <a:cs typeface="Courier New" pitchFamily="49" charset="-120"/>
              </a:rPr>
              <a:t>TOOLS</a:t>
            </a:r>
            <a:endParaRPr lang="en-US" sz="1200" dirty="0"/>
          </a:p>
        </p:txBody>
      </p:sp>
      <p:sp>
        <p:nvSpPr>
          <p:cNvPr id="23" name="Text 21"/>
          <p:cNvSpPr/>
          <p:nvPr/>
        </p:nvSpPr>
        <p:spPr>
          <a:xfrm>
            <a:off x="914400" y="3707755"/>
            <a:ext cx="3464719" cy="23956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2EFEA"/>
                </a:solidFill>
                <a:latin typeface="Arial" pitchFamily="34" charset="0"/>
                <a:ea typeface="Arial" pitchFamily="34" charset="-122"/>
                <a:cs typeface="Arial" pitchFamily="34" charset="-120"/>
              </a:rPr>
              <a:t>The same MCP servers, the same APIs</a:t>
            </a:r>
            <a:endParaRPr lang="en-US" sz="1300" dirty="0"/>
          </a:p>
        </p:txBody>
      </p:sp>
      <p:sp>
        <p:nvSpPr>
          <p:cNvPr id="24" name="Text 22"/>
          <p:cNvSpPr/>
          <p:nvPr/>
        </p:nvSpPr>
        <p:spPr>
          <a:xfrm>
            <a:off x="5613400" y="3492500"/>
            <a:ext cx="965200" cy="523230"/>
          </a:xfrm>
          <a:prstGeom prst="rect">
            <a:avLst/>
          </a:prstGeom>
          <a:noFill/>
          <a:ln/>
        </p:spPr>
        <p:txBody>
          <a:bodyPr wrap="square" lIns="0" tIns="0" rIns="0" bIns="0" rtlCol="0" anchor="t">
            <a:normAutofit/>
          </a:bodyPr>
          <a:lstStyle/>
          <a:p>
            <a:pPr algn="ctr" indent="0" marL="0">
              <a:lnSpc>
                <a:spcPts val="3920"/>
              </a:lnSpc>
              <a:buNone/>
            </a:pPr>
            <a:r>
              <a:rPr lang="en-US" sz="2800" dirty="0">
                <a:solidFill>
                  <a:srgbClr val="AEB9B7"/>
                </a:solidFill>
                <a:latin typeface="Arial" pitchFamily="34" charset="0"/>
                <a:ea typeface="Arial" pitchFamily="34" charset="-122"/>
                <a:cs typeface="Arial" pitchFamily="34" charset="-120"/>
              </a:rPr>
              <a:t>=</a:t>
            </a:r>
            <a:endParaRPr lang="en-US" sz="2800" dirty="0"/>
          </a:p>
        </p:txBody>
      </p:sp>
      <p:sp>
        <p:nvSpPr>
          <p:cNvPr id="25" name="Shape 23"/>
          <p:cNvSpPr/>
          <p:nvPr/>
        </p:nvSpPr>
        <p:spPr>
          <a:xfrm>
            <a:off x="6557963" y="3382963"/>
            <a:ext cx="4816475" cy="625475"/>
          </a:xfrm>
          <a:prstGeom prst="roundRect">
            <a:avLst>
              <a:gd name="adj" fmla="val 15482"/>
            </a:avLst>
          </a:prstGeom>
          <a:solidFill>
            <a:srgbClr val="FFFFFF">
              <a:alpha val="6000"/>
            </a:srgbClr>
          </a:solidFill>
          <a:ln w="9525">
            <a:solidFill>
              <a:srgbClr val="FFFFFF">
                <a:alpha val="18000"/>
              </a:srgbClr>
            </a:solidFill>
            <a:prstDash val="solid"/>
          </a:ln>
        </p:spPr>
      </p:sp>
      <p:sp>
        <p:nvSpPr>
          <p:cNvPr id="26" name="Text 24"/>
          <p:cNvSpPr/>
          <p:nvPr/>
        </p:nvSpPr>
        <p:spPr>
          <a:xfrm>
            <a:off x="6654800" y="3469481"/>
            <a:ext cx="571599" cy="238274"/>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AEB9B7"/>
                </a:solidFill>
                <a:latin typeface="Courier New" pitchFamily="49" charset="0"/>
                <a:ea typeface="Courier New" pitchFamily="49" charset="-122"/>
                <a:cs typeface="Courier New" pitchFamily="49" charset="-120"/>
              </a:rPr>
              <a:t>TOOLS</a:t>
            </a:r>
            <a:endParaRPr lang="en-US" sz="1200" dirty="0"/>
          </a:p>
        </p:txBody>
      </p:sp>
      <p:sp>
        <p:nvSpPr>
          <p:cNvPr id="27" name="Text 25"/>
          <p:cNvSpPr/>
          <p:nvPr/>
        </p:nvSpPr>
        <p:spPr>
          <a:xfrm>
            <a:off x="6654800" y="3707755"/>
            <a:ext cx="3464719" cy="23956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2EFEA"/>
                </a:solidFill>
                <a:latin typeface="Arial" pitchFamily="34" charset="0"/>
                <a:ea typeface="Arial" pitchFamily="34" charset="-122"/>
                <a:cs typeface="Arial" pitchFamily="34" charset="-120"/>
              </a:rPr>
              <a:t>The same MCP servers, the same APIs</a:t>
            </a:r>
            <a:endParaRPr lang="en-US" sz="1300" dirty="0"/>
          </a:p>
        </p:txBody>
      </p:sp>
      <p:sp>
        <p:nvSpPr>
          <p:cNvPr id="28" name="Shape 26"/>
          <p:cNvSpPr/>
          <p:nvPr/>
        </p:nvSpPr>
        <p:spPr>
          <a:xfrm>
            <a:off x="819150" y="4387850"/>
            <a:ext cx="4813300" cy="1104900"/>
          </a:xfrm>
          <a:prstGeom prst="roundRect">
            <a:avLst>
              <a:gd name="adj" fmla="val 8621"/>
            </a:avLst>
          </a:prstGeom>
          <a:solidFill>
            <a:srgbClr val="C74634">
              <a:alpha val="16000"/>
            </a:srgbClr>
          </a:solidFill>
          <a:ln w="12700">
            <a:solidFill>
              <a:srgbClr val="C74634"/>
            </a:solidFill>
            <a:prstDash val="solid"/>
          </a:ln>
        </p:spPr>
      </p:sp>
      <p:sp>
        <p:nvSpPr>
          <p:cNvPr id="29" name="Text 27"/>
          <p:cNvSpPr/>
          <p:nvPr/>
        </p:nvSpPr>
        <p:spPr>
          <a:xfrm>
            <a:off x="939800" y="4475609"/>
            <a:ext cx="3530541" cy="237927"/>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E8836F"/>
                </a:solidFill>
                <a:latin typeface="Courier New" pitchFamily="49" charset="0"/>
                <a:ea typeface="Courier New" pitchFamily="49" charset="-122"/>
                <a:cs typeface="Courier New" pitchFamily="49" charset="-120"/>
              </a:rPr>
              <a:t>MEMORY · what your agents learned</a:t>
            </a:r>
            <a:endParaRPr lang="en-US" sz="1196" dirty="0"/>
          </a:p>
        </p:txBody>
      </p:sp>
      <p:sp>
        <p:nvSpPr>
          <p:cNvPr id="30" name="Text 28"/>
          <p:cNvSpPr/>
          <p:nvPr/>
        </p:nvSpPr>
        <p:spPr>
          <a:xfrm>
            <a:off x="939800" y="4738936"/>
            <a:ext cx="4709160" cy="69140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2EFEA"/>
                </a:solidFill>
                <a:latin typeface="Arial" pitchFamily="34" charset="0"/>
                <a:ea typeface="Arial" pitchFamily="34" charset="-122"/>
                <a:cs typeface="Arial" pitchFamily="34" charset="-120"/>
              </a:rPr>
              <a:t>Your customers, your codebase, your processes, your edge cases, your corrections. It accumulates only through your own interactions, and it compounds.</a:t>
            </a:r>
            <a:endParaRPr lang="en-US" sz="1300" dirty="0"/>
          </a:p>
        </p:txBody>
      </p:sp>
      <p:sp>
        <p:nvSpPr>
          <p:cNvPr id="31" name="Text 29"/>
          <p:cNvSpPr/>
          <p:nvPr/>
        </p:nvSpPr>
        <p:spPr>
          <a:xfrm>
            <a:off x="5613400" y="4635500"/>
            <a:ext cx="965200" cy="665460"/>
          </a:xfrm>
          <a:prstGeom prst="rect">
            <a:avLst/>
          </a:prstGeom>
          <a:noFill/>
          <a:ln/>
        </p:spPr>
        <p:txBody>
          <a:bodyPr wrap="square" lIns="0" tIns="0" rIns="0" bIns="0" rtlCol="0" anchor="t">
            <a:normAutofit/>
          </a:bodyPr>
          <a:lstStyle/>
          <a:p>
            <a:pPr algn="ctr" indent="0" marL="0">
              <a:lnSpc>
                <a:spcPts val="5040"/>
              </a:lnSpc>
              <a:buNone/>
            </a:pPr>
            <a:r>
              <a:rPr lang="en-US" sz="3600" dirty="0">
                <a:solidFill>
                  <a:srgbClr val="E8836F"/>
                </a:solidFill>
                <a:latin typeface="Arial" pitchFamily="34" charset="0"/>
                <a:ea typeface="Arial" pitchFamily="34" charset="-122"/>
                <a:cs typeface="Arial" pitchFamily="34" charset="-120"/>
              </a:rPr>
              <a:t>≠</a:t>
            </a:r>
            <a:endParaRPr lang="en-US" sz="3600" dirty="0"/>
          </a:p>
        </p:txBody>
      </p:sp>
      <p:sp>
        <p:nvSpPr>
          <p:cNvPr id="32" name="Shape 30"/>
          <p:cNvSpPr/>
          <p:nvPr/>
        </p:nvSpPr>
        <p:spPr>
          <a:xfrm>
            <a:off x="6559550" y="4387850"/>
            <a:ext cx="4813300" cy="1104900"/>
          </a:xfrm>
          <a:prstGeom prst="roundRect">
            <a:avLst>
              <a:gd name="adj" fmla="val 8621"/>
            </a:avLst>
          </a:prstGeom>
          <a:solidFill>
            <a:srgbClr val="C74634">
              <a:alpha val="16000"/>
            </a:srgbClr>
          </a:solidFill>
          <a:ln w="12700">
            <a:solidFill>
              <a:srgbClr val="C74634"/>
            </a:solidFill>
            <a:prstDash val="solid"/>
          </a:ln>
        </p:spPr>
      </p:sp>
      <p:sp>
        <p:nvSpPr>
          <p:cNvPr id="33" name="Text 31"/>
          <p:cNvSpPr/>
          <p:nvPr/>
        </p:nvSpPr>
        <p:spPr>
          <a:xfrm>
            <a:off x="6680200" y="4521200"/>
            <a:ext cx="3003827"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E8836F"/>
                </a:solidFill>
                <a:latin typeface="Courier New" pitchFamily="49" charset="0"/>
                <a:ea typeface="Courier New" pitchFamily="49" charset="-122"/>
                <a:cs typeface="Courier New" pitchFamily="49" charset="-120"/>
              </a:rPr>
              <a:t>MEMORY · what theirs learned</a:t>
            </a:r>
            <a:endParaRPr lang="en-US" sz="1200" dirty="0"/>
          </a:p>
        </p:txBody>
      </p:sp>
      <p:sp>
        <p:nvSpPr>
          <p:cNvPr id="34" name="Text 32"/>
          <p:cNvSpPr/>
          <p:nvPr/>
        </p:nvSpPr>
        <p:spPr>
          <a:xfrm>
            <a:off x="6680200" y="4785320"/>
            <a:ext cx="470916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2EFEA"/>
                </a:solidFill>
                <a:latin typeface="Arial" pitchFamily="34" charset="0"/>
                <a:ea typeface="Arial" pitchFamily="34" charset="-122"/>
                <a:cs typeface="Arial" pitchFamily="34" charset="-120"/>
              </a:rPr>
              <a:t>Different users, different corrections, a different history. Nothing in it ships with the model, the framework or the tools.</a:t>
            </a:r>
            <a:endParaRPr lang="en-US" sz="1300" dirty="0"/>
          </a:p>
        </p:txBody>
      </p:sp>
      <p:sp>
        <p:nvSpPr>
          <p:cNvPr id="35" name="Text 33"/>
          <p:cNvSpPr/>
          <p:nvPr/>
        </p:nvSpPr>
        <p:spPr>
          <a:xfrm>
            <a:off x="812800" y="5664200"/>
            <a:ext cx="98107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The first three rows are a pip install away for anyone. The last row cannot be downloaded, and it is the only one that gets better the longer you run.</a:t>
            </a:r>
            <a:endParaRPr lang="en-US" sz="1300" dirty="0"/>
          </a:p>
        </p:txBody>
      </p:sp>
      <p:sp>
        <p:nvSpPr>
          <p:cNvPr id="36" name="Text 3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836F"/>
                </a:solidFill>
                <a:latin typeface="Courier New" pitchFamily="49" charset="0"/>
                <a:ea typeface="Courier New" pitchFamily="49" charset="-122"/>
                <a:cs typeface="Courier New" pitchFamily="49" charset="-120"/>
              </a:rPr>
              <a:t>MEMORY IS YOUR MOAT · 2 OF 2</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Own it: control it, inspect it, take it with you</a:t>
            </a:r>
            <a:endParaRPr lang="en-US" sz="2800" dirty="0"/>
          </a:p>
        </p:txBody>
      </p:sp>
      <p:sp>
        <p:nvSpPr>
          <p:cNvPr id="5" name="Shape 3"/>
          <p:cNvSpPr/>
          <p:nvPr/>
        </p:nvSpPr>
        <p:spPr>
          <a:xfrm>
            <a:off x="817563" y="1909762"/>
            <a:ext cx="2530475" cy="523875"/>
          </a:xfrm>
          <a:prstGeom prst="roundRect">
            <a:avLst>
              <a:gd name="adj" fmla="val 18485"/>
            </a:avLst>
          </a:prstGeom>
          <a:solidFill>
            <a:srgbClr val="FFFFFF">
              <a:alpha val="6000"/>
            </a:srgbClr>
          </a:solidFill>
          <a:ln w="9525">
            <a:solidFill>
              <a:srgbClr val="FFFFFF">
                <a:alpha val="18000"/>
              </a:srgbClr>
            </a:solidFill>
            <a:prstDash val="solid"/>
          </a:ln>
        </p:spPr>
      </p:sp>
      <p:pic>
        <p:nvPicPr>
          <p:cNvPr id="6" name="Image 0" descr="Settings">    </p:cNvPr>
          <p:cNvPicPr>
            <a:picLocks noChangeAspect="1"/>
          </p:cNvPicPr>
          <p:nvPr/>
        </p:nvPicPr>
        <p:blipFill>
          <a:blip r:embed="rId1"/>
          <a:srcRect l="0" r="0" t="0" b="0"/>
          <a:stretch/>
        </p:blipFill>
        <p:spPr>
          <a:xfrm>
            <a:off x="901700" y="2044700"/>
            <a:ext cx="254000" cy="254000"/>
          </a:xfrm>
          <a:prstGeom prst="rect">
            <a:avLst/>
          </a:prstGeom>
        </p:spPr>
      </p:pic>
      <p:sp>
        <p:nvSpPr>
          <p:cNvPr id="7" name="Text 4"/>
          <p:cNvSpPr/>
          <p:nvPr/>
        </p:nvSpPr>
        <p:spPr>
          <a:xfrm>
            <a:off x="1244600" y="1952030"/>
            <a:ext cx="1162943"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Vendor agent A</a:t>
            </a:r>
            <a:endParaRPr lang="en-US" sz="1200" dirty="0"/>
          </a:p>
        </p:txBody>
      </p:sp>
      <p:sp>
        <p:nvSpPr>
          <p:cNvPr id="8" name="Text 5"/>
          <p:cNvSpPr/>
          <p:nvPr/>
        </p:nvSpPr>
        <p:spPr>
          <a:xfrm>
            <a:off x="1244600" y="2178050"/>
            <a:ext cx="1162943"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its own harness</a:t>
            </a:r>
            <a:endParaRPr lang="en-US" sz="1200" dirty="0"/>
          </a:p>
        </p:txBody>
      </p:sp>
      <p:sp>
        <p:nvSpPr>
          <p:cNvPr id="9" name="Shape 6"/>
          <p:cNvSpPr/>
          <p:nvPr/>
        </p:nvSpPr>
        <p:spPr>
          <a:xfrm>
            <a:off x="817563" y="2671763"/>
            <a:ext cx="2530475" cy="523875"/>
          </a:xfrm>
          <a:prstGeom prst="roundRect">
            <a:avLst>
              <a:gd name="adj" fmla="val 18485"/>
            </a:avLst>
          </a:prstGeom>
          <a:solidFill>
            <a:srgbClr val="FFFFFF">
              <a:alpha val="6000"/>
            </a:srgbClr>
          </a:solidFill>
          <a:ln w="9525">
            <a:solidFill>
              <a:srgbClr val="FFFFFF">
                <a:alpha val="18000"/>
              </a:srgbClr>
            </a:solidFill>
            <a:prstDash val="solid"/>
          </a:ln>
        </p:spPr>
      </p:sp>
      <p:pic>
        <p:nvPicPr>
          <p:cNvPr id="10" name="Image 1" descr="Settings">    </p:cNvPr>
          <p:cNvPicPr>
            <a:picLocks noChangeAspect="1"/>
          </p:cNvPicPr>
          <p:nvPr/>
        </p:nvPicPr>
        <p:blipFill>
          <a:blip r:embed="rId2"/>
          <a:srcRect l="0" r="0" t="0" b="0"/>
          <a:stretch/>
        </p:blipFill>
        <p:spPr>
          <a:xfrm>
            <a:off x="901700" y="2806700"/>
            <a:ext cx="254000" cy="254000"/>
          </a:xfrm>
          <a:prstGeom prst="rect">
            <a:avLst/>
          </a:prstGeom>
        </p:spPr>
      </p:pic>
      <p:sp>
        <p:nvSpPr>
          <p:cNvPr id="11" name="Text 7"/>
          <p:cNvSpPr/>
          <p:nvPr/>
        </p:nvSpPr>
        <p:spPr>
          <a:xfrm>
            <a:off x="1244600" y="2714030"/>
            <a:ext cx="116859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Vendor agent B</a:t>
            </a:r>
            <a:endParaRPr lang="en-US" sz="1200" dirty="0"/>
          </a:p>
        </p:txBody>
      </p:sp>
      <p:sp>
        <p:nvSpPr>
          <p:cNvPr id="12" name="Text 8"/>
          <p:cNvSpPr/>
          <p:nvPr/>
        </p:nvSpPr>
        <p:spPr>
          <a:xfrm>
            <a:off x="1244600" y="2940050"/>
            <a:ext cx="116859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its own harness</a:t>
            </a:r>
            <a:endParaRPr lang="en-US" sz="1200" dirty="0"/>
          </a:p>
        </p:txBody>
      </p:sp>
      <p:sp>
        <p:nvSpPr>
          <p:cNvPr id="13" name="Shape 9"/>
          <p:cNvSpPr/>
          <p:nvPr/>
        </p:nvSpPr>
        <p:spPr>
          <a:xfrm>
            <a:off x="817563" y="3433763"/>
            <a:ext cx="2530475" cy="523875"/>
          </a:xfrm>
          <a:prstGeom prst="roundRect">
            <a:avLst>
              <a:gd name="adj" fmla="val 18485"/>
            </a:avLst>
          </a:prstGeom>
          <a:solidFill>
            <a:srgbClr val="FFFFFF">
              <a:alpha val="6000"/>
            </a:srgbClr>
          </a:solidFill>
          <a:ln w="9525">
            <a:solidFill>
              <a:srgbClr val="FFFFFF">
                <a:alpha val="18000"/>
              </a:srgbClr>
            </a:solidFill>
            <a:prstDash val="solid"/>
          </a:ln>
        </p:spPr>
      </p:sp>
      <p:pic>
        <p:nvPicPr>
          <p:cNvPr id="14" name="Image 2" descr="Settings">    </p:cNvPr>
          <p:cNvPicPr>
            <a:picLocks noChangeAspect="1"/>
          </p:cNvPicPr>
          <p:nvPr/>
        </p:nvPicPr>
        <p:blipFill>
          <a:blip r:embed="rId3"/>
          <a:srcRect l="0" r="0" t="0" b="0"/>
          <a:stretch/>
        </p:blipFill>
        <p:spPr>
          <a:xfrm>
            <a:off x="901700" y="3568700"/>
            <a:ext cx="254000" cy="254000"/>
          </a:xfrm>
          <a:prstGeom prst="rect">
            <a:avLst/>
          </a:prstGeom>
        </p:spPr>
      </p:pic>
      <p:sp>
        <p:nvSpPr>
          <p:cNvPr id="15" name="Text 10"/>
          <p:cNvSpPr/>
          <p:nvPr/>
        </p:nvSpPr>
        <p:spPr>
          <a:xfrm>
            <a:off x="1244600" y="3476030"/>
            <a:ext cx="191979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Your agent</a:t>
            </a:r>
            <a:endParaRPr lang="en-US" sz="1200" dirty="0"/>
          </a:p>
        </p:txBody>
      </p:sp>
      <p:sp>
        <p:nvSpPr>
          <p:cNvPr id="16" name="Text 11"/>
          <p:cNvSpPr/>
          <p:nvPr/>
        </p:nvSpPr>
        <p:spPr>
          <a:xfrm>
            <a:off x="1244600" y="3702050"/>
            <a:ext cx="19197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LangGraph, ADK, your loop</a:t>
            </a:r>
            <a:endParaRPr lang="en-US" sz="1200" dirty="0"/>
          </a:p>
        </p:txBody>
      </p:sp>
      <p:pic>
        <p:nvPicPr>
          <p:cNvPr id="17" name="Image 3" descr="every agent attaches to the same store through MCP">    </p:cNvPr>
          <p:cNvPicPr>
            <a:picLocks noChangeAspect="1"/>
          </p:cNvPicPr>
          <p:nvPr/>
        </p:nvPicPr>
        <p:blipFill>
          <a:blip r:embed="rId4"/>
          <a:srcRect l="0" r="0" t="0" b="0"/>
          <a:stretch/>
        </p:blipFill>
        <p:spPr>
          <a:xfrm>
            <a:off x="0" y="0"/>
            <a:ext cx="12192000" cy="6858000"/>
          </a:xfrm>
          <a:prstGeom prst="rect">
            <a:avLst/>
          </a:prstGeom>
        </p:spPr>
      </p:pic>
      <p:sp>
        <p:nvSpPr>
          <p:cNvPr id="18" name="Text 12"/>
          <p:cNvSpPr/>
          <p:nvPr/>
        </p:nvSpPr>
        <p:spPr>
          <a:xfrm>
            <a:off x="3454400" y="25400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MCP</a:t>
            </a:r>
            <a:endParaRPr lang="en-US" sz="1200" dirty="0"/>
          </a:p>
        </p:txBody>
      </p:sp>
      <p:sp>
        <p:nvSpPr>
          <p:cNvPr id="19" name="Shape 13"/>
          <p:cNvSpPr/>
          <p:nvPr/>
        </p:nvSpPr>
        <p:spPr>
          <a:xfrm>
            <a:off x="4235450" y="1670050"/>
            <a:ext cx="4051300" cy="2971800"/>
          </a:xfrm>
          <a:prstGeom prst="roundRect">
            <a:avLst>
              <a:gd name="adj" fmla="val 4487"/>
            </a:avLst>
          </a:prstGeom>
          <a:solidFill>
            <a:srgbClr val="C74634">
              <a:alpha val="10000"/>
            </a:srgbClr>
          </a:solidFill>
          <a:ln w="12700">
            <a:solidFill>
              <a:srgbClr val="C74634"/>
            </a:solidFill>
            <a:prstDash val="solid"/>
          </a:ln>
        </p:spPr>
      </p:sp>
      <p:sp>
        <p:nvSpPr>
          <p:cNvPr id="20" name="Text 14"/>
          <p:cNvSpPr/>
          <p:nvPr/>
        </p:nvSpPr>
        <p:spPr>
          <a:xfrm>
            <a:off x="4381500" y="1778000"/>
            <a:ext cx="3924300"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E8836F"/>
                </a:solidFill>
                <a:latin typeface="Courier New" pitchFamily="49" charset="0"/>
                <a:ea typeface="Courier New" pitchFamily="49" charset="-122"/>
                <a:cs typeface="Courier New" pitchFamily="49" charset="-120"/>
              </a:rPr>
              <a:t>01 · A STORE YOU CONTROL</a:t>
            </a:r>
            <a:endParaRPr lang="en-US" sz="1100" dirty="0"/>
          </a:p>
        </p:txBody>
      </p:sp>
      <p:sp>
        <p:nvSpPr>
          <p:cNvPr id="21" name="Text 15"/>
          <p:cNvSpPr/>
          <p:nvPr/>
        </p:nvSpPr>
        <p:spPr>
          <a:xfrm>
            <a:off x="4381500" y="2006600"/>
            <a:ext cx="3924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Your database, your grants, your audit</a:t>
            </a:r>
            <a:endParaRPr lang="en-US" sz="1400" dirty="0"/>
          </a:p>
        </p:txBody>
      </p:sp>
      <p:sp>
        <p:nvSpPr>
          <p:cNvPr id="22" name="Text 16"/>
          <p:cNvSpPr/>
          <p:nvPr/>
        </p:nvSpPr>
        <p:spPr>
          <a:xfrm>
            <a:off x="4381500" y="2298700"/>
            <a:ext cx="39243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Not inside a vendor’s harness, not behind a vendor’s API.</a:t>
            </a:r>
            <a:endParaRPr lang="en-US" sz="1100" dirty="0"/>
          </a:p>
        </p:txBody>
      </p:sp>
      <p:sp>
        <p:nvSpPr>
          <p:cNvPr id="23" name="Shape 17"/>
          <p:cNvSpPr/>
          <p:nvPr/>
        </p:nvSpPr>
        <p:spPr>
          <a:xfrm>
            <a:off x="4386263" y="2608263"/>
            <a:ext cx="3749675" cy="1895475"/>
          </a:xfrm>
          <a:prstGeom prst="roundRect">
            <a:avLst>
              <a:gd name="adj" fmla="val 5109"/>
            </a:avLst>
          </a:prstGeom>
          <a:solidFill>
            <a:srgbClr val="1E2A2A">
              <a:alpha val="75000"/>
            </a:srgbClr>
          </a:solidFill>
          <a:ln w="9525">
            <a:solidFill>
              <a:srgbClr val="FFFFFF">
                <a:alpha val="20000"/>
              </a:srgbClr>
            </a:solidFill>
            <a:prstDash val="solid"/>
          </a:ln>
        </p:spPr>
      </p:sp>
      <p:sp>
        <p:nvSpPr>
          <p:cNvPr id="24" name="Text 18"/>
          <p:cNvSpPr/>
          <p:nvPr/>
        </p:nvSpPr>
        <p:spPr>
          <a:xfrm>
            <a:off x="4483100" y="2701528"/>
            <a:ext cx="2437358" cy="220663"/>
          </a:xfrm>
          <a:prstGeom prst="rect">
            <a:avLst/>
          </a:prstGeom>
          <a:noFill/>
          <a:ln/>
        </p:spPr>
        <p:txBody>
          <a:bodyPr wrap="none" lIns="0" tIns="0" rIns="0" bIns="0" rtlCol="0" anchor="t">
            <a:normAutofit/>
          </a:bodyPr>
          <a:lstStyle/>
          <a:p>
            <a:pPr algn="l" indent="0" marL="0">
              <a:lnSpc>
                <a:spcPts val="1540"/>
              </a:lnSpc>
              <a:buNone/>
            </a:pPr>
            <a:r>
              <a:rPr lang="en-US" sz="1100" spc="150" kern="0" dirty="0">
                <a:solidFill>
                  <a:srgbClr val="E8836F"/>
                </a:solidFill>
                <a:latin typeface="Courier New" pitchFamily="49" charset="0"/>
                <a:ea typeface="Courier New" pitchFamily="49" charset="-122"/>
                <a:cs typeface="Courier New" pitchFamily="49" charset="-120"/>
              </a:rPr>
              <a:t>02 · YOU CAN INSPECT IT</a:t>
            </a:r>
            <a:endParaRPr lang="en-US" sz="1100" dirty="0"/>
          </a:p>
        </p:txBody>
      </p:sp>
      <p:sp>
        <p:nvSpPr>
          <p:cNvPr id="25" name="Text 19"/>
          <p:cNvSpPr/>
          <p:nvPr/>
        </p:nvSpPr>
        <p:spPr>
          <a:xfrm>
            <a:off x="4483100" y="2960291"/>
            <a:ext cx="13208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E8836F"/>
                </a:solidFill>
                <a:latin typeface="Courier New" pitchFamily="49" charset="0"/>
                <a:ea typeface="Courier New" pitchFamily="49" charset="-122"/>
                <a:cs typeface="Courier New" pitchFamily="49" charset="-120"/>
              </a:rPr>
              <a:t>what</a:t>
            </a:r>
            <a:endParaRPr lang="en-US" sz="900" dirty="0"/>
          </a:p>
        </p:txBody>
      </p:sp>
      <p:sp>
        <p:nvSpPr>
          <p:cNvPr id="26" name="Text 20"/>
          <p:cNvSpPr/>
          <p:nvPr/>
        </p:nvSpPr>
        <p:spPr>
          <a:xfrm>
            <a:off x="5816600" y="2960291"/>
            <a:ext cx="9398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E8836F"/>
                </a:solidFill>
                <a:latin typeface="Courier New" pitchFamily="49" charset="0"/>
                <a:ea typeface="Courier New" pitchFamily="49" charset="-122"/>
                <a:cs typeface="Courier New" pitchFamily="49" charset="-120"/>
              </a:rPr>
              <a:t>where from</a:t>
            </a:r>
            <a:endParaRPr lang="en-US" sz="900" dirty="0"/>
          </a:p>
        </p:txBody>
      </p:sp>
      <p:sp>
        <p:nvSpPr>
          <p:cNvPr id="27" name="Text 21"/>
          <p:cNvSpPr/>
          <p:nvPr/>
        </p:nvSpPr>
        <p:spPr>
          <a:xfrm>
            <a:off x="6769100" y="2960291"/>
            <a:ext cx="8255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E8836F"/>
                </a:solidFill>
                <a:latin typeface="Courier New" pitchFamily="49" charset="0"/>
                <a:ea typeface="Courier New" pitchFamily="49" charset="-122"/>
                <a:cs typeface="Courier New" pitchFamily="49" charset="-120"/>
              </a:rPr>
              <a:t>who may see</a:t>
            </a:r>
            <a:endParaRPr lang="en-US" sz="900" dirty="0"/>
          </a:p>
        </p:txBody>
      </p:sp>
      <p:sp>
        <p:nvSpPr>
          <p:cNvPr id="28" name="Text 22"/>
          <p:cNvSpPr/>
          <p:nvPr/>
        </p:nvSpPr>
        <p:spPr>
          <a:xfrm>
            <a:off x="7594600" y="2960291"/>
            <a:ext cx="4953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E8836F"/>
                </a:solidFill>
                <a:latin typeface="Courier New" pitchFamily="49" charset="0"/>
                <a:ea typeface="Courier New" pitchFamily="49" charset="-122"/>
                <a:cs typeface="Courier New" pitchFamily="49" charset="-120"/>
              </a:rPr>
              <a:t>changed</a:t>
            </a:r>
            <a:endParaRPr lang="en-US" sz="900" dirty="0"/>
          </a:p>
        </p:txBody>
      </p:sp>
      <p:sp>
        <p:nvSpPr>
          <p:cNvPr id="29" name="Shape 23"/>
          <p:cNvSpPr/>
          <p:nvPr/>
        </p:nvSpPr>
        <p:spPr>
          <a:xfrm>
            <a:off x="4483100" y="3320455"/>
            <a:ext cx="3810000" cy="9525"/>
          </a:xfrm>
          <a:prstGeom prst="rect">
            <a:avLst/>
          </a:prstGeom>
          <a:solidFill>
            <a:srgbClr val="FFFFFF">
              <a:alpha val="25000"/>
            </a:srgbClr>
          </a:solidFill>
          <a:ln/>
        </p:spPr>
      </p:sp>
      <p:sp>
        <p:nvSpPr>
          <p:cNvPr id="30" name="Text 24"/>
          <p:cNvSpPr/>
          <p:nvPr/>
        </p:nvSpPr>
        <p:spPr>
          <a:xfrm>
            <a:off x="4483100" y="3393480"/>
            <a:ext cx="13208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Arial" pitchFamily="34" charset="0"/>
                <a:ea typeface="Arial" pitchFamily="34" charset="-122"/>
                <a:cs typeface="Arial" pitchFamily="34" charset="-120"/>
              </a:rPr>
              <a:t>prefers bind variables in SQL</a:t>
            </a:r>
            <a:endParaRPr lang="en-US" sz="900" dirty="0"/>
          </a:p>
        </p:txBody>
      </p:sp>
      <p:sp>
        <p:nvSpPr>
          <p:cNvPr id="31" name="Text 25"/>
          <p:cNvSpPr/>
          <p:nvPr/>
        </p:nvSpPr>
        <p:spPr>
          <a:xfrm>
            <a:off x="5816600" y="3393480"/>
            <a:ext cx="9398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Courier New" pitchFamily="49" charset="0"/>
                <a:ea typeface="Courier New" pitchFamily="49" charset="-122"/>
                <a:cs typeface="Courier New" pitchFamily="49" charset="-120"/>
              </a:rPr>
              <a:t>thread 8812</a:t>
            </a:r>
            <a:endParaRPr lang="en-US" sz="900" dirty="0"/>
          </a:p>
        </p:txBody>
      </p:sp>
      <p:sp>
        <p:nvSpPr>
          <p:cNvPr id="32" name="Text 26"/>
          <p:cNvSpPr/>
          <p:nvPr/>
        </p:nvSpPr>
        <p:spPr>
          <a:xfrm>
            <a:off x="6769100" y="3393480"/>
            <a:ext cx="8128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Courier New" pitchFamily="49" charset="0"/>
                <a:ea typeface="Courier New" pitchFamily="49" charset="-122"/>
                <a:cs typeface="Courier New" pitchFamily="49" charset="-120"/>
              </a:rPr>
              <a:t>team-eng</a:t>
            </a:r>
            <a:endParaRPr lang="en-US" sz="900" dirty="0"/>
          </a:p>
        </p:txBody>
      </p:sp>
      <p:sp>
        <p:nvSpPr>
          <p:cNvPr id="33" name="Text 27"/>
          <p:cNvSpPr/>
          <p:nvPr/>
        </p:nvSpPr>
        <p:spPr>
          <a:xfrm>
            <a:off x="7594600" y="3393480"/>
            <a:ext cx="4953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Courier New" pitchFamily="49" charset="0"/>
                <a:ea typeface="Courier New" pitchFamily="49" charset="-122"/>
                <a:cs typeface="Courier New" pitchFamily="49" charset="-120"/>
              </a:rPr>
              <a:t>14 Oct</a:t>
            </a:r>
            <a:endParaRPr lang="en-US" sz="900" dirty="0"/>
          </a:p>
        </p:txBody>
      </p:sp>
      <p:sp>
        <p:nvSpPr>
          <p:cNvPr id="34" name="Text 28"/>
          <p:cNvSpPr/>
          <p:nvPr/>
        </p:nvSpPr>
        <p:spPr>
          <a:xfrm>
            <a:off x="4483100" y="3753644"/>
            <a:ext cx="1320800" cy="32211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Arial" pitchFamily="34" charset="0"/>
                <a:ea typeface="Arial" pitchFamily="34" charset="-122"/>
                <a:cs typeface="Arial" pitchFamily="34" charset="-120"/>
              </a:rPr>
              <a:t>EU rollout needs a signed DPA</a:t>
            </a:r>
            <a:endParaRPr lang="en-US" sz="900" dirty="0"/>
          </a:p>
        </p:txBody>
      </p:sp>
      <p:sp>
        <p:nvSpPr>
          <p:cNvPr id="35" name="Text 29"/>
          <p:cNvSpPr/>
          <p:nvPr/>
        </p:nvSpPr>
        <p:spPr>
          <a:xfrm>
            <a:off x="5816600" y="3753644"/>
            <a:ext cx="939800" cy="32211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Courier New" pitchFamily="49" charset="0"/>
                <a:ea typeface="Courier New" pitchFamily="49" charset="-122"/>
                <a:cs typeface="Courier New" pitchFamily="49" charset="-120"/>
              </a:rPr>
              <a:t>ticket 4471</a:t>
            </a:r>
            <a:endParaRPr lang="en-US" sz="900" dirty="0"/>
          </a:p>
        </p:txBody>
      </p:sp>
      <p:sp>
        <p:nvSpPr>
          <p:cNvPr id="36" name="Text 30"/>
          <p:cNvSpPr/>
          <p:nvPr/>
        </p:nvSpPr>
        <p:spPr>
          <a:xfrm>
            <a:off x="6769100" y="3753644"/>
            <a:ext cx="812800" cy="32211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Courier New" pitchFamily="49" charset="0"/>
                <a:ea typeface="Courier New" pitchFamily="49" charset="-122"/>
                <a:cs typeface="Courier New" pitchFamily="49" charset="-120"/>
              </a:rPr>
              <a:t>legal</a:t>
            </a:r>
            <a:endParaRPr lang="en-US" sz="900" dirty="0"/>
          </a:p>
        </p:txBody>
      </p:sp>
      <p:sp>
        <p:nvSpPr>
          <p:cNvPr id="37" name="Text 31"/>
          <p:cNvSpPr/>
          <p:nvPr/>
        </p:nvSpPr>
        <p:spPr>
          <a:xfrm>
            <a:off x="7594600" y="3753644"/>
            <a:ext cx="495300" cy="32211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Courier New" pitchFamily="49" charset="0"/>
                <a:ea typeface="Courier New" pitchFamily="49" charset="-122"/>
                <a:cs typeface="Courier New" pitchFamily="49" charset="-120"/>
              </a:rPr>
              <a:t>2 Oct</a:t>
            </a:r>
            <a:endParaRPr lang="en-US" sz="900" dirty="0"/>
          </a:p>
        </p:txBody>
      </p:sp>
      <p:sp>
        <p:nvSpPr>
          <p:cNvPr id="38" name="Text 32"/>
          <p:cNvSpPr/>
          <p:nvPr/>
        </p:nvSpPr>
        <p:spPr>
          <a:xfrm>
            <a:off x="4483100" y="4113857"/>
            <a:ext cx="13208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Arial" pitchFamily="34" charset="0"/>
                <a:ea typeface="Arial" pitchFamily="34" charset="-122"/>
                <a:cs typeface="Arial" pitchFamily="34" charset="-120"/>
              </a:rPr>
              <a:t>deploys need ops approval</a:t>
            </a:r>
            <a:endParaRPr lang="en-US" sz="900" dirty="0"/>
          </a:p>
        </p:txBody>
      </p:sp>
      <p:sp>
        <p:nvSpPr>
          <p:cNvPr id="39" name="Text 33"/>
          <p:cNvSpPr/>
          <p:nvPr/>
        </p:nvSpPr>
        <p:spPr>
          <a:xfrm>
            <a:off x="5816600" y="4113857"/>
            <a:ext cx="9398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Courier New" pitchFamily="49" charset="0"/>
                <a:ea typeface="Courier New" pitchFamily="49" charset="-122"/>
                <a:cs typeface="Courier New" pitchFamily="49" charset="-120"/>
              </a:rPr>
              <a:t>runbook v3</a:t>
            </a:r>
            <a:endParaRPr lang="en-US" sz="900" dirty="0"/>
          </a:p>
        </p:txBody>
      </p:sp>
      <p:sp>
        <p:nvSpPr>
          <p:cNvPr id="40" name="Text 34"/>
          <p:cNvSpPr/>
          <p:nvPr/>
        </p:nvSpPr>
        <p:spPr>
          <a:xfrm>
            <a:off x="6769100" y="4113857"/>
            <a:ext cx="8128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Courier New" pitchFamily="49" charset="0"/>
                <a:ea typeface="Courier New" pitchFamily="49" charset="-122"/>
                <a:cs typeface="Courier New" pitchFamily="49" charset="-120"/>
              </a:rPr>
              <a:t>ops</a:t>
            </a:r>
            <a:endParaRPr lang="en-US" sz="900" dirty="0"/>
          </a:p>
        </p:txBody>
      </p:sp>
      <p:sp>
        <p:nvSpPr>
          <p:cNvPr id="41" name="Text 35"/>
          <p:cNvSpPr/>
          <p:nvPr/>
        </p:nvSpPr>
        <p:spPr>
          <a:xfrm>
            <a:off x="7594600" y="4113857"/>
            <a:ext cx="495300" cy="322064"/>
          </a:xfrm>
          <a:prstGeom prst="rect">
            <a:avLst/>
          </a:prstGeom>
          <a:noFill/>
          <a:ln/>
        </p:spPr>
        <p:txBody>
          <a:bodyPr wrap="square" lIns="0" tIns="0" rIns="0" bIns="0" rtlCol="0" anchor="t">
            <a:normAutofit/>
          </a:bodyPr>
          <a:lstStyle/>
          <a:p>
            <a:pPr algn="l" indent="0" marL="0">
              <a:lnSpc>
                <a:spcPts val="1170"/>
              </a:lnSpc>
              <a:buNone/>
            </a:pPr>
            <a:r>
              <a:rPr lang="en-US" sz="900" dirty="0">
                <a:solidFill>
                  <a:srgbClr val="F2EFEA"/>
                </a:solidFill>
                <a:latin typeface="Courier New" pitchFamily="49" charset="0"/>
                <a:ea typeface="Courier New" pitchFamily="49" charset="-122"/>
                <a:cs typeface="Courier New" pitchFamily="49" charset="-120"/>
              </a:rPr>
              <a:t>9 Sept</a:t>
            </a:r>
            <a:endParaRPr lang="en-US" sz="900" dirty="0"/>
          </a:p>
        </p:txBody>
      </p:sp>
      <p:sp>
        <p:nvSpPr>
          <p:cNvPr id="42" name="Shape 36"/>
          <p:cNvSpPr/>
          <p:nvPr/>
        </p:nvSpPr>
        <p:spPr>
          <a:xfrm>
            <a:off x="8843963" y="1909762"/>
            <a:ext cx="2530475" cy="523875"/>
          </a:xfrm>
          <a:prstGeom prst="roundRect">
            <a:avLst>
              <a:gd name="adj" fmla="val 18485"/>
            </a:avLst>
          </a:prstGeom>
          <a:solidFill>
            <a:srgbClr val="FFFFFF">
              <a:alpha val="6000"/>
            </a:srgbClr>
          </a:solidFill>
          <a:ln w="9525">
            <a:solidFill>
              <a:srgbClr val="FFFFFF">
                <a:alpha val="18000"/>
              </a:srgbClr>
            </a:solidFill>
            <a:prstDash val="solid"/>
          </a:ln>
        </p:spPr>
      </p:sp>
      <p:pic>
        <p:nvPicPr>
          <p:cNvPr id="43" name="Image 4" descr="Lightbulb">    </p:cNvPr>
          <p:cNvPicPr>
            <a:picLocks noChangeAspect="1"/>
          </p:cNvPicPr>
          <p:nvPr/>
        </p:nvPicPr>
        <p:blipFill>
          <a:blip r:embed="rId5"/>
          <a:srcRect l="0" r="0" t="0" b="0"/>
          <a:stretch/>
        </p:blipFill>
        <p:spPr>
          <a:xfrm>
            <a:off x="8928100" y="2044700"/>
            <a:ext cx="254000" cy="254000"/>
          </a:xfrm>
          <a:prstGeom prst="rect">
            <a:avLst/>
          </a:prstGeom>
        </p:spPr>
      </p:pic>
      <p:sp>
        <p:nvSpPr>
          <p:cNvPr id="44" name="Text 37"/>
          <p:cNvSpPr/>
          <p:nvPr/>
        </p:nvSpPr>
        <p:spPr>
          <a:xfrm>
            <a:off x="9271000" y="1952030"/>
            <a:ext cx="126444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Frontier model A</a:t>
            </a:r>
            <a:endParaRPr lang="en-US" sz="1200" dirty="0"/>
          </a:p>
        </p:txBody>
      </p:sp>
      <p:sp>
        <p:nvSpPr>
          <p:cNvPr id="45" name="Text 38"/>
          <p:cNvSpPr/>
          <p:nvPr/>
        </p:nvSpPr>
        <p:spPr>
          <a:xfrm>
            <a:off x="9271000" y="2178050"/>
            <a:ext cx="126444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today</a:t>
            </a:r>
            <a:endParaRPr lang="en-US" sz="1200" dirty="0"/>
          </a:p>
        </p:txBody>
      </p:sp>
      <p:sp>
        <p:nvSpPr>
          <p:cNvPr id="46" name="Shape 39"/>
          <p:cNvSpPr/>
          <p:nvPr/>
        </p:nvSpPr>
        <p:spPr>
          <a:xfrm>
            <a:off x="8843963" y="2671763"/>
            <a:ext cx="2530475" cy="523875"/>
          </a:xfrm>
          <a:prstGeom prst="roundRect">
            <a:avLst>
              <a:gd name="adj" fmla="val 18485"/>
            </a:avLst>
          </a:prstGeom>
          <a:solidFill>
            <a:srgbClr val="FFFFFF">
              <a:alpha val="6000"/>
            </a:srgbClr>
          </a:solidFill>
          <a:ln w="9525">
            <a:solidFill>
              <a:srgbClr val="FFFFFF">
                <a:alpha val="18000"/>
              </a:srgbClr>
            </a:solidFill>
            <a:prstDash val="solid"/>
          </a:ln>
        </p:spPr>
      </p:sp>
      <p:pic>
        <p:nvPicPr>
          <p:cNvPr id="47" name="Image 5" descr="Lightbulb">    </p:cNvPr>
          <p:cNvPicPr>
            <a:picLocks noChangeAspect="1"/>
          </p:cNvPicPr>
          <p:nvPr/>
        </p:nvPicPr>
        <p:blipFill>
          <a:blip r:embed="rId6"/>
          <a:srcRect l="0" r="0" t="0" b="0"/>
          <a:stretch/>
        </p:blipFill>
        <p:spPr>
          <a:xfrm>
            <a:off x="8928100" y="2806700"/>
            <a:ext cx="254000" cy="254000"/>
          </a:xfrm>
          <a:prstGeom prst="rect">
            <a:avLst/>
          </a:prstGeom>
        </p:spPr>
      </p:pic>
      <p:sp>
        <p:nvSpPr>
          <p:cNvPr id="48" name="Text 40"/>
          <p:cNvSpPr/>
          <p:nvPr/>
        </p:nvSpPr>
        <p:spPr>
          <a:xfrm>
            <a:off x="9271000" y="2714030"/>
            <a:ext cx="127009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Frontier model B</a:t>
            </a:r>
            <a:endParaRPr lang="en-US" sz="1200" dirty="0"/>
          </a:p>
        </p:txBody>
      </p:sp>
      <p:sp>
        <p:nvSpPr>
          <p:cNvPr id="49" name="Text 41"/>
          <p:cNvSpPr/>
          <p:nvPr/>
        </p:nvSpPr>
        <p:spPr>
          <a:xfrm>
            <a:off x="9271000" y="2940050"/>
            <a:ext cx="127009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next quarter</a:t>
            </a:r>
            <a:endParaRPr lang="en-US" sz="1200" dirty="0"/>
          </a:p>
        </p:txBody>
      </p:sp>
      <p:sp>
        <p:nvSpPr>
          <p:cNvPr id="50" name="Shape 42"/>
          <p:cNvSpPr/>
          <p:nvPr/>
        </p:nvSpPr>
        <p:spPr>
          <a:xfrm>
            <a:off x="8843963" y="3433763"/>
            <a:ext cx="2530475" cy="523875"/>
          </a:xfrm>
          <a:prstGeom prst="roundRect">
            <a:avLst>
              <a:gd name="adj" fmla="val 18485"/>
            </a:avLst>
          </a:prstGeom>
          <a:solidFill>
            <a:srgbClr val="FFFFFF">
              <a:alpha val="6000"/>
            </a:srgbClr>
          </a:solidFill>
          <a:ln w="9525">
            <a:solidFill>
              <a:srgbClr val="FFFFFF">
                <a:alpha val="18000"/>
              </a:srgbClr>
            </a:solidFill>
            <a:prstDash val="solid"/>
          </a:ln>
        </p:spPr>
      </p:sp>
      <p:pic>
        <p:nvPicPr>
          <p:cNvPr id="51" name="Image 6" descr="Lightbulb">    </p:cNvPr>
          <p:cNvPicPr>
            <a:picLocks noChangeAspect="1"/>
          </p:cNvPicPr>
          <p:nvPr/>
        </p:nvPicPr>
        <p:blipFill>
          <a:blip r:embed="rId7"/>
          <a:srcRect l="0" r="0" t="0" b="0"/>
          <a:stretch/>
        </p:blipFill>
        <p:spPr>
          <a:xfrm>
            <a:off x="8928100" y="3568700"/>
            <a:ext cx="254000" cy="254000"/>
          </a:xfrm>
          <a:prstGeom prst="rect">
            <a:avLst/>
          </a:prstGeom>
        </p:spPr>
      </p:pic>
      <p:sp>
        <p:nvSpPr>
          <p:cNvPr id="52" name="Text 43"/>
          <p:cNvSpPr/>
          <p:nvPr/>
        </p:nvSpPr>
        <p:spPr>
          <a:xfrm>
            <a:off x="9271000" y="3476030"/>
            <a:ext cx="165690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Your own small model</a:t>
            </a:r>
            <a:endParaRPr lang="en-US" sz="1200" dirty="0"/>
          </a:p>
        </p:txBody>
      </p:sp>
      <p:sp>
        <p:nvSpPr>
          <p:cNvPr id="53" name="Text 44"/>
          <p:cNvSpPr/>
          <p:nvPr/>
        </p:nvSpPr>
        <p:spPr>
          <a:xfrm>
            <a:off x="9271000" y="3702050"/>
            <a:ext cx="165690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trained on the store</a:t>
            </a:r>
            <a:endParaRPr lang="en-US" sz="1200" dirty="0"/>
          </a:p>
        </p:txBody>
      </p:sp>
      <p:pic>
        <p:nvPicPr>
          <p:cNvPr id="54" name="Image 7" descr="the same memory feeds whichever model you choose">    </p:cNvPr>
          <p:cNvPicPr>
            <a:picLocks noChangeAspect="1"/>
          </p:cNvPicPr>
          <p:nvPr/>
        </p:nvPicPr>
        <p:blipFill>
          <a:blip r:embed="rId8"/>
          <a:srcRect l="0" r="0" t="0" b="0"/>
          <a:stretch/>
        </p:blipFill>
        <p:spPr>
          <a:xfrm>
            <a:off x="0" y="0"/>
            <a:ext cx="12192000" cy="6858000"/>
          </a:xfrm>
          <a:prstGeom prst="rect">
            <a:avLst/>
          </a:prstGeom>
        </p:spPr>
      </p:pic>
      <p:sp>
        <p:nvSpPr>
          <p:cNvPr id="55" name="Text 45"/>
          <p:cNvSpPr/>
          <p:nvPr/>
        </p:nvSpPr>
        <p:spPr>
          <a:xfrm>
            <a:off x="8839200" y="4267200"/>
            <a:ext cx="2616200"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7FC4DC"/>
                </a:solidFill>
                <a:latin typeface="Courier New" pitchFamily="49" charset="0"/>
                <a:ea typeface="Courier New" pitchFamily="49" charset="-122"/>
                <a:cs typeface="Courier New" pitchFamily="49" charset="-120"/>
              </a:rPr>
              <a:t>03 · PORTABLE</a:t>
            </a:r>
            <a:endParaRPr lang="en-US" sz="1100" dirty="0"/>
          </a:p>
        </p:txBody>
      </p:sp>
      <p:sp>
        <p:nvSpPr>
          <p:cNvPr id="56" name="Text 46"/>
          <p:cNvSpPr/>
          <p:nvPr/>
        </p:nvSpPr>
        <p:spPr>
          <a:xfrm>
            <a:off x="8839200" y="4483100"/>
            <a:ext cx="2616200" cy="591096"/>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Switch models and keep what the agent learned. Switching is offence and defence right now.</a:t>
            </a:r>
            <a:endParaRPr lang="en-US" sz="1100" dirty="0"/>
          </a:p>
        </p:txBody>
      </p:sp>
      <p:sp>
        <p:nvSpPr>
          <p:cNvPr id="57" name="Text 47"/>
          <p:cNvSpPr/>
          <p:nvPr/>
        </p:nvSpPr>
        <p:spPr>
          <a:xfrm>
            <a:off x="812800" y="5016500"/>
            <a:ext cx="2616200" cy="213965"/>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AEB9B7"/>
                </a:solidFill>
                <a:latin typeface="Arial" pitchFamily="34" charset="0"/>
                <a:ea typeface="Arial" pitchFamily="34" charset="-122"/>
                <a:cs typeface="Arial" pitchFamily="34" charset="-120"/>
              </a:rPr>
              <a:t>Several vendors, one durable layer</a:t>
            </a:r>
            <a:endParaRPr lang="en-US" sz="1100" dirty="0"/>
          </a:p>
        </p:txBody>
      </p:sp>
      <p:sp>
        <p:nvSpPr>
          <p:cNvPr id="58" name="Text 48"/>
          <p:cNvSpPr/>
          <p:nvPr/>
        </p:nvSpPr>
        <p:spPr>
          <a:xfrm>
            <a:off x="812800" y="55880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The nuance: general-purpose memory about a person will belong to the labs and the consumer products. Memory shaped to your domain and your workload is the opportunity, and it is yours.</a:t>
            </a:r>
            <a:endParaRPr lang="en-US" sz="1200" dirty="0"/>
          </a:p>
        </p:txBody>
      </p:sp>
      <p:sp>
        <p:nvSpPr>
          <p:cNvPr id="59" name="Text 4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FROM THE FRONT LINE</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Fourteen days in Codex, and why this is hard</a:t>
            </a:r>
            <a:endParaRPr lang="en-US" sz="2800" dirty="0"/>
          </a:p>
        </p:txBody>
      </p:sp>
      <p:pic>
        <p:nvPicPr>
          <p:cNvPr id="5" name="Image 0" descr="a timeline">    </p:cNvPr>
          <p:cNvPicPr>
            <a:picLocks noChangeAspect="1"/>
          </p:cNvPicPr>
          <p:nvPr/>
        </p:nvPicPr>
        <p:blipFill>
          <a:blip r:embed="rId1"/>
          <a:srcRect l="0" r="0" t="0" b="0"/>
          <a:stretch/>
        </p:blipFill>
        <p:spPr>
          <a:xfrm>
            <a:off x="0" y="0"/>
            <a:ext cx="12192000" cy="6858000"/>
          </a:xfrm>
          <a:prstGeom prst="rect">
            <a:avLst/>
          </a:prstGeom>
        </p:spPr>
      </p:pic>
      <p:pic>
        <p:nvPicPr>
          <p:cNvPr id="6" name="Image 1" descr="three dates on the timeline">    </p:cNvPr>
          <p:cNvPicPr>
            <a:picLocks noChangeAspect="1"/>
          </p:cNvPicPr>
          <p:nvPr/>
        </p:nvPicPr>
        <p:blipFill>
          <a:blip r:embed="rId2"/>
          <a:srcRect l="0" r="0" t="0" b="0"/>
          <a:stretch/>
        </p:blipFill>
        <p:spPr>
          <a:xfrm>
            <a:off x="0" y="0"/>
            <a:ext cx="12192000" cy="6858000"/>
          </a:xfrm>
          <a:prstGeom prst="rect">
            <a:avLst/>
          </a:prstGeom>
        </p:spPr>
      </p:pic>
      <p:sp>
        <p:nvSpPr>
          <p:cNvPr id="7" name="Shape 3"/>
          <p:cNvSpPr/>
          <p:nvPr/>
        </p:nvSpPr>
        <p:spPr>
          <a:xfrm>
            <a:off x="815975" y="2352675"/>
            <a:ext cx="3041650" cy="2279650"/>
          </a:xfrm>
          <a:prstGeom prst="roundRect">
            <a:avLst>
              <a:gd name="adj" fmla="val 5432"/>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8" name="Text 4"/>
          <p:cNvSpPr/>
          <p:nvPr/>
        </p:nvSpPr>
        <p:spPr>
          <a:xfrm>
            <a:off x="965200" y="2508250"/>
            <a:ext cx="119652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C74634"/>
                </a:solidFill>
                <a:latin typeface="Courier New" pitchFamily="49" charset="0"/>
                <a:ea typeface="Courier New" pitchFamily="49" charset="-122"/>
                <a:cs typeface="Courier New" pitchFamily="49" charset="-120"/>
              </a:rPr>
              <a:t>29 AUG 2026</a:t>
            </a:r>
            <a:endParaRPr lang="en-US" sz="1200" dirty="0"/>
          </a:p>
        </p:txBody>
      </p:sp>
      <p:sp>
        <p:nvSpPr>
          <p:cNvPr id="9" name="Text 5"/>
          <p:cNvSpPr/>
          <p:nvPr/>
        </p:nvSpPr>
        <p:spPr>
          <a:xfrm>
            <a:off x="965200" y="2772370"/>
            <a:ext cx="287309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A bug list, with usage resets</a:t>
            </a:r>
            <a:endParaRPr lang="en-US" sz="1400" dirty="0"/>
          </a:p>
        </p:txBody>
      </p:sp>
      <p:sp>
        <p:nvSpPr>
          <p:cNvPr id="10" name="Text 6"/>
          <p:cNvSpPr/>
          <p:nvPr/>
        </p:nvSpPr>
        <p:spPr>
          <a:xfrm>
            <a:off x="965200" y="3036491"/>
            <a:ext cx="2825496" cy="125204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6B6B6B"/>
                </a:solidFill>
                <a:latin typeface="Arial" pitchFamily="34" charset="0"/>
                <a:ea typeface="Arial" pitchFamily="34" charset="-122"/>
                <a:cs typeface="Arial" pitchFamily="34" charset="-120"/>
              </a:rPr>
              <a:t>Old images survived compaction and re-triggered it. Background memory workers inherited stop hooks and kept running: one thread asked whether it could stop 15,000 times. Summaries overlapped and fired extra requests.</a:t>
            </a:r>
            <a:endParaRPr lang="en-US" sz="1150" dirty="0"/>
          </a:p>
        </p:txBody>
      </p:sp>
      <p:sp>
        <p:nvSpPr>
          <p:cNvPr id="11" name="Shape 7"/>
          <p:cNvSpPr/>
          <p:nvPr/>
        </p:nvSpPr>
        <p:spPr>
          <a:xfrm>
            <a:off x="4575175" y="2352675"/>
            <a:ext cx="3041650" cy="2279650"/>
          </a:xfrm>
          <a:prstGeom prst="roundRect">
            <a:avLst>
              <a:gd name="adj" fmla="val 5432"/>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2" name="Text 8"/>
          <p:cNvSpPr/>
          <p:nvPr/>
        </p:nvSpPr>
        <p:spPr>
          <a:xfrm>
            <a:off x="4724400" y="2508250"/>
            <a:ext cx="119652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C74634"/>
                </a:solidFill>
                <a:latin typeface="Courier New" pitchFamily="49" charset="0"/>
                <a:ea typeface="Courier New" pitchFamily="49" charset="-122"/>
                <a:cs typeface="Courier New" pitchFamily="49" charset="-120"/>
              </a:rPr>
              <a:t>3 SEPT 2026</a:t>
            </a:r>
            <a:endParaRPr lang="en-US" sz="1200" dirty="0"/>
          </a:p>
        </p:txBody>
      </p:sp>
      <p:sp>
        <p:nvSpPr>
          <p:cNvPr id="13" name="Text 9"/>
          <p:cNvSpPr/>
          <p:nvPr/>
        </p:nvSpPr>
        <p:spPr>
          <a:xfrm>
            <a:off x="4724400" y="2772370"/>
            <a:ext cx="2825496"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GPT-6 Astra ships a new way to hold context</a:t>
            </a:r>
            <a:endParaRPr lang="en-US" sz="1400" dirty="0"/>
          </a:p>
        </p:txBody>
      </p:sp>
      <p:sp>
        <p:nvSpPr>
          <p:cNvPr id="14" name="Text 10"/>
          <p:cNvSpPr/>
          <p:nvPr/>
        </p:nvSpPr>
        <p:spPr>
          <a:xfrm>
            <a:off x="4724400" y="3249811"/>
            <a:ext cx="2825496" cy="125204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6B6B6B"/>
                </a:solidFill>
                <a:latin typeface="Arial" pitchFamily="34" charset="0"/>
                <a:ea typeface="Arial" pitchFamily="34" charset="-122"/>
                <a:cs typeface="Arial" pitchFamily="34" charset="-120"/>
              </a:rPr>
              <a:t>Codex gains notes that persist across context windows, with earlier windows kept searchable, instead of compaction squeezing the work into one summary over and over. Opt-in via config.toml, due to become the default.</a:t>
            </a:r>
            <a:endParaRPr lang="en-US" sz="1150" dirty="0"/>
          </a:p>
        </p:txBody>
      </p:sp>
      <p:sp>
        <p:nvSpPr>
          <p:cNvPr id="15" name="Shape 11"/>
          <p:cNvSpPr/>
          <p:nvPr/>
        </p:nvSpPr>
        <p:spPr>
          <a:xfrm>
            <a:off x="8334375" y="2352675"/>
            <a:ext cx="3041650" cy="2279650"/>
          </a:xfrm>
          <a:prstGeom prst="roundRect">
            <a:avLst>
              <a:gd name="adj" fmla="val 5432"/>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6" name="Text 12"/>
          <p:cNvSpPr/>
          <p:nvPr/>
        </p:nvSpPr>
        <p:spPr>
          <a:xfrm>
            <a:off x="8483600" y="2508250"/>
            <a:ext cx="130065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C74634"/>
                </a:solidFill>
                <a:latin typeface="Courier New" pitchFamily="49" charset="0"/>
                <a:ea typeface="Courier New" pitchFamily="49" charset="-122"/>
                <a:cs typeface="Courier New" pitchFamily="49" charset="-120"/>
              </a:rPr>
              <a:t>12 SEPT 2026</a:t>
            </a:r>
            <a:endParaRPr lang="en-US" sz="1200" dirty="0"/>
          </a:p>
        </p:txBody>
      </p:sp>
      <p:sp>
        <p:nvSpPr>
          <p:cNvPr id="17" name="Text 13"/>
          <p:cNvSpPr/>
          <p:nvPr/>
        </p:nvSpPr>
        <p:spPr>
          <a:xfrm>
            <a:off x="8483600" y="2772370"/>
            <a:ext cx="288101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Switched off, nine days later</a:t>
            </a:r>
            <a:endParaRPr lang="en-US" sz="1400" dirty="0"/>
          </a:p>
        </p:txBody>
      </p:sp>
      <p:sp>
        <p:nvSpPr>
          <p:cNvPr id="18" name="Text 14"/>
          <p:cNvSpPr/>
          <p:nvPr/>
        </p:nvSpPr>
        <p:spPr>
          <a:xfrm>
            <a:off x="8483600" y="3036491"/>
            <a:ext cx="2825496" cy="104760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6B6B6B"/>
                </a:solidFill>
                <a:latin typeface="Arial" pitchFamily="34" charset="0"/>
                <a:ea typeface="Arial" pitchFamily="34" charset="-122"/>
                <a:cs typeface="Arial" pitchFamily="34" charset="-120"/>
              </a:rPr>
              <a:t>The experiment could make Codex stop early, or answer messages from earlier in the conversation. The team disabled it and estimated that 4,000 to 5,000 users were affected.</a:t>
            </a:r>
            <a:endParaRPr lang="en-US" sz="1150" dirty="0"/>
          </a:p>
        </p:txBody>
      </p:sp>
      <p:sp>
        <p:nvSpPr>
          <p:cNvPr id="19" name="Shape 15"/>
          <p:cNvSpPr/>
          <p:nvPr/>
        </p:nvSpPr>
        <p:spPr>
          <a:xfrm>
            <a:off x="815975" y="4841875"/>
            <a:ext cx="10560050" cy="946150"/>
          </a:xfrm>
          <a:prstGeom prst="roundRect">
            <a:avLst>
              <a:gd name="adj" fmla="val 13087"/>
            </a:avLst>
          </a:prstGeom>
          <a:solidFill>
            <a:srgbClr val="1E2A2A"/>
          </a:solidFill>
          <a:ln w="6350">
            <a:solidFill>
              <a:srgbClr val="1E2A2A"/>
            </a:solidFill>
            <a:prstDash val="solid"/>
          </a:ln>
        </p:spPr>
      </p:sp>
      <p:sp>
        <p:nvSpPr>
          <p:cNvPr id="20" name="Text 16"/>
          <p:cNvSpPr/>
          <p:nvPr/>
        </p:nvSpPr>
        <p:spPr>
          <a:xfrm>
            <a:off x="1016000" y="4989810"/>
            <a:ext cx="4970780"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E8836F"/>
                </a:solidFill>
                <a:latin typeface="Courier New" pitchFamily="49" charset="0"/>
                <a:ea typeface="Courier New" pitchFamily="49" charset="-122"/>
                <a:cs typeface="Courier New" pitchFamily="49" charset="-120"/>
              </a:rPr>
              <a:t>SALIENCE</a:t>
            </a:r>
            <a:endParaRPr lang="en-US" sz="1200" dirty="0"/>
          </a:p>
        </p:txBody>
      </p:sp>
      <p:sp>
        <p:nvSpPr>
          <p:cNvPr id="21" name="Text 17"/>
          <p:cNvSpPr/>
          <p:nvPr/>
        </p:nvSpPr>
        <p:spPr>
          <a:xfrm>
            <a:off x="1016000" y="5228530"/>
            <a:ext cx="497078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Arial" pitchFamily="34" charset="0"/>
                <a:ea typeface="Arial" pitchFamily="34" charset="-122"/>
                <a:cs typeface="Arial" pitchFamily="34" charset="-120"/>
              </a:rPr>
              <a:t>A retrieved earlier turn outranked the latest message, so the agent answered the wrong one.</a:t>
            </a:r>
            <a:endParaRPr lang="en-US" sz="1200" dirty="0"/>
          </a:p>
        </p:txBody>
      </p:sp>
      <p:sp>
        <p:nvSpPr>
          <p:cNvPr id="22" name="Text 18"/>
          <p:cNvSpPr/>
          <p:nvPr/>
        </p:nvSpPr>
        <p:spPr>
          <a:xfrm>
            <a:off x="6096000" y="4886970"/>
            <a:ext cx="4970780"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E8836F"/>
                </a:solidFill>
                <a:latin typeface="Courier New" pitchFamily="49" charset="0"/>
                <a:ea typeface="Courier New" pitchFamily="49" charset="-122"/>
                <a:cs typeface="Courier New" pitchFamily="49" charset="-120"/>
              </a:rPr>
              <a:t>CONSOLIDATION ORDER</a:t>
            </a:r>
            <a:endParaRPr lang="en-US" sz="1200" dirty="0"/>
          </a:p>
        </p:txBody>
      </p:sp>
      <p:sp>
        <p:nvSpPr>
          <p:cNvPr id="23" name="Text 19"/>
          <p:cNvSpPr/>
          <p:nvPr/>
        </p:nvSpPr>
        <p:spPr>
          <a:xfrm>
            <a:off x="6096000" y="5125690"/>
            <a:ext cx="497078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Arial" pitchFamily="34" charset="0"/>
                <a:ea typeface="Arial" pitchFamily="34" charset="-122"/>
                <a:cs typeface="Arial" pitchFamily="34" charset="-120"/>
              </a:rPr>
              <a:t>A fresh window was requested before the notes were saved, so the agent woke with nothing to do. My reading of public posts and a Codex issue, not confirmed by OpenAI.</a:t>
            </a:r>
            <a:endParaRPr lang="en-US" sz="1200" dirty="0"/>
          </a:p>
        </p:txBody>
      </p:sp>
      <p:sp>
        <p:nvSpPr>
          <p:cNvPr id="24"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1504569" y="2794000"/>
            <a:ext cx="9182862" cy="1073150"/>
          </a:xfrm>
          <a:prstGeom prst="rect">
            <a:avLst/>
          </a:prstGeom>
          <a:noFill/>
          <a:ln/>
        </p:spPr>
        <p:txBody>
          <a:bodyPr wrap="none" lIns="0" tIns="0" rIns="0" bIns="0" rtlCol="0" anchor="t">
            <a:normAutofit/>
          </a:bodyPr>
          <a:lstStyle/>
          <a:p>
            <a:pPr algn="ctr" indent="0" marL="0">
              <a:lnSpc>
                <a:spcPts val="8250"/>
              </a:lnSpc>
              <a:buNone/>
            </a:pPr>
            <a:r>
              <a:rPr lang="en-US" sz="7500" b="1" spc="-150" kern="0" dirty="0">
                <a:solidFill>
                  <a:srgbClr val="FFFFFF"/>
                </a:solidFill>
                <a:latin typeface="Arial" pitchFamily="34" charset="0"/>
                <a:ea typeface="Arial" pitchFamily="34" charset="-122"/>
                <a:cs typeface="Arial" pitchFamily="34" charset="-120"/>
              </a:rPr>
              <a:t>Three principles</a:t>
            </a:r>
            <a:endParaRPr lang="en-US" sz="7500" dirty="0"/>
          </a:p>
        </p:txBody>
      </p:sp>
      <p:sp>
        <p:nvSpPr>
          <p:cNvPr id="4" name="Text 2"/>
          <p:cNvSpPr/>
          <p:nvPr/>
        </p:nvSpPr>
        <p:spPr>
          <a:xfrm>
            <a:off x="654304" y="3937000"/>
            <a:ext cx="10883392" cy="256530"/>
          </a:xfrm>
          <a:prstGeom prst="rect">
            <a:avLst/>
          </a:prstGeom>
          <a:noFill/>
          <a:ln/>
        </p:spPr>
        <p:txBody>
          <a:bodyPr wrap="square" lIns="0" tIns="0" rIns="0" bIns="0" rtlCol="0" anchor="t">
            <a:normAutofit/>
          </a:bodyPr>
          <a:lstStyle/>
          <a:p>
            <a:pPr algn="ctr" indent="0" marL="0">
              <a:lnSpc>
                <a:spcPts val="1820"/>
              </a:lnSpc>
              <a:buNone/>
            </a:pPr>
            <a:r>
              <a:rPr lang="en-US" sz="1300" spc="200" kern="0" dirty="0">
                <a:solidFill>
                  <a:srgbClr val="DEB068"/>
                </a:solidFill>
                <a:latin typeface="Courier New" pitchFamily="49" charset="0"/>
                <a:ea typeface="Courier New" pitchFamily="49" charset="-122"/>
                <a:cs typeface="Courier New" pitchFamily="49" charset="-120"/>
              </a:rPr>
              <a:t>OF AGENT MEMORY</a:t>
            </a:r>
            <a:endParaRPr lang="en-US" sz="1300" dirty="0"/>
          </a:p>
        </p:txBody>
      </p:sp>
      <p:sp>
        <p:nvSpPr>
          <p:cNvPr id="5" name="Text 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057200"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Three principles of agent memory</a:t>
            </a:r>
            <a:endParaRPr lang="en-US" sz="2800" dirty="0"/>
          </a:p>
        </p:txBody>
      </p:sp>
      <p:sp>
        <p:nvSpPr>
          <p:cNvPr id="4" name="Shape 2"/>
          <p:cNvSpPr/>
          <p:nvPr/>
        </p:nvSpPr>
        <p:spPr>
          <a:xfrm>
            <a:off x="817563" y="1592263"/>
            <a:ext cx="10556875" cy="1069975"/>
          </a:xfrm>
          <a:prstGeom prst="roundRect">
            <a:avLst>
              <a:gd name="adj" fmla="val 13798"/>
            </a:avLst>
          </a:prstGeom>
          <a:solidFill>
            <a:srgbClr val="FFFFFF">
              <a:alpha val="6000"/>
            </a:srgbClr>
          </a:solidFill>
          <a:ln w="9525">
            <a:solidFill>
              <a:srgbClr val="FFFFFF">
                <a:alpha val="18000"/>
              </a:srgbClr>
            </a:solidFill>
            <a:prstDash val="solid"/>
          </a:ln>
        </p:spPr>
      </p:sp>
      <p:sp>
        <p:nvSpPr>
          <p:cNvPr id="5" name="Text 3"/>
          <p:cNvSpPr/>
          <p:nvPr/>
        </p:nvSpPr>
        <p:spPr>
          <a:xfrm>
            <a:off x="1879600" y="1949450"/>
            <a:ext cx="3662680" cy="381000"/>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FFFFFF"/>
                </a:solidFill>
                <a:latin typeface="Arial" pitchFamily="34" charset="0"/>
                <a:ea typeface="Arial" pitchFamily="34" charset="-122"/>
                <a:cs typeface="Arial" pitchFamily="34" charset="-120"/>
              </a:rPr>
              <a:t>The 4 Rs</a:t>
            </a:r>
            <a:endParaRPr lang="en-US" sz="2000" dirty="0"/>
          </a:p>
        </p:txBody>
      </p:sp>
      <p:sp>
        <p:nvSpPr>
          <p:cNvPr id="6" name="Text 4"/>
          <p:cNvSpPr/>
          <p:nvPr/>
        </p:nvSpPr>
        <p:spPr>
          <a:xfrm>
            <a:off x="5638800" y="1896120"/>
            <a:ext cx="56509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Retain, reuse, refine, recall. The four verbs every memory system has to implement, and the point where most teams stop halfway.</a:t>
            </a:r>
            <a:endParaRPr lang="en-US" sz="1300" dirty="0"/>
          </a:p>
        </p:txBody>
      </p:sp>
      <p:sp>
        <p:nvSpPr>
          <p:cNvPr id="7" name="Text 5"/>
          <p:cNvSpPr/>
          <p:nvPr/>
        </p:nvSpPr>
        <p:spPr>
          <a:xfrm>
            <a:off x="1066800" y="1955800"/>
            <a:ext cx="609600" cy="375890"/>
          </a:xfrm>
          <a:custGeom>
            <a:avLst/>
            <a:gdLst/>
            <a:ahLst/>
            <a:cxnLst/>
            <a:rect l="l" t="t" r="r" b="b"/>
            <a:pathLst>
              <a:path w="609600" h="375890">
                <a:moveTo>
                  <a:pt x="187945" y="0"/>
                </a:moveTo>
                <a:lnTo>
                  <a:pt x="421655" y="0"/>
                </a:lnTo>
                <a:arcTo hR="187945" wR="187945" stAng="16200000" swAng="5400000"/>
                <a:lnTo>
                  <a:pt x="609600" y="187945"/>
                </a:lnTo>
                <a:arcTo hR="187945" wR="187945" stAng="0" swAng="5400000"/>
                <a:lnTo>
                  <a:pt x="187945" y="375890"/>
                </a:lnTo>
                <a:arcTo hR="187945" wR="187945" stAng="5400000" swAng="5400000"/>
                <a:lnTo>
                  <a:pt x="0" y="187945"/>
                </a:lnTo>
                <a:arcTo hR="187945" wR="187945" stAng="10800000" swAng="5400000"/>
                <a:close/>
              </a:path>
            </a:pathLst>
          </a:custGeom>
          <a:solidFill>
            <a:srgbClr val="C74634"/>
          </a:solidFill>
          <a:ln/>
        </p:spPr>
        <p:txBody>
          <a:bodyPr wrap="square" lIns="0" tIns="63500" rIns="0" bIns="38100" rtlCol="0" anchor="t">
            <a:normAutofit/>
          </a:bodyPr>
          <a:lstStyle/>
          <a:p>
            <a:pPr algn="ctr" indent="0" marL="0">
              <a:lnSpc>
                <a:spcPts val="1960"/>
              </a:lnSpc>
              <a:buNone/>
            </a:pPr>
            <a:r>
              <a:rPr lang="en-US" sz="1400" b="1" dirty="0">
                <a:solidFill>
                  <a:srgbClr val="FFFFFF"/>
                </a:solidFill>
                <a:latin typeface="Courier New" pitchFamily="49" charset="0"/>
                <a:ea typeface="Courier New" pitchFamily="49" charset="-122"/>
                <a:cs typeface="Courier New" pitchFamily="49" charset="-120"/>
              </a:rPr>
              <a:t>01</a:t>
            </a:r>
            <a:endParaRPr lang="en-US" sz="1400" dirty="0"/>
          </a:p>
        </p:txBody>
      </p:sp>
      <p:sp>
        <p:nvSpPr>
          <p:cNvPr id="8" name="Shape 6"/>
          <p:cNvSpPr/>
          <p:nvPr/>
        </p:nvSpPr>
        <p:spPr>
          <a:xfrm>
            <a:off x="817563" y="2957513"/>
            <a:ext cx="10556875" cy="1069975"/>
          </a:xfrm>
          <a:prstGeom prst="roundRect">
            <a:avLst>
              <a:gd name="adj" fmla="val 13798"/>
            </a:avLst>
          </a:prstGeom>
          <a:solidFill>
            <a:srgbClr val="FFFFFF">
              <a:alpha val="6000"/>
            </a:srgbClr>
          </a:solidFill>
          <a:ln w="9525">
            <a:solidFill>
              <a:srgbClr val="FFFFFF">
                <a:alpha val="18000"/>
              </a:srgbClr>
            </a:solidFill>
            <a:prstDash val="solid"/>
          </a:ln>
        </p:spPr>
      </p:sp>
      <p:sp>
        <p:nvSpPr>
          <p:cNvPr id="9" name="Text 7"/>
          <p:cNvSpPr/>
          <p:nvPr/>
        </p:nvSpPr>
        <p:spPr>
          <a:xfrm>
            <a:off x="1879600" y="3314700"/>
            <a:ext cx="3662680" cy="381000"/>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FFFFFF"/>
                </a:solidFill>
                <a:latin typeface="Arial" pitchFamily="34" charset="0"/>
                <a:ea typeface="Arial" pitchFamily="34" charset="-122"/>
                <a:cs typeface="Arial" pitchFamily="34" charset="-120"/>
              </a:rPr>
              <a:t>Forget, don't delete</a:t>
            </a:r>
            <a:endParaRPr lang="en-US" sz="2000" dirty="0"/>
          </a:p>
        </p:txBody>
      </p:sp>
      <p:sp>
        <p:nvSpPr>
          <p:cNvPr id="10" name="Text 8"/>
          <p:cNvSpPr/>
          <p:nvPr/>
        </p:nvSpPr>
        <p:spPr>
          <a:xfrm>
            <a:off x="5638800" y="3261370"/>
            <a:ext cx="56509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Expire from recall first, purge on policy. Memory that only accumulates turns into noise, and then into liability.</a:t>
            </a:r>
            <a:endParaRPr lang="en-US" sz="1300" dirty="0"/>
          </a:p>
        </p:txBody>
      </p:sp>
      <p:sp>
        <p:nvSpPr>
          <p:cNvPr id="11" name="Text 9"/>
          <p:cNvSpPr/>
          <p:nvPr/>
        </p:nvSpPr>
        <p:spPr>
          <a:xfrm>
            <a:off x="1066800" y="3321050"/>
            <a:ext cx="609600" cy="375890"/>
          </a:xfrm>
          <a:custGeom>
            <a:avLst/>
            <a:gdLst/>
            <a:ahLst/>
            <a:cxnLst/>
            <a:rect l="l" t="t" r="r" b="b"/>
            <a:pathLst>
              <a:path w="609600" h="375890">
                <a:moveTo>
                  <a:pt x="187945" y="0"/>
                </a:moveTo>
                <a:lnTo>
                  <a:pt x="421655" y="0"/>
                </a:lnTo>
                <a:arcTo hR="187945" wR="187945" stAng="16200000" swAng="5400000"/>
                <a:lnTo>
                  <a:pt x="609600" y="187945"/>
                </a:lnTo>
                <a:arcTo hR="187945" wR="187945" stAng="0" swAng="5400000"/>
                <a:lnTo>
                  <a:pt x="187945" y="375890"/>
                </a:lnTo>
                <a:arcTo hR="187945" wR="187945" stAng="5400000" swAng="5400000"/>
                <a:lnTo>
                  <a:pt x="0" y="187945"/>
                </a:lnTo>
                <a:arcTo hR="187945" wR="187945" stAng="10800000" swAng="5400000"/>
                <a:close/>
              </a:path>
            </a:pathLst>
          </a:custGeom>
          <a:solidFill>
            <a:srgbClr val="C74634"/>
          </a:solidFill>
          <a:ln/>
        </p:spPr>
        <p:txBody>
          <a:bodyPr wrap="square" lIns="0" tIns="63500" rIns="0" bIns="38100" rtlCol="0" anchor="t">
            <a:normAutofit/>
          </a:bodyPr>
          <a:lstStyle/>
          <a:p>
            <a:pPr algn="ctr" indent="0" marL="0">
              <a:lnSpc>
                <a:spcPts val="1960"/>
              </a:lnSpc>
              <a:buNone/>
            </a:pPr>
            <a:r>
              <a:rPr lang="en-US" sz="1400" b="1" dirty="0">
                <a:solidFill>
                  <a:srgbClr val="FFFFFF"/>
                </a:solidFill>
                <a:latin typeface="Courier New" pitchFamily="49" charset="0"/>
                <a:ea typeface="Courier New" pitchFamily="49" charset="-122"/>
                <a:cs typeface="Courier New" pitchFamily="49" charset="-120"/>
              </a:rPr>
              <a:t>02</a:t>
            </a:r>
            <a:endParaRPr lang="en-US" sz="1400" dirty="0"/>
          </a:p>
        </p:txBody>
      </p:sp>
      <p:sp>
        <p:nvSpPr>
          <p:cNvPr id="12" name="Shape 10"/>
          <p:cNvSpPr/>
          <p:nvPr/>
        </p:nvSpPr>
        <p:spPr>
          <a:xfrm>
            <a:off x="817563" y="4322763"/>
            <a:ext cx="10556875" cy="1069975"/>
          </a:xfrm>
          <a:prstGeom prst="roundRect">
            <a:avLst>
              <a:gd name="adj" fmla="val 13798"/>
            </a:avLst>
          </a:prstGeom>
          <a:solidFill>
            <a:srgbClr val="FFFFFF">
              <a:alpha val="6000"/>
            </a:srgbClr>
          </a:solidFill>
          <a:ln w="9525">
            <a:solidFill>
              <a:srgbClr val="FFFFFF">
                <a:alpha val="18000"/>
              </a:srgbClr>
            </a:solidFill>
            <a:prstDash val="solid"/>
          </a:ln>
        </p:spPr>
      </p:sp>
      <p:sp>
        <p:nvSpPr>
          <p:cNvPr id="13" name="Text 11"/>
          <p:cNvSpPr/>
          <p:nvPr/>
        </p:nvSpPr>
        <p:spPr>
          <a:xfrm>
            <a:off x="1879600" y="4679950"/>
            <a:ext cx="3662680" cy="381000"/>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FFFFFF"/>
                </a:solidFill>
                <a:latin typeface="Arial" pitchFamily="34" charset="0"/>
                <a:ea typeface="Arial" pitchFamily="34" charset="-122"/>
                <a:cs typeface="Arial" pitchFamily="34" charset="-120"/>
              </a:rPr>
              <a:t>The RBCs of Agent Memory</a:t>
            </a:r>
            <a:endParaRPr lang="en-US" sz="2000" dirty="0"/>
          </a:p>
        </p:txBody>
      </p:sp>
      <p:sp>
        <p:nvSpPr>
          <p:cNvPr id="14" name="Text 12"/>
          <p:cNvSpPr/>
          <p:nvPr/>
        </p:nvSpPr>
        <p:spPr>
          <a:xfrm>
            <a:off x="5638800" y="4626620"/>
            <a:ext cx="56509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Memory is what makes an agent reliable, believable and capable, and each of the three maps to a type of memory.</a:t>
            </a:r>
            <a:endParaRPr lang="en-US" sz="1300" dirty="0"/>
          </a:p>
        </p:txBody>
      </p:sp>
      <p:sp>
        <p:nvSpPr>
          <p:cNvPr id="15" name="Text 13"/>
          <p:cNvSpPr/>
          <p:nvPr/>
        </p:nvSpPr>
        <p:spPr>
          <a:xfrm>
            <a:off x="1066800" y="4686300"/>
            <a:ext cx="609600" cy="375890"/>
          </a:xfrm>
          <a:custGeom>
            <a:avLst/>
            <a:gdLst/>
            <a:ahLst/>
            <a:cxnLst/>
            <a:rect l="l" t="t" r="r" b="b"/>
            <a:pathLst>
              <a:path w="609600" h="375890">
                <a:moveTo>
                  <a:pt x="187945" y="0"/>
                </a:moveTo>
                <a:lnTo>
                  <a:pt x="421655" y="0"/>
                </a:lnTo>
                <a:arcTo hR="187945" wR="187945" stAng="16200000" swAng="5400000"/>
                <a:lnTo>
                  <a:pt x="609600" y="187945"/>
                </a:lnTo>
                <a:arcTo hR="187945" wR="187945" stAng="0" swAng="5400000"/>
                <a:lnTo>
                  <a:pt x="187945" y="375890"/>
                </a:lnTo>
                <a:arcTo hR="187945" wR="187945" stAng="5400000" swAng="5400000"/>
                <a:lnTo>
                  <a:pt x="0" y="187945"/>
                </a:lnTo>
                <a:arcTo hR="187945" wR="187945" stAng="10800000" swAng="5400000"/>
                <a:close/>
              </a:path>
            </a:pathLst>
          </a:custGeom>
          <a:solidFill>
            <a:srgbClr val="C74634"/>
          </a:solidFill>
          <a:ln/>
        </p:spPr>
        <p:txBody>
          <a:bodyPr wrap="square" lIns="0" tIns="63500" rIns="0" bIns="38100" rtlCol="0" anchor="t">
            <a:normAutofit/>
          </a:bodyPr>
          <a:lstStyle/>
          <a:p>
            <a:pPr algn="ctr" indent="0" marL="0">
              <a:lnSpc>
                <a:spcPts val="1960"/>
              </a:lnSpc>
              <a:buNone/>
            </a:pPr>
            <a:r>
              <a:rPr lang="en-US" sz="1400" b="1" dirty="0">
                <a:solidFill>
                  <a:srgbClr val="FFFFFF"/>
                </a:solidFill>
                <a:latin typeface="Courier New" pitchFamily="49" charset="0"/>
                <a:ea typeface="Courier New" pitchFamily="49" charset="-122"/>
                <a:cs typeface="Courier New" pitchFamily="49" charset="-120"/>
              </a:rPr>
              <a:t>03</a:t>
            </a:r>
            <a:endParaRPr lang="en-US" sz="1400" dirty="0"/>
          </a:p>
        </p:txBody>
      </p:sp>
      <p:sp>
        <p:nvSpPr>
          <p:cNvPr id="16" name="Text 1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01 · THE 4 RS</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The 4 Rs of agent memory</a:t>
            </a:r>
            <a:endParaRPr lang="en-US" sz="2800" dirty="0"/>
          </a:p>
        </p:txBody>
      </p:sp>
      <p:sp>
        <p:nvSpPr>
          <p:cNvPr id="5" name="Shape 3"/>
          <p:cNvSpPr/>
          <p:nvPr/>
        </p:nvSpPr>
        <p:spPr>
          <a:xfrm>
            <a:off x="815975" y="1590675"/>
            <a:ext cx="2482850" cy="2787650"/>
          </a:xfrm>
          <a:prstGeom prst="roundRect">
            <a:avLst>
              <a:gd name="adj" fmla="val 6010"/>
            </a:avLst>
          </a:prstGeom>
          <a:solidFill>
            <a:srgbClr val="FFFFFF">
              <a:alpha val="8000"/>
            </a:srgbClr>
          </a:solidFill>
          <a:ln w="6350">
            <a:solidFill>
              <a:srgbClr val="FFFFFF">
                <a:alpha val="18000"/>
              </a:srgbClr>
            </a:solidFill>
            <a:prstDash val="solid"/>
          </a:ln>
        </p:spPr>
      </p:sp>
      <p:sp>
        <p:nvSpPr>
          <p:cNvPr id="6" name="Text 4"/>
          <p:cNvSpPr/>
          <p:nvPr/>
        </p:nvSpPr>
        <p:spPr>
          <a:xfrm>
            <a:off x="1016000" y="1797050"/>
            <a:ext cx="93511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74634"/>
                </a:solidFill>
                <a:latin typeface="Arial" pitchFamily="34" charset="0"/>
                <a:ea typeface="Arial" pitchFamily="34" charset="-122"/>
                <a:cs typeface="Arial" pitchFamily="34" charset="-120"/>
              </a:rPr>
              <a:t>R1</a:t>
            </a:r>
            <a:endParaRPr lang="en-US" sz="4800" dirty="0"/>
          </a:p>
        </p:txBody>
      </p:sp>
      <p:sp>
        <p:nvSpPr>
          <p:cNvPr id="7" name="Text 5"/>
          <p:cNvSpPr/>
          <p:nvPr/>
        </p:nvSpPr>
        <p:spPr>
          <a:xfrm>
            <a:off x="1016000" y="2508250"/>
            <a:ext cx="93154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Arial" pitchFamily="34" charset="0"/>
                <a:ea typeface="Arial" pitchFamily="34" charset="-122"/>
                <a:cs typeface="Arial" pitchFamily="34" charset="-120"/>
              </a:rPr>
              <a:t>Retain</a:t>
            </a:r>
            <a:endParaRPr lang="en-US" sz="2000" dirty="0"/>
          </a:p>
        </p:txBody>
      </p:sp>
      <p:sp>
        <p:nvSpPr>
          <p:cNvPr id="8" name="Text 6"/>
          <p:cNvSpPr/>
          <p:nvPr/>
        </p:nvSpPr>
        <p:spPr>
          <a:xfrm>
            <a:off x="1016000" y="2914650"/>
            <a:ext cx="214528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Decide what is worth keeping. Not every message is a memory.</a:t>
            </a:r>
            <a:endParaRPr lang="en-US" sz="1300" dirty="0"/>
          </a:p>
        </p:txBody>
      </p:sp>
      <p:sp>
        <p:nvSpPr>
          <p:cNvPr id="9" name="Text 7"/>
          <p:cNvSpPr/>
          <p:nvPr/>
        </p:nvSpPr>
        <p:spPr>
          <a:xfrm>
            <a:off x="1016000" y="3811240"/>
            <a:ext cx="1097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extraction</a:t>
            </a:r>
            <a:endParaRPr lang="en-US" sz="1200" dirty="0"/>
          </a:p>
        </p:txBody>
      </p:sp>
      <p:sp>
        <p:nvSpPr>
          <p:cNvPr id="10" name="Shape 8"/>
          <p:cNvSpPr/>
          <p:nvPr/>
        </p:nvSpPr>
        <p:spPr>
          <a:xfrm>
            <a:off x="3508375" y="1590675"/>
            <a:ext cx="2482850" cy="2787650"/>
          </a:xfrm>
          <a:prstGeom prst="roundRect">
            <a:avLst>
              <a:gd name="adj" fmla="val 6010"/>
            </a:avLst>
          </a:prstGeom>
          <a:solidFill>
            <a:srgbClr val="FFFFFF">
              <a:alpha val="8000"/>
            </a:srgbClr>
          </a:solidFill>
          <a:ln w="6350">
            <a:solidFill>
              <a:srgbClr val="FFFFFF">
                <a:alpha val="18000"/>
              </a:srgbClr>
            </a:solidFill>
            <a:prstDash val="solid"/>
          </a:ln>
        </p:spPr>
      </p:sp>
      <p:sp>
        <p:nvSpPr>
          <p:cNvPr id="11" name="Text 9"/>
          <p:cNvSpPr/>
          <p:nvPr/>
        </p:nvSpPr>
        <p:spPr>
          <a:xfrm>
            <a:off x="3708400" y="1757561"/>
            <a:ext cx="935117" cy="633561"/>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74634"/>
                </a:solidFill>
                <a:latin typeface="Arial" pitchFamily="34" charset="0"/>
                <a:ea typeface="Arial" pitchFamily="34" charset="-122"/>
                <a:cs typeface="Arial" pitchFamily="34" charset="-120"/>
              </a:rPr>
              <a:t>R2</a:t>
            </a:r>
            <a:endParaRPr lang="en-US" sz="4800" dirty="0"/>
          </a:p>
        </p:txBody>
      </p:sp>
      <p:sp>
        <p:nvSpPr>
          <p:cNvPr id="12" name="Text 10"/>
          <p:cNvSpPr/>
          <p:nvPr/>
        </p:nvSpPr>
        <p:spPr>
          <a:xfrm>
            <a:off x="3708400" y="2467322"/>
            <a:ext cx="914876" cy="329505"/>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Arial" pitchFamily="34" charset="0"/>
                <a:ea typeface="Arial" pitchFamily="34" charset="-122"/>
                <a:cs typeface="Arial" pitchFamily="34" charset="-120"/>
              </a:rPr>
              <a:t>Reuse</a:t>
            </a:r>
            <a:endParaRPr lang="en-US" sz="2000" dirty="0"/>
          </a:p>
        </p:txBody>
      </p:sp>
      <p:sp>
        <p:nvSpPr>
          <p:cNvPr id="13" name="Text 11"/>
          <p:cNvSpPr/>
          <p:nvPr/>
        </p:nvSpPr>
        <p:spPr>
          <a:xfrm>
            <a:off x="3708400" y="2873028"/>
            <a:ext cx="2145284" cy="947787"/>
          </a:xfrm>
          <a:prstGeom prst="rect">
            <a:avLst/>
          </a:prstGeom>
          <a:noFill/>
          <a:ln/>
        </p:spPr>
        <p:txBody>
          <a:bodyPr wrap="square" lIns="0" tIns="0" rIns="0" bIns="0" rtlCol="0" anchor="t">
            <a:normAutofit/>
          </a:bodyPr>
          <a:lstStyle/>
          <a:p>
            <a:pPr algn="l" indent="0" marL="0">
              <a:lnSpc>
                <a:spcPts val="1814"/>
              </a:lnSpc>
              <a:buNone/>
            </a:pPr>
            <a:r>
              <a:rPr lang="en-US" sz="1296" dirty="0">
                <a:solidFill>
                  <a:srgbClr val="F2EFEA"/>
                </a:solidFill>
                <a:latin typeface="Arial" pitchFamily="34" charset="0"/>
                <a:ea typeface="Arial" pitchFamily="34" charset="-122"/>
                <a:cs typeface="Arial" pitchFamily="34" charset="-120"/>
              </a:rPr>
              <a:t>Apply it again, across sessions and agents, so nobody pays for the same work twice.</a:t>
            </a:r>
            <a:endParaRPr lang="en-US" sz="1296" dirty="0"/>
          </a:p>
        </p:txBody>
      </p:sp>
      <p:sp>
        <p:nvSpPr>
          <p:cNvPr id="14" name="Text 12"/>
          <p:cNvSpPr/>
          <p:nvPr/>
        </p:nvSpPr>
        <p:spPr>
          <a:xfrm>
            <a:off x="3708400" y="3998615"/>
            <a:ext cx="1426726" cy="23822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shared scopes</a:t>
            </a:r>
            <a:endParaRPr lang="en-US" sz="1200" dirty="0"/>
          </a:p>
        </p:txBody>
      </p:sp>
      <p:sp>
        <p:nvSpPr>
          <p:cNvPr id="15" name="Shape 13"/>
          <p:cNvSpPr/>
          <p:nvPr/>
        </p:nvSpPr>
        <p:spPr>
          <a:xfrm>
            <a:off x="6200775" y="1590675"/>
            <a:ext cx="2482850" cy="2787650"/>
          </a:xfrm>
          <a:prstGeom prst="roundRect">
            <a:avLst>
              <a:gd name="adj" fmla="val 6010"/>
            </a:avLst>
          </a:prstGeom>
          <a:solidFill>
            <a:srgbClr val="FFFFFF">
              <a:alpha val="8000"/>
            </a:srgbClr>
          </a:solidFill>
          <a:ln w="6350">
            <a:solidFill>
              <a:srgbClr val="FFFFFF">
                <a:alpha val="18000"/>
              </a:srgbClr>
            </a:solidFill>
            <a:prstDash val="solid"/>
          </a:ln>
        </p:spPr>
      </p:sp>
      <p:sp>
        <p:nvSpPr>
          <p:cNvPr id="16" name="Text 14"/>
          <p:cNvSpPr/>
          <p:nvPr/>
        </p:nvSpPr>
        <p:spPr>
          <a:xfrm>
            <a:off x="6400800" y="1797050"/>
            <a:ext cx="93511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74634"/>
                </a:solidFill>
                <a:latin typeface="Arial" pitchFamily="34" charset="0"/>
                <a:ea typeface="Arial" pitchFamily="34" charset="-122"/>
                <a:cs typeface="Arial" pitchFamily="34" charset="-120"/>
              </a:rPr>
              <a:t>R3</a:t>
            </a:r>
            <a:endParaRPr lang="en-US" sz="4800" dirty="0"/>
          </a:p>
        </p:txBody>
      </p:sp>
      <p:sp>
        <p:nvSpPr>
          <p:cNvPr id="17" name="Text 15"/>
          <p:cNvSpPr/>
          <p:nvPr/>
        </p:nvSpPr>
        <p:spPr>
          <a:xfrm>
            <a:off x="6400800" y="2508250"/>
            <a:ext cx="93154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Arial" pitchFamily="34" charset="0"/>
                <a:ea typeface="Arial" pitchFamily="34" charset="-122"/>
                <a:cs typeface="Arial" pitchFamily="34" charset="-120"/>
              </a:rPr>
              <a:t>Refine</a:t>
            </a:r>
            <a:endParaRPr lang="en-US" sz="2000" dirty="0"/>
          </a:p>
        </p:txBody>
      </p:sp>
      <p:sp>
        <p:nvSpPr>
          <p:cNvPr id="18" name="Text 16"/>
          <p:cNvSpPr/>
          <p:nvPr/>
        </p:nvSpPr>
        <p:spPr>
          <a:xfrm>
            <a:off x="6400800" y="2914650"/>
            <a:ext cx="214528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Correct, merge and update what is known, and let what is stale expire.</a:t>
            </a:r>
            <a:endParaRPr lang="en-US" sz="1300" dirty="0"/>
          </a:p>
        </p:txBody>
      </p:sp>
      <p:sp>
        <p:nvSpPr>
          <p:cNvPr id="19" name="Text 17"/>
          <p:cNvSpPr/>
          <p:nvPr/>
        </p:nvSpPr>
        <p:spPr>
          <a:xfrm>
            <a:off x="6400800" y="3811240"/>
            <a:ext cx="14267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consolidation</a:t>
            </a:r>
            <a:endParaRPr lang="en-US" sz="1200" dirty="0"/>
          </a:p>
        </p:txBody>
      </p:sp>
      <p:sp>
        <p:nvSpPr>
          <p:cNvPr id="20" name="Shape 18"/>
          <p:cNvSpPr/>
          <p:nvPr/>
        </p:nvSpPr>
        <p:spPr>
          <a:xfrm>
            <a:off x="8893175" y="1590675"/>
            <a:ext cx="2482850" cy="2787650"/>
          </a:xfrm>
          <a:prstGeom prst="roundRect">
            <a:avLst>
              <a:gd name="adj" fmla="val 6010"/>
            </a:avLst>
          </a:prstGeom>
          <a:solidFill>
            <a:srgbClr val="FFFFFF">
              <a:alpha val="8000"/>
            </a:srgbClr>
          </a:solidFill>
          <a:ln w="6350">
            <a:solidFill>
              <a:srgbClr val="FFFFFF">
                <a:alpha val="18000"/>
              </a:srgbClr>
            </a:solidFill>
            <a:prstDash val="solid"/>
          </a:ln>
        </p:spPr>
      </p:sp>
      <p:sp>
        <p:nvSpPr>
          <p:cNvPr id="21" name="Text 19"/>
          <p:cNvSpPr/>
          <p:nvPr/>
        </p:nvSpPr>
        <p:spPr>
          <a:xfrm>
            <a:off x="9093200" y="1797050"/>
            <a:ext cx="93511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74634"/>
                </a:solidFill>
                <a:latin typeface="Arial" pitchFamily="34" charset="0"/>
                <a:ea typeface="Arial" pitchFamily="34" charset="-122"/>
                <a:cs typeface="Arial" pitchFamily="34" charset="-120"/>
              </a:rPr>
              <a:t>R4</a:t>
            </a:r>
            <a:endParaRPr lang="en-US" sz="4800" dirty="0"/>
          </a:p>
        </p:txBody>
      </p:sp>
      <p:sp>
        <p:nvSpPr>
          <p:cNvPr id="22" name="Text 20"/>
          <p:cNvSpPr/>
          <p:nvPr/>
        </p:nvSpPr>
        <p:spPr>
          <a:xfrm>
            <a:off x="9093200" y="2508250"/>
            <a:ext cx="89802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Arial" pitchFamily="34" charset="0"/>
                <a:ea typeface="Arial" pitchFamily="34" charset="-122"/>
                <a:cs typeface="Arial" pitchFamily="34" charset="-120"/>
              </a:rPr>
              <a:t>Recall</a:t>
            </a:r>
            <a:endParaRPr lang="en-US" sz="2000" dirty="0"/>
          </a:p>
        </p:txBody>
      </p:sp>
      <p:sp>
        <p:nvSpPr>
          <p:cNvPr id="23" name="Text 21"/>
          <p:cNvSpPr/>
          <p:nvPr/>
        </p:nvSpPr>
        <p:spPr>
          <a:xfrm>
            <a:off x="9093200" y="2914650"/>
            <a:ext cx="214528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Bring back the right piece at the right time, within a token budget.</a:t>
            </a:r>
            <a:endParaRPr lang="en-US" sz="1300" dirty="0"/>
          </a:p>
        </p:txBody>
      </p:sp>
      <p:sp>
        <p:nvSpPr>
          <p:cNvPr id="24" name="Text 22"/>
          <p:cNvSpPr/>
          <p:nvPr/>
        </p:nvSpPr>
        <p:spPr>
          <a:xfrm>
            <a:off x="9093200" y="3811240"/>
            <a:ext cx="9877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retrieval</a:t>
            </a:r>
            <a:endParaRPr lang="en-US" sz="1200" dirty="0"/>
          </a:p>
        </p:txBody>
      </p:sp>
      <p:sp>
        <p:nvSpPr>
          <p:cNvPr id="25" name="Text 23"/>
          <p:cNvSpPr/>
          <p:nvPr/>
        </p:nvSpPr>
        <p:spPr>
          <a:xfrm>
            <a:off x="812800" y="4699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Arial" pitchFamily="34" charset="0"/>
                <a:ea typeface="Arial" pitchFamily="34" charset="-122"/>
                <a:cs typeface="Arial" pitchFamily="34" charset="-120"/>
              </a:rPr>
              <a:t>Memory that only retains is a log. Memory that refines and recalls is a system.</a:t>
            </a:r>
            <a:endParaRPr lang="en-US" sz="1600" dirty="0"/>
          </a:p>
        </p:txBody>
      </p:sp>
      <p:sp>
        <p:nvSpPr>
          <p:cNvPr id="26" name="Text 2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4931537"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Reference architecture</a:t>
            </a:r>
            <a:endParaRPr lang="en-US" sz="2800" dirty="0"/>
          </a:p>
        </p:txBody>
      </p:sp>
      <p:sp>
        <p:nvSpPr>
          <p:cNvPr id="4" name="Shape 2"/>
          <p:cNvSpPr/>
          <p:nvPr/>
        </p:nvSpPr>
        <p:spPr>
          <a:xfrm>
            <a:off x="817563" y="14017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5" name="Text 3"/>
          <p:cNvSpPr/>
          <p:nvPr/>
        </p:nvSpPr>
        <p:spPr>
          <a:xfrm>
            <a:off x="965200" y="140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AEB9B7"/>
                </a:solidFill>
                <a:latin typeface="Courier New" pitchFamily="49" charset="0"/>
                <a:ea typeface="Courier New" pitchFamily="49" charset="-122"/>
                <a:cs typeface="Courier New" pitchFamily="49" charset="-120"/>
              </a:rPr>
              <a:t>APPLICATION LAYER</a:t>
            </a:r>
            <a:endParaRPr lang="en-US" sz="1100" dirty="0"/>
          </a:p>
        </p:txBody>
      </p:sp>
      <p:sp>
        <p:nvSpPr>
          <p:cNvPr id="6" name="Shape 4"/>
          <p:cNvSpPr/>
          <p:nvPr/>
        </p:nvSpPr>
        <p:spPr>
          <a:xfrm>
            <a:off x="817563" y="2671763"/>
            <a:ext cx="7432675" cy="1895475"/>
          </a:xfrm>
          <a:prstGeom prst="roundRect">
            <a:avLst>
              <a:gd name="adj" fmla="val 7119"/>
            </a:avLst>
          </a:prstGeom>
          <a:solidFill>
            <a:srgbClr val="FFFFFF">
              <a:alpha val="2000"/>
            </a:srgbClr>
          </a:solidFill>
          <a:ln w="9525">
            <a:solidFill>
              <a:srgbClr val="FFFFFF">
                <a:alpha val="16000"/>
              </a:srgbClr>
            </a:solidFill>
            <a:prstDash val="dash"/>
          </a:ln>
        </p:spPr>
      </p:sp>
      <p:sp>
        <p:nvSpPr>
          <p:cNvPr id="7" name="Text 5"/>
          <p:cNvSpPr/>
          <p:nvPr/>
        </p:nvSpPr>
        <p:spPr>
          <a:xfrm>
            <a:off x="965200" y="267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E8836F"/>
                </a:solidFill>
                <a:latin typeface="Courier New" pitchFamily="49" charset="0"/>
                <a:ea typeface="Courier New" pitchFamily="49" charset="-122"/>
                <a:cs typeface="Courier New" pitchFamily="49" charset="-120"/>
              </a:rPr>
              <a:t>MEMORY LAYER</a:t>
            </a:r>
            <a:endParaRPr lang="en-US" sz="1100" dirty="0"/>
          </a:p>
        </p:txBody>
      </p:sp>
      <p:sp>
        <p:nvSpPr>
          <p:cNvPr id="8" name="Shape 6"/>
          <p:cNvSpPr/>
          <p:nvPr/>
        </p:nvSpPr>
        <p:spPr>
          <a:xfrm>
            <a:off x="817563" y="48942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9" name="Text 7"/>
          <p:cNvSpPr/>
          <p:nvPr/>
        </p:nvSpPr>
        <p:spPr>
          <a:xfrm>
            <a:off x="965200" y="49022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DEB068"/>
                </a:solidFill>
                <a:latin typeface="Courier New" pitchFamily="49" charset="0"/>
                <a:ea typeface="Courier New" pitchFamily="49" charset="-122"/>
                <a:cs typeface="Courier New" pitchFamily="49" charset="-120"/>
              </a:rPr>
              <a:t>DATA LAYER</a:t>
            </a:r>
            <a:endParaRPr lang="en-US" sz="1100" dirty="0"/>
          </a:p>
        </p:txBody>
      </p:sp>
      <p:sp>
        <p:nvSpPr>
          <p:cNvPr id="10" name="Shape 8"/>
          <p:cNvSpPr/>
          <p:nvPr/>
        </p:nvSpPr>
        <p:spPr>
          <a:xfrm>
            <a:off x="8716963" y="1401763"/>
            <a:ext cx="2657475" cy="4435475"/>
          </a:xfrm>
          <a:prstGeom prst="roundRect">
            <a:avLst>
              <a:gd name="adj" fmla="val 5078"/>
            </a:avLst>
          </a:prstGeom>
          <a:solidFill>
            <a:srgbClr val="FFFFFF">
              <a:alpha val="2000"/>
            </a:srgbClr>
          </a:solidFill>
          <a:ln w="9525">
            <a:solidFill>
              <a:srgbClr val="FFFFFF">
                <a:alpha val="16000"/>
              </a:srgbClr>
            </a:solidFill>
            <a:prstDash val="dash"/>
          </a:ln>
        </p:spPr>
      </p:sp>
      <p:sp>
        <p:nvSpPr>
          <p:cNvPr id="11" name="Text 9"/>
          <p:cNvSpPr/>
          <p:nvPr/>
        </p:nvSpPr>
        <p:spPr>
          <a:xfrm>
            <a:off x="8864600" y="1409700"/>
            <a:ext cx="2433066"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7FC4DC"/>
                </a:solidFill>
                <a:latin typeface="Courier New" pitchFamily="49" charset="0"/>
                <a:ea typeface="Courier New" pitchFamily="49" charset="-122"/>
                <a:cs typeface="Courier New" pitchFamily="49" charset="-120"/>
              </a:rPr>
              <a:t>MODEL LAYER</a:t>
            </a:r>
            <a:endParaRPr lang="en-US" sz="1100" dirty="0"/>
          </a:p>
        </p:txBody>
      </p:sp>
      <p:sp>
        <p:nvSpPr>
          <p:cNvPr id="12" name="Shape 10"/>
          <p:cNvSpPr/>
          <p:nvPr/>
        </p:nvSpPr>
        <p:spPr>
          <a:xfrm>
            <a:off x="969963" y="1668463"/>
            <a:ext cx="1387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3" name="Image 0" descr="Users">    </p:cNvPr>
          <p:cNvPicPr>
            <a:picLocks noChangeAspect="1"/>
          </p:cNvPicPr>
          <p:nvPr/>
        </p:nvPicPr>
        <p:blipFill>
          <a:blip r:embed="rId1"/>
          <a:srcRect l="0" r="0" t="0" b="0"/>
          <a:stretch/>
        </p:blipFill>
        <p:spPr>
          <a:xfrm>
            <a:off x="1054100" y="1841500"/>
            <a:ext cx="254000" cy="254000"/>
          </a:xfrm>
          <a:prstGeom prst="rect">
            <a:avLst/>
          </a:prstGeom>
        </p:spPr>
      </p:pic>
      <p:sp>
        <p:nvSpPr>
          <p:cNvPr id="14" name="Text 11"/>
          <p:cNvSpPr/>
          <p:nvPr/>
        </p:nvSpPr>
        <p:spPr>
          <a:xfrm>
            <a:off x="1397000" y="1748830"/>
            <a:ext cx="88051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Application</a:t>
            </a:r>
            <a:endParaRPr lang="en-US" sz="1200" dirty="0"/>
          </a:p>
        </p:txBody>
      </p:sp>
      <p:sp>
        <p:nvSpPr>
          <p:cNvPr id="15" name="Text 12"/>
          <p:cNvSpPr/>
          <p:nvPr/>
        </p:nvSpPr>
        <p:spPr>
          <a:xfrm>
            <a:off x="1397000" y="1974850"/>
            <a:ext cx="88051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user · tools</a:t>
            </a:r>
            <a:endParaRPr lang="en-US" sz="1200" dirty="0"/>
          </a:p>
        </p:txBody>
      </p:sp>
      <p:sp>
        <p:nvSpPr>
          <p:cNvPr id="16" name="Shape 13"/>
          <p:cNvSpPr/>
          <p:nvPr/>
        </p:nvSpPr>
        <p:spPr>
          <a:xfrm>
            <a:off x="3001963" y="1668463"/>
            <a:ext cx="2022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7" name="Image 1" descr="Settings">    </p:cNvPr>
          <p:cNvPicPr>
            <a:picLocks noChangeAspect="1"/>
          </p:cNvPicPr>
          <p:nvPr/>
        </p:nvPicPr>
        <p:blipFill>
          <a:blip r:embed="rId2"/>
          <a:srcRect l="0" r="0" t="0" b="0"/>
          <a:stretch/>
        </p:blipFill>
        <p:spPr>
          <a:xfrm>
            <a:off x="3086100" y="1841500"/>
            <a:ext cx="254000" cy="254000"/>
          </a:xfrm>
          <a:prstGeom prst="rect">
            <a:avLst/>
          </a:prstGeom>
        </p:spPr>
      </p:pic>
      <p:sp>
        <p:nvSpPr>
          <p:cNvPr id="18" name="Text 14"/>
          <p:cNvSpPr/>
          <p:nvPr/>
        </p:nvSpPr>
        <p:spPr>
          <a:xfrm>
            <a:off x="3429000" y="174883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Agent harness</a:t>
            </a:r>
            <a:endParaRPr lang="en-US" sz="1200" dirty="0"/>
          </a:p>
        </p:txBody>
      </p:sp>
      <p:sp>
        <p:nvSpPr>
          <p:cNvPr id="19" name="Text 15"/>
          <p:cNvSpPr/>
          <p:nvPr/>
        </p:nvSpPr>
        <p:spPr>
          <a:xfrm>
            <a:off x="3429000" y="1974850"/>
            <a:ext cx="110941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the agent loop</a:t>
            </a:r>
            <a:endParaRPr lang="en-US" sz="1200" dirty="0"/>
          </a:p>
        </p:txBody>
      </p:sp>
      <p:sp>
        <p:nvSpPr>
          <p:cNvPr id="20" name="Shape 16"/>
          <p:cNvSpPr/>
          <p:nvPr/>
        </p:nvSpPr>
        <p:spPr>
          <a:xfrm>
            <a:off x="5668963" y="1668463"/>
            <a:ext cx="1895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1" name="Image 2" descr="Book">    </p:cNvPr>
          <p:cNvPicPr>
            <a:picLocks noChangeAspect="1"/>
          </p:cNvPicPr>
          <p:nvPr/>
        </p:nvPicPr>
        <p:blipFill>
          <a:blip r:embed="rId3"/>
          <a:srcRect l="0" r="0" t="0" b="0"/>
          <a:stretch/>
        </p:blipFill>
        <p:spPr>
          <a:xfrm>
            <a:off x="5753100" y="1841500"/>
            <a:ext cx="254000" cy="254000"/>
          </a:xfrm>
          <a:prstGeom prst="rect">
            <a:avLst/>
          </a:prstGeom>
        </p:spPr>
      </p:pic>
      <p:sp>
        <p:nvSpPr>
          <p:cNvPr id="22" name="Text 17"/>
          <p:cNvSpPr/>
          <p:nvPr/>
        </p:nvSpPr>
        <p:spPr>
          <a:xfrm>
            <a:off x="6096000" y="1748830"/>
            <a:ext cx="132144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Context window</a:t>
            </a:r>
            <a:endParaRPr lang="en-US" sz="1200" dirty="0"/>
          </a:p>
        </p:txBody>
      </p:sp>
      <p:sp>
        <p:nvSpPr>
          <p:cNvPr id="23" name="Text 18"/>
          <p:cNvSpPr/>
          <p:nvPr/>
        </p:nvSpPr>
        <p:spPr>
          <a:xfrm>
            <a:off x="6096000" y="1974850"/>
            <a:ext cx="132144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assembled per call</a:t>
            </a:r>
            <a:endParaRPr lang="en-US" sz="1200" dirty="0"/>
          </a:p>
        </p:txBody>
      </p:sp>
      <p:sp>
        <p:nvSpPr>
          <p:cNvPr id="24" name="Shape 19"/>
          <p:cNvSpPr/>
          <p:nvPr/>
        </p:nvSpPr>
        <p:spPr>
          <a:xfrm>
            <a:off x="8869363" y="1668463"/>
            <a:ext cx="23526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5" name="Image 3" descr="Lightbulb">    </p:cNvPr>
          <p:cNvPicPr>
            <a:picLocks noChangeAspect="1"/>
          </p:cNvPicPr>
          <p:nvPr/>
        </p:nvPicPr>
        <p:blipFill>
          <a:blip r:embed="rId4"/>
          <a:srcRect l="0" r="0" t="0" b="0"/>
          <a:stretch/>
        </p:blipFill>
        <p:spPr>
          <a:xfrm>
            <a:off x="8953500" y="1841500"/>
            <a:ext cx="254000" cy="254000"/>
          </a:xfrm>
          <a:prstGeom prst="rect">
            <a:avLst/>
          </a:prstGeom>
        </p:spPr>
      </p:pic>
      <p:sp>
        <p:nvSpPr>
          <p:cNvPr id="26" name="Text 20"/>
          <p:cNvSpPr/>
          <p:nvPr/>
        </p:nvSpPr>
        <p:spPr>
          <a:xfrm>
            <a:off x="9296400" y="1748830"/>
            <a:ext cx="171097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LLM</a:t>
            </a:r>
            <a:endParaRPr lang="en-US" sz="1200" dirty="0"/>
          </a:p>
        </p:txBody>
      </p:sp>
      <p:sp>
        <p:nvSpPr>
          <p:cNvPr id="27" name="Text 21"/>
          <p:cNvSpPr/>
          <p:nvPr/>
        </p:nvSpPr>
        <p:spPr>
          <a:xfrm>
            <a:off x="9296400" y="1974850"/>
            <a:ext cx="171097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stateless · prompt cache</a:t>
            </a:r>
            <a:endParaRPr lang="en-US" sz="1200" dirty="0"/>
          </a:p>
        </p:txBody>
      </p:sp>
      <p:sp>
        <p:nvSpPr>
          <p:cNvPr id="28" name="Shape 22"/>
          <p:cNvSpPr/>
          <p:nvPr/>
        </p:nvSpPr>
        <p:spPr>
          <a:xfrm>
            <a:off x="8869363" y="28749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29" name="Image 4" descr="Lightning">    </p:cNvPr>
          <p:cNvPicPr>
            <a:picLocks noChangeAspect="1"/>
          </p:cNvPicPr>
          <p:nvPr/>
        </p:nvPicPr>
        <p:blipFill>
          <a:blip r:embed="rId5"/>
          <a:srcRect l="0" r="0" t="0" b="0"/>
          <a:stretch/>
        </p:blipFill>
        <p:spPr>
          <a:xfrm>
            <a:off x="8953500" y="2984500"/>
            <a:ext cx="254000" cy="254000"/>
          </a:xfrm>
          <a:prstGeom prst="rect">
            <a:avLst/>
          </a:prstGeom>
        </p:spPr>
      </p:pic>
      <p:sp>
        <p:nvSpPr>
          <p:cNvPr id="30" name="Text 23"/>
          <p:cNvSpPr/>
          <p:nvPr/>
        </p:nvSpPr>
        <p:spPr>
          <a:xfrm>
            <a:off x="9296400" y="2891830"/>
            <a:ext cx="143991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Extraction LLM</a:t>
            </a:r>
            <a:endParaRPr lang="en-US" sz="1200" dirty="0"/>
          </a:p>
        </p:txBody>
      </p:sp>
      <p:sp>
        <p:nvSpPr>
          <p:cNvPr id="31" name="Text 24"/>
          <p:cNvSpPr/>
          <p:nvPr/>
        </p:nvSpPr>
        <p:spPr>
          <a:xfrm>
            <a:off x="9296400" y="3117850"/>
            <a:ext cx="143991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 turn into memories</a:t>
            </a:r>
            <a:endParaRPr lang="en-US" sz="1200" dirty="0"/>
          </a:p>
        </p:txBody>
      </p:sp>
      <p:sp>
        <p:nvSpPr>
          <p:cNvPr id="32" name="Shape 25"/>
          <p:cNvSpPr/>
          <p:nvPr/>
        </p:nvSpPr>
        <p:spPr>
          <a:xfrm>
            <a:off x="8869363" y="34845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33" name="Image 5" descr="Link">    </p:cNvPr>
          <p:cNvPicPr>
            <a:picLocks noChangeAspect="1"/>
          </p:cNvPicPr>
          <p:nvPr/>
        </p:nvPicPr>
        <p:blipFill>
          <a:blip r:embed="rId6"/>
          <a:srcRect l="0" r="0" t="0" b="0"/>
          <a:stretch/>
        </p:blipFill>
        <p:spPr>
          <a:xfrm>
            <a:off x="8953500" y="3594100"/>
            <a:ext cx="254000" cy="254000"/>
          </a:xfrm>
          <a:prstGeom prst="rect">
            <a:avLst/>
          </a:prstGeom>
        </p:spPr>
      </p:pic>
      <p:sp>
        <p:nvSpPr>
          <p:cNvPr id="34" name="Text 26"/>
          <p:cNvSpPr/>
          <p:nvPr/>
        </p:nvSpPr>
        <p:spPr>
          <a:xfrm>
            <a:off x="9296400" y="3501430"/>
            <a:ext cx="137165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Embedding model</a:t>
            </a:r>
            <a:endParaRPr lang="en-US" sz="1200" dirty="0"/>
          </a:p>
        </p:txBody>
      </p:sp>
      <p:sp>
        <p:nvSpPr>
          <p:cNvPr id="35" name="Text 27"/>
          <p:cNvSpPr/>
          <p:nvPr/>
        </p:nvSpPr>
        <p:spPr>
          <a:xfrm>
            <a:off x="9296400" y="3727450"/>
            <a:ext cx="13716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text to vectors</a:t>
            </a:r>
            <a:endParaRPr lang="en-US" sz="1200" dirty="0"/>
          </a:p>
        </p:txBody>
      </p:sp>
      <p:sp>
        <p:nvSpPr>
          <p:cNvPr id="36" name="Shape 28"/>
          <p:cNvSpPr/>
          <p:nvPr/>
        </p:nvSpPr>
        <p:spPr>
          <a:xfrm>
            <a:off x="8869363" y="40941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37" name="Image 6" descr="Star">    </p:cNvPr>
          <p:cNvPicPr>
            <a:picLocks noChangeAspect="1"/>
          </p:cNvPicPr>
          <p:nvPr/>
        </p:nvPicPr>
        <p:blipFill>
          <a:blip r:embed="rId7"/>
          <a:srcRect l="0" r="0" t="0" b="0"/>
          <a:stretch/>
        </p:blipFill>
        <p:spPr>
          <a:xfrm>
            <a:off x="8953500" y="4203700"/>
            <a:ext cx="254000" cy="254000"/>
          </a:xfrm>
          <a:prstGeom prst="rect">
            <a:avLst/>
          </a:prstGeom>
        </p:spPr>
      </p:pic>
      <p:sp>
        <p:nvSpPr>
          <p:cNvPr id="38" name="Text 29"/>
          <p:cNvSpPr/>
          <p:nvPr/>
        </p:nvSpPr>
        <p:spPr>
          <a:xfrm>
            <a:off x="9296400" y="4111030"/>
            <a:ext cx="157579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Reranker</a:t>
            </a:r>
            <a:endParaRPr lang="en-US" sz="1200" dirty="0"/>
          </a:p>
        </p:txBody>
      </p:sp>
      <p:sp>
        <p:nvSpPr>
          <p:cNvPr id="39" name="Text 30"/>
          <p:cNvSpPr/>
          <p:nvPr/>
        </p:nvSpPr>
        <p:spPr>
          <a:xfrm>
            <a:off x="9296400" y="4337050"/>
            <a:ext cx="157579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scores each candidate</a:t>
            </a:r>
            <a:endParaRPr lang="en-US" sz="1200" dirty="0"/>
          </a:p>
        </p:txBody>
      </p:sp>
      <p:sp>
        <p:nvSpPr>
          <p:cNvPr id="40" name="Shape 31"/>
          <p:cNvSpPr/>
          <p:nvPr/>
        </p:nvSpPr>
        <p:spPr>
          <a:xfrm>
            <a:off x="8869363" y="5160963"/>
            <a:ext cx="2352675" cy="473075"/>
          </a:xfrm>
          <a:prstGeom prst="roundRect">
            <a:avLst>
              <a:gd name="adj" fmla="val 20470"/>
            </a:avLst>
          </a:prstGeom>
          <a:solidFill>
            <a:srgbClr val="36677D">
              <a:alpha val="10000"/>
            </a:srgbClr>
          </a:solidFill>
          <a:ln w="9525">
            <a:solidFill>
              <a:srgbClr val="7FC4DC">
                <a:alpha val="60000"/>
              </a:srgbClr>
            </a:solidFill>
            <a:prstDash val="dash"/>
          </a:ln>
        </p:spPr>
      </p:sp>
      <p:pic>
        <p:nvPicPr>
          <p:cNvPr id="41" name="Image 7" descr="Check">    </p:cNvPr>
          <p:cNvPicPr>
            <a:picLocks noChangeAspect="1"/>
          </p:cNvPicPr>
          <p:nvPr/>
        </p:nvPicPr>
        <p:blipFill>
          <a:blip r:embed="rId8"/>
          <a:srcRect l="0" r="0" t="0" b="0"/>
          <a:stretch/>
        </p:blipFill>
        <p:spPr>
          <a:xfrm>
            <a:off x="8953500" y="5270500"/>
            <a:ext cx="254000" cy="254000"/>
          </a:xfrm>
          <a:prstGeom prst="rect">
            <a:avLst/>
          </a:prstGeom>
        </p:spPr>
      </p:pic>
      <p:sp>
        <p:nvSpPr>
          <p:cNvPr id="42" name="Text 32"/>
          <p:cNvSpPr/>
          <p:nvPr/>
        </p:nvSpPr>
        <p:spPr>
          <a:xfrm>
            <a:off x="9296400" y="5177830"/>
            <a:ext cx="167749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Decision model</a:t>
            </a:r>
            <a:endParaRPr lang="en-US" sz="1200" dirty="0"/>
          </a:p>
        </p:txBody>
      </p:sp>
      <p:sp>
        <p:nvSpPr>
          <p:cNvPr id="43" name="Text 33"/>
          <p:cNvSpPr/>
          <p:nvPr/>
        </p:nvSpPr>
        <p:spPr>
          <a:xfrm>
            <a:off x="9296400" y="5403850"/>
            <a:ext cx="167749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advanced: routes, gates</a:t>
            </a:r>
            <a:endParaRPr lang="en-US" sz="1200" dirty="0"/>
          </a:p>
        </p:txBody>
      </p:sp>
      <p:sp>
        <p:nvSpPr>
          <p:cNvPr id="44" name="Shape 34"/>
          <p:cNvSpPr/>
          <p:nvPr/>
        </p:nvSpPr>
        <p:spPr>
          <a:xfrm>
            <a:off x="969963" y="2874963"/>
            <a:ext cx="7064375" cy="1654175"/>
          </a:xfrm>
          <a:prstGeom prst="roundRect">
            <a:avLst>
              <a:gd name="adj" fmla="val 6622"/>
            </a:avLst>
          </a:prstGeom>
          <a:solidFill>
            <a:srgbClr val="FFFFFF">
              <a:alpha val="5000"/>
            </a:srgbClr>
          </a:solidFill>
          <a:ln w="9525">
            <a:solidFill>
              <a:srgbClr val="FFFFFF">
                <a:alpha val="22000"/>
              </a:srgbClr>
            </a:solidFill>
            <a:prstDash val="solid"/>
          </a:ln>
        </p:spPr>
      </p:sp>
      <p:pic>
        <p:nvPicPr>
          <p:cNvPr id="45" name="Image 8" descr="Activity">    </p:cNvPr>
          <p:cNvPicPr>
            <a:picLocks noChangeAspect="1"/>
          </p:cNvPicPr>
          <p:nvPr/>
        </p:nvPicPr>
        <p:blipFill>
          <a:blip r:embed="rId9"/>
          <a:srcRect l="0" r="0" t="0" b="0"/>
          <a:stretch/>
        </p:blipFill>
        <p:spPr>
          <a:xfrm>
            <a:off x="1117600" y="2961035"/>
            <a:ext cx="203200" cy="203200"/>
          </a:xfrm>
          <a:prstGeom prst="rect">
            <a:avLst/>
          </a:prstGeom>
        </p:spPr>
      </p:pic>
      <p:sp>
        <p:nvSpPr>
          <p:cNvPr id="46" name="Text 35"/>
          <p:cNvSpPr/>
          <p:nvPr/>
        </p:nvSpPr>
        <p:spPr>
          <a:xfrm>
            <a:off x="1422400" y="2955975"/>
            <a:ext cx="1597868"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FFFFFF"/>
                </a:solidFill>
                <a:latin typeface="Courier New" pitchFamily="49" charset="0"/>
                <a:ea typeface="Courier New" pitchFamily="49" charset="-122"/>
                <a:cs typeface="Courier New" pitchFamily="49" charset="-120"/>
              </a:rPr>
              <a:t>MEMORY MANAGER</a:t>
            </a:r>
            <a:endParaRPr lang="en-US" sz="1200" dirty="0"/>
          </a:p>
        </p:txBody>
      </p:sp>
      <p:sp>
        <p:nvSpPr>
          <p:cNvPr id="47" name="Text 36"/>
          <p:cNvSpPr/>
          <p:nvPr/>
        </p:nvSpPr>
        <p:spPr>
          <a:xfrm>
            <a:off x="1117600" y="3244900"/>
            <a:ext cx="6854444" cy="237480"/>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E8836F"/>
                </a:solidFill>
                <a:latin typeface="Courier New" pitchFamily="49" charset="0"/>
                <a:ea typeface="Courier New" pitchFamily="49" charset="-122"/>
                <a:cs typeface="Courier New" pitchFamily="49" charset="-120"/>
              </a:rPr>
              <a:t>WRITE PATH · retain, refine</a:t>
            </a:r>
            <a:endParaRPr lang="en-US" sz="1196" dirty="0"/>
          </a:p>
        </p:txBody>
      </p:sp>
      <p:sp>
        <p:nvSpPr>
          <p:cNvPr id="48" name="Text 37"/>
          <p:cNvSpPr/>
          <p:nvPr/>
        </p:nvSpPr>
        <p:spPr>
          <a:xfrm>
            <a:off x="11176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Extract</a:t>
            </a:r>
            <a:endParaRPr lang="en-US" sz="1200" dirty="0"/>
          </a:p>
        </p:txBody>
      </p:sp>
      <p:sp>
        <p:nvSpPr>
          <p:cNvPr id="49" name="Text 38"/>
          <p:cNvSpPr/>
          <p:nvPr/>
        </p:nvSpPr>
        <p:spPr>
          <a:xfrm>
            <a:off x="24638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Dedupe</a:t>
            </a:r>
            <a:endParaRPr lang="en-US" sz="1200" dirty="0"/>
          </a:p>
        </p:txBody>
      </p:sp>
      <p:sp>
        <p:nvSpPr>
          <p:cNvPr id="50" name="Text 39"/>
          <p:cNvSpPr/>
          <p:nvPr/>
        </p:nvSpPr>
        <p:spPr>
          <a:xfrm>
            <a:off x="38100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Consolidate</a:t>
            </a:r>
            <a:endParaRPr lang="en-US" sz="1200" dirty="0"/>
          </a:p>
        </p:txBody>
      </p:sp>
      <p:sp>
        <p:nvSpPr>
          <p:cNvPr id="51" name="Text 40"/>
          <p:cNvSpPr/>
          <p:nvPr/>
        </p:nvSpPr>
        <p:spPr>
          <a:xfrm>
            <a:off x="51562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Conflicts</a:t>
            </a:r>
            <a:endParaRPr lang="en-US" sz="1200" dirty="0"/>
          </a:p>
        </p:txBody>
      </p:sp>
      <p:sp>
        <p:nvSpPr>
          <p:cNvPr id="52" name="Text 41"/>
          <p:cNvSpPr/>
          <p:nvPr/>
        </p:nvSpPr>
        <p:spPr>
          <a:xfrm>
            <a:off x="65024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Decay</a:t>
            </a:r>
            <a:endParaRPr lang="en-US" sz="1200" dirty="0"/>
          </a:p>
        </p:txBody>
      </p:sp>
      <p:sp>
        <p:nvSpPr>
          <p:cNvPr id="53" name="Text 42"/>
          <p:cNvSpPr/>
          <p:nvPr/>
        </p:nvSpPr>
        <p:spPr>
          <a:xfrm>
            <a:off x="1117600" y="3884315"/>
            <a:ext cx="6854444" cy="237480"/>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7FC4DC"/>
                </a:solidFill>
                <a:latin typeface="Courier New" pitchFamily="49" charset="0"/>
                <a:ea typeface="Courier New" pitchFamily="49" charset="-122"/>
                <a:cs typeface="Courier New" pitchFamily="49" charset="-120"/>
              </a:rPr>
              <a:t>READ PATH · recall, reuse</a:t>
            </a:r>
            <a:endParaRPr lang="en-US" sz="1196" dirty="0"/>
          </a:p>
        </p:txBody>
      </p:sp>
      <p:sp>
        <p:nvSpPr>
          <p:cNvPr id="54" name="Text 43"/>
          <p:cNvSpPr/>
          <p:nvPr/>
        </p:nvSpPr>
        <p:spPr>
          <a:xfrm>
            <a:off x="11176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Scope</a:t>
            </a:r>
            <a:endParaRPr lang="en-US" sz="1200" dirty="0"/>
          </a:p>
        </p:txBody>
      </p:sp>
      <p:sp>
        <p:nvSpPr>
          <p:cNvPr id="55" name="Text 44"/>
          <p:cNvSpPr/>
          <p:nvPr/>
        </p:nvSpPr>
        <p:spPr>
          <a:xfrm>
            <a:off x="24638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Retrieve</a:t>
            </a:r>
            <a:endParaRPr lang="en-US" sz="1200" dirty="0"/>
          </a:p>
        </p:txBody>
      </p:sp>
      <p:sp>
        <p:nvSpPr>
          <p:cNvPr id="56" name="Text 45"/>
          <p:cNvSpPr/>
          <p:nvPr/>
        </p:nvSpPr>
        <p:spPr>
          <a:xfrm>
            <a:off x="38100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Rerank</a:t>
            </a:r>
            <a:endParaRPr lang="en-US" sz="1200" dirty="0"/>
          </a:p>
        </p:txBody>
      </p:sp>
      <p:sp>
        <p:nvSpPr>
          <p:cNvPr id="57" name="Text 46"/>
          <p:cNvSpPr/>
          <p:nvPr/>
        </p:nvSpPr>
        <p:spPr>
          <a:xfrm>
            <a:off x="51562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Budget</a:t>
            </a:r>
            <a:endParaRPr lang="en-US" sz="1200" dirty="0"/>
          </a:p>
        </p:txBody>
      </p:sp>
      <p:sp>
        <p:nvSpPr>
          <p:cNvPr id="58" name="Text 47"/>
          <p:cNvSpPr/>
          <p:nvPr/>
        </p:nvSpPr>
        <p:spPr>
          <a:xfrm>
            <a:off x="65024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Inject</a:t>
            </a:r>
            <a:endParaRPr lang="en-US" sz="1200" dirty="0"/>
          </a:p>
        </p:txBody>
      </p:sp>
      <p:sp>
        <p:nvSpPr>
          <p:cNvPr id="59" name="Shape 48"/>
          <p:cNvSpPr/>
          <p:nvPr/>
        </p:nvSpPr>
        <p:spPr>
          <a:xfrm>
            <a:off x="969963" y="5097463"/>
            <a:ext cx="7064375" cy="688975"/>
          </a:xfrm>
          <a:prstGeom prst="roundRect">
            <a:avLst>
              <a:gd name="adj" fmla="val 15899"/>
            </a:avLst>
          </a:prstGeom>
          <a:solidFill>
            <a:srgbClr val="DEB068">
              <a:alpha val="6000"/>
            </a:srgbClr>
          </a:solidFill>
          <a:ln w="9525">
            <a:solidFill>
              <a:srgbClr val="DEB068">
                <a:alpha val="45000"/>
              </a:srgbClr>
            </a:solidFill>
            <a:prstDash val="solid"/>
          </a:ln>
        </p:spPr>
      </p:sp>
      <p:pic>
        <p:nvPicPr>
          <p:cNvPr id="60" name="Image 9" descr="Database">    </p:cNvPr>
          <p:cNvPicPr>
            <a:picLocks noChangeAspect="1"/>
          </p:cNvPicPr>
          <p:nvPr/>
        </p:nvPicPr>
        <p:blipFill>
          <a:blip r:embed="rId10"/>
          <a:srcRect l="0" r="0" t="0" b="0"/>
          <a:stretch/>
        </p:blipFill>
        <p:spPr>
          <a:xfrm>
            <a:off x="1066800" y="5167015"/>
            <a:ext cx="203200" cy="203200"/>
          </a:xfrm>
          <a:prstGeom prst="rect">
            <a:avLst/>
          </a:prstGeom>
        </p:spPr>
      </p:pic>
      <p:sp>
        <p:nvSpPr>
          <p:cNvPr id="61" name="Text 49"/>
          <p:cNvSpPr/>
          <p:nvPr/>
        </p:nvSpPr>
        <p:spPr>
          <a:xfrm>
            <a:off x="1371600" y="5162004"/>
            <a:ext cx="250404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MEMORY CORE · DATABASE</a:t>
            </a:r>
            <a:endParaRPr lang="en-US" sz="1200" dirty="0"/>
          </a:p>
        </p:txBody>
      </p:sp>
      <p:sp>
        <p:nvSpPr>
          <p:cNvPr id="62" name="Text 50"/>
          <p:cNvSpPr/>
          <p:nvPr/>
        </p:nvSpPr>
        <p:spPr>
          <a:xfrm>
            <a:off x="1066800" y="5425629"/>
            <a:ext cx="753814" cy="295821"/>
          </a:xfrm>
          <a:custGeom>
            <a:avLst/>
            <a:gdLst/>
            <a:ahLst/>
            <a:cxnLst/>
            <a:rect l="l" t="t" r="r" b="b"/>
            <a:pathLst>
              <a:path w="753814" h="295821">
                <a:moveTo>
                  <a:pt x="147910" y="0"/>
                </a:moveTo>
                <a:lnTo>
                  <a:pt x="605904" y="0"/>
                </a:lnTo>
                <a:arcTo hR="147910" wR="147910" stAng="16200000" swAng="5400000"/>
                <a:lnTo>
                  <a:pt x="753814"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Memories</a:t>
            </a:r>
            <a:endParaRPr lang="en-US" sz="1100" dirty="0"/>
          </a:p>
        </p:txBody>
      </p:sp>
      <p:sp>
        <p:nvSpPr>
          <p:cNvPr id="63" name="Text 51"/>
          <p:cNvSpPr/>
          <p:nvPr/>
        </p:nvSpPr>
        <p:spPr>
          <a:xfrm>
            <a:off x="1896814" y="5425629"/>
            <a:ext cx="606375" cy="295821"/>
          </a:xfrm>
          <a:custGeom>
            <a:avLst/>
            <a:gdLst/>
            <a:ahLst/>
            <a:cxnLst/>
            <a:rect l="l" t="t" r="r" b="b"/>
            <a:pathLst>
              <a:path w="606375" h="295821">
                <a:moveTo>
                  <a:pt x="147910" y="0"/>
                </a:moveTo>
                <a:lnTo>
                  <a:pt x="458465" y="0"/>
                </a:lnTo>
                <a:arcTo hR="147910" wR="147910" stAng="16200000" swAng="5400000"/>
                <a:lnTo>
                  <a:pt x="606375"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Vectors</a:t>
            </a:r>
            <a:endParaRPr lang="en-US" sz="1100" dirty="0"/>
          </a:p>
        </p:txBody>
      </p:sp>
      <p:sp>
        <p:nvSpPr>
          <p:cNvPr id="64" name="Text 52"/>
          <p:cNvSpPr/>
          <p:nvPr/>
        </p:nvSpPr>
        <p:spPr>
          <a:xfrm>
            <a:off x="2579390" y="5425629"/>
            <a:ext cx="378520" cy="295821"/>
          </a:xfrm>
          <a:custGeom>
            <a:avLst/>
            <a:gdLst/>
            <a:ahLst/>
            <a:cxnLst/>
            <a:rect l="l" t="t" r="r" b="b"/>
            <a:pathLst>
              <a:path w="378520" h="295821">
                <a:moveTo>
                  <a:pt x="147910" y="0"/>
                </a:moveTo>
                <a:lnTo>
                  <a:pt x="230609" y="0"/>
                </a:lnTo>
                <a:arcTo hR="147910" wR="147910" stAng="16200000" swAng="5400000"/>
                <a:lnTo>
                  <a:pt x="378520"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Text</a:t>
            </a:r>
            <a:endParaRPr lang="en-US" sz="1100" dirty="0"/>
          </a:p>
        </p:txBody>
      </p:sp>
      <p:sp>
        <p:nvSpPr>
          <p:cNvPr id="65" name="Text 53"/>
          <p:cNvSpPr/>
          <p:nvPr/>
        </p:nvSpPr>
        <p:spPr>
          <a:xfrm>
            <a:off x="3034109" y="5425629"/>
            <a:ext cx="1312515" cy="295821"/>
          </a:xfrm>
          <a:custGeom>
            <a:avLst/>
            <a:gdLst/>
            <a:ahLst/>
            <a:cxnLst/>
            <a:rect l="l" t="t" r="r" b="b"/>
            <a:pathLst>
              <a:path w="1312515" h="295821">
                <a:moveTo>
                  <a:pt x="147910" y="0"/>
                </a:moveTo>
                <a:lnTo>
                  <a:pt x="1164605" y="0"/>
                </a:lnTo>
                <a:arcTo hR="147910" wR="147910" stAng="16200000" swAng="5400000"/>
                <a:lnTo>
                  <a:pt x="1312515"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SQL, JSON, graph</a:t>
            </a:r>
            <a:endParaRPr lang="en-US" sz="1100" dirty="0"/>
          </a:p>
        </p:txBody>
      </p:sp>
      <p:sp>
        <p:nvSpPr>
          <p:cNvPr id="66" name="Text 54"/>
          <p:cNvSpPr/>
          <p:nvPr/>
        </p:nvSpPr>
        <p:spPr>
          <a:xfrm>
            <a:off x="4422825" y="5425629"/>
            <a:ext cx="357634" cy="295821"/>
          </a:xfrm>
          <a:custGeom>
            <a:avLst/>
            <a:gdLst/>
            <a:ahLst/>
            <a:cxnLst/>
            <a:rect l="l" t="t" r="r" b="b"/>
            <a:pathLst>
              <a:path w="357634" h="295821">
                <a:moveTo>
                  <a:pt x="147910" y="0"/>
                </a:moveTo>
                <a:lnTo>
                  <a:pt x="209724" y="0"/>
                </a:lnTo>
                <a:arcTo hR="147910" wR="147910" stAng="16200000" swAng="5400000"/>
                <a:lnTo>
                  <a:pt x="357634"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TTL</a:t>
            </a:r>
            <a:endParaRPr lang="en-US" sz="1100" dirty="0"/>
          </a:p>
        </p:txBody>
      </p:sp>
      <p:sp>
        <p:nvSpPr>
          <p:cNvPr id="67" name="Text 55"/>
          <p:cNvSpPr/>
          <p:nvPr/>
        </p:nvSpPr>
        <p:spPr>
          <a:xfrm>
            <a:off x="4856659" y="5425629"/>
            <a:ext cx="939949" cy="295821"/>
          </a:xfrm>
          <a:custGeom>
            <a:avLst/>
            <a:gdLst/>
            <a:ahLst/>
            <a:cxnLst/>
            <a:rect l="l" t="t" r="r" b="b"/>
            <a:pathLst>
              <a:path w="939949" h="295821">
                <a:moveTo>
                  <a:pt x="147910" y="0"/>
                </a:moveTo>
                <a:lnTo>
                  <a:pt x="792038" y="0"/>
                </a:lnTo>
                <a:arcTo hR="147910" wR="147910" stAng="16200000" swAng="5400000"/>
                <a:lnTo>
                  <a:pt x="939949"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Entitlements</a:t>
            </a:r>
            <a:endParaRPr lang="en-US" sz="1100" dirty="0"/>
          </a:p>
        </p:txBody>
      </p:sp>
      <p:sp>
        <p:nvSpPr>
          <p:cNvPr id="68" name="Text 56"/>
          <p:cNvSpPr/>
          <p:nvPr/>
        </p:nvSpPr>
        <p:spPr>
          <a:xfrm>
            <a:off x="5872807" y="5425629"/>
            <a:ext cx="458490" cy="295821"/>
          </a:xfrm>
          <a:custGeom>
            <a:avLst/>
            <a:gdLst/>
            <a:ahLst/>
            <a:cxnLst/>
            <a:rect l="l" t="t" r="r" b="b"/>
            <a:pathLst>
              <a:path w="458490" h="295821">
                <a:moveTo>
                  <a:pt x="147910" y="0"/>
                </a:moveTo>
                <a:lnTo>
                  <a:pt x="310579" y="0"/>
                </a:lnTo>
                <a:arcTo hR="147910" wR="147910" stAng="16200000" swAng="5400000"/>
                <a:lnTo>
                  <a:pt x="458490"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Audit</a:t>
            </a:r>
            <a:endParaRPr lang="en-US" sz="1100" dirty="0"/>
          </a:p>
        </p:txBody>
      </p:sp>
      <p:pic>
        <p:nvPicPr>
          <p:cNvPr id="69" name="Image 10" descr="request, build the window, tokens in, response back to the harness">    </p:cNvPr>
          <p:cNvPicPr>
            <a:picLocks noChangeAspect="1"/>
          </p:cNvPicPr>
          <p:nvPr/>
        </p:nvPicPr>
        <p:blipFill>
          <a:blip r:embed="rId11"/>
          <a:srcRect l="0" r="0" t="0" b="0"/>
          <a:stretch/>
        </p:blipFill>
        <p:spPr>
          <a:xfrm>
            <a:off x="0" y="0"/>
            <a:ext cx="12192000" cy="6858000"/>
          </a:xfrm>
          <a:prstGeom prst="rect">
            <a:avLst/>
          </a:prstGeom>
        </p:spPr>
      </p:pic>
      <p:sp>
        <p:nvSpPr>
          <p:cNvPr id="70" name="Text 57"/>
          <p:cNvSpPr/>
          <p:nvPr/>
        </p:nvSpPr>
        <p:spPr>
          <a:xfrm>
            <a:off x="2336800" y="1778000"/>
            <a:ext cx="685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request</a:t>
            </a:r>
            <a:endParaRPr lang="en-US" sz="1200" dirty="0"/>
          </a:p>
        </p:txBody>
      </p:sp>
      <p:sp>
        <p:nvSpPr>
          <p:cNvPr id="71" name="Text 58"/>
          <p:cNvSpPr/>
          <p:nvPr/>
        </p:nvSpPr>
        <p:spPr>
          <a:xfrm>
            <a:off x="5003800" y="17780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builds</a:t>
            </a:r>
            <a:endParaRPr lang="en-US" sz="1200" dirty="0"/>
          </a:p>
        </p:txBody>
      </p:sp>
      <p:sp>
        <p:nvSpPr>
          <p:cNvPr id="72" name="Text 59"/>
          <p:cNvSpPr/>
          <p:nvPr/>
        </p:nvSpPr>
        <p:spPr>
          <a:xfrm>
            <a:off x="7543800" y="1778000"/>
            <a:ext cx="13081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tokens in</a:t>
            </a:r>
            <a:endParaRPr lang="en-US" sz="1200" dirty="0"/>
          </a:p>
        </p:txBody>
      </p:sp>
      <p:sp>
        <p:nvSpPr>
          <p:cNvPr id="73" name="Text 60"/>
          <p:cNvSpPr/>
          <p:nvPr/>
        </p:nvSpPr>
        <p:spPr>
          <a:xfrm>
            <a:off x="10147300" y="1295400"/>
            <a:ext cx="1130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response</a:t>
            </a:r>
            <a:endParaRPr lang="en-US" sz="1200" dirty="0"/>
          </a:p>
        </p:txBody>
      </p:sp>
      <p:pic>
        <p:nvPicPr>
          <p:cNvPr id="74" name="Image 11" descr="messages and traces to the manager, extraction, embedding, write to the core">    </p:cNvPr>
          <p:cNvPicPr>
            <a:picLocks noChangeAspect="1"/>
          </p:cNvPicPr>
          <p:nvPr/>
        </p:nvPicPr>
        <p:blipFill>
          <a:blip r:embed="rId12"/>
          <a:srcRect l="0" r="0" t="0" b="0"/>
          <a:stretch/>
        </p:blipFill>
        <p:spPr>
          <a:xfrm>
            <a:off x="0" y="0"/>
            <a:ext cx="12192000" cy="6858000"/>
          </a:xfrm>
          <a:prstGeom prst="rect">
            <a:avLst/>
          </a:prstGeom>
        </p:spPr>
      </p:pic>
      <p:sp>
        <p:nvSpPr>
          <p:cNvPr id="75" name="Text 61"/>
          <p:cNvSpPr/>
          <p:nvPr/>
        </p:nvSpPr>
        <p:spPr>
          <a:xfrm>
            <a:off x="1483360" y="2432050"/>
            <a:ext cx="176784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messages, traces</a:t>
            </a:r>
            <a:endParaRPr lang="en-US" sz="1200" dirty="0"/>
          </a:p>
        </p:txBody>
      </p:sp>
      <p:sp>
        <p:nvSpPr>
          <p:cNvPr id="76" name="Text 62"/>
          <p:cNvSpPr/>
          <p:nvPr/>
        </p:nvSpPr>
        <p:spPr>
          <a:xfrm>
            <a:off x="8039100" y="2895600"/>
            <a:ext cx="685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extract</a:t>
            </a:r>
            <a:endParaRPr lang="en-US" sz="1200" dirty="0"/>
          </a:p>
        </p:txBody>
      </p:sp>
      <p:sp>
        <p:nvSpPr>
          <p:cNvPr id="77" name="Text 63"/>
          <p:cNvSpPr/>
          <p:nvPr/>
        </p:nvSpPr>
        <p:spPr>
          <a:xfrm>
            <a:off x="8039100" y="35052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embed</a:t>
            </a:r>
            <a:endParaRPr lang="en-US" sz="1200" dirty="0"/>
          </a:p>
        </p:txBody>
      </p:sp>
      <p:sp>
        <p:nvSpPr>
          <p:cNvPr id="78" name="Text 64"/>
          <p:cNvSpPr/>
          <p:nvPr/>
        </p:nvSpPr>
        <p:spPr>
          <a:xfrm>
            <a:off x="2768600" y="4699000"/>
            <a:ext cx="685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write</a:t>
            </a:r>
            <a:endParaRPr lang="en-US" sz="1200" dirty="0"/>
          </a:p>
        </p:txBody>
      </p:sp>
      <p:pic>
        <p:nvPicPr>
          <p:cNvPr id="79" name="Image 12" descr="query with scope, scoped search, candidates back, rerank, context card into the window">    </p:cNvPr>
          <p:cNvPicPr>
            <a:picLocks noChangeAspect="1"/>
          </p:cNvPicPr>
          <p:nvPr/>
        </p:nvPicPr>
        <p:blipFill>
          <a:blip r:embed="rId13"/>
          <a:srcRect l="0" r="0" t="0" b="0"/>
          <a:stretch/>
        </p:blipFill>
        <p:spPr>
          <a:xfrm>
            <a:off x="0" y="0"/>
            <a:ext cx="12192000" cy="6858000"/>
          </a:xfrm>
          <a:prstGeom prst="rect">
            <a:avLst/>
          </a:prstGeom>
        </p:spPr>
      </p:pic>
      <p:sp>
        <p:nvSpPr>
          <p:cNvPr id="80" name="Text 65"/>
          <p:cNvSpPr/>
          <p:nvPr/>
        </p:nvSpPr>
        <p:spPr>
          <a:xfrm>
            <a:off x="4546600" y="2432050"/>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query + scope</a:t>
            </a:r>
            <a:endParaRPr lang="en-US" sz="1200" dirty="0"/>
          </a:p>
        </p:txBody>
      </p:sp>
      <p:sp>
        <p:nvSpPr>
          <p:cNvPr id="81" name="Text 66"/>
          <p:cNvSpPr/>
          <p:nvPr/>
        </p:nvSpPr>
        <p:spPr>
          <a:xfrm>
            <a:off x="4927600" y="4699000"/>
            <a:ext cx="685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search</a:t>
            </a:r>
            <a:endParaRPr lang="en-US" sz="1200" dirty="0"/>
          </a:p>
        </p:txBody>
      </p:sp>
      <p:sp>
        <p:nvSpPr>
          <p:cNvPr id="82" name="Text 67"/>
          <p:cNvSpPr/>
          <p:nvPr/>
        </p:nvSpPr>
        <p:spPr>
          <a:xfrm>
            <a:off x="5702300" y="4699000"/>
            <a:ext cx="9779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candidates</a:t>
            </a:r>
            <a:endParaRPr lang="en-US" sz="1200" dirty="0"/>
          </a:p>
        </p:txBody>
      </p:sp>
      <p:sp>
        <p:nvSpPr>
          <p:cNvPr id="83" name="Text 68"/>
          <p:cNvSpPr/>
          <p:nvPr/>
        </p:nvSpPr>
        <p:spPr>
          <a:xfrm>
            <a:off x="8039100" y="41148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rerank</a:t>
            </a:r>
            <a:endParaRPr lang="en-US" sz="1200" dirty="0"/>
          </a:p>
        </p:txBody>
      </p:sp>
      <p:sp>
        <p:nvSpPr>
          <p:cNvPr id="84" name="Text 69"/>
          <p:cNvSpPr/>
          <p:nvPr/>
        </p:nvSpPr>
        <p:spPr>
          <a:xfrm>
            <a:off x="7086600" y="2432050"/>
            <a:ext cx="1257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context card</a:t>
            </a:r>
            <a:endParaRPr lang="en-US" sz="1200" dirty="0"/>
          </a:p>
        </p:txBody>
      </p:sp>
      <p:sp>
        <p:nvSpPr>
          <p:cNvPr id="85" name="Text 70"/>
          <p:cNvSpPr/>
          <p:nvPr/>
        </p:nvSpPr>
        <p:spPr>
          <a:xfrm>
            <a:off x="8864600" y="4622800"/>
            <a:ext cx="2433066" cy="402530"/>
          </a:xfrm>
          <a:prstGeom prst="rect">
            <a:avLst/>
          </a:prstGeom>
          <a:noFill/>
          <a:ln/>
        </p:spPr>
        <p:txBody>
          <a:bodyPr wrap="square" lIns="0" tIns="0" rIns="0" bIns="0" rtlCol="0" anchor="t">
            <a:normAutofit/>
          </a:bodyPr>
          <a:lstStyle/>
          <a:p>
            <a:pPr algn="l" indent="0" marL="0">
              <a:lnSpc>
                <a:spcPts val="1485"/>
              </a:lnSpc>
              <a:buNone/>
            </a:pPr>
            <a:r>
              <a:rPr lang="en-US" sz="1100" i="1" dirty="0">
                <a:solidFill>
                  <a:srgbClr val="F2EFEA"/>
                </a:solidFill>
                <a:latin typeface="Arial" pitchFamily="34" charset="0"/>
                <a:ea typeface="Arial" pitchFamily="34" charset="-122"/>
                <a:cs typeface="Arial" pitchFamily="34" charset="-120"/>
              </a:rPr>
              <a:t>Scope and entitlements filter first; similarity ranks what is left.</a:t>
            </a:r>
            <a:endParaRPr lang="en-US" sz="1100" dirty="0"/>
          </a:p>
        </p:txBody>
      </p:sp>
      <p:sp>
        <p:nvSpPr>
          <p:cNvPr id="86" name="Text 7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Where the 4 Rs sit in the architecture</a:t>
            </a:r>
            <a:endParaRPr lang="en-US" sz="2800" dirty="0"/>
          </a:p>
        </p:txBody>
      </p:sp>
      <p:sp>
        <p:nvSpPr>
          <p:cNvPr id="4" name="Shape 2"/>
          <p:cNvSpPr/>
          <p:nvPr/>
        </p:nvSpPr>
        <p:spPr>
          <a:xfrm>
            <a:off x="817563" y="14017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5" name="Text 3"/>
          <p:cNvSpPr/>
          <p:nvPr/>
        </p:nvSpPr>
        <p:spPr>
          <a:xfrm>
            <a:off x="965200" y="140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AEB9B7"/>
                </a:solidFill>
                <a:latin typeface="Courier New" pitchFamily="49" charset="0"/>
                <a:ea typeface="Courier New" pitchFamily="49" charset="-122"/>
                <a:cs typeface="Courier New" pitchFamily="49" charset="-120"/>
              </a:rPr>
              <a:t>APPLICATION LAYER</a:t>
            </a:r>
            <a:endParaRPr lang="en-US" sz="1100" dirty="0"/>
          </a:p>
        </p:txBody>
      </p:sp>
      <p:sp>
        <p:nvSpPr>
          <p:cNvPr id="6" name="Shape 4"/>
          <p:cNvSpPr/>
          <p:nvPr/>
        </p:nvSpPr>
        <p:spPr>
          <a:xfrm>
            <a:off x="817563" y="2671763"/>
            <a:ext cx="7432675" cy="1895475"/>
          </a:xfrm>
          <a:prstGeom prst="roundRect">
            <a:avLst>
              <a:gd name="adj" fmla="val 7119"/>
            </a:avLst>
          </a:prstGeom>
          <a:solidFill>
            <a:srgbClr val="FFFFFF">
              <a:alpha val="2000"/>
            </a:srgbClr>
          </a:solidFill>
          <a:ln w="9525">
            <a:solidFill>
              <a:srgbClr val="FFFFFF">
                <a:alpha val="16000"/>
              </a:srgbClr>
            </a:solidFill>
            <a:prstDash val="dash"/>
          </a:ln>
        </p:spPr>
      </p:sp>
      <p:sp>
        <p:nvSpPr>
          <p:cNvPr id="7" name="Text 5"/>
          <p:cNvSpPr/>
          <p:nvPr/>
        </p:nvSpPr>
        <p:spPr>
          <a:xfrm>
            <a:off x="965200" y="267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E8836F"/>
                </a:solidFill>
                <a:latin typeface="Courier New" pitchFamily="49" charset="0"/>
                <a:ea typeface="Courier New" pitchFamily="49" charset="-122"/>
                <a:cs typeface="Courier New" pitchFamily="49" charset="-120"/>
              </a:rPr>
              <a:t>MEMORY LAYER</a:t>
            </a:r>
            <a:endParaRPr lang="en-US" sz="1100" dirty="0"/>
          </a:p>
        </p:txBody>
      </p:sp>
      <p:sp>
        <p:nvSpPr>
          <p:cNvPr id="8" name="Shape 6"/>
          <p:cNvSpPr/>
          <p:nvPr/>
        </p:nvSpPr>
        <p:spPr>
          <a:xfrm>
            <a:off x="817563" y="48942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9" name="Text 7"/>
          <p:cNvSpPr/>
          <p:nvPr/>
        </p:nvSpPr>
        <p:spPr>
          <a:xfrm>
            <a:off x="965200" y="49022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DEB068"/>
                </a:solidFill>
                <a:latin typeface="Courier New" pitchFamily="49" charset="0"/>
                <a:ea typeface="Courier New" pitchFamily="49" charset="-122"/>
                <a:cs typeface="Courier New" pitchFamily="49" charset="-120"/>
              </a:rPr>
              <a:t>DATA LAYER</a:t>
            </a:r>
            <a:endParaRPr lang="en-US" sz="1100" dirty="0"/>
          </a:p>
        </p:txBody>
      </p:sp>
      <p:sp>
        <p:nvSpPr>
          <p:cNvPr id="10" name="Shape 8"/>
          <p:cNvSpPr/>
          <p:nvPr/>
        </p:nvSpPr>
        <p:spPr>
          <a:xfrm>
            <a:off x="8716963" y="1401763"/>
            <a:ext cx="2657475" cy="4435475"/>
          </a:xfrm>
          <a:prstGeom prst="roundRect">
            <a:avLst>
              <a:gd name="adj" fmla="val 5078"/>
            </a:avLst>
          </a:prstGeom>
          <a:solidFill>
            <a:srgbClr val="FFFFFF">
              <a:alpha val="2000"/>
            </a:srgbClr>
          </a:solidFill>
          <a:ln w="9525">
            <a:solidFill>
              <a:srgbClr val="FFFFFF">
                <a:alpha val="16000"/>
              </a:srgbClr>
            </a:solidFill>
            <a:prstDash val="dash"/>
          </a:ln>
        </p:spPr>
      </p:sp>
      <p:sp>
        <p:nvSpPr>
          <p:cNvPr id="11" name="Text 9"/>
          <p:cNvSpPr/>
          <p:nvPr/>
        </p:nvSpPr>
        <p:spPr>
          <a:xfrm>
            <a:off x="8864600" y="1409700"/>
            <a:ext cx="2433066"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7FC4DC"/>
                </a:solidFill>
                <a:latin typeface="Courier New" pitchFamily="49" charset="0"/>
                <a:ea typeface="Courier New" pitchFamily="49" charset="-122"/>
                <a:cs typeface="Courier New" pitchFamily="49" charset="-120"/>
              </a:rPr>
              <a:t>MODEL LAYER</a:t>
            </a:r>
            <a:endParaRPr lang="en-US" sz="1100" dirty="0"/>
          </a:p>
        </p:txBody>
      </p:sp>
      <p:sp>
        <p:nvSpPr>
          <p:cNvPr id="12" name="Shape 10"/>
          <p:cNvSpPr/>
          <p:nvPr/>
        </p:nvSpPr>
        <p:spPr>
          <a:xfrm>
            <a:off x="969963" y="1668463"/>
            <a:ext cx="1387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3" name="Image 0" descr="Users">    </p:cNvPr>
          <p:cNvPicPr>
            <a:picLocks noChangeAspect="1"/>
          </p:cNvPicPr>
          <p:nvPr/>
        </p:nvPicPr>
        <p:blipFill>
          <a:blip r:embed="rId1"/>
          <a:srcRect l="0" r="0" t="0" b="0"/>
          <a:stretch/>
        </p:blipFill>
        <p:spPr>
          <a:xfrm>
            <a:off x="1054100" y="1841500"/>
            <a:ext cx="254000" cy="254000"/>
          </a:xfrm>
          <a:prstGeom prst="rect">
            <a:avLst/>
          </a:prstGeom>
        </p:spPr>
      </p:pic>
      <p:sp>
        <p:nvSpPr>
          <p:cNvPr id="14" name="Text 11"/>
          <p:cNvSpPr/>
          <p:nvPr/>
        </p:nvSpPr>
        <p:spPr>
          <a:xfrm>
            <a:off x="1397000" y="1748830"/>
            <a:ext cx="88051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Application</a:t>
            </a:r>
            <a:endParaRPr lang="en-US" sz="1200" dirty="0"/>
          </a:p>
        </p:txBody>
      </p:sp>
      <p:sp>
        <p:nvSpPr>
          <p:cNvPr id="15" name="Text 12"/>
          <p:cNvSpPr/>
          <p:nvPr/>
        </p:nvSpPr>
        <p:spPr>
          <a:xfrm>
            <a:off x="1397000" y="1974850"/>
            <a:ext cx="88051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user · tools</a:t>
            </a:r>
            <a:endParaRPr lang="en-US" sz="1200" dirty="0"/>
          </a:p>
        </p:txBody>
      </p:sp>
      <p:sp>
        <p:nvSpPr>
          <p:cNvPr id="16" name="Shape 13"/>
          <p:cNvSpPr/>
          <p:nvPr/>
        </p:nvSpPr>
        <p:spPr>
          <a:xfrm>
            <a:off x="3001963" y="1668463"/>
            <a:ext cx="2022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7" name="Image 1" descr="Settings">    </p:cNvPr>
          <p:cNvPicPr>
            <a:picLocks noChangeAspect="1"/>
          </p:cNvPicPr>
          <p:nvPr/>
        </p:nvPicPr>
        <p:blipFill>
          <a:blip r:embed="rId2"/>
          <a:srcRect l="0" r="0" t="0" b="0"/>
          <a:stretch/>
        </p:blipFill>
        <p:spPr>
          <a:xfrm>
            <a:off x="3086100" y="1841500"/>
            <a:ext cx="254000" cy="254000"/>
          </a:xfrm>
          <a:prstGeom prst="rect">
            <a:avLst/>
          </a:prstGeom>
        </p:spPr>
      </p:pic>
      <p:sp>
        <p:nvSpPr>
          <p:cNvPr id="18" name="Text 14"/>
          <p:cNvSpPr/>
          <p:nvPr/>
        </p:nvSpPr>
        <p:spPr>
          <a:xfrm>
            <a:off x="3429000" y="174883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Agent harness</a:t>
            </a:r>
            <a:endParaRPr lang="en-US" sz="1200" dirty="0"/>
          </a:p>
        </p:txBody>
      </p:sp>
      <p:sp>
        <p:nvSpPr>
          <p:cNvPr id="19" name="Text 15"/>
          <p:cNvSpPr/>
          <p:nvPr/>
        </p:nvSpPr>
        <p:spPr>
          <a:xfrm>
            <a:off x="3429000" y="1974850"/>
            <a:ext cx="110941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the agent loop</a:t>
            </a:r>
            <a:endParaRPr lang="en-US" sz="1200" dirty="0"/>
          </a:p>
        </p:txBody>
      </p:sp>
      <p:sp>
        <p:nvSpPr>
          <p:cNvPr id="20" name="Shape 16"/>
          <p:cNvSpPr/>
          <p:nvPr/>
        </p:nvSpPr>
        <p:spPr>
          <a:xfrm>
            <a:off x="5668963" y="1668463"/>
            <a:ext cx="1895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1" name="Image 2" descr="Book">    </p:cNvPr>
          <p:cNvPicPr>
            <a:picLocks noChangeAspect="1"/>
          </p:cNvPicPr>
          <p:nvPr/>
        </p:nvPicPr>
        <p:blipFill>
          <a:blip r:embed="rId3"/>
          <a:srcRect l="0" r="0" t="0" b="0"/>
          <a:stretch/>
        </p:blipFill>
        <p:spPr>
          <a:xfrm>
            <a:off x="5753100" y="1841500"/>
            <a:ext cx="254000" cy="254000"/>
          </a:xfrm>
          <a:prstGeom prst="rect">
            <a:avLst/>
          </a:prstGeom>
        </p:spPr>
      </p:pic>
      <p:sp>
        <p:nvSpPr>
          <p:cNvPr id="22" name="Text 17"/>
          <p:cNvSpPr/>
          <p:nvPr/>
        </p:nvSpPr>
        <p:spPr>
          <a:xfrm>
            <a:off x="6096000" y="1748830"/>
            <a:ext cx="132144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Context window</a:t>
            </a:r>
            <a:endParaRPr lang="en-US" sz="1200" dirty="0"/>
          </a:p>
        </p:txBody>
      </p:sp>
      <p:sp>
        <p:nvSpPr>
          <p:cNvPr id="23" name="Text 18"/>
          <p:cNvSpPr/>
          <p:nvPr/>
        </p:nvSpPr>
        <p:spPr>
          <a:xfrm>
            <a:off x="6096000" y="1974850"/>
            <a:ext cx="132144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assembled per call</a:t>
            </a:r>
            <a:endParaRPr lang="en-US" sz="1200" dirty="0"/>
          </a:p>
        </p:txBody>
      </p:sp>
      <p:sp>
        <p:nvSpPr>
          <p:cNvPr id="24" name="Shape 19"/>
          <p:cNvSpPr/>
          <p:nvPr/>
        </p:nvSpPr>
        <p:spPr>
          <a:xfrm>
            <a:off x="8869363" y="1668463"/>
            <a:ext cx="23526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5" name="Image 3" descr="Lightbulb">    </p:cNvPr>
          <p:cNvPicPr>
            <a:picLocks noChangeAspect="1"/>
          </p:cNvPicPr>
          <p:nvPr/>
        </p:nvPicPr>
        <p:blipFill>
          <a:blip r:embed="rId4"/>
          <a:srcRect l="0" r="0" t="0" b="0"/>
          <a:stretch/>
        </p:blipFill>
        <p:spPr>
          <a:xfrm>
            <a:off x="8953500" y="1841500"/>
            <a:ext cx="254000" cy="254000"/>
          </a:xfrm>
          <a:prstGeom prst="rect">
            <a:avLst/>
          </a:prstGeom>
        </p:spPr>
      </p:pic>
      <p:sp>
        <p:nvSpPr>
          <p:cNvPr id="26" name="Text 20"/>
          <p:cNvSpPr/>
          <p:nvPr/>
        </p:nvSpPr>
        <p:spPr>
          <a:xfrm>
            <a:off x="9296400" y="1748830"/>
            <a:ext cx="171097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LLM</a:t>
            </a:r>
            <a:endParaRPr lang="en-US" sz="1200" dirty="0"/>
          </a:p>
        </p:txBody>
      </p:sp>
      <p:sp>
        <p:nvSpPr>
          <p:cNvPr id="27" name="Text 21"/>
          <p:cNvSpPr/>
          <p:nvPr/>
        </p:nvSpPr>
        <p:spPr>
          <a:xfrm>
            <a:off x="9296400" y="1974850"/>
            <a:ext cx="171097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stateless · prompt cache</a:t>
            </a:r>
            <a:endParaRPr lang="en-US" sz="1200" dirty="0"/>
          </a:p>
        </p:txBody>
      </p:sp>
      <p:sp>
        <p:nvSpPr>
          <p:cNvPr id="28" name="Shape 22"/>
          <p:cNvSpPr/>
          <p:nvPr/>
        </p:nvSpPr>
        <p:spPr>
          <a:xfrm>
            <a:off x="8869363" y="28749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29" name="Image 4" descr="Lightning">    </p:cNvPr>
          <p:cNvPicPr>
            <a:picLocks noChangeAspect="1"/>
          </p:cNvPicPr>
          <p:nvPr/>
        </p:nvPicPr>
        <p:blipFill>
          <a:blip r:embed="rId5"/>
          <a:srcRect l="0" r="0" t="0" b="0"/>
          <a:stretch/>
        </p:blipFill>
        <p:spPr>
          <a:xfrm>
            <a:off x="8953500" y="2984500"/>
            <a:ext cx="254000" cy="254000"/>
          </a:xfrm>
          <a:prstGeom prst="rect">
            <a:avLst/>
          </a:prstGeom>
        </p:spPr>
      </p:pic>
      <p:sp>
        <p:nvSpPr>
          <p:cNvPr id="30" name="Text 23"/>
          <p:cNvSpPr/>
          <p:nvPr/>
        </p:nvSpPr>
        <p:spPr>
          <a:xfrm>
            <a:off x="9296400" y="2891830"/>
            <a:ext cx="143991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Extraction LLM</a:t>
            </a:r>
            <a:endParaRPr lang="en-US" sz="1200" dirty="0"/>
          </a:p>
        </p:txBody>
      </p:sp>
      <p:sp>
        <p:nvSpPr>
          <p:cNvPr id="31" name="Text 24"/>
          <p:cNvSpPr/>
          <p:nvPr/>
        </p:nvSpPr>
        <p:spPr>
          <a:xfrm>
            <a:off x="9296400" y="3117850"/>
            <a:ext cx="143991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 turn into memories</a:t>
            </a:r>
            <a:endParaRPr lang="en-US" sz="1200" dirty="0"/>
          </a:p>
        </p:txBody>
      </p:sp>
      <p:sp>
        <p:nvSpPr>
          <p:cNvPr id="32" name="Shape 25"/>
          <p:cNvSpPr/>
          <p:nvPr/>
        </p:nvSpPr>
        <p:spPr>
          <a:xfrm>
            <a:off x="8869363" y="34845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33" name="Image 5" descr="Link">    </p:cNvPr>
          <p:cNvPicPr>
            <a:picLocks noChangeAspect="1"/>
          </p:cNvPicPr>
          <p:nvPr/>
        </p:nvPicPr>
        <p:blipFill>
          <a:blip r:embed="rId6"/>
          <a:srcRect l="0" r="0" t="0" b="0"/>
          <a:stretch/>
        </p:blipFill>
        <p:spPr>
          <a:xfrm>
            <a:off x="8953500" y="3594100"/>
            <a:ext cx="254000" cy="254000"/>
          </a:xfrm>
          <a:prstGeom prst="rect">
            <a:avLst/>
          </a:prstGeom>
        </p:spPr>
      </p:pic>
      <p:sp>
        <p:nvSpPr>
          <p:cNvPr id="34" name="Text 26"/>
          <p:cNvSpPr/>
          <p:nvPr/>
        </p:nvSpPr>
        <p:spPr>
          <a:xfrm>
            <a:off x="9296400" y="3501430"/>
            <a:ext cx="137165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Embedding model</a:t>
            </a:r>
            <a:endParaRPr lang="en-US" sz="1200" dirty="0"/>
          </a:p>
        </p:txBody>
      </p:sp>
      <p:sp>
        <p:nvSpPr>
          <p:cNvPr id="35" name="Text 27"/>
          <p:cNvSpPr/>
          <p:nvPr/>
        </p:nvSpPr>
        <p:spPr>
          <a:xfrm>
            <a:off x="9296400" y="3727450"/>
            <a:ext cx="13716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text to vectors</a:t>
            </a:r>
            <a:endParaRPr lang="en-US" sz="1200" dirty="0"/>
          </a:p>
        </p:txBody>
      </p:sp>
      <p:sp>
        <p:nvSpPr>
          <p:cNvPr id="36" name="Shape 28"/>
          <p:cNvSpPr/>
          <p:nvPr/>
        </p:nvSpPr>
        <p:spPr>
          <a:xfrm>
            <a:off x="8869363" y="40941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37" name="Image 6" descr="Star">    </p:cNvPr>
          <p:cNvPicPr>
            <a:picLocks noChangeAspect="1"/>
          </p:cNvPicPr>
          <p:nvPr/>
        </p:nvPicPr>
        <p:blipFill>
          <a:blip r:embed="rId7"/>
          <a:srcRect l="0" r="0" t="0" b="0"/>
          <a:stretch/>
        </p:blipFill>
        <p:spPr>
          <a:xfrm>
            <a:off x="8953500" y="4203700"/>
            <a:ext cx="254000" cy="254000"/>
          </a:xfrm>
          <a:prstGeom prst="rect">
            <a:avLst/>
          </a:prstGeom>
        </p:spPr>
      </p:pic>
      <p:sp>
        <p:nvSpPr>
          <p:cNvPr id="38" name="Text 29"/>
          <p:cNvSpPr/>
          <p:nvPr/>
        </p:nvSpPr>
        <p:spPr>
          <a:xfrm>
            <a:off x="9296400" y="4111030"/>
            <a:ext cx="157579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Reranker</a:t>
            </a:r>
            <a:endParaRPr lang="en-US" sz="1200" dirty="0"/>
          </a:p>
        </p:txBody>
      </p:sp>
      <p:sp>
        <p:nvSpPr>
          <p:cNvPr id="39" name="Text 30"/>
          <p:cNvSpPr/>
          <p:nvPr/>
        </p:nvSpPr>
        <p:spPr>
          <a:xfrm>
            <a:off x="9296400" y="4337050"/>
            <a:ext cx="157579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scores each candidate</a:t>
            </a:r>
            <a:endParaRPr lang="en-US" sz="1200" dirty="0"/>
          </a:p>
        </p:txBody>
      </p:sp>
      <p:sp>
        <p:nvSpPr>
          <p:cNvPr id="40" name="Shape 31"/>
          <p:cNvSpPr/>
          <p:nvPr/>
        </p:nvSpPr>
        <p:spPr>
          <a:xfrm>
            <a:off x="8869363" y="5160963"/>
            <a:ext cx="2352675" cy="473075"/>
          </a:xfrm>
          <a:prstGeom prst="roundRect">
            <a:avLst>
              <a:gd name="adj" fmla="val 20470"/>
            </a:avLst>
          </a:prstGeom>
          <a:solidFill>
            <a:srgbClr val="36677D">
              <a:alpha val="10000"/>
            </a:srgbClr>
          </a:solidFill>
          <a:ln w="9525">
            <a:solidFill>
              <a:srgbClr val="7FC4DC">
                <a:alpha val="60000"/>
              </a:srgbClr>
            </a:solidFill>
            <a:prstDash val="dash"/>
          </a:ln>
        </p:spPr>
      </p:sp>
      <p:pic>
        <p:nvPicPr>
          <p:cNvPr id="41" name="Image 7" descr="Check">    </p:cNvPr>
          <p:cNvPicPr>
            <a:picLocks noChangeAspect="1"/>
          </p:cNvPicPr>
          <p:nvPr/>
        </p:nvPicPr>
        <p:blipFill>
          <a:blip r:embed="rId8"/>
          <a:srcRect l="0" r="0" t="0" b="0"/>
          <a:stretch/>
        </p:blipFill>
        <p:spPr>
          <a:xfrm>
            <a:off x="8953500" y="5270500"/>
            <a:ext cx="254000" cy="254000"/>
          </a:xfrm>
          <a:prstGeom prst="rect">
            <a:avLst/>
          </a:prstGeom>
        </p:spPr>
      </p:pic>
      <p:sp>
        <p:nvSpPr>
          <p:cNvPr id="42" name="Text 32"/>
          <p:cNvSpPr/>
          <p:nvPr/>
        </p:nvSpPr>
        <p:spPr>
          <a:xfrm>
            <a:off x="9296400" y="5177830"/>
            <a:ext cx="167749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Decision model</a:t>
            </a:r>
            <a:endParaRPr lang="en-US" sz="1200" dirty="0"/>
          </a:p>
        </p:txBody>
      </p:sp>
      <p:sp>
        <p:nvSpPr>
          <p:cNvPr id="43" name="Text 33"/>
          <p:cNvSpPr/>
          <p:nvPr/>
        </p:nvSpPr>
        <p:spPr>
          <a:xfrm>
            <a:off x="9296400" y="5403850"/>
            <a:ext cx="167749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advanced: routes, gates</a:t>
            </a:r>
            <a:endParaRPr lang="en-US" sz="1200" dirty="0"/>
          </a:p>
        </p:txBody>
      </p:sp>
      <p:sp>
        <p:nvSpPr>
          <p:cNvPr id="44" name="Shape 34"/>
          <p:cNvSpPr/>
          <p:nvPr/>
        </p:nvSpPr>
        <p:spPr>
          <a:xfrm>
            <a:off x="969963" y="2874963"/>
            <a:ext cx="7064375" cy="1654175"/>
          </a:xfrm>
          <a:prstGeom prst="roundRect">
            <a:avLst>
              <a:gd name="adj" fmla="val 6622"/>
            </a:avLst>
          </a:prstGeom>
          <a:solidFill>
            <a:srgbClr val="FFFFFF">
              <a:alpha val="5000"/>
            </a:srgbClr>
          </a:solidFill>
          <a:ln w="9525">
            <a:solidFill>
              <a:srgbClr val="FFFFFF">
                <a:alpha val="22000"/>
              </a:srgbClr>
            </a:solidFill>
            <a:prstDash val="solid"/>
          </a:ln>
        </p:spPr>
      </p:sp>
      <p:pic>
        <p:nvPicPr>
          <p:cNvPr id="45" name="Image 8" descr="Activity">    </p:cNvPr>
          <p:cNvPicPr>
            <a:picLocks noChangeAspect="1"/>
          </p:cNvPicPr>
          <p:nvPr/>
        </p:nvPicPr>
        <p:blipFill>
          <a:blip r:embed="rId9"/>
          <a:srcRect l="0" r="0" t="0" b="0"/>
          <a:stretch/>
        </p:blipFill>
        <p:spPr>
          <a:xfrm>
            <a:off x="1117600" y="3019475"/>
            <a:ext cx="203200" cy="203200"/>
          </a:xfrm>
          <a:prstGeom prst="rect">
            <a:avLst/>
          </a:prstGeom>
        </p:spPr>
      </p:pic>
      <p:sp>
        <p:nvSpPr>
          <p:cNvPr id="46" name="Text 35"/>
          <p:cNvSpPr/>
          <p:nvPr/>
        </p:nvSpPr>
        <p:spPr>
          <a:xfrm>
            <a:off x="1422400" y="3014414"/>
            <a:ext cx="1597868"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FFFFFF"/>
                </a:solidFill>
                <a:latin typeface="Courier New" pitchFamily="49" charset="0"/>
                <a:ea typeface="Courier New" pitchFamily="49" charset="-122"/>
                <a:cs typeface="Courier New" pitchFamily="49" charset="-120"/>
              </a:rPr>
              <a:t>MEMORY MANAGER</a:t>
            </a:r>
            <a:endParaRPr lang="en-US" sz="1200" dirty="0"/>
          </a:p>
        </p:txBody>
      </p:sp>
      <p:sp>
        <p:nvSpPr>
          <p:cNvPr id="47" name="Text 36"/>
          <p:cNvSpPr/>
          <p:nvPr/>
        </p:nvSpPr>
        <p:spPr>
          <a:xfrm>
            <a:off x="1117600" y="3493641"/>
            <a:ext cx="1270000" cy="314920"/>
          </a:xfrm>
          <a:custGeom>
            <a:avLst/>
            <a:gdLst/>
            <a:ahLst/>
            <a:cxnLst/>
            <a:rect l="l" t="t" r="r" b="b"/>
            <a:pathLst>
              <a:path w="1270000" h="314920">
                <a:moveTo>
                  <a:pt x="157460" y="0"/>
                </a:moveTo>
                <a:lnTo>
                  <a:pt x="1112540" y="0"/>
                </a:lnTo>
                <a:arcTo hR="157460" wR="157460" stAng="16200000" swAng="5400000"/>
                <a:lnTo>
                  <a:pt x="1270000" y="157460"/>
                </a:lnTo>
                <a:arcTo hR="157460" wR="157460" stAng="0" swAng="5400000"/>
                <a:lnTo>
                  <a:pt x="157460" y="314920"/>
                </a:lnTo>
                <a:arcTo hR="157460" wR="157460" stAng="5400000" swAng="5400000"/>
                <a:lnTo>
                  <a:pt x="0" y="157460"/>
                </a:lnTo>
                <a:arcTo hR="157460" wR="157460"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Extract</a:t>
            </a:r>
            <a:endParaRPr lang="en-US" sz="1200" dirty="0"/>
          </a:p>
        </p:txBody>
      </p:sp>
      <p:sp>
        <p:nvSpPr>
          <p:cNvPr id="48" name="Text 37"/>
          <p:cNvSpPr/>
          <p:nvPr/>
        </p:nvSpPr>
        <p:spPr>
          <a:xfrm>
            <a:off x="2463800" y="3493641"/>
            <a:ext cx="1270000" cy="314920"/>
          </a:xfrm>
          <a:custGeom>
            <a:avLst/>
            <a:gdLst/>
            <a:ahLst/>
            <a:cxnLst/>
            <a:rect l="l" t="t" r="r" b="b"/>
            <a:pathLst>
              <a:path w="1270000" h="314920">
                <a:moveTo>
                  <a:pt x="157460" y="0"/>
                </a:moveTo>
                <a:lnTo>
                  <a:pt x="1112540" y="0"/>
                </a:lnTo>
                <a:arcTo hR="157460" wR="157460" stAng="16200000" swAng="5400000"/>
                <a:lnTo>
                  <a:pt x="1270000" y="157460"/>
                </a:lnTo>
                <a:arcTo hR="157460" wR="157460" stAng="0" swAng="5400000"/>
                <a:lnTo>
                  <a:pt x="157460" y="314920"/>
                </a:lnTo>
                <a:arcTo hR="157460" wR="157460" stAng="5400000" swAng="5400000"/>
                <a:lnTo>
                  <a:pt x="0" y="157460"/>
                </a:lnTo>
                <a:arcTo hR="157460" wR="157460"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Dedupe</a:t>
            </a:r>
            <a:endParaRPr lang="en-US" sz="1200" dirty="0"/>
          </a:p>
        </p:txBody>
      </p:sp>
      <p:sp>
        <p:nvSpPr>
          <p:cNvPr id="49" name="Text 38"/>
          <p:cNvSpPr/>
          <p:nvPr/>
        </p:nvSpPr>
        <p:spPr>
          <a:xfrm>
            <a:off x="3810000" y="3493641"/>
            <a:ext cx="1270000" cy="314920"/>
          </a:xfrm>
          <a:custGeom>
            <a:avLst/>
            <a:gdLst/>
            <a:ahLst/>
            <a:cxnLst/>
            <a:rect l="l" t="t" r="r" b="b"/>
            <a:pathLst>
              <a:path w="1270000" h="314920">
                <a:moveTo>
                  <a:pt x="157460" y="0"/>
                </a:moveTo>
                <a:lnTo>
                  <a:pt x="1112540" y="0"/>
                </a:lnTo>
                <a:arcTo hR="157460" wR="157460" stAng="16200000" swAng="5400000"/>
                <a:lnTo>
                  <a:pt x="1270000" y="157460"/>
                </a:lnTo>
                <a:arcTo hR="157460" wR="157460" stAng="0" swAng="5400000"/>
                <a:lnTo>
                  <a:pt x="157460" y="314920"/>
                </a:lnTo>
                <a:arcTo hR="157460" wR="157460" stAng="5400000" swAng="5400000"/>
                <a:lnTo>
                  <a:pt x="0" y="157460"/>
                </a:lnTo>
                <a:arcTo hR="157460" wR="157460"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Consolidate</a:t>
            </a:r>
            <a:endParaRPr lang="en-US" sz="1200" dirty="0"/>
          </a:p>
        </p:txBody>
      </p:sp>
      <p:sp>
        <p:nvSpPr>
          <p:cNvPr id="50" name="Text 39"/>
          <p:cNvSpPr/>
          <p:nvPr/>
        </p:nvSpPr>
        <p:spPr>
          <a:xfrm>
            <a:off x="5156200" y="3493641"/>
            <a:ext cx="1270000" cy="314920"/>
          </a:xfrm>
          <a:custGeom>
            <a:avLst/>
            <a:gdLst/>
            <a:ahLst/>
            <a:cxnLst/>
            <a:rect l="l" t="t" r="r" b="b"/>
            <a:pathLst>
              <a:path w="1270000" h="314920">
                <a:moveTo>
                  <a:pt x="157460" y="0"/>
                </a:moveTo>
                <a:lnTo>
                  <a:pt x="1112540" y="0"/>
                </a:lnTo>
                <a:arcTo hR="157460" wR="157460" stAng="16200000" swAng="5400000"/>
                <a:lnTo>
                  <a:pt x="1270000" y="157460"/>
                </a:lnTo>
                <a:arcTo hR="157460" wR="157460" stAng="0" swAng="5400000"/>
                <a:lnTo>
                  <a:pt x="157460" y="314920"/>
                </a:lnTo>
                <a:arcTo hR="157460" wR="157460" stAng="5400000" swAng="5400000"/>
                <a:lnTo>
                  <a:pt x="0" y="157460"/>
                </a:lnTo>
                <a:arcTo hR="157460" wR="157460"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Conflicts</a:t>
            </a:r>
            <a:endParaRPr lang="en-US" sz="1200" dirty="0"/>
          </a:p>
        </p:txBody>
      </p:sp>
      <p:sp>
        <p:nvSpPr>
          <p:cNvPr id="51" name="Text 40"/>
          <p:cNvSpPr/>
          <p:nvPr/>
        </p:nvSpPr>
        <p:spPr>
          <a:xfrm>
            <a:off x="6502400" y="3493641"/>
            <a:ext cx="1270000" cy="314920"/>
          </a:xfrm>
          <a:custGeom>
            <a:avLst/>
            <a:gdLst/>
            <a:ahLst/>
            <a:cxnLst/>
            <a:rect l="l" t="t" r="r" b="b"/>
            <a:pathLst>
              <a:path w="1270000" h="314920">
                <a:moveTo>
                  <a:pt x="157460" y="0"/>
                </a:moveTo>
                <a:lnTo>
                  <a:pt x="1112540" y="0"/>
                </a:lnTo>
                <a:arcTo hR="157460" wR="157460" stAng="16200000" swAng="5400000"/>
                <a:lnTo>
                  <a:pt x="1270000" y="157460"/>
                </a:lnTo>
                <a:arcTo hR="157460" wR="157460" stAng="0" swAng="5400000"/>
                <a:lnTo>
                  <a:pt x="157460" y="314920"/>
                </a:lnTo>
                <a:arcTo hR="157460" wR="157460" stAng="5400000" swAng="5400000"/>
                <a:lnTo>
                  <a:pt x="0" y="157460"/>
                </a:lnTo>
                <a:arcTo hR="157460" wR="157460"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Decay</a:t>
            </a:r>
            <a:endParaRPr lang="en-US" sz="1200" dirty="0"/>
          </a:p>
        </p:txBody>
      </p:sp>
      <p:sp>
        <p:nvSpPr>
          <p:cNvPr id="52" name="Text 41"/>
          <p:cNvSpPr/>
          <p:nvPr/>
        </p:nvSpPr>
        <p:spPr>
          <a:xfrm>
            <a:off x="1117600" y="4074616"/>
            <a:ext cx="1270000" cy="314920"/>
          </a:xfrm>
          <a:custGeom>
            <a:avLst/>
            <a:gdLst/>
            <a:ahLst/>
            <a:cxnLst/>
            <a:rect l="l" t="t" r="r" b="b"/>
            <a:pathLst>
              <a:path w="1270000" h="314920">
                <a:moveTo>
                  <a:pt x="157460" y="0"/>
                </a:moveTo>
                <a:lnTo>
                  <a:pt x="1112540" y="0"/>
                </a:lnTo>
                <a:arcTo hR="157460" wR="157460" stAng="16200000" swAng="5400000"/>
                <a:lnTo>
                  <a:pt x="1270000" y="157460"/>
                </a:lnTo>
                <a:arcTo hR="157460" wR="157460" stAng="0" swAng="5400000"/>
                <a:lnTo>
                  <a:pt x="157460" y="314920"/>
                </a:lnTo>
                <a:arcTo hR="157460" wR="157460" stAng="5400000" swAng="5400000"/>
                <a:lnTo>
                  <a:pt x="0" y="157460"/>
                </a:lnTo>
                <a:arcTo hR="157460" wR="157460"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Scope</a:t>
            </a:r>
            <a:endParaRPr lang="en-US" sz="1200" dirty="0"/>
          </a:p>
        </p:txBody>
      </p:sp>
      <p:sp>
        <p:nvSpPr>
          <p:cNvPr id="53" name="Text 42"/>
          <p:cNvSpPr/>
          <p:nvPr/>
        </p:nvSpPr>
        <p:spPr>
          <a:xfrm>
            <a:off x="2463800" y="4074616"/>
            <a:ext cx="1270000" cy="314920"/>
          </a:xfrm>
          <a:custGeom>
            <a:avLst/>
            <a:gdLst/>
            <a:ahLst/>
            <a:cxnLst/>
            <a:rect l="l" t="t" r="r" b="b"/>
            <a:pathLst>
              <a:path w="1270000" h="314920">
                <a:moveTo>
                  <a:pt x="157460" y="0"/>
                </a:moveTo>
                <a:lnTo>
                  <a:pt x="1112540" y="0"/>
                </a:lnTo>
                <a:arcTo hR="157460" wR="157460" stAng="16200000" swAng="5400000"/>
                <a:lnTo>
                  <a:pt x="1270000" y="157460"/>
                </a:lnTo>
                <a:arcTo hR="157460" wR="157460" stAng="0" swAng="5400000"/>
                <a:lnTo>
                  <a:pt x="157460" y="314920"/>
                </a:lnTo>
                <a:arcTo hR="157460" wR="157460" stAng="5400000" swAng="5400000"/>
                <a:lnTo>
                  <a:pt x="0" y="157460"/>
                </a:lnTo>
                <a:arcTo hR="157460" wR="157460"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Retrieve</a:t>
            </a:r>
            <a:endParaRPr lang="en-US" sz="1200" dirty="0"/>
          </a:p>
        </p:txBody>
      </p:sp>
      <p:sp>
        <p:nvSpPr>
          <p:cNvPr id="54" name="Text 43"/>
          <p:cNvSpPr/>
          <p:nvPr/>
        </p:nvSpPr>
        <p:spPr>
          <a:xfrm>
            <a:off x="3810000" y="4074616"/>
            <a:ext cx="1270000" cy="314920"/>
          </a:xfrm>
          <a:custGeom>
            <a:avLst/>
            <a:gdLst/>
            <a:ahLst/>
            <a:cxnLst/>
            <a:rect l="l" t="t" r="r" b="b"/>
            <a:pathLst>
              <a:path w="1270000" h="314920">
                <a:moveTo>
                  <a:pt x="157460" y="0"/>
                </a:moveTo>
                <a:lnTo>
                  <a:pt x="1112540" y="0"/>
                </a:lnTo>
                <a:arcTo hR="157460" wR="157460" stAng="16200000" swAng="5400000"/>
                <a:lnTo>
                  <a:pt x="1270000" y="157460"/>
                </a:lnTo>
                <a:arcTo hR="157460" wR="157460" stAng="0" swAng="5400000"/>
                <a:lnTo>
                  <a:pt x="157460" y="314920"/>
                </a:lnTo>
                <a:arcTo hR="157460" wR="157460" stAng="5400000" swAng="5400000"/>
                <a:lnTo>
                  <a:pt x="0" y="157460"/>
                </a:lnTo>
                <a:arcTo hR="157460" wR="157460"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Rerank</a:t>
            </a:r>
            <a:endParaRPr lang="en-US" sz="1200" dirty="0"/>
          </a:p>
        </p:txBody>
      </p:sp>
      <p:sp>
        <p:nvSpPr>
          <p:cNvPr id="55" name="Text 44"/>
          <p:cNvSpPr/>
          <p:nvPr/>
        </p:nvSpPr>
        <p:spPr>
          <a:xfrm>
            <a:off x="5156200" y="4074616"/>
            <a:ext cx="1270000" cy="314920"/>
          </a:xfrm>
          <a:custGeom>
            <a:avLst/>
            <a:gdLst/>
            <a:ahLst/>
            <a:cxnLst/>
            <a:rect l="l" t="t" r="r" b="b"/>
            <a:pathLst>
              <a:path w="1270000" h="314920">
                <a:moveTo>
                  <a:pt x="157460" y="0"/>
                </a:moveTo>
                <a:lnTo>
                  <a:pt x="1112540" y="0"/>
                </a:lnTo>
                <a:arcTo hR="157460" wR="157460" stAng="16200000" swAng="5400000"/>
                <a:lnTo>
                  <a:pt x="1270000" y="157460"/>
                </a:lnTo>
                <a:arcTo hR="157460" wR="157460" stAng="0" swAng="5400000"/>
                <a:lnTo>
                  <a:pt x="157460" y="314920"/>
                </a:lnTo>
                <a:arcTo hR="157460" wR="157460" stAng="5400000" swAng="5400000"/>
                <a:lnTo>
                  <a:pt x="0" y="157460"/>
                </a:lnTo>
                <a:arcTo hR="157460" wR="157460"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Budget</a:t>
            </a:r>
            <a:endParaRPr lang="en-US" sz="1200" dirty="0"/>
          </a:p>
        </p:txBody>
      </p:sp>
      <p:sp>
        <p:nvSpPr>
          <p:cNvPr id="56" name="Text 45"/>
          <p:cNvSpPr/>
          <p:nvPr/>
        </p:nvSpPr>
        <p:spPr>
          <a:xfrm>
            <a:off x="6502400" y="4074616"/>
            <a:ext cx="1270000" cy="314920"/>
          </a:xfrm>
          <a:custGeom>
            <a:avLst/>
            <a:gdLst/>
            <a:ahLst/>
            <a:cxnLst/>
            <a:rect l="l" t="t" r="r" b="b"/>
            <a:pathLst>
              <a:path w="1270000" h="314920">
                <a:moveTo>
                  <a:pt x="157460" y="0"/>
                </a:moveTo>
                <a:lnTo>
                  <a:pt x="1112540" y="0"/>
                </a:lnTo>
                <a:arcTo hR="157460" wR="157460" stAng="16200000" swAng="5400000"/>
                <a:lnTo>
                  <a:pt x="1270000" y="157460"/>
                </a:lnTo>
                <a:arcTo hR="157460" wR="157460" stAng="0" swAng="5400000"/>
                <a:lnTo>
                  <a:pt x="157460" y="314920"/>
                </a:lnTo>
                <a:arcTo hR="157460" wR="157460" stAng="5400000" swAng="5400000"/>
                <a:lnTo>
                  <a:pt x="0" y="157460"/>
                </a:lnTo>
                <a:arcTo hR="157460" wR="157460"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Inject</a:t>
            </a:r>
            <a:endParaRPr lang="en-US" sz="1200" dirty="0"/>
          </a:p>
        </p:txBody>
      </p:sp>
      <p:sp>
        <p:nvSpPr>
          <p:cNvPr id="57" name="Shape 46"/>
          <p:cNvSpPr/>
          <p:nvPr/>
        </p:nvSpPr>
        <p:spPr>
          <a:xfrm>
            <a:off x="969963" y="5097463"/>
            <a:ext cx="7064375" cy="688975"/>
          </a:xfrm>
          <a:prstGeom prst="roundRect">
            <a:avLst>
              <a:gd name="adj" fmla="val 15899"/>
            </a:avLst>
          </a:prstGeom>
          <a:solidFill>
            <a:srgbClr val="DEB068">
              <a:alpha val="6000"/>
            </a:srgbClr>
          </a:solidFill>
          <a:ln w="9525">
            <a:solidFill>
              <a:srgbClr val="DEB068">
                <a:alpha val="45000"/>
              </a:srgbClr>
            </a:solidFill>
            <a:prstDash val="solid"/>
          </a:ln>
        </p:spPr>
      </p:sp>
      <p:pic>
        <p:nvPicPr>
          <p:cNvPr id="58" name="Image 9" descr="Database">    </p:cNvPr>
          <p:cNvPicPr>
            <a:picLocks noChangeAspect="1"/>
          </p:cNvPicPr>
          <p:nvPr/>
        </p:nvPicPr>
        <p:blipFill>
          <a:blip r:embed="rId10"/>
          <a:srcRect l="0" r="0" t="0" b="0"/>
          <a:stretch/>
        </p:blipFill>
        <p:spPr>
          <a:xfrm>
            <a:off x="1066800" y="5167015"/>
            <a:ext cx="203200" cy="203200"/>
          </a:xfrm>
          <a:prstGeom prst="rect">
            <a:avLst/>
          </a:prstGeom>
        </p:spPr>
      </p:pic>
      <p:sp>
        <p:nvSpPr>
          <p:cNvPr id="59" name="Text 47"/>
          <p:cNvSpPr/>
          <p:nvPr/>
        </p:nvSpPr>
        <p:spPr>
          <a:xfrm>
            <a:off x="1371600" y="5162004"/>
            <a:ext cx="250404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MEMORY CORE · DATABASE</a:t>
            </a:r>
            <a:endParaRPr lang="en-US" sz="1200" dirty="0"/>
          </a:p>
        </p:txBody>
      </p:sp>
      <p:sp>
        <p:nvSpPr>
          <p:cNvPr id="60" name="Text 48"/>
          <p:cNvSpPr/>
          <p:nvPr/>
        </p:nvSpPr>
        <p:spPr>
          <a:xfrm>
            <a:off x="1066800" y="5425629"/>
            <a:ext cx="753814" cy="295821"/>
          </a:xfrm>
          <a:custGeom>
            <a:avLst/>
            <a:gdLst/>
            <a:ahLst/>
            <a:cxnLst/>
            <a:rect l="l" t="t" r="r" b="b"/>
            <a:pathLst>
              <a:path w="753814" h="295821">
                <a:moveTo>
                  <a:pt x="147910" y="0"/>
                </a:moveTo>
                <a:lnTo>
                  <a:pt x="605904" y="0"/>
                </a:lnTo>
                <a:arcTo hR="147910" wR="147910" stAng="16200000" swAng="5400000"/>
                <a:lnTo>
                  <a:pt x="753814"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Memories</a:t>
            </a:r>
            <a:endParaRPr lang="en-US" sz="1100" dirty="0"/>
          </a:p>
        </p:txBody>
      </p:sp>
      <p:sp>
        <p:nvSpPr>
          <p:cNvPr id="61" name="Text 49"/>
          <p:cNvSpPr/>
          <p:nvPr/>
        </p:nvSpPr>
        <p:spPr>
          <a:xfrm>
            <a:off x="1896814" y="5425629"/>
            <a:ext cx="606375" cy="295821"/>
          </a:xfrm>
          <a:custGeom>
            <a:avLst/>
            <a:gdLst/>
            <a:ahLst/>
            <a:cxnLst/>
            <a:rect l="l" t="t" r="r" b="b"/>
            <a:pathLst>
              <a:path w="606375" h="295821">
                <a:moveTo>
                  <a:pt x="147910" y="0"/>
                </a:moveTo>
                <a:lnTo>
                  <a:pt x="458465" y="0"/>
                </a:lnTo>
                <a:arcTo hR="147910" wR="147910" stAng="16200000" swAng="5400000"/>
                <a:lnTo>
                  <a:pt x="606375"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Vectors</a:t>
            </a:r>
            <a:endParaRPr lang="en-US" sz="1100" dirty="0"/>
          </a:p>
        </p:txBody>
      </p:sp>
      <p:sp>
        <p:nvSpPr>
          <p:cNvPr id="62" name="Text 50"/>
          <p:cNvSpPr/>
          <p:nvPr/>
        </p:nvSpPr>
        <p:spPr>
          <a:xfrm>
            <a:off x="2579390" y="5425629"/>
            <a:ext cx="378520" cy="295821"/>
          </a:xfrm>
          <a:custGeom>
            <a:avLst/>
            <a:gdLst/>
            <a:ahLst/>
            <a:cxnLst/>
            <a:rect l="l" t="t" r="r" b="b"/>
            <a:pathLst>
              <a:path w="378520" h="295821">
                <a:moveTo>
                  <a:pt x="147910" y="0"/>
                </a:moveTo>
                <a:lnTo>
                  <a:pt x="230609" y="0"/>
                </a:lnTo>
                <a:arcTo hR="147910" wR="147910" stAng="16200000" swAng="5400000"/>
                <a:lnTo>
                  <a:pt x="378520"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Text</a:t>
            </a:r>
            <a:endParaRPr lang="en-US" sz="1100" dirty="0"/>
          </a:p>
        </p:txBody>
      </p:sp>
      <p:sp>
        <p:nvSpPr>
          <p:cNvPr id="63" name="Text 51"/>
          <p:cNvSpPr/>
          <p:nvPr/>
        </p:nvSpPr>
        <p:spPr>
          <a:xfrm>
            <a:off x="3034109" y="5425629"/>
            <a:ext cx="1312515" cy="295821"/>
          </a:xfrm>
          <a:custGeom>
            <a:avLst/>
            <a:gdLst/>
            <a:ahLst/>
            <a:cxnLst/>
            <a:rect l="l" t="t" r="r" b="b"/>
            <a:pathLst>
              <a:path w="1312515" h="295821">
                <a:moveTo>
                  <a:pt x="147910" y="0"/>
                </a:moveTo>
                <a:lnTo>
                  <a:pt x="1164605" y="0"/>
                </a:lnTo>
                <a:arcTo hR="147910" wR="147910" stAng="16200000" swAng="5400000"/>
                <a:lnTo>
                  <a:pt x="1312515"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SQL, JSON, graph</a:t>
            </a:r>
            <a:endParaRPr lang="en-US" sz="1100" dirty="0"/>
          </a:p>
        </p:txBody>
      </p:sp>
      <p:sp>
        <p:nvSpPr>
          <p:cNvPr id="64" name="Text 52"/>
          <p:cNvSpPr/>
          <p:nvPr/>
        </p:nvSpPr>
        <p:spPr>
          <a:xfrm>
            <a:off x="4422825" y="5425629"/>
            <a:ext cx="357634" cy="295821"/>
          </a:xfrm>
          <a:custGeom>
            <a:avLst/>
            <a:gdLst/>
            <a:ahLst/>
            <a:cxnLst/>
            <a:rect l="l" t="t" r="r" b="b"/>
            <a:pathLst>
              <a:path w="357634" h="295821">
                <a:moveTo>
                  <a:pt x="147910" y="0"/>
                </a:moveTo>
                <a:lnTo>
                  <a:pt x="209724" y="0"/>
                </a:lnTo>
                <a:arcTo hR="147910" wR="147910" stAng="16200000" swAng="5400000"/>
                <a:lnTo>
                  <a:pt x="357634"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TTL</a:t>
            </a:r>
            <a:endParaRPr lang="en-US" sz="1100" dirty="0"/>
          </a:p>
        </p:txBody>
      </p:sp>
      <p:sp>
        <p:nvSpPr>
          <p:cNvPr id="65" name="Text 53"/>
          <p:cNvSpPr/>
          <p:nvPr/>
        </p:nvSpPr>
        <p:spPr>
          <a:xfrm>
            <a:off x="4856659" y="5425629"/>
            <a:ext cx="939949" cy="295821"/>
          </a:xfrm>
          <a:custGeom>
            <a:avLst/>
            <a:gdLst/>
            <a:ahLst/>
            <a:cxnLst/>
            <a:rect l="l" t="t" r="r" b="b"/>
            <a:pathLst>
              <a:path w="939949" h="295821">
                <a:moveTo>
                  <a:pt x="147910" y="0"/>
                </a:moveTo>
                <a:lnTo>
                  <a:pt x="792038" y="0"/>
                </a:lnTo>
                <a:arcTo hR="147910" wR="147910" stAng="16200000" swAng="5400000"/>
                <a:lnTo>
                  <a:pt x="939949"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Entitlements</a:t>
            </a:r>
            <a:endParaRPr lang="en-US" sz="1100" dirty="0"/>
          </a:p>
        </p:txBody>
      </p:sp>
      <p:sp>
        <p:nvSpPr>
          <p:cNvPr id="66" name="Text 54"/>
          <p:cNvSpPr/>
          <p:nvPr/>
        </p:nvSpPr>
        <p:spPr>
          <a:xfrm>
            <a:off x="5872807" y="5425629"/>
            <a:ext cx="458490" cy="295821"/>
          </a:xfrm>
          <a:custGeom>
            <a:avLst/>
            <a:gdLst/>
            <a:ahLst/>
            <a:cxnLst/>
            <a:rect l="l" t="t" r="r" b="b"/>
            <a:pathLst>
              <a:path w="458490" h="295821">
                <a:moveTo>
                  <a:pt x="147910" y="0"/>
                </a:moveTo>
                <a:lnTo>
                  <a:pt x="310579" y="0"/>
                </a:lnTo>
                <a:arcTo hR="147910" wR="147910" stAng="16200000" swAng="5400000"/>
                <a:lnTo>
                  <a:pt x="458490"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Audit</a:t>
            </a:r>
            <a:endParaRPr lang="en-US" sz="1100" dirty="0"/>
          </a:p>
        </p:txBody>
      </p:sp>
      <p:pic>
        <p:nvPicPr>
          <p:cNvPr id="67" name="Image 10" descr="request, build the window, tokens in, response back to the harness">    </p:cNvPr>
          <p:cNvPicPr>
            <a:picLocks noChangeAspect="1"/>
          </p:cNvPicPr>
          <p:nvPr/>
        </p:nvPicPr>
        <p:blipFill>
          <a:blip r:embed="rId11"/>
          <a:srcRect l="0" r="0" t="0" b="0"/>
          <a:stretch/>
        </p:blipFill>
        <p:spPr>
          <a:xfrm>
            <a:off x="0" y="0"/>
            <a:ext cx="12192000" cy="6858000"/>
          </a:xfrm>
          <a:prstGeom prst="rect">
            <a:avLst/>
          </a:prstGeom>
        </p:spPr>
      </p:pic>
      <p:sp>
        <p:nvSpPr>
          <p:cNvPr id="68" name="Text 55"/>
          <p:cNvSpPr/>
          <p:nvPr/>
        </p:nvSpPr>
        <p:spPr>
          <a:xfrm>
            <a:off x="2336800" y="1778000"/>
            <a:ext cx="685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request</a:t>
            </a:r>
            <a:endParaRPr lang="en-US" sz="1200" dirty="0"/>
          </a:p>
        </p:txBody>
      </p:sp>
      <p:sp>
        <p:nvSpPr>
          <p:cNvPr id="69" name="Text 56"/>
          <p:cNvSpPr/>
          <p:nvPr/>
        </p:nvSpPr>
        <p:spPr>
          <a:xfrm>
            <a:off x="5003800" y="17780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builds</a:t>
            </a:r>
            <a:endParaRPr lang="en-US" sz="1200" dirty="0"/>
          </a:p>
        </p:txBody>
      </p:sp>
      <p:sp>
        <p:nvSpPr>
          <p:cNvPr id="70" name="Text 57"/>
          <p:cNvSpPr/>
          <p:nvPr/>
        </p:nvSpPr>
        <p:spPr>
          <a:xfrm>
            <a:off x="7543800" y="1778000"/>
            <a:ext cx="13081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tokens in</a:t>
            </a:r>
            <a:endParaRPr lang="en-US" sz="1200" dirty="0"/>
          </a:p>
        </p:txBody>
      </p:sp>
      <p:sp>
        <p:nvSpPr>
          <p:cNvPr id="71" name="Text 58"/>
          <p:cNvSpPr/>
          <p:nvPr/>
        </p:nvSpPr>
        <p:spPr>
          <a:xfrm>
            <a:off x="10147300" y="1295400"/>
            <a:ext cx="1130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response</a:t>
            </a:r>
            <a:endParaRPr lang="en-US" sz="1200" dirty="0"/>
          </a:p>
        </p:txBody>
      </p:sp>
      <p:pic>
        <p:nvPicPr>
          <p:cNvPr id="72" name="Image 11" descr="messages and traces to the manager, extraction, embedding, write to the core">    </p:cNvPr>
          <p:cNvPicPr>
            <a:picLocks noChangeAspect="1"/>
          </p:cNvPicPr>
          <p:nvPr/>
        </p:nvPicPr>
        <p:blipFill>
          <a:blip r:embed="rId12"/>
          <a:srcRect l="0" r="0" t="0" b="0"/>
          <a:stretch/>
        </p:blipFill>
        <p:spPr>
          <a:xfrm>
            <a:off x="0" y="0"/>
            <a:ext cx="12192000" cy="6858000"/>
          </a:xfrm>
          <a:prstGeom prst="rect">
            <a:avLst/>
          </a:prstGeom>
        </p:spPr>
      </p:pic>
      <p:sp>
        <p:nvSpPr>
          <p:cNvPr id="73" name="Text 59"/>
          <p:cNvSpPr/>
          <p:nvPr/>
        </p:nvSpPr>
        <p:spPr>
          <a:xfrm>
            <a:off x="1483360" y="2432050"/>
            <a:ext cx="176784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messages, traces</a:t>
            </a:r>
            <a:endParaRPr lang="en-US" sz="1200" dirty="0"/>
          </a:p>
        </p:txBody>
      </p:sp>
      <p:sp>
        <p:nvSpPr>
          <p:cNvPr id="74" name="Text 60"/>
          <p:cNvSpPr/>
          <p:nvPr/>
        </p:nvSpPr>
        <p:spPr>
          <a:xfrm>
            <a:off x="8039100" y="2895600"/>
            <a:ext cx="685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extract</a:t>
            </a:r>
            <a:endParaRPr lang="en-US" sz="1200" dirty="0"/>
          </a:p>
        </p:txBody>
      </p:sp>
      <p:sp>
        <p:nvSpPr>
          <p:cNvPr id="75" name="Text 61"/>
          <p:cNvSpPr/>
          <p:nvPr/>
        </p:nvSpPr>
        <p:spPr>
          <a:xfrm>
            <a:off x="8039100" y="35052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embed</a:t>
            </a:r>
            <a:endParaRPr lang="en-US" sz="1200" dirty="0"/>
          </a:p>
        </p:txBody>
      </p:sp>
      <p:sp>
        <p:nvSpPr>
          <p:cNvPr id="76" name="Text 62"/>
          <p:cNvSpPr/>
          <p:nvPr/>
        </p:nvSpPr>
        <p:spPr>
          <a:xfrm>
            <a:off x="2768600" y="4699000"/>
            <a:ext cx="685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write</a:t>
            </a:r>
            <a:endParaRPr lang="en-US" sz="1200" dirty="0"/>
          </a:p>
        </p:txBody>
      </p:sp>
      <p:pic>
        <p:nvPicPr>
          <p:cNvPr id="77" name="Image 12" descr="query with scope, scoped search, candidates back, rerank, context card into the window">    </p:cNvPr>
          <p:cNvPicPr>
            <a:picLocks noChangeAspect="1"/>
          </p:cNvPicPr>
          <p:nvPr/>
        </p:nvPicPr>
        <p:blipFill>
          <a:blip r:embed="rId13"/>
          <a:srcRect l="0" r="0" t="0" b="0"/>
          <a:stretch/>
        </p:blipFill>
        <p:spPr>
          <a:xfrm>
            <a:off x="0" y="0"/>
            <a:ext cx="12192000" cy="6858000"/>
          </a:xfrm>
          <a:prstGeom prst="rect">
            <a:avLst/>
          </a:prstGeom>
        </p:spPr>
      </p:pic>
      <p:sp>
        <p:nvSpPr>
          <p:cNvPr id="78" name="Text 63"/>
          <p:cNvSpPr/>
          <p:nvPr/>
        </p:nvSpPr>
        <p:spPr>
          <a:xfrm>
            <a:off x="4546600" y="2432050"/>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query + scope</a:t>
            </a:r>
            <a:endParaRPr lang="en-US" sz="1200" dirty="0"/>
          </a:p>
        </p:txBody>
      </p:sp>
      <p:sp>
        <p:nvSpPr>
          <p:cNvPr id="79" name="Text 64"/>
          <p:cNvSpPr/>
          <p:nvPr/>
        </p:nvSpPr>
        <p:spPr>
          <a:xfrm>
            <a:off x="4927600" y="4699000"/>
            <a:ext cx="685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search</a:t>
            </a:r>
            <a:endParaRPr lang="en-US" sz="1200" dirty="0"/>
          </a:p>
        </p:txBody>
      </p:sp>
      <p:sp>
        <p:nvSpPr>
          <p:cNvPr id="80" name="Text 65"/>
          <p:cNvSpPr/>
          <p:nvPr/>
        </p:nvSpPr>
        <p:spPr>
          <a:xfrm>
            <a:off x="5702300" y="4699000"/>
            <a:ext cx="9779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candidates</a:t>
            </a:r>
            <a:endParaRPr lang="en-US" sz="1200" dirty="0"/>
          </a:p>
        </p:txBody>
      </p:sp>
      <p:sp>
        <p:nvSpPr>
          <p:cNvPr id="81" name="Text 66"/>
          <p:cNvSpPr/>
          <p:nvPr/>
        </p:nvSpPr>
        <p:spPr>
          <a:xfrm>
            <a:off x="8039100" y="41148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rerank</a:t>
            </a:r>
            <a:endParaRPr lang="en-US" sz="1200" dirty="0"/>
          </a:p>
        </p:txBody>
      </p:sp>
      <p:sp>
        <p:nvSpPr>
          <p:cNvPr id="82" name="Text 67"/>
          <p:cNvSpPr/>
          <p:nvPr/>
        </p:nvSpPr>
        <p:spPr>
          <a:xfrm>
            <a:off x="7086600" y="2432050"/>
            <a:ext cx="1257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context card</a:t>
            </a:r>
            <a:endParaRPr lang="en-US" sz="1200" dirty="0"/>
          </a:p>
        </p:txBody>
      </p:sp>
      <p:sp>
        <p:nvSpPr>
          <p:cNvPr id="83" name="Shape 68"/>
          <p:cNvSpPr/>
          <p:nvPr/>
        </p:nvSpPr>
        <p:spPr>
          <a:xfrm>
            <a:off x="1063625" y="3425825"/>
            <a:ext cx="2736850" cy="400050"/>
          </a:xfrm>
          <a:prstGeom prst="roundRect">
            <a:avLst>
              <a:gd name="adj" fmla="val 26190"/>
            </a:avLst>
          </a:prstGeom>
          <a:noFill/>
          <a:ln w="19050">
            <a:solidFill>
              <a:srgbClr val="E8836F"/>
            </a:solidFill>
            <a:prstDash val="solid"/>
          </a:ln>
        </p:spPr>
      </p:sp>
      <p:sp>
        <p:nvSpPr>
          <p:cNvPr id="84" name="Text 69"/>
          <p:cNvSpPr/>
          <p:nvPr/>
        </p:nvSpPr>
        <p:spPr>
          <a:xfrm>
            <a:off x="1054100" y="3162300"/>
            <a:ext cx="1257300" cy="289520"/>
          </a:xfrm>
          <a:custGeom>
            <a:avLst/>
            <a:gdLst/>
            <a:ahLst/>
            <a:cxnLst/>
            <a:rect l="l" t="t" r="r" b="b"/>
            <a:pathLst>
              <a:path w="1257300" h="289520">
                <a:moveTo>
                  <a:pt x="144760" y="0"/>
                </a:moveTo>
                <a:lnTo>
                  <a:pt x="1112540" y="0"/>
                </a:lnTo>
                <a:arcTo hR="144760" wR="144760" stAng="16200000" swAng="5400000"/>
                <a:lnTo>
                  <a:pt x="1257300" y="144760"/>
                </a:lnTo>
                <a:arcTo hR="144760" wR="144760" stAng="0" swAng="5400000"/>
                <a:lnTo>
                  <a:pt x="144760" y="289520"/>
                </a:lnTo>
                <a:arcTo hR="144760" wR="144760" stAng="5400000" swAng="5400000"/>
                <a:lnTo>
                  <a:pt x="0" y="144760"/>
                </a:lnTo>
                <a:arcTo hR="144760" wR="144760" stAng="10800000" swAng="5400000"/>
                <a:close/>
              </a:path>
            </a:pathLst>
          </a:custGeom>
          <a:solidFill>
            <a:srgbClr val="E8836F"/>
          </a:solidFill>
          <a:ln/>
        </p:spPr>
        <p:txBody>
          <a:bodyPr wrap="none" lIns="76200" tIns="38100" rIns="76200" bIns="12700" rtlCol="0" anchor="t">
            <a:normAutofit/>
          </a:bodyPr>
          <a:lstStyle/>
          <a:p>
            <a:pPr algn="ctr" indent="0" marL="0">
              <a:lnSpc>
                <a:spcPts val="1680"/>
              </a:lnSpc>
              <a:buNone/>
            </a:pPr>
            <a:r>
              <a:rPr lang="en-US" sz="1200" b="1" dirty="0">
                <a:solidFill>
                  <a:srgbClr val="1E2A2A"/>
                </a:solidFill>
                <a:latin typeface="Courier New" pitchFamily="49" charset="0"/>
                <a:ea typeface="Courier New" pitchFamily="49" charset="-122"/>
                <a:cs typeface="Courier New" pitchFamily="49" charset="-120"/>
              </a:rPr>
              <a:t>R1 · RETAIN</a:t>
            </a:r>
            <a:endParaRPr lang="en-US" sz="1200" dirty="0"/>
          </a:p>
        </p:txBody>
      </p:sp>
      <p:sp>
        <p:nvSpPr>
          <p:cNvPr id="85" name="Shape 70"/>
          <p:cNvSpPr/>
          <p:nvPr/>
        </p:nvSpPr>
        <p:spPr>
          <a:xfrm>
            <a:off x="8823325" y="2828925"/>
            <a:ext cx="2444750" cy="565150"/>
          </a:xfrm>
          <a:prstGeom prst="roundRect">
            <a:avLst>
              <a:gd name="adj" fmla="val 18539"/>
            </a:avLst>
          </a:prstGeom>
          <a:noFill/>
          <a:ln w="19050">
            <a:solidFill>
              <a:srgbClr val="E8836F"/>
            </a:solidFill>
            <a:prstDash val="solid"/>
          </a:ln>
        </p:spPr>
      </p:sp>
      <p:sp>
        <p:nvSpPr>
          <p:cNvPr id="86" name="Shape 71"/>
          <p:cNvSpPr/>
          <p:nvPr/>
        </p:nvSpPr>
        <p:spPr>
          <a:xfrm>
            <a:off x="6473825" y="4067175"/>
            <a:ext cx="1365250" cy="400050"/>
          </a:xfrm>
          <a:prstGeom prst="roundRect">
            <a:avLst>
              <a:gd name="adj" fmla="val 26190"/>
            </a:avLst>
          </a:prstGeom>
          <a:noFill/>
          <a:ln w="19050">
            <a:solidFill>
              <a:srgbClr val="F2EFEA"/>
            </a:solidFill>
            <a:prstDash val="solid"/>
          </a:ln>
        </p:spPr>
      </p:sp>
      <p:sp>
        <p:nvSpPr>
          <p:cNvPr id="87" name="Text 72"/>
          <p:cNvSpPr/>
          <p:nvPr/>
        </p:nvSpPr>
        <p:spPr>
          <a:xfrm>
            <a:off x="6604000" y="3810000"/>
            <a:ext cx="1168400" cy="289520"/>
          </a:xfrm>
          <a:custGeom>
            <a:avLst/>
            <a:gdLst/>
            <a:ahLst/>
            <a:cxnLst/>
            <a:rect l="l" t="t" r="r" b="b"/>
            <a:pathLst>
              <a:path w="1168400" h="289520">
                <a:moveTo>
                  <a:pt x="144760" y="0"/>
                </a:moveTo>
                <a:lnTo>
                  <a:pt x="1023640" y="0"/>
                </a:lnTo>
                <a:arcTo hR="144760" wR="144760" stAng="16200000" swAng="5400000"/>
                <a:lnTo>
                  <a:pt x="11684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EFEA"/>
          </a:solidFill>
          <a:ln/>
        </p:spPr>
        <p:txBody>
          <a:bodyPr wrap="none" lIns="76200" tIns="38100" rIns="76200" bIns="12700" rtlCol="0" anchor="t">
            <a:normAutofit/>
          </a:bodyPr>
          <a:lstStyle/>
          <a:p>
            <a:pPr algn="ctr" indent="0" marL="0">
              <a:lnSpc>
                <a:spcPts val="1680"/>
              </a:lnSpc>
              <a:buNone/>
            </a:pPr>
            <a:r>
              <a:rPr lang="en-US" sz="1200" b="1" dirty="0">
                <a:solidFill>
                  <a:srgbClr val="1E2A2A"/>
                </a:solidFill>
                <a:latin typeface="Courier New" pitchFamily="49" charset="0"/>
                <a:ea typeface="Courier New" pitchFamily="49" charset="-122"/>
                <a:cs typeface="Courier New" pitchFamily="49" charset="-120"/>
              </a:rPr>
              <a:t>R2 · REUSE</a:t>
            </a:r>
            <a:endParaRPr lang="en-US" sz="1200" dirty="0"/>
          </a:p>
        </p:txBody>
      </p:sp>
      <p:sp>
        <p:nvSpPr>
          <p:cNvPr id="88" name="Shape 73"/>
          <p:cNvSpPr/>
          <p:nvPr/>
        </p:nvSpPr>
        <p:spPr>
          <a:xfrm>
            <a:off x="5610225" y="1609725"/>
            <a:ext cx="2012950" cy="717550"/>
          </a:xfrm>
          <a:prstGeom prst="roundRect">
            <a:avLst>
              <a:gd name="adj" fmla="val 14602"/>
            </a:avLst>
          </a:prstGeom>
          <a:noFill/>
          <a:ln w="19050">
            <a:solidFill>
              <a:srgbClr val="F2EFEA"/>
            </a:solidFill>
            <a:prstDash val="solid"/>
          </a:ln>
        </p:spPr>
      </p:sp>
      <p:sp>
        <p:nvSpPr>
          <p:cNvPr id="89" name="Shape 74"/>
          <p:cNvSpPr/>
          <p:nvPr/>
        </p:nvSpPr>
        <p:spPr>
          <a:xfrm>
            <a:off x="3756025" y="3425825"/>
            <a:ext cx="4083050" cy="400050"/>
          </a:xfrm>
          <a:prstGeom prst="roundRect">
            <a:avLst>
              <a:gd name="adj" fmla="val 26190"/>
            </a:avLst>
          </a:prstGeom>
          <a:noFill/>
          <a:ln w="19050">
            <a:solidFill>
              <a:srgbClr val="DEB068"/>
            </a:solidFill>
            <a:prstDash val="solid"/>
          </a:ln>
        </p:spPr>
      </p:sp>
      <p:sp>
        <p:nvSpPr>
          <p:cNvPr id="90" name="Text 75"/>
          <p:cNvSpPr/>
          <p:nvPr/>
        </p:nvSpPr>
        <p:spPr>
          <a:xfrm>
            <a:off x="3873500" y="3162300"/>
            <a:ext cx="1257300" cy="289520"/>
          </a:xfrm>
          <a:custGeom>
            <a:avLst/>
            <a:gdLst/>
            <a:ahLst/>
            <a:cxnLst/>
            <a:rect l="l" t="t" r="r" b="b"/>
            <a:pathLst>
              <a:path w="1257300" h="289520">
                <a:moveTo>
                  <a:pt x="144760" y="0"/>
                </a:moveTo>
                <a:lnTo>
                  <a:pt x="1112540" y="0"/>
                </a:lnTo>
                <a:arcTo hR="144760" wR="144760" stAng="16200000" swAng="5400000"/>
                <a:lnTo>
                  <a:pt x="1257300" y="144760"/>
                </a:lnTo>
                <a:arcTo hR="144760" wR="144760" stAng="0" swAng="5400000"/>
                <a:lnTo>
                  <a:pt x="144760" y="289520"/>
                </a:lnTo>
                <a:arcTo hR="144760" wR="144760" stAng="5400000" swAng="5400000"/>
                <a:lnTo>
                  <a:pt x="0" y="144760"/>
                </a:lnTo>
                <a:arcTo hR="144760" wR="144760" stAng="10800000" swAng="5400000"/>
                <a:close/>
              </a:path>
            </a:pathLst>
          </a:custGeom>
          <a:solidFill>
            <a:srgbClr val="DEB068"/>
          </a:solidFill>
          <a:ln/>
        </p:spPr>
        <p:txBody>
          <a:bodyPr wrap="none" lIns="76200" tIns="38100" rIns="76200" bIns="12700" rtlCol="0" anchor="t">
            <a:normAutofit/>
          </a:bodyPr>
          <a:lstStyle/>
          <a:p>
            <a:pPr algn="ctr" indent="0" marL="0">
              <a:lnSpc>
                <a:spcPts val="1680"/>
              </a:lnSpc>
              <a:buNone/>
            </a:pPr>
            <a:r>
              <a:rPr lang="en-US" sz="1200" b="1" dirty="0">
                <a:solidFill>
                  <a:srgbClr val="1E2A2A"/>
                </a:solidFill>
                <a:latin typeface="Courier New" pitchFamily="49" charset="0"/>
                <a:ea typeface="Courier New" pitchFamily="49" charset="-122"/>
                <a:cs typeface="Courier New" pitchFamily="49" charset="-120"/>
              </a:rPr>
              <a:t>R3 · REFINE</a:t>
            </a:r>
            <a:endParaRPr lang="en-US" sz="1200" dirty="0"/>
          </a:p>
        </p:txBody>
      </p:sp>
      <p:sp>
        <p:nvSpPr>
          <p:cNvPr id="91" name="Shape 76"/>
          <p:cNvSpPr/>
          <p:nvPr/>
        </p:nvSpPr>
        <p:spPr>
          <a:xfrm>
            <a:off x="1063625" y="4067175"/>
            <a:ext cx="5378450" cy="400050"/>
          </a:xfrm>
          <a:prstGeom prst="roundRect">
            <a:avLst>
              <a:gd name="adj" fmla="val 26190"/>
            </a:avLst>
          </a:prstGeom>
          <a:noFill/>
          <a:ln w="19050">
            <a:solidFill>
              <a:srgbClr val="7FC4DC"/>
            </a:solidFill>
            <a:prstDash val="solid"/>
          </a:ln>
        </p:spPr>
      </p:sp>
      <p:sp>
        <p:nvSpPr>
          <p:cNvPr id="92" name="Text 77"/>
          <p:cNvSpPr/>
          <p:nvPr/>
        </p:nvSpPr>
        <p:spPr>
          <a:xfrm>
            <a:off x="1054100" y="3810000"/>
            <a:ext cx="1257300" cy="289520"/>
          </a:xfrm>
          <a:custGeom>
            <a:avLst/>
            <a:gdLst/>
            <a:ahLst/>
            <a:cxnLst/>
            <a:rect l="l" t="t" r="r" b="b"/>
            <a:pathLst>
              <a:path w="1257300" h="289520">
                <a:moveTo>
                  <a:pt x="144760" y="0"/>
                </a:moveTo>
                <a:lnTo>
                  <a:pt x="1112540" y="0"/>
                </a:lnTo>
                <a:arcTo hR="144760" wR="144760" stAng="16200000" swAng="5400000"/>
                <a:lnTo>
                  <a:pt x="1257300" y="144760"/>
                </a:lnTo>
                <a:arcTo hR="144760" wR="144760" stAng="0" swAng="5400000"/>
                <a:lnTo>
                  <a:pt x="144760" y="289520"/>
                </a:lnTo>
                <a:arcTo hR="144760" wR="144760" stAng="5400000" swAng="5400000"/>
                <a:lnTo>
                  <a:pt x="0" y="144760"/>
                </a:lnTo>
                <a:arcTo hR="144760" wR="144760" stAng="10800000" swAng="5400000"/>
                <a:close/>
              </a:path>
            </a:pathLst>
          </a:custGeom>
          <a:solidFill>
            <a:srgbClr val="7FC4DC"/>
          </a:solidFill>
          <a:ln/>
        </p:spPr>
        <p:txBody>
          <a:bodyPr wrap="none" lIns="76200" tIns="38100" rIns="76200" bIns="12700" rtlCol="0" anchor="t">
            <a:normAutofit/>
          </a:bodyPr>
          <a:lstStyle/>
          <a:p>
            <a:pPr algn="ctr" indent="0" marL="0">
              <a:lnSpc>
                <a:spcPts val="1680"/>
              </a:lnSpc>
              <a:buNone/>
            </a:pPr>
            <a:r>
              <a:rPr lang="en-US" sz="1200" b="1" dirty="0">
                <a:solidFill>
                  <a:srgbClr val="1E2A2A"/>
                </a:solidFill>
                <a:latin typeface="Courier New" pitchFamily="49" charset="0"/>
                <a:ea typeface="Courier New" pitchFamily="49" charset="-122"/>
                <a:cs typeface="Courier New" pitchFamily="49" charset="-120"/>
              </a:rPr>
              <a:t>R4 · RECALL</a:t>
            </a:r>
            <a:endParaRPr lang="en-US" sz="1200" dirty="0"/>
          </a:p>
        </p:txBody>
      </p:sp>
      <p:sp>
        <p:nvSpPr>
          <p:cNvPr id="93" name="Shape 78"/>
          <p:cNvSpPr/>
          <p:nvPr/>
        </p:nvSpPr>
        <p:spPr>
          <a:xfrm>
            <a:off x="8823325" y="3438525"/>
            <a:ext cx="2444750" cy="1174750"/>
          </a:xfrm>
          <a:prstGeom prst="roundRect">
            <a:avLst>
              <a:gd name="adj" fmla="val 8919"/>
            </a:avLst>
          </a:prstGeom>
          <a:noFill/>
          <a:ln w="19050">
            <a:solidFill>
              <a:srgbClr val="7FC4DC"/>
            </a:solidFill>
            <a:prstDash val="solid"/>
          </a:ln>
        </p:spPr>
      </p:sp>
      <p:sp>
        <p:nvSpPr>
          <p:cNvPr id="94" name="Text 7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02 · FORGET, DON’T DELETE</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Forget on purpose, never by accident</a:t>
            </a:r>
            <a:endParaRPr lang="en-US" sz="2800" dirty="0"/>
          </a:p>
        </p:txBody>
      </p:sp>
      <p:pic>
        <p:nvPicPr>
          <p:cNvPr id="5" name="Image 0" descr="hide, then purge">    </p:cNvPr>
          <p:cNvPicPr>
            <a:picLocks noChangeAspect="1"/>
          </p:cNvPicPr>
          <p:nvPr/>
        </p:nvPicPr>
        <p:blipFill>
          <a:blip r:embed="rId1"/>
          <a:srcRect l="0" r="0" t="0" b="0"/>
          <a:stretch/>
        </p:blipFill>
        <p:spPr>
          <a:xfrm>
            <a:off x="0" y="0"/>
            <a:ext cx="12192000" cy="6858000"/>
          </a:xfrm>
          <a:prstGeom prst="rect">
            <a:avLst/>
          </a:prstGeom>
        </p:spPr>
      </p:pic>
      <p:sp>
        <p:nvSpPr>
          <p:cNvPr id="6" name="Shape 3"/>
          <p:cNvSpPr/>
          <p:nvPr/>
        </p:nvSpPr>
        <p:spPr>
          <a:xfrm>
            <a:off x="815975" y="1781175"/>
            <a:ext cx="2482850" cy="2025650"/>
          </a:xfrm>
          <a:prstGeom prst="roundRect">
            <a:avLst>
              <a:gd name="adj" fmla="val 6740"/>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7" name="Text 4"/>
          <p:cNvSpPr/>
          <p:nvPr/>
        </p:nvSpPr>
        <p:spPr>
          <a:xfrm>
            <a:off x="1016000" y="1987550"/>
            <a:ext cx="88403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ON WRITE</a:t>
            </a:r>
            <a:endParaRPr lang="en-US" sz="1200" dirty="0"/>
          </a:p>
        </p:txBody>
      </p:sp>
      <p:sp>
        <p:nvSpPr>
          <p:cNvPr id="8" name="Text 5"/>
          <p:cNvSpPr/>
          <p:nvPr/>
        </p:nvSpPr>
        <p:spPr>
          <a:xfrm>
            <a:off x="1016000" y="2277070"/>
            <a:ext cx="192428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2D2D"/>
                </a:solidFill>
                <a:latin typeface="Arial" pitchFamily="34" charset="0"/>
                <a:ea typeface="Arial" pitchFamily="34" charset="-122"/>
                <a:cs typeface="Arial" pitchFamily="34" charset="-120"/>
              </a:rPr>
              <a:t>Set a time to live</a:t>
            </a:r>
            <a:endParaRPr lang="en-US" sz="1600" dirty="0"/>
          </a:p>
        </p:txBody>
      </p:sp>
      <p:sp>
        <p:nvSpPr>
          <p:cNvPr id="9" name="Text 6"/>
          <p:cNvSpPr/>
          <p:nvPr/>
        </p:nvSpPr>
        <p:spPr>
          <a:xfrm>
            <a:off x="1016000" y="2597100"/>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Every memory carries a TTL and an anchor: created, last accessed, or a business date.</a:t>
            </a:r>
            <a:endParaRPr lang="en-US" sz="1200" dirty="0"/>
          </a:p>
        </p:txBody>
      </p:sp>
      <p:sp>
        <p:nvSpPr>
          <p:cNvPr id="10" name="Shape 7"/>
          <p:cNvSpPr/>
          <p:nvPr/>
        </p:nvSpPr>
        <p:spPr>
          <a:xfrm>
            <a:off x="3508375" y="1781175"/>
            <a:ext cx="2482850" cy="2025650"/>
          </a:xfrm>
          <a:prstGeom prst="roundRect">
            <a:avLst>
              <a:gd name="adj" fmla="val 6740"/>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1" name="Text 8"/>
          <p:cNvSpPr/>
          <p:nvPr/>
        </p:nvSpPr>
        <p:spPr>
          <a:xfrm>
            <a:off x="3708400" y="1987550"/>
            <a:ext cx="98821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ON EXPIRY</a:t>
            </a:r>
            <a:endParaRPr lang="en-US" sz="1200" dirty="0"/>
          </a:p>
        </p:txBody>
      </p:sp>
      <p:sp>
        <p:nvSpPr>
          <p:cNvPr id="12" name="Text 9"/>
          <p:cNvSpPr/>
          <p:nvPr/>
        </p:nvSpPr>
        <p:spPr>
          <a:xfrm>
            <a:off x="3708400" y="2277070"/>
            <a:ext cx="127349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2D2D"/>
                </a:solidFill>
                <a:latin typeface="Arial" pitchFamily="34" charset="0"/>
                <a:ea typeface="Arial" pitchFamily="34" charset="-122"/>
                <a:cs typeface="Arial" pitchFamily="34" charset="-120"/>
              </a:rPr>
              <a:t>Hide it first</a:t>
            </a:r>
            <a:endParaRPr lang="en-US" sz="1600" dirty="0"/>
          </a:p>
        </p:txBody>
      </p:sp>
      <p:sp>
        <p:nvSpPr>
          <p:cNvPr id="13" name="Text 10"/>
          <p:cNvSpPr/>
          <p:nvPr/>
        </p:nvSpPr>
        <p:spPr>
          <a:xfrm>
            <a:off x="3708400" y="2597100"/>
            <a:ext cx="214528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Expired records leave reads, lists, history windows and every kind of search. They still exist.</a:t>
            </a:r>
            <a:endParaRPr lang="en-US" sz="1200" dirty="0"/>
          </a:p>
        </p:txBody>
      </p:sp>
      <p:sp>
        <p:nvSpPr>
          <p:cNvPr id="14" name="Shape 11"/>
          <p:cNvSpPr/>
          <p:nvPr/>
        </p:nvSpPr>
        <p:spPr>
          <a:xfrm>
            <a:off x="6203950" y="1784350"/>
            <a:ext cx="2476500" cy="2019300"/>
          </a:xfrm>
          <a:prstGeom prst="roundRect">
            <a:avLst>
              <a:gd name="adj" fmla="val 6604"/>
            </a:avLst>
          </a:prstGeom>
          <a:solidFill>
            <a:srgbClr val="FFF4F1"/>
          </a:solidFill>
          <a:ln w="12700">
            <a:solidFill>
              <a:srgbClr val="C74634">
                <a:alpha val="50000"/>
              </a:srgbClr>
            </a:solidFill>
            <a:prstDash val="solid"/>
          </a:ln>
        </p:spPr>
      </p:sp>
      <p:sp>
        <p:nvSpPr>
          <p:cNvPr id="15" name="Text 12"/>
          <p:cNvSpPr/>
          <p:nvPr/>
        </p:nvSpPr>
        <p:spPr>
          <a:xfrm>
            <a:off x="6400800" y="1993900"/>
            <a:ext cx="98821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C74634"/>
                </a:solidFill>
                <a:latin typeface="Courier New" pitchFamily="49" charset="0"/>
                <a:ea typeface="Courier New" pitchFamily="49" charset="-122"/>
                <a:cs typeface="Courier New" pitchFamily="49" charset="-120"/>
              </a:rPr>
              <a:t>ON POLICY</a:t>
            </a:r>
            <a:endParaRPr lang="en-US" sz="1200" dirty="0"/>
          </a:p>
        </p:txBody>
      </p:sp>
      <p:sp>
        <p:nvSpPr>
          <p:cNvPr id="16" name="Text 13"/>
          <p:cNvSpPr/>
          <p:nvPr/>
        </p:nvSpPr>
        <p:spPr>
          <a:xfrm>
            <a:off x="6400800" y="2283420"/>
            <a:ext cx="149054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2D2D"/>
                </a:solidFill>
                <a:latin typeface="Arial" pitchFamily="34" charset="0"/>
                <a:ea typeface="Arial" pitchFamily="34" charset="-122"/>
                <a:cs typeface="Arial" pitchFamily="34" charset="-120"/>
              </a:rPr>
              <a:t>Purge it later</a:t>
            </a:r>
            <a:endParaRPr lang="en-US" sz="1600" dirty="0"/>
          </a:p>
        </p:txBody>
      </p:sp>
      <p:sp>
        <p:nvSpPr>
          <p:cNvPr id="17" name="Text 14"/>
          <p:cNvSpPr/>
          <p:nvPr/>
        </p:nvSpPr>
        <p:spPr>
          <a:xfrm>
            <a:off x="6400800" y="2603450"/>
            <a:ext cx="214528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A scheduled job physically removes expired rows and their chunks, and leaves an audit trail.</a:t>
            </a:r>
            <a:endParaRPr lang="en-US" sz="1200" dirty="0"/>
          </a:p>
        </p:txBody>
      </p:sp>
      <p:sp>
        <p:nvSpPr>
          <p:cNvPr id="18" name="Shape 15"/>
          <p:cNvSpPr/>
          <p:nvPr/>
        </p:nvSpPr>
        <p:spPr>
          <a:xfrm>
            <a:off x="8893175" y="1781175"/>
            <a:ext cx="2482850" cy="2025650"/>
          </a:xfrm>
          <a:prstGeom prst="roundRect">
            <a:avLst>
              <a:gd name="adj" fmla="val 6740"/>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9" name="Text 16"/>
          <p:cNvSpPr/>
          <p:nvPr/>
        </p:nvSpPr>
        <p:spPr>
          <a:xfrm>
            <a:off x="9093200" y="1987550"/>
            <a:ext cx="98821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ON CHANGE</a:t>
            </a:r>
            <a:endParaRPr lang="en-US" sz="1200" dirty="0"/>
          </a:p>
        </p:txBody>
      </p:sp>
      <p:sp>
        <p:nvSpPr>
          <p:cNvPr id="20" name="Text 17"/>
          <p:cNvSpPr/>
          <p:nvPr/>
        </p:nvSpPr>
        <p:spPr>
          <a:xfrm>
            <a:off x="9093200" y="2277070"/>
            <a:ext cx="18021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2D2D"/>
                </a:solidFill>
                <a:latin typeface="Arial" pitchFamily="34" charset="0"/>
                <a:ea typeface="Arial" pitchFamily="34" charset="-122"/>
                <a:cs typeface="Arial" pitchFamily="34" charset="-120"/>
              </a:rPr>
              <a:t>Update in place</a:t>
            </a:r>
            <a:endParaRPr lang="en-US" sz="1600" dirty="0"/>
          </a:p>
        </p:txBody>
      </p:sp>
      <p:sp>
        <p:nvSpPr>
          <p:cNvPr id="21" name="Text 18"/>
          <p:cNvSpPr/>
          <p:nvPr/>
        </p:nvSpPr>
        <p:spPr>
          <a:xfrm>
            <a:off x="9093200" y="2597100"/>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Correct a fact or a preference instead of appending a contradiction next to it.</a:t>
            </a:r>
            <a:endParaRPr lang="en-US" sz="1200" dirty="0"/>
          </a:p>
        </p:txBody>
      </p:sp>
      <p:sp>
        <p:nvSpPr>
          <p:cNvPr id="22" name="Shape 19"/>
          <p:cNvSpPr/>
          <p:nvPr/>
        </p:nvSpPr>
        <p:spPr>
          <a:xfrm>
            <a:off x="815975" y="4130675"/>
            <a:ext cx="10560050" cy="1073150"/>
          </a:xfrm>
          <a:prstGeom prst="roundRect">
            <a:avLst>
              <a:gd name="adj" fmla="val 11538"/>
            </a:avLst>
          </a:prstGeom>
          <a:solidFill>
            <a:srgbClr val="1E2A2A"/>
          </a:solidFill>
          <a:ln w="6350">
            <a:solidFill>
              <a:srgbClr val="1E2A2A"/>
            </a:solidFill>
            <a:prstDash val="solid"/>
          </a:ln>
        </p:spPr>
      </p:sp>
      <p:sp>
        <p:nvSpPr>
          <p:cNvPr id="23" name="Text 20"/>
          <p:cNvSpPr/>
          <p:nvPr/>
        </p:nvSpPr>
        <p:spPr>
          <a:xfrm>
            <a:off x="1066800" y="4375150"/>
            <a:ext cx="6849947"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Forget, don’t delete.</a:t>
            </a:r>
            <a:endParaRPr lang="en-US" sz="1700" dirty="0"/>
          </a:p>
        </p:txBody>
      </p:sp>
      <p:sp>
        <p:nvSpPr>
          <p:cNvPr id="24" name="Text 21"/>
          <p:cNvSpPr/>
          <p:nvPr/>
        </p:nvSpPr>
        <p:spPr>
          <a:xfrm>
            <a:off x="1066800" y="4728170"/>
            <a:ext cx="798052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EB9B7"/>
                </a:solidFill>
                <a:latin typeface="Arial" pitchFamily="34" charset="0"/>
                <a:ea typeface="Arial" pitchFamily="34" charset="-122"/>
                <a:cs typeface="Arial" pitchFamily="34" charset="-120"/>
              </a:rPr>
              <a:t>Expire from recall first, purge on policy. Regulated data leaves on purpose, not by accident.</a:t>
            </a:r>
            <a:endParaRPr lang="en-US" sz="1300" dirty="0"/>
          </a:p>
        </p:txBody>
      </p:sp>
      <p:sp>
        <p:nvSpPr>
          <p:cNvPr id="25"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03 · THE RBCS OF AGENT MEMORY</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Reliable, believable, capable</a:t>
            </a:r>
            <a:endParaRPr lang="en-US" sz="2800" dirty="0"/>
          </a:p>
        </p:txBody>
      </p:sp>
      <p:sp>
        <p:nvSpPr>
          <p:cNvPr id="5" name="Shape 3"/>
          <p:cNvSpPr/>
          <p:nvPr/>
        </p:nvSpPr>
        <p:spPr>
          <a:xfrm>
            <a:off x="815975" y="1590675"/>
            <a:ext cx="3378200" cy="3041650"/>
          </a:xfrm>
          <a:prstGeom prst="roundRect">
            <a:avLst>
              <a:gd name="adj" fmla="val 490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6" name="Text 4"/>
          <p:cNvSpPr/>
          <p:nvPr/>
        </p:nvSpPr>
        <p:spPr>
          <a:xfrm>
            <a:off x="1041400" y="1822450"/>
            <a:ext cx="93483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RELIABLE</a:t>
            </a:r>
            <a:endParaRPr lang="en-US" sz="1200" dirty="0"/>
          </a:p>
        </p:txBody>
      </p:sp>
      <p:sp>
        <p:nvSpPr>
          <p:cNvPr id="7" name="Text 5"/>
          <p:cNvSpPr/>
          <p:nvPr/>
        </p:nvSpPr>
        <p:spPr>
          <a:xfrm>
            <a:off x="1041400" y="2137370"/>
            <a:ext cx="3015171"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D2D2D"/>
                </a:solidFill>
                <a:latin typeface="Arial" pitchFamily="34" charset="0"/>
                <a:ea typeface="Arial" pitchFamily="34" charset="-122"/>
                <a:cs typeface="Arial" pitchFamily="34" charset="-120"/>
              </a:rPr>
              <a:t>Consistent access to accurate history</a:t>
            </a:r>
            <a:endParaRPr lang="en-US" sz="1700" dirty="0"/>
          </a:p>
        </p:txBody>
      </p:sp>
      <p:sp>
        <p:nvSpPr>
          <p:cNvPr id="8" name="Text 6"/>
          <p:cNvSpPr/>
          <p:nvPr/>
        </p:nvSpPr>
        <p:spPr>
          <a:xfrm>
            <a:off x="1041400" y="2757091"/>
            <a:ext cx="3015171"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6B6B6B"/>
                </a:solidFill>
                <a:latin typeface="Arial" pitchFamily="34" charset="0"/>
                <a:ea typeface="Arial" pitchFamily="34" charset="-122"/>
                <a:cs typeface="Arial" pitchFamily="34" charset="-120"/>
              </a:rPr>
              <a:t>Powered by episodic memory: what happened, when, and with whom. The agent references past events the same way every time.</a:t>
            </a:r>
            <a:endParaRPr lang="en-US" sz="1300" dirty="0"/>
          </a:p>
        </p:txBody>
      </p:sp>
      <p:sp>
        <p:nvSpPr>
          <p:cNvPr id="9" name="Text 7"/>
          <p:cNvSpPr/>
          <p:nvPr/>
        </p:nvSpPr>
        <p:spPr>
          <a:xfrm>
            <a:off x="1041400" y="3917752"/>
            <a:ext cx="960239" cy="314920"/>
          </a:xfrm>
          <a:prstGeom prst="roundRect">
            <a:avLst>
              <a:gd name="adj" fmla="val 50000"/>
            </a:avLst>
          </a:prstGeom>
          <a:solidFill>
            <a:srgbClr val="36677D"/>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episodic</a:t>
            </a:r>
            <a:endParaRPr lang="en-US" sz="1200" dirty="0"/>
          </a:p>
        </p:txBody>
      </p:sp>
      <p:sp>
        <p:nvSpPr>
          <p:cNvPr id="10" name="Shape 8"/>
          <p:cNvSpPr/>
          <p:nvPr/>
        </p:nvSpPr>
        <p:spPr>
          <a:xfrm>
            <a:off x="4403725" y="1590675"/>
            <a:ext cx="3378200" cy="3041650"/>
          </a:xfrm>
          <a:prstGeom prst="roundRect">
            <a:avLst>
              <a:gd name="adj" fmla="val 490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1" name="Text 9"/>
          <p:cNvSpPr/>
          <p:nvPr/>
        </p:nvSpPr>
        <p:spPr>
          <a:xfrm>
            <a:off x="4629150" y="1822450"/>
            <a:ext cx="115584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BELIEVABLE</a:t>
            </a:r>
            <a:endParaRPr lang="en-US" sz="1200" dirty="0"/>
          </a:p>
        </p:txBody>
      </p:sp>
      <p:sp>
        <p:nvSpPr>
          <p:cNvPr id="12" name="Text 10"/>
          <p:cNvSpPr/>
          <p:nvPr/>
        </p:nvSpPr>
        <p:spPr>
          <a:xfrm>
            <a:off x="4629150" y="2137370"/>
            <a:ext cx="3015171"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D2D2D"/>
                </a:solidFill>
                <a:latin typeface="Arial" pitchFamily="34" charset="0"/>
                <a:ea typeface="Arial" pitchFamily="34" charset="-122"/>
                <a:cs typeface="Arial" pitchFamily="34" charset="-120"/>
              </a:rPr>
              <a:t>Coherent behaviour that reflects experience</a:t>
            </a:r>
            <a:endParaRPr lang="en-US" sz="1700" dirty="0"/>
          </a:p>
        </p:txBody>
      </p:sp>
      <p:sp>
        <p:nvSpPr>
          <p:cNvPr id="13" name="Text 11"/>
          <p:cNvSpPr/>
          <p:nvPr/>
        </p:nvSpPr>
        <p:spPr>
          <a:xfrm>
            <a:off x="4629150" y="2757091"/>
            <a:ext cx="3015171"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6B6B6B"/>
                </a:solidFill>
                <a:latin typeface="Arial" pitchFamily="34" charset="0"/>
                <a:ea typeface="Arial" pitchFamily="34" charset="-122"/>
                <a:cs typeface="Arial" pitchFamily="34" charset="-120"/>
              </a:rPr>
              <a:t>Powered by semantic memory: facts, entities and relationships, so the agent shows understanding that fits the context.</a:t>
            </a:r>
            <a:endParaRPr lang="en-US" sz="1300" dirty="0"/>
          </a:p>
        </p:txBody>
      </p:sp>
      <p:sp>
        <p:nvSpPr>
          <p:cNvPr id="14" name="Text 12"/>
          <p:cNvSpPr/>
          <p:nvPr/>
        </p:nvSpPr>
        <p:spPr>
          <a:xfrm>
            <a:off x="4629150" y="3917752"/>
            <a:ext cx="960239" cy="314920"/>
          </a:xfrm>
          <a:prstGeom prst="roundRect">
            <a:avLst>
              <a:gd name="adj" fmla="val 50000"/>
            </a:avLst>
          </a:prstGeom>
          <a:solidFill>
            <a:srgbClr val="36677D"/>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semantic</a:t>
            </a:r>
            <a:endParaRPr lang="en-US" sz="1200" dirty="0"/>
          </a:p>
        </p:txBody>
      </p:sp>
      <p:sp>
        <p:nvSpPr>
          <p:cNvPr id="15" name="Shape 13"/>
          <p:cNvSpPr/>
          <p:nvPr/>
        </p:nvSpPr>
        <p:spPr>
          <a:xfrm>
            <a:off x="7991475" y="1590675"/>
            <a:ext cx="3384550" cy="3041650"/>
          </a:xfrm>
          <a:prstGeom prst="roundRect">
            <a:avLst>
              <a:gd name="adj" fmla="val 490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6" name="Text 14"/>
          <p:cNvSpPr/>
          <p:nvPr/>
        </p:nvSpPr>
        <p:spPr>
          <a:xfrm>
            <a:off x="8216900" y="1822450"/>
            <a:ext cx="82435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CAPABLE</a:t>
            </a:r>
            <a:endParaRPr lang="en-US" sz="1200" dirty="0"/>
          </a:p>
        </p:txBody>
      </p:sp>
      <p:sp>
        <p:nvSpPr>
          <p:cNvPr id="17" name="Text 15"/>
          <p:cNvSpPr/>
          <p:nvPr/>
        </p:nvSpPr>
        <p:spPr>
          <a:xfrm>
            <a:off x="8216900" y="2137370"/>
            <a:ext cx="3021711"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D2D2D"/>
                </a:solidFill>
                <a:latin typeface="Arial" pitchFamily="34" charset="0"/>
                <a:ea typeface="Arial" pitchFamily="34" charset="-122"/>
                <a:cs typeface="Arial" pitchFamily="34" charset="-120"/>
              </a:rPr>
              <a:t>Complex tasks completed from experience</a:t>
            </a:r>
            <a:endParaRPr lang="en-US" sz="1700" dirty="0"/>
          </a:p>
        </p:txBody>
      </p:sp>
      <p:sp>
        <p:nvSpPr>
          <p:cNvPr id="18" name="Text 16"/>
          <p:cNvSpPr/>
          <p:nvPr/>
        </p:nvSpPr>
        <p:spPr>
          <a:xfrm>
            <a:off x="8216900" y="2757091"/>
            <a:ext cx="3021711"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6B6B6B"/>
                </a:solidFill>
                <a:latin typeface="Arial" pitchFamily="34" charset="0"/>
                <a:ea typeface="Arial" pitchFamily="34" charset="-122"/>
                <a:cs typeface="Arial" pitchFamily="34" charset="-120"/>
              </a:rPr>
              <a:t>Powered by procedural memory: workflows, skills and tools that worked before, reused instead of rediscovered.</a:t>
            </a:r>
            <a:endParaRPr lang="en-US" sz="1300" dirty="0"/>
          </a:p>
        </p:txBody>
      </p:sp>
      <p:sp>
        <p:nvSpPr>
          <p:cNvPr id="19" name="Text 17"/>
          <p:cNvSpPr/>
          <p:nvPr/>
        </p:nvSpPr>
        <p:spPr>
          <a:xfrm>
            <a:off x="8216900" y="3678386"/>
            <a:ext cx="1143149" cy="314920"/>
          </a:xfrm>
          <a:prstGeom prst="roundRect">
            <a:avLst>
              <a:gd name="adj" fmla="val 50000"/>
            </a:avLst>
          </a:prstGeom>
          <a:solidFill>
            <a:srgbClr val="36677D"/>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procedural</a:t>
            </a:r>
            <a:endParaRPr lang="en-US" sz="1200" dirty="0"/>
          </a:p>
        </p:txBody>
      </p:sp>
      <p:sp>
        <p:nvSpPr>
          <p:cNvPr id="20" name="Text 18"/>
          <p:cNvSpPr/>
          <p:nvPr/>
        </p:nvSpPr>
        <p:spPr>
          <a:xfrm>
            <a:off x="812800" y="5016500"/>
            <a:ext cx="11379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D2D2D"/>
                </a:solidFill>
                <a:latin typeface="Arial" pitchFamily="34" charset="0"/>
                <a:ea typeface="Arial" pitchFamily="34" charset="-122"/>
                <a:cs typeface="Arial" pitchFamily="34" charset="-120"/>
              </a:rPr>
              <a:t>Without memory an agent is a brilliant engineer with amnesia: perfect answers in the moment, and no learning across time.</a:t>
            </a:r>
            <a:endParaRPr lang="en-US" sz="1500" dirty="0"/>
          </a:p>
        </p:txBody>
      </p:sp>
      <p:sp>
        <p:nvSpPr>
          <p:cNvPr id="21" name="Text 1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raised hands">    </p:cNvPr>
          <p:cNvPicPr>
            <a:picLocks noChangeAspect="1"/>
          </p:cNvPicPr>
          <p:nvPr/>
        </p:nvPicPr>
        <p:blipFill>
          <a:blip r:embed="rId1"/>
          <a:srcRect l="0" r="0" t="0" b="0"/>
          <a:stretch/>
        </p:blipFill>
        <p:spPr>
          <a:xfrm>
            <a:off x="0" y="0"/>
            <a:ext cx="12192000" cy="6858000"/>
          </a:xfrm>
          <a:prstGeom prst="rect">
            <a:avLst/>
          </a:prstGeom>
        </p:spPr>
      </p:pic>
      <p:sp>
        <p:nvSpPr>
          <p:cNvPr id="3" name="Shape 0"/>
          <p:cNvSpPr/>
          <p:nvPr/>
        </p:nvSpPr>
        <p:spPr>
          <a:xfrm>
            <a:off x="812800" y="457200"/>
            <a:ext cx="355600" cy="38100"/>
          </a:xfrm>
          <a:prstGeom prst="roundRect">
            <a:avLst>
              <a:gd name="adj" fmla="val 50000"/>
            </a:avLst>
          </a:prstGeom>
          <a:solidFill>
            <a:srgbClr val="C74634"/>
          </a:solidFill>
          <a:ln/>
        </p:spPr>
      </p:sp>
      <p:sp>
        <p:nvSpPr>
          <p:cNvPr id="4" name="Text 1"/>
          <p:cNvSpPr/>
          <p:nvPr/>
        </p:nvSpPr>
        <p:spPr>
          <a:xfrm>
            <a:off x="955167" y="2794000"/>
            <a:ext cx="10281666" cy="1073150"/>
          </a:xfrm>
          <a:prstGeom prst="rect">
            <a:avLst/>
          </a:prstGeom>
          <a:noFill/>
          <a:ln/>
        </p:spPr>
        <p:txBody>
          <a:bodyPr wrap="none" lIns="0" tIns="0" rIns="0" bIns="0" rtlCol="0" anchor="t">
            <a:normAutofit/>
          </a:bodyPr>
          <a:lstStyle/>
          <a:p>
            <a:pPr algn="ctr" indent="0" marL="0">
              <a:lnSpc>
                <a:spcPts val="8250"/>
              </a:lnSpc>
              <a:buNone/>
            </a:pPr>
            <a:r>
              <a:rPr lang="en-US" sz="7500" b="1" spc="-150" kern="0" dirty="0">
                <a:solidFill>
                  <a:srgbClr val="FFFFFF"/>
                </a:solidFill>
                <a:latin typeface="Arial" pitchFamily="34" charset="0"/>
                <a:ea typeface="Arial" pitchFamily="34" charset="-122"/>
                <a:cs typeface="Arial" pitchFamily="34" charset="-120"/>
              </a:rPr>
              <a:t>Memory engineering</a:t>
            </a:r>
            <a:endParaRPr lang="en-US" sz="7500" dirty="0"/>
          </a:p>
        </p:txBody>
      </p:sp>
      <p:sp>
        <p:nvSpPr>
          <p:cNvPr id="5" name="Text 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4081272"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Memory engineering</a:t>
            </a:r>
            <a:endParaRPr lang="en-US" sz="2800" dirty="0"/>
          </a:p>
        </p:txBody>
      </p:sp>
      <p:sp>
        <p:nvSpPr>
          <p:cNvPr id="4" name="Text 2"/>
          <p:cNvSpPr/>
          <p:nvPr/>
        </p:nvSpPr>
        <p:spPr>
          <a:xfrm>
            <a:off x="812800" y="1905000"/>
            <a:ext cx="10464800" cy="1244600"/>
          </a:xfrm>
          <a:prstGeom prst="rect">
            <a:avLst/>
          </a:prstGeom>
          <a:noFill/>
          <a:ln/>
        </p:spPr>
        <p:txBody>
          <a:bodyPr wrap="square" lIns="0" tIns="0" rIns="0" bIns="0" rtlCol="0" anchor="t">
            <a:normAutofit/>
          </a:bodyPr>
          <a:lstStyle/>
          <a:p>
            <a:pPr algn="l" indent="0" marL="0">
              <a:lnSpc>
                <a:spcPts val="3200"/>
              </a:lnSpc>
              <a:buNone/>
            </a:pPr>
            <a:r>
              <a:rPr lang="en-US" sz="2500" spc="-25" kern="0" dirty="0">
                <a:solidFill>
                  <a:srgbClr val="FFFFFF"/>
                </a:solidFill>
                <a:latin typeface="Arial" pitchFamily="34" charset="0"/>
                <a:ea typeface="Arial" pitchFamily="34" charset="-122"/>
                <a:cs typeface="Arial" pitchFamily="34" charset="-120"/>
              </a:rPr>
              <a:t>Memory engineering is the discipline of designing how agents </a:t>
            </a:r>
            <a:r>
              <a:rPr lang="en-US" sz="2500" spc="-25" kern="0" dirty="0">
                <a:solidFill>
                  <a:srgbClr val="DEB068"/>
                </a:solidFill>
                <a:latin typeface="Arial" pitchFamily="34" charset="0"/>
                <a:ea typeface="Arial" pitchFamily="34" charset="-122"/>
                <a:cs typeface="Arial" pitchFamily="34" charset="-120"/>
              </a:rPr>
              <a:t>retain</a:t>
            </a:r>
            <a:r>
              <a:rPr lang="en-US" sz="2500" spc="-25" kern="0" dirty="0">
                <a:solidFill>
                  <a:srgbClr val="FFFFFF"/>
                </a:solidFill>
                <a:latin typeface="Arial" pitchFamily="34" charset="0"/>
                <a:ea typeface="Arial" pitchFamily="34" charset="-122"/>
                <a:cs typeface="Arial" pitchFamily="34" charset="-120"/>
              </a:rPr>
              <a:t>, </a:t>
            </a:r>
            <a:r>
              <a:rPr lang="en-US" sz="2500" spc="-25" kern="0" dirty="0">
                <a:solidFill>
                  <a:srgbClr val="DEB068"/>
                </a:solidFill>
                <a:latin typeface="Arial" pitchFamily="34" charset="0"/>
                <a:ea typeface="Arial" pitchFamily="34" charset="-122"/>
                <a:cs typeface="Arial" pitchFamily="34" charset="-120"/>
              </a:rPr>
              <a:t>reuse</a:t>
            </a:r>
            <a:r>
              <a:rPr lang="en-US" sz="2500" spc="-25" kern="0" dirty="0">
                <a:solidFill>
                  <a:srgbClr val="FFFFFF"/>
                </a:solidFill>
                <a:latin typeface="Arial" pitchFamily="34" charset="0"/>
                <a:ea typeface="Arial" pitchFamily="34" charset="-122"/>
                <a:cs typeface="Arial" pitchFamily="34" charset="-120"/>
              </a:rPr>
              <a:t>, </a:t>
            </a:r>
            <a:r>
              <a:rPr lang="en-US" sz="2500" spc="-25" kern="0" dirty="0">
                <a:solidFill>
                  <a:srgbClr val="DEB068"/>
                </a:solidFill>
                <a:latin typeface="Arial" pitchFamily="34" charset="0"/>
                <a:ea typeface="Arial" pitchFamily="34" charset="-122"/>
                <a:cs typeface="Arial" pitchFamily="34" charset="-120"/>
              </a:rPr>
              <a:t>refine</a:t>
            </a:r>
            <a:r>
              <a:rPr lang="en-US" sz="2500" spc="-25" kern="0" dirty="0">
                <a:solidFill>
                  <a:srgbClr val="FFFFFF"/>
                </a:solidFill>
                <a:latin typeface="Arial" pitchFamily="34" charset="0"/>
                <a:ea typeface="Arial" pitchFamily="34" charset="-122"/>
                <a:cs typeface="Arial" pitchFamily="34" charset="-120"/>
              </a:rPr>
              <a:t> and </a:t>
            </a:r>
            <a:r>
              <a:rPr lang="en-US" sz="2500" spc="-25" kern="0" dirty="0">
                <a:solidFill>
                  <a:srgbClr val="DEB068"/>
                </a:solidFill>
                <a:latin typeface="Arial" pitchFamily="34" charset="0"/>
                <a:ea typeface="Arial" pitchFamily="34" charset="-122"/>
                <a:cs typeface="Arial" pitchFamily="34" charset="-120"/>
              </a:rPr>
              <a:t>recall</a:t>
            </a:r>
            <a:r>
              <a:rPr lang="en-US" sz="2500" spc="-25" kern="0" dirty="0">
                <a:solidFill>
                  <a:srgbClr val="FFFFFF"/>
                </a:solidFill>
                <a:latin typeface="Arial" pitchFamily="34" charset="0"/>
                <a:ea typeface="Arial" pitchFamily="34" charset="-122"/>
                <a:cs typeface="Arial" pitchFamily="34" charset="-120"/>
              </a:rPr>
              <a:t> information over time, and of </a:t>
            </a:r>
            <a:r>
              <a:rPr lang="en-US" sz="2500" spc="-25" kern="0" dirty="0">
                <a:solidFill>
                  <a:srgbClr val="DEB068"/>
                </a:solidFill>
                <a:latin typeface="Arial" pitchFamily="34" charset="0"/>
                <a:ea typeface="Arial" pitchFamily="34" charset="-122"/>
                <a:cs typeface="Arial" pitchFamily="34" charset="-120"/>
              </a:rPr>
              <a:t>owning</a:t>
            </a:r>
            <a:r>
              <a:rPr lang="en-US" sz="2500" spc="-25" kern="0" dirty="0">
                <a:solidFill>
                  <a:srgbClr val="FFFFFF"/>
                </a:solidFill>
                <a:latin typeface="Arial" pitchFamily="34" charset="0"/>
                <a:ea typeface="Arial" pitchFamily="34" charset="-122"/>
                <a:cs typeface="Arial" pitchFamily="34" charset="-120"/>
              </a:rPr>
              <a:t> that memory rather than renting it.</a:t>
            </a:r>
            <a:endParaRPr lang="en-US" sz="2500" dirty="0"/>
          </a:p>
        </p:txBody>
      </p:sp>
      <p:sp>
        <p:nvSpPr>
          <p:cNvPr id="5" name="Shape 3"/>
          <p:cNvSpPr/>
          <p:nvPr/>
        </p:nvSpPr>
        <p:spPr>
          <a:xfrm>
            <a:off x="817563" y="3814763"/>
            <a:ext cx="3375025" cy="1895475"/>
          </a:xfrm>
          <a:prstGeom prst="roundRect">
            <a:avLst>
              <a:gd name="adj" fmla="val 7789"/>
            </a:avLst>
          </a:prstGeom>
          <a:solidFill>
            <a:srgbClr val="FFFFFF">
              <a:alpha val="6000"/>
            </a:srgbClr>
          </a:solidFill>
          <a:ln w="9525">
            <a:solidFill>
              <a:srgbClr val="FFFFFF">
                <a:alpha val="18000"/>
              </a:srgbClr>
            </a:solidFill>
            <a:prstDash val="solid"/>
          </a:ln>
        </p:spPr>
      </p:sp>
      <p:sp>
        <p:nvSpPr>
          <p:cNvPr id="6" name="Text 4"/>
          <p:cNvSpPr/>
          <p:nvPr/>
        </p:nvSpPr>
        <p:spPr>
          <a:xfrm>
            <a:off x="1016000" y="4022725"/>
            <a:ext cx="204876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A87A2A"/>
                </a:solidFill>
                <a:latin typeface="Courier New" pitchFamily="49" charset="0"/>
                <a:ea typeface="Courier New" pitchFamily="49" charset="-122"/>
                <a:cs typeface="Courier New" pitchFamily="49" charset="-120"/>
              </a:rPr>
              <a:t>PROMPT ENGINEERING</a:t>
            </a:r>
            <a:endParaRPr lang="en-US" sz="1200" dirty="0"/>
          </a:p>
        </p:txBody>
      </p:sp>
      <p:sp>
        <p:nvSpPr>
          <p:cNvPr id="7" name="Text 5"/>
          <p:cNvSpPr/>
          <p:nvPr/>
        </p:nvSpPr>
        <p:spPr>
          <a:xfrm>
            <a:off x="1016000" y="4324945"/>
            <a:ext cx="21240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FFFF"/>
                </a:solidFill>
                <a:latin typeface="Arial" pitchFamily="34" charset="0"/>
                <a:ea typeface="Arial" pitchFamily="34" charset="-122"/>
                <a:cs typeface="Arial" pitchFamily="34" charset="-120"/>
              </a:rPr>
              <a:t>Maximisation</a:t>
            </a:r>
            <a:endParaRPr lang="en-US" sz="2200" dirty="0"/>
          </a:p>
        </p:txBody>
      </p:sp>
      <p:sp>
        <p:nvSpPr>
          <p:cNvPr id="8" name="Text 6"/>
          <p:cNvSpPr/>
          <p:nvPr/>
        </p:nvSpPr>
        <p:spPr>
          <a:xfrm>
            <a:off x="1016000" y="4749105"/>
            <a:ext cx="306749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Get the most out of one call: instructions, examples, format.</a:t>
            </a:r>
            <a:endParaRPr lang="en-US" sz="1300" dirty="0"/>
          </a:p>
        </p:txBody>
      </p:sp>
      <p:sp>
        <p:nvSpPr>
          <p:cNvPr id="9" name="Shape 7"/>
          <p:cNvSpPr/>
          <p:nvPr/>
        </p:nvSpPr>
        <p:spPr>
          <a:xfrm>
            <a:off x="4405313" y="3814763"/>
            <a:ext cx="3375025" cy="1895475"/>
          </a:xfrm>
          <a:prstGeom prst="roundRect">
            <a:avLst>
              <a:gd name="adj" fmla="val 7789"/>
            </a:avLst>
          </a:prstGeom>
          <a:solidFill>
            <a:srgbClr val="FFFFFF">
              <a:alpha val="6000"/>
            </a:srgbClr>
          </a:solidFill>
          <a:ln w="9525">
            <a:solidFill>
              <a:srgbClr val="FFFFFF">
                <a:alpha val="18000"/>
              </a:srgbClr>
            </a:solidFill>
            <a:prstDash val="solid"/>
          </a:ln>
        </p:spPr>
      </p:sp>
      <p:sp>
        <p:nvSpPr>
          <p:cNvPr id="10" name="Text 8"/>
          <p:cNvSpPr/>
          <p:nvPr/>
        </p:nvSpPr>
        <p:spPr>
          <a:xfrm>
            <a:off x="4603750" y="4022725"/>
            <a:ext cx="2162606"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7FC4DC"/>
                </a:solidFill>
                <a:latin typeface="Courier New" pitchFamily="49" charset="0"/>
                <a:ea typeface="Courier New" pitchFamily="49" charset="-122"/>
                <a:cs typeface="Courier New" pitchFamily="49" charset="-120"/>
              </a:rPr>
              <a:t>CONTEXT ENGINEERING</a:t>
            </a:r>
            <a:endParaRPr lang="en-US" sz="1200" dirty="0"/>
          </a:p>
        </p:txBody>
      </p:sp>
      <p:sp>
        <p:nvSpPr>
          <p:cNvPr id="11" name="Text 9"/>
          <p:cNvSpPr/>
          <p:nvPr/>
        </p:nvSpPr>
        <p:spPr>
          <a:xfrm>
            <a:off x="4603750" y="4324945"/>
            <a:ext cx="204900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FFFF"/>
                </a:solidFill>
                <a:latin typeface="Arial" pitchFamily="34" charset="0"/>
                <a:ea typeface="Arial" pitchFamily="34" charset="-122"/>
                <a:cs typeface="Arial" pitchFamily="34" charset="-120"/>
              </a:rPr>
              <a:t>Optimisation</a:t>
            </a:r>
            <a:endParaRPr lang="en-US" sz="2200" dirty="0"/>
          </a:p>
        </p:txBody>
      </p:sp>
      <p:sp>
        <p:nvSpPr>
          <p:cNvPr id="12" name="Text 10"/>
          <p:cNvSpPr/>
          <p:nvPr/>
        </p:nvSpPr>
        <p:spPr>
          <a:xfrm>
            <a:off x="4603750" y="4749105"/>
            <a:ext cx="306749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Curate what the model sees on this call, at a high signal to noise ratio.</a:t>
            </a:r>
            <a:endParaRPr lang="en-US" sz="1300" dirty="0"/>
          </a:p>
        </p:txBody>
      </p:sp>
      <p:sp>
        <p:nvSpPr>
          <p:cNvPr id="13" name="Shape 11"/>
          <p:cNvSpPr/>
          <p:nvPr/>
        </p:nvSpPr>
        <p:spPr>
          <a:xfrm>
            <a:off x="7994650" y="3816350"/>
            <a:ext cx="3378200" cy="1892300"/>
          </a:xfrm>
          <a:prstGeom prst="roundRect">
            <a:avLst>
              <a:gd name="adj" fmla="val 7718"/>
            </a:avLst>
          </a:prstGeom>
          <a:solidFill>
            <a:srgbClr val="C74634">
              <a:alpha val="16000"/>
            </a:srgbClr>
          </a:solidFill>
          <a:ln w="12700">
            <a:solidFill>
              <a:srgbClr val="C74634"/>
            </a:solidFill>
            <a:prstDash val="solid"/>
          </a:ln>
        </p:spPr>
      </p:sp>
      <p:sp>
        <p:nvSpPr>
          <p:cNvPr id="14" name="Text 12"/>
          <p:cNvSpPr/>
          <p:nvPr/>
        </p:nvSpPr>
        <p:spPr>
          <a:xfrm>
            <a:off x="8191500" y="4025900"/>
            <a:ext cx="204876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E8836F"/>
                </a:solidFill>
                <a:latin typeface="Courier New" pitchFamily="49" charset="0"/>
                <a:ea typeface="Courier New" pitchFamily="49" charset="-122"/>
                <a:cs typeface="Courier New" pitchFamily="49" charset="-120"/>
              </a:rPr>
              <a:t>MEMORY ENGINEERING</a:t>
            </a:r>
            <a:endParaRPr lang="en-US" sz="1200" dirty="0"/>
          </a:p>
        </p:txBody>
      </p:sp>
      <p:sp>
        <p:nvSpPr>
          <p:cNvPr id="15" name="Text 13"/>
          <p:cNvSpPr/>
          <p:nvPr/>
        </p:nvSpPr>
        <p:spPr>
          <a:xfrm>
            <a:off x="8191500" y="4328120"/>
            <a:ext cx="206704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FFFF"/>
                </a:solidFill>
                <a:latin typeface="Arial" pitchFamily="34" charset="0"/>
                <a:ea typeface="Arial" pitchFamily="34" charset="-122"/>
                <a:cs typeface="Arial" pitchFamily="34" charset="-120"/>
              </a:rPr>
              <a:t>Continuation</a:t>
            </a:r>
            <a:endParaRPr lang="en-US" sz="2200" dirty="0"/>
          </a:p>
        </p:txBody>
      </p:sp>
      <p:sp>
        <p:nvSpPr>
          <p:cNvPr id="16" name="Text 14"/>
          <p:cNvSpPr/>
          <p:nvPr/>
        </p:nvSpPr>
        <p:spPr>
          <a:xfrm>
            <a:off x="8191500" y="4752280"/>
            <a:ext cx="30740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What persists between calls, sessions and agents, and how it improves.</a:t>
            </a:r>
            <a:endParaRPr lang="en-US" sz="13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Memory engineering is a cross-section of disciplines</a:t>
            </a:r>
            <a:endParaRPr lang="en-US" sz="2800" dirty="0"/>
          </a:p>
        </p:txBody>
      </p:sp>
      <p:pic>
        <p:nvPicPr>
          <p:cNvPr id="4" name="Image 0" descr="database engineering">    </p:cNvPr>
          <p:cNvPicPr>
            <a:picLocks noChangeAspect="1"/>
          </p:cNvPicPr>
          <p:nvPr/>
        </p:nvPicPr>
        <p:blipFill>
          <a:blip r:embed="rId1"/>
          <a:srcRect l="0" r="0" t="0" b="0"/>
          <a:stretch/>
        </p:blipFill>
        <p:spPr>
          <a:xfrm>
            <a:off x="0" y="0"/>
            <a:ext cx="12192000" cy="6858000"/>
          </a:xfrm>
          <a:prstGeom prst="rect">
            <a:avLst/>
          </a:prstGeom>
        </p:spPr>
      </p:pic>
      <p:pic>
        <p:nvPicPr>
          <p:cNvPr id="5" name="Image 1" descr="search and retrieval">    </p:cNvPr>
          <p:cNvPicPr>
            <a:picLocks noChangeAspect="1"/>
          </p:cNvPicPr>
          <p:nvPr/>
        </p:nvPicPr>
        <p:blipFill>
          <a:blip r:embed="rId2"/>
          <a:srcRect l="0" r="0" t="0" b="0"/>
          <a:stretch/>
        </p:blipFill>
        <p:spPr>
          <a:xfrm>
            <a:off x="0" y="0"/>
            <a:ext cx="12192000" cy="6858000"/>
          </a:xfrm>
          <a:prstGeom prst="rect">
            <a:avLst/>
          </a:prstGeom>
        </p:spPr>
      </p:pic>
      <p:pic>
        <p:nvPicPr>
          <p:cNvPr id="6" name="Image 2" descr="agent design">    </p:cNvPr>
          <p:cNvPicPr>
            <a:picLocks noChangeAspect="1"/>
          </p:cNvPicPr>
          <p:nvPr/>
        </p:nvPicPr>
        <p:blipFill>
          <a:blip r:embed="rId3"/>
          <a:srcRect l="0" r="0" t="0" b="0"/>
          <a:stretch/>
        </p:blipFill>
        <p:spPr>
          <a:xfrm>
            <a:off x="0" y="0"/>
            <a:ext cx="12192000" cy="6858000"/>
          </a:xfrm>
          <a:prstGeom prst="rect">
            <a:avLst/>
          </a:prstGeom>
        </p:spPr>
      </p:pic>
      <p:sp>
        <p:nvSpPr>
          <p:cNvPr id="7" name="Text 2"/>
          <p:cNvSpPr/>
          <p:nvPr/>
        </p:nvSpPr>
        <p:spPr>
          <a:xfrm>
            <a:off x="3873500" y="1905000"/>
            <a:ext cx="1831340" cy="203200"/>
          </a:xfrm>
          <a:prstGeom prst="rect">
            <a:avLst/>
          </a:prstGeom>
          <a:noFill/>
          <a:ln/>
        </p:spPr>
        <p:txBody>
          <a:bodyPr wrap="none" lIns="0" tIns="0" rIns="0" bIns="0" rtlCol="0" anchor="t">
            <a:normAutofit/>
          </a:bodyPr>
          <a:lstStyle/>
          <a:p>
            <a:pPr algn="l" indent="0" marL="0">
              <a:lnSpc>
                <a:spcPts val="1400"/>
              </a:lnSpc>
              <a:buNone/>
            </a:pPr>
            <a:r>
              <a:rPr lang="en-US" sz="1000" b="1" spc="50" kern="0" dirty="0">
                <a:solidFill>
                  <a:srgbClr val="DEB068"/>
                </a:solidFill>
                <a:latin typeface="Courier New" pitchFamily="49" charset="0"/>
                <a:ea typeface="Courier New" pitchFamily="49" charset="-122"/>
                <a:cs typeface="Courier New" pitchFamily="49" charset="-120"/>
              </a:rPr>
              <a:t>DATABASE ENGINEERING</a:t>
            </a:r>
            <a:endParaRPr lang="en-US" sz="1000" dirty="0"/>
          </a:p>
        </p:txBody>
      </p:sp>
      <p:sp>
        <p:nvSpPr>
          <p:cNvPr id="8" name="Text 3"/>
          <p:cNvSpPr/>
          <p:nvPr/>
        </p:nvSpPr>
        <p:spPr>
          <a:xfrm>
            <a:off x="3873500" y="2133600"/>
            <a:ext cx="1638300" cy="57011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F2EFEA"/>
                </a:solidFill>
                <a:latin typeface="Arial" pitchFamily="34" charset="0"/>
                <a:ea typeface="Arial" pitchFamily="34" charset="-122"/>
                <a:cs typeface="Arial" pitchFamily="34" charset="-120"/>
              </a:rPr>
              <a:t>schemas, indexes, transactions, retention, access control</a:t>
            </a:r>
            <a:endParaRPr lang="en-US" sz="1100" dirty="0"/>
          </a:p>
        </p:txBody>
      </p:sp>
      <p:sp>
        <p:nvSpPr>
          <p:cNvPr id="9" name="Text 4"/>
          <p:cNvSpPr/>
          <p:nvPr/>
        </p:nvSpPr>
        <p:spPr>
          <a:xfrm>
            <a:off x="6667500" y="1905000"/>
            <a:ext cx="1831340" cy="203200"/>
          </a:xfrm>
          <a:prstGeom prst="rect">
            <a:avLst/>
          </a:prstGeom>
          <a:noFill/>
          <a:ln/>
        </p:spPr>
        <p:txBody>
          <a:bodyPr wrap="none" lIns="0" tIns="0" rIns="0" bIns="0" rtlCol="0" anchor="t">
            <a:normAutofit/>
          </a:bodyPr>
          <a:lstStyle/>
          <a:p>
            <a:pPr algn="l" indent="0" marL="0">
              <a:lnSpc>
                <a:spcPts val="1400"/>
              </a:lnSpc>
              <a:buNone/>
            </a:pPr>
            <a:r>
              <a:rPr lang="en-US" sz="1000" b="1" spc="50" kern="0" dirty="0">
                <a:solidFill>
                  <a:srgbClr val="7FC4DC"/>
                </a:solidFill>
                <a:latin typeface="Courier New" pitchFamily="49" charset="0"/>
                <a:ea typeface="Courier New" pitchFamily="49" charset="-122"/>
                <a:cs typeface="Courier New" pitchFamily="49" charset="-120"/>
              </a:rPr>
              <a:t>SEARCH AND RETRIEVAL</a:t>
            </a:r>
            <a:endParaRPr lang="en-US" sz="1000" dirty="0"/>
          </a:p>
        </p:txBody>
      </p:sp>
      <p:sp>
        <p:nvSpPr>
          <p:cNvPr id="10" name="Text 5"/>
          <p:cNvSpPr/>
          <p:nvPr/>
        </p:nvSpPr>
        <p:spPr>
          <a:xfrm>
            <a:off x="6667500" y="2133600"/>
            <a:ext cx="1638300" cy="57011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F2EFEA"/>
                </a:solidFill>
                <a:latin typeface="Arial" pitchFamily="34" charset="0"/>
                <a:ea typeface="Arial" pitchFamily="34" charset="-122"/>
                <a:cs typeface="Arial" pitchFamily="34" charset="-120"/>
              </a:rPr>
              <a:t>embeddings, hybrid search, reranking, token budgets</a:t>
            </a:r>
            <a:endParaRPr lang="en-US" sz="1100" dirty="0"/>
          </a:p>
        </p:txBody>
      </p:sp>
      <p:sp>
        <p:nvSpPr>
          <p:cNvPr id="11" name="Text 6"/>
          <p:cNvSpPr/>
          <p:nvPr/>
        </p:nvSpPr>
        <p:spPr>
          <a:xfrm>
            <a:off x="5245100" y="5080000"/>
            <a:ext cx="1701800" cy="203200"/>
          </a:xfrm>
          <a:prstGeom prst="rect">
            <a:avLst/>
          </a:prstGeom>
          <a:noFill/>
          <a:ln/>
        </p:spPr>
        <p:txBody>
          <a:bodyPr wrap="none" lIns="0" tIns="0" rIns="0" bIns="0" rtlCol="0" anchor="t">
            <a:normAutofit/>
          </a:bodyPr>
          <a:lstStyle/>
          <a:p>
            <a:pPr algn="ctr" indent="0" marL="0">
              <a:lnSpc>
                <a:spcPts val="1400"/>
              </a:lnSpc>
              <a:buNone/>
            </a:pPr>
            <a:r>
              <a:rPr lang="en-US" sz="1000" b="1" spc="50" kern="0" dirty="0">
                <a:solidFill>
                  <a:srgbClr val="E8836F"/>
                </a:solidFill>
                <a:latin typeface="Courier New" pitchFamily="49" charset="0"/>
                <a:ea typeface="Courier New" pitchFamily="49" charset="-122"/>
                <a:cs typeface="Courier New" pitchFamily="49" charset="-120"/>
              </a:rPr>
              <a:t>AGENT DESIGN</a:t>
            </a:r>
            <a:endParaRPr lang="en-US" sz="1000" dirty="0"/>
          </a:p>
        </p:txBody>
      </p:sp>
      <p:sp>
        <p:nvSpPr>
          <p:cNvPr id="12" name="Text 7"/>
          <p:cNvSpPr/>
          <p:nvPr/>
        </p:nvSpPr>
        <p:spPr>
          <a:xfrm>
            <a:off x="5435600" y="5308600"/>
            <a:ext cx="1320800" cy="520700"/>
          </a:xfrm>
          <a:prstGeom prst="rect">
            <a:avLst/>
          </a:prstGeom>
          <a:noFill/>
          <a:ln/>
        </p:spPr>
        <p:txBody>
          <a:bodyPr wrap="square" lIns="0" tIns="0" rIns="0" bIns="0" rtlCol="0" anchor="t">
            <a:normAutofit/>
          </a:bodyPr>
          <a:lstStyle/>
          <a:p>
            <a:pPr algn="ctr" indent="0" marL="0">
              <a:lnSpc>
                <a:spcPts val="1300"/>
              </a:lnSpc>
              <a:buNone/>
            </a:pPr>
            <a:r>
              <a:rPr lang="en-US" sz="1000" dirty="0">
                <a:solidFill>
                  <a:srgbClr val="F2EFEA"/>
                </a:solidFill>
                <a:latin typeface="Arial" pitchFamily="34" charset="0"/>
                <a:ea typeface="Arial" pitchFamily="34" charset="-122"/>
                <a:cs typeface="Arial" pitchFamily="34" charset="-120"/>
              </a:rPr>
              <a:t>harness loops, tools, context windows, evals</a:t>
            </a:r>
            <a:endParaRPr lang="en-US" sz="1000" dirty="0"/>
          </a:p>
        </p:txBody>
      </p:sp>
      <p:sp>
        <p:nvSpPr>
          <p:cNvPr id="13" name="Shape 8"/>
          <p:cNvSpPr/>
          <p:nvPr/>
        </p:nvSpPr>
        <p:spPr>
          <a:xfrm>
            <a:off x="5086350" y="3181350"/>
            <a:ext cx="2019300" cy="469900"/>
          </a:xfrm>
          <a:prstGeom prst="roundRect">
            <a:avLst>
              <a:gd name="adj" fmla="val 20270"/>
            </a:avLst>
          </a:prstGeom>
          <a:solidFill>
            <a:srgbClr val="1E2A2A">
              <a:alpha val="95000"/>
            </a:srgbClr>
          </a:solidFill>
          <a:ln w="12700">
            <a:solidFill>
              <a:srgbClr val="FFFFFF"/>
            </a:solidFill>
            <a:prstDash val="solid"/>
          </a:ln>
        </p:spPr>
      </p:sp>
      <p:sp>
        <p:nvSpPr>
          <p:cNvPr id="14" name="Text 9"/>
          <p:cNvSpPr/>
          <p:nvPr/>
        </p:nvSpPr>
        <p:spPr>
          <a:xfrm>
            <a:off x="5263257" y="3300710"/>
            <a:ext cx="1665486" cy="256530"/>
          </a:xfrm>
          <a:prstGeom prst="rect">
            <a:avLst/>
          </a:prstGeom>
          <a:noFill/>
          <a:ln/>
        </p:spPr>
        <p:txBody>
          <a:bodyPr wrap="none" lIns="0" tIns="0" rIns="0" bIns="0" rtlCol="0" anchor="t">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Memory engineering</a:t>
            </a:r>
            <a:endParaRPr lang="en-US" sz="1300" dirty="0"/>
          </a:p>
        </p:txBody>
      </p:sp>
      <p:sp>
        <p:nvSpPr>
          <p:cNvPr id="15" name="Text 10"/>
          <p:cNvSpPr/>
          <p:nvPr/>
        </p:nvSpPr>
        <p:spPr>
          <a:xfrm>
            <a:off x="5245100" y="2743200"/>
            <a:ext cx="1701800" cy="355600"/>
          </a:xfrm>
          <a:prstGeom prst="rect">
            <a:avLst/>
          </a:prstGeom>
          <a:noFill/>
          <a:ln/>
        </p:spPr>
        <p:txBody>
          <a:bodyPr wrap="square" lIns="0" tIns="0" rIns="0" bIns="0" rtlCol="0" anchor="t">
            <a:normAutofit/>
          </a:bodyPr>
          <a:lstStyle/>
          <a:p>
            <a:pPr algn="ctr" indent="0" marL="0">
              <a:lnSpc>
                <a:spcPts val="1300"/>
              </a:lnSpc>
              <a:buNone/>
            </a:pPr>
            <a:r>
              <a:rPr lang="en-US" sz="1000" dirty="0">
                <a:solidFill>
                  <a:srgbClr val="AEB9B7"/>
                </a:solidFill>
                <a:latin typeface="Courier New" pitchFamily="49" charset="0"/>
                <a:ea typeface="Courier New" pitchFamily="49" charset="-122"/>
                <a:cs typeface="Courier New" pitchFamily="49" charset="-120"/>
              </a:rPr>
              <a:t>one engine: vectors, text, rows</a:t>
            </a:r>
            <a:endParaRPr lang="en-US" sz="1000" dirty="0"/>
          </a:p>
        </p:txBody>
      </p:sp>
      <p:sp>
        <p:nvSpPr>
          <p:cNvPr id="16" name="Text 11"/>
          <p:cNvSpPr/>
          <p:nvPr/>
        </p:nvSpPr>
        <p:spPr>
          <a:xfrm>
            <a:off x="4673600" y="3848100"/>
            <a:ext cx="1320800" cy="520700"/>
          </a:xfrm>
          <a:prstGeom prst="rect">
            <a:avLst/>
          </a:prstGeom>
          <a:noFill/>
          <a:ln/>
        </p:spPr>
        <p:txBody>
          <a:bodyPr wrap="square" lIns="0" tIns="0" rIns="0" bIns="0" rtlCol="0" anchor="t">
            <a:normAutofit/>
          </a:bodyPr>
          <a:lstStyle/>
          <a:p>
            <a:pPr algn="ctr" indent="0" marL="0">
              <a:lnSpc>
                <a:spcPts val="1300"/>
              </a:lnSpc>
              <a:buNone/>
            </a:pPr>
            <a:r>
              <a:rPr lang="en-US" sz="1000" dirty="0">
                <a:solidFill>
                  <a:srgbClr val="AEB9B7"/>
                </a:solidFill>
                <a:latin typeface="Courier New" pitchFamily="49" charset="0"/>
                <a:ea typeface="Courier New" pitchFamily="49" charset="-122"/>
                <a:cs typeface="Courier New" pitchFamily="49" charset="-120"/>
              </a:rPr>
              <a:t>retention, scopes, forget don’t delete</a:t>
            </a:r>
            <a:endParaRPr lang="en-US" sz="1000" dirty="0"/>
          </a:p>
        </p:txBody>
      </p:sp>
      <p:sp>
        <p:nvSpPr>
          <p:cNvPr id="17" name="Text 12"/>
          <p:cNvSpPr/>
          <p:nvPr/>
        </p:nvSpPr>
        <p:spPr>
          <a:xfrm>
            <a:off x="6197600" y="3848100"/>
            <a:ext cx="1320800" cy="355600"/>
          </a:xfrm>
          <a:prstGeom prst="rect">
            <a:avLst/>
          </a:prstGeom>
          <a:noFill/>
          <a:ln/>
        </p:spPr>
        <p:txBody>
          <a:bodyPr wrap="square" lIns="0" tIns="0" rIns="0" bIns="0" rtlCol="0" anchor="t">
            <a:normAutofit/>
          </a:bodyPr>
          <a:lstStyle/>
          <a:p>
            <a:pPr algn="ctr" indent="0" marL="0">
              <a:lnSpc>
                <a:spcPts val="1300"/>
              </a:lnSpc>
              <a:buNone/>
            </a:pPr>
            <a:r>
              <a:rPr lang="en-US" sz="1000" dirty="0">
                <a:solidFill>
                  <a:srgbClr val="AEB9B7"/>
                </a:solidFill>
                <a:latin typeface="Courier New" pitchFamily="49" charset="0"/>
                <a:ea typeface="Courier New" pitchFamily="49" charset="-122"/>
                <a:cs typeface="Courier New" pitchFamily="49" charset="-120"/>
              </a:rPr>
              <a:t>recall budgets, context cards</a:t>
            </a:r>
            <a:endParaRPr lang="en-US" sz="1000" dirty="0"/>
          </a:p>
        </p:txBody>
      </p:sp>
      <p:sp>
        <p:nvSpPr>
          <p:cNvPr id="18" name="Shape 13"/>
          <p:cNvSpPr/>
          <p:nvPr/>
        </p:nvSpPr>
        <p:spPr>
          <a:xfrm>
            <a:off x="817563" y="1846263"/>
            <a:ext cx="2085975" cy="1196975"/>
          </a:xfrm>
          <a:prstGeom prst="roundRect">
            <a:avLst>
              <a:gd name="adj" fmla="val 9151"/>
            </a:avLst>
          </a:prstGeom>
          <a:solidFill>
            <a:srgbClr val="DEB068">
              <a:alpha val="10000"/>
            </a:srgbClr>
          </a:solidFill>
          <a:ln w="9525">
            <a:solidFill>
              <a:srgbClr val="DEB068"/>
            </a:solidFill>
            <a:prstDash val="dash"/>
          </a:ln>
        </p:spPr>
      </p:sp>
      <p:sp>
        <p:nvSpPr>
          <p:cNvPr id="19" name="Text 14"/>
          <p:cNvSpPr/>
          <p:nvPr/>
        </p:nvSpPr>
        <p:spPr>
          <a:xfrm>
            <a:off x="952500" y="1990725"/>
            <a:ext cx="1870583" cy="381000"/>
          </a:xfrm>
          <a:prstGeom prst="rect">
            <a:avLst/>
          </a:prstGeom>
          <a:noFill/>
          <a:ln/>
        </p:spPr>
        <p:txBody>
          <a:bodyPr wrap="square" lIns="0" tIns="0" rIns="0" bIns="0" rtlCol="0" anchor="t">
            <a:normAutofit/>
          </a:bodyPr>
          <a:lstStyle/>
          <a:p>
            <a:pPr algn="l" indent="0" marL="0">
              <a:lnSpc>
                <a:spcPts val="1400"/>
              </a:lnSpc>
              <a:buNone/>
            </a:pPr>
            <a:r>
              <a:rPr lang="en-US" sz="1000" spc="100" kern="0" dirty="0">
                <a:solidFill>
                  <a:srgbClr val="AEB9B7"/>
                </a:solidFill>
                <a:latin typeface="Courier New" pitchFamily="49" charset="0"/>
                <a:ea typeface="Courier New" pitchFamily="49" charset="-122"/>
                <a:cs typeface="Courier New" pitchFamily="49" charset="-120"/>
              </a:rPr>
              <a:t>BORROWS FROM · COGNITIVE SCIENCE</a:t>
            </a:r>
            <a:endParaRPr lang="en-US" sz="1000" dirty="0"/>
          </a:p>
        </p:txBody>
      </p:sp>
      <p:sp>
        <p:nvSpPr>
          <p:cNvPr id="20" name="Text 15"/>
          <p:cNvSpPr/>
          <p:nvPr/>
        </p:nvSpPr>
        <p:spPr>
          <a:xfrm>
            <a:off x="952500" y="2397125"/>
            <a:ext cx="18705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memory types, consolidation, forgetting curves</a:t>
            </a:r>
            <a:endParaRPr lang="en-US" sz="1100" dirty="0"/>
          </a:p>
        </p:txBody>
      </p:sp>
      <p:sp>
        <p:nvSpPr>
          <p:cNvPr id="21" name="Shape 16"/>
          <p:cNvSpPr/>
          <p:nvPr/>
        </p:nvSpPr>
        <p:spPr>
          <a:xfrm>
            <a:off x="817563" y="3751263"/>
            <a:ext cx="2085975" cy="1196975"/>
          </a:xfrm>
          <a:prstGeom prst="roundRect">
            <a:avLst>
              <a:gd name="adj" fmla="val 9151"/>
            </a:avLst>
          </a:prstGeom>
          <a:solidFill>
            <a:srgbClr val="DEB068">
              <a:alpha val="10000"/>
            </a:srgbClr>
          </a:solidFill>
          <a:ln w="9525">
            <a:solidFill>
              <a:srgbClr val="DEB068"/>
            </a:solidFill>
            <a:prstDash val="dash"/>
          </a:ln>
        </p:spPr>
      </p:sp>
      <p:sp>
        <p:nvSpPr>
          <p:cNvPr id="22" name="Text 17"/>
          <p:cNvSpPr/>
          <p:nvPr/>
        </p:nvSpPr>
        <p:spPr>
          <a:xfrm>
            <a:off x="952500" y="3869978"/>
            <a:ext cx="1870583" cy="557758"/>
          </a:xfrm>
          <a:prstGeom prst="rect">
            <a:avLst/>
          </a:prstGeom>
          <a:noFill/>
          <a:ln/>
        </p:spPr>
        <p:txBody>
          <a:bodyPr wrap="square" lIns="0" tIns="0" rIns="0" bIns="0" rtlCol="0" anchor="t">
            <a:normAutofit/>
          </a:bodyPr>
          <a:lstStyle/>
          <a:p>
            <a:pPr algn="l" indent="0" marL="0">
              <a:lnSpc>
                <a:spcPts val="1400"/>
              </a:lnSpc>
              <a:buNone/>
            </a:pPr>
            <a:r>
              <a:rPr lang="en-US" sz="1000" spc="100" kern="0" dirty="0">
                <a:solidFill>
                  <a:srgbClr val="AEB9B7"/>
                </a:solidFill>
                <a:latin typeface="Courier New" pitchFamily="49" charset="0"/>
                <a:ea typeface="Courier New" pitchFamily="49" charset="-122"/>
                <a:cs typeface="Courier New" pitchFamily="49" charset="-120"/>
              </a:rPr>
              <a:t>BORROWS FROM · SECURITY AND GOVERNANCE</a:t>
            </a:r>
            <a:endParaRPr lang="en-US" sz="1000" dirty="0"/>
          </a:p>
        </p:txBody>
      </p:sp>
      <p:sp>
        <p:nvSpPr>
          <p:cNvPr id="23" name="Text 18"/>
          <p:cNvSpPr/>
          <p:nvPr/>
        </p:nvSpPr>
        <p:spPr>
          <a:xfrm>
            <a:off x="952500" y="4453136"/>
            <a:ext cx="1870583" cy="401786"/>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identity, audit, deletion that cascades</a:t>
            </a:r>
            <a:endParaRPr lang="en-US" sz="1100" dirty="0"/>
          </a:p>
        </p:txBody>
      </p:sp>
      <p:sp>
        <p:nvSpPr>
          <p:cNvPr id="24" name="Shape 19"/>
          <p:cNvSpPr/>
          <p:nvPr/>
        </p:nvSpPr>
        <p:spPr>
          <a:xfrm>
            <a:off x="9288463" y="1846263"/>
            <a:ext cx="2085975" cy="1196975"/>
          </a:xfrm>
          <a:prstGeom prst="roundRect">
            <a:avLst>
              <a:gd name="adj" fmla="val 9151"/>
            </a:avLst>
          </a:prstGeom>
          <a:solidFill>
            <a:srgbClr val="DEB068">
              <a:alpha val="10000"/>
            </a:srgbClr>
          </a:solidFill>
          <a:ln w="9525">
            <a:solidFill>
              <a:srgbClr val="DEB068"/>
            </a:solidFill>
            <a:prstDash val="dash"/>
          </a:ln>
        </p:spPr>
      </p:sp>
      <p:sp>
        <p:nvSpPr>
          <p:cNvPr id="25" name="Text 20"/>
          <p:cNvSpPr/>
          <p:nvPr/>
        </p:nvSpPr>
        <p:spPr>
          <a:xfrm>
            <a:off x="9423400" y="1990725"/>
            <a:ext cx="1870583" cy="381000"/>
          </a:xfrm>
          <a:prstGeom prst="rect">
            <a:avLst/>
          </a:prstGeom>
          <a:noFill/>
          <a:ln/>
        </p:spPr>
        <p:txBody>
          <a:bodyPr wrap="square" lIns="0" tIns="0" rIns="0" bIns="0" rtlCol="0" anchor="t">
            <a:normAutofit/>
          </a:bodyPr>
          <a:lstStyle/>
          <a:p>
            <a:pPr algn="l" indent="0" marL="0">
              <a:lnSpc>
                <a:spcPts val="1400"/>
              </a:lnSpc>
              <a:buNone/>
            </a:pPr>
            <a:r>
              <a:rPr lang="en-US" sz="1000" spc="100" kern="0" dirty="0">
                <a:solidFill>
                  <a:srgbClr val="AEB9B7"/>
                </a:solidFill>
                <a:latin typeface="Courier New" pitchFamily="49" charset="0"/>
                <a:ea typeface="Courier New" pitchFamily="49" charset="-122"/>
                <a:cs typeface="Courier New" pitchFamily="49" charset="-120"/>
              </a:rPr>
              <a:t>BORROWS FROM · ML ENGINEERING</a:t>
            </a:r>
            <a:endParaRPr lang="en-US" sz="1000" dirty="0"/>
          </a:p>
        </p:txBody>
      </p:sp>
      <p:sp>
        <p:nvSpPr>
          <p:cNvPr id="26" name="Text 21"/>
          <p:cNvSpPr/>
          <p:nvPr/>
        </p:nvSpPr>
        <p:spPr>
          <a:xfrm>
            <a:off x="9423400" y="2397125"/>
            <a:ext cx="18705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evals, fine-tuning, distillation into weights</a:t>
            </a:r>
            <a:endParaRPr lang="en-US" sz="1100" dirty="0"/>
          </a:p>
        </p:txBody>
      </p:sp>
      <p:sp>
        <p:nvSpPr>
          <p:cNvPr id="27" name="Shape 22"/>
          <p:cNvSpPr/>
          <p:nvPr/>
        </p:nvSpPr>
        <p:spPr>
          <a:xfrm>
            <a:off x="9288463" y="3751263"/>
            <a:ext cx="2085975" cy="1196975"/>
          </a:xfrm>
          <a:prstGeom prst="roundRect">
            <a:avLst>
              <a:gd name="adj" fmla="val 9151"/>
            </a:avLst>
          </a:prstGeom>
          <a:solidFill>
            <a:srgbClr val="DEB068">
              <a:alpha val="10000"/>
            </a:srgbClr>
          </a:solidFill>
          <a:ln w="9525">
            <a:solidFill>
              <a:srgbClr val="DEB068"/>
            </a:solidFill>
            <a:prstDash val="dash"/>
          </a:ln>
        </p:spPr>
      </p:sp>
      <p:sp>
        <p:nvSpPr>
          <p:cNvPr id="28" name="Text 23"/>
          <p:cNvSpPr/>
          <p:nvPr/>
        </p:nvSpPr>
        <p:spPr>
          <a:xfrm>
            <a:off x="9423400" y="3895725"/>
            <a:ext cx="1920538" cy="203200"/>
          </a:xfrm>
          <a:prstGeom prst="rect">
            <a:avLst/>
          </a:prstGeom>
          <a:noFill/>
          <a:ln/>
        </p:spPr>
        <p:txBody>
          <a:bodyPr wrap="square" lIns="0" tIns="0" rIns="0" bIns="0" rtlCol="0" anchor="t">
            <a:normAutofit/>
          </a:bodyPr>
          <a:lstStyle/>
          <a:p>
            <a:pPr algn="l" indent="0" marL="0">
              <a:lnSpc>
                <a:spcPts val="1400"/>
              </a:lnSpc>
              <a:buNone/>
            </a:pPr>
            <a:r>
              <a:rPr lang="en-US" sz="1000" spc="100" kern="0" dirty="0">
                <a:solidFill>
                  <a:srgbClr val="AEB9B7"/>
                </a:solidFill>
                <a:latin typeface="Courier New" pitchFamily="49" charset="0"/>
                <a:ea typeface="Courier New" pitchFamily="49" charset="-122"/>
                <a:cs typeface="Courier New" pitchFamily="49" charset="-120"/>
              </a:rPr>
              <a:t>BORROWS FROM · SRE</a:t>
            </a:r>
            <a:endParaRPr lang="en-US" sz="1000" dirty="0"/>
          </a:p>
        </p:txBody>
      </p:sp>
      <p:sp>
        <p:nvSpPr>
          <p:cNvPr id="29" name="Text 24"/>
          <p:cNvSpPr/>
          <p:nvPr/>
        </p:nvSpPr>
        <p:spPr>
          <a:xfrm>
            <a:off x="9423400" y="4124325"/>
            <a:ext cx="1870583"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traces, budgets, thresholds, rollbacks</a:t>
            </a:r>
            <a:endParaRPr lang="en-US" sz="1100" dirty="0"/>
          </a:p>
        </p:txBody>
      </p:sp>
      <p:sp>
        <p:nvSpPr>
          <p:cNvPr id="30" name="Text 25"/>
          <p:cNvSpPr/>
          <p:nvPr/>
        </p:nvSpPr>
        <p:spPr>
          <a:xfrm>
            <a:off x="812800" y="60960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Nobody arrives with all three. The discipline is learning the other two well enough to design the whole system.</a:t>
            </a:r>
            <a:endParaRPr lang="en-US" sz="1200" dirty="0"/>
          </a:p>
        </p:txBody>
      </p:sp>
      <p:sp>
        <p:nvSpPr>
          <p:cNvPr id="31"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non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The three disciplines</a:t>
            </a:r>
            <a:endParaRPr lang="en-US" sz="2800" dirty="0"/>
          </a:p>
        </p:txBody>
      </p:sp>
      <p:sp>
        <p:nvSpPr>
          <p:cNvPr id="4" name="Text 2"/>
          <p:cNvSpPr/>
          <p:nvPr/>
        </p:nvSpPr>
        <p:spPr>
          <a:xfrm>
            <a:off x="6076950" y="685800"/>
            <a:ext cx="1714500" cy="314920"/>
          </a:xfrm>
          <a:custGeom>
            <a:avLst/>
            <a:gdLst/>
            <a:ahLst/>
            <a:cxnLst/>
            <a:rect l="l" t="t" r="r" b="b"/>
            <a:pathLst>
              <a:path w="1714500" h="314920">
                <a:moveTo>
                  <a:pt x="157460" y="0"/>
                </a:moveTo>
                <a:lnTo>
                  <a:pt x="1557040" y="0"/>
                </a:lnTo>
                <a:arcTo hR="157460" wR="157460" stAng="16200000" swAng="5400000"/>
                <a:lnTo>
                  <a:pt x="1714500" y="157460"/>
                </a:lnTo>
                <a:arcTo hR="157460" wR="157460" stAng="0" swAng="5400000"/>
                <a:lnTo>
                  <a:pt x="157460" y="314920"/>
                </a:lnTo>
                <a:arcTo hR="157460" wR="157460" stAng="5400000" swAng="5400000"/>
                <a:lnTo>
                  <a:pt x="0" y="157460"/>
                </a:lnTo>
                <a:arcTo hR="157460" wR="157460" stAng="10800000" swAng="5400000"/>
                <a:close/>
              </a:path>
            </a:pathLst>
          </a:custGeom>
          <a:solidFill>
            <a:srgbClr val="DEB068"/>
          </a:solidFill>
          <a:ln/>
        </p:spPr>
        <p:txBody>
          <a:bodyPr wrap="none" lIns="0" tIns="50800" rIns="0" bIns="25400" rtlCol="0" anchor="t">
            <a:normAutofit/>
          </a:bodyPr>
          <a:lstStyle/>
          <a:p>
            <a:pPr algn="ctr" indent="0" marL="0">
              <a:lnSpc>
                <a:spcPts val="1680"/>
              </a:lnSpc>
              <a:buNone/>
            </a:pPr>
            <a:r>
              <a:rPr lang="en-US" sz="1200" b="1" dirty="0">
                <a:solidFill>
                  <a:srgbClr val="1E2A2A"/>
                </a:solidFill>
                <a:latin typeface="Arial" pitchFamily="34" charset="0"/>
                <a:ea typeface="Arial" pitchFamily="34" charset="-122"/>
                <a:cs typeface="Arial" pitchFamily="34" charset="-120"/>
              </a:rPr>
              <a:t>Prompt engineering</a:t>
            </a:r>
            <a:endParaRPr lang="en-US" sz="1200" dirty="0"/>
          </a:p>
        </p:txBody>
      </p:sp>
      <p:sp>
        <p:nvSpPr>
          <p:cNvPr id="5" name="Text 3"/>
          <p:cNvSpPr/>
          <p:nvPr/>
        </p:nvSpPr>
        <p:spPr>
          <a:xfrm>
            <a:off x="7867650" y="685800"/>
            <a:ext cx="1797050" cy="314920"/>
          </a:xfrm>
          <a:custGeom>
            <a:avLst/>
            <a:gdLst/>
            <a:ahLst/>
            <a:cxnLst/>
            <a:rect l="l" t="t" r="r" b="b"/>
            <a:pathLst>
              <a:path w="1797050" h="314920">
                <a:moveTo>
                  <a:pt x="157460" y="0"/>
                </a:moveTo>
                <a:lnTo>
                  <a:pt x="1639590" y="0"/>
                </a:lnTo>
                <a:arcTo hR="157460" wR="157460" stAng="16200000" swAng="5400000"/>
                <a:lnTo>
                  <a:pt x="1797050" y="157460"/>
                </a:lnTo>
                <a:arcTo hR="157460" wR="157460" stAng="0" swAng="5400000"/>
                <a:lnTo>
                  <a:pt x="157460" y="314920"/>
                </a:lnTo>
                <a:arcTo hR="157460" wR="157460" stAng="5400000" swAng="5400000"/>
                <a:lnTo>
                  <a:pt x="0" y="157460"/>
                </a:lnTo>
                <a:arcTo hR="157460" wR="157460" stAng="10800000" swAng="5400000"/>
                <a:close/>
              </a:path>
            </a:pathLst>
          </a:custGeom>
          <a:solidFill>
            <a:srgbClr val="7FC4DC"/>
          </a:solidFill>
          <a:ln/>
        </p:spPr>
        <p:txBody>
          <a:bodyPr wrap="none" lIns="0" tIns="50800" rIns="0" bIns="25400" rtlCol="0" anchor="t">
            <a:normAutofit/>
          </a:bodyPr>
          <a:lstStyle/>
          <a:p>
            <a:pPr algn="ctr" indent="0" marL="0">
              <a:lnSpc>
                <a:spcPts val="1680"/>
              </a:lnSpc>
              <a:buNone/>
            </a:pPr>
            <a:r>
              <a:rPr lang="en-US" sz="1200" b="1" dirty="0">
                <a:solidFill>
                  <a:srgbClr val="1E2A2A"/>
                </a:solidFill>
                <a:latin typeface="Arial" pitchFamily="34" charset="0"/>
                <a:ea typeface="Arial" pitchFamily="34" charset="-122"/>
                <a:cs typeface="Arial" pitchFamily="34" charset="-120"/>
              </a:rPr>
              <a:t>Context engineering</a:t>
            </a:r>
            <a:endParaRPr lang="en-US" sz="1200" dirty="0"/>
          </a:p>
        </p:txBody>
      </p:sp>
      <p:sp>
        <p:nvSpPr>
          <p:cNvPr id="6" name="Text 4"/>
          <p:cNvSpPr/>
          <p:nvPr/>
        </p:nvSpPr>
        <p:spPr>
          <a:xfrm>
            <a:off x="9740900" y="685800"/>
            <a:ext cx="1714500" cy="314920"/>
          </a:xfrm>
          <a:custGeom>
            <a:avLst/>
            <a:gdLst/>
            <a:ahLst/>
            <a:cxnLst/>
            <a:rect l="l" t="t" r="r" b="b"/>
            <a:pathLst>
              <a:path w="1714500" h="314920">
                <a:moveTo>
                  <a:pt x="157460" y="0"/>
                </a:moveTo>
                <a:lnTo>
                  <a:pt x="1557040" y="0"/>
                </a:lnTo>
                <a:arcTo hR="157460" wR="157460" stAng="16200000" swAng="5400000"/>
                <a:lnTo>
                  <a:pt x="1714500" y="157460"/>
                </a:lnTo>
                <a:arcTo hR="157460" wR="157460" stAng="0" swAng="5400000"/>
                <a:lnTo>
                  <a:pt x="157460" y="314920"/>
                </a:lnTo>
                <a:arcTo hR="157460" wR="157460" stAng="5400000" swAng="5400000"/>
                <a:lnTo>
                  <a:pt x="0" y="157460"/>
                </a:lnTo>
                <a:arcTo hR="157460" wR="157460" stAng="10800000" swAng="5400000"/>
                <a:close/>
              </a:path>
            </a:pathLst>
          </a:custGeom>
          <a:solidFill>
            <a:srgbClr val="E8836F"/>
          </a:solidFill>
          <a:ln/>
        </p:spPr>
        <p:txBody>
          <a:bodyPr wrap="none" lIns="0" tIns="50800" rIns="0" bIns="25400" rtlCol="0" anchor="t">
            <a:normAutofit/>
          </a:bodyPr>
          <a:lstStyle/>
          <a:p>
            <a:pPr algn="ctr" indent="0" marL="0">
              <a:lnSpc>
                <a:spcPts val="1680"/>
              </a:lnSpc>
              <a:buNone/>
            </a:pPr>
            <a:r>
              <a:rPr lang="en-US" sz="1200" b="1" dirty="0">
                <a:solidFill>
                  <a:srgbClr val="1E2A2A"/>
                </a:solidFill>
                <a:latin typeface="Arial" pitchFamily="34" charset="0"/>
                <a:ea typeface="Arial" pitchFamily="34" charset="-122"/>
                <a:cs typeface="Arial" pitchFamily="34" charset="-120"/>
              </a:rPr>
              <a:t>Memory engineering</a:t>
            </a:r>
            <a:endParaRPr lang="en-US" sz="1200" dirty="0"/>
          </a:p>
        </p:txBody>
      </p:sp>
      <p:sp>
        <p:nvSpPr>
          <p:cNvPr id="7" name="Shape 5"/>
          <p:cNvSpPr/>
          <p:nvPr/>
        </p:nvSpPr>
        <p:spPr>
          <a:xfrm>
            <a:off x="817563" y="14017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8" name="Text 6"/>
          <p:cNvSpPr/>
          <p:nvPr/>
        </p:nvSpPr>
        <p:spPr>
          <a:xfrm>
            <a:off x="965200" y="140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AEB9B7"/>
                </a:solidFill>
                <a:latin typeface="Courier New" pitchFamily="49" charset="0"/>
                <a:ea typeface="Courier New" pitchFamily="49" charset="-122"/>
                <a:cs typeface="Courier New" pitchFamily="49" charset="-120"/>
              </a:rPr>
              <a:t>APPLICATION LAYER</a:t>
            </a:r>
            <a:endParaRPr lang="en-US" sz="1100" dirty="0"/>
          </a:p>
        </p:txBody>
      </p:sp>
      <p:sp>
        <p:nvSpPr>
          <p:cNvPr id="9" name="Shape 7"/>
          <p:cNvSpPr/>
          <p:nvPr/>
        </p:nvSpPr>
        <p:spPr>
          <a:xfrm>
            <a:off x="817563" y="2671763"/>
            <a:ext cx="7432675" cy="1895475"/>
          </a:xfrm>
          <a:prstGeom prst="roundRect">
            <a:avLst>
              <a:gd name="adj" fmla="val 7119"/>
            </a:avLst>
          </a:prstGeom>
          <a:solidFill>
            <a:srgbClr val="FFFFFF">
              <a:alpha val="2000"/>
            </a:srgbClr>
          </a:solidFill>
          <a:ln w="9525">
            <a:solidFill>
              <a:srgbClr val="FFFFFF">
                <a:alpha val="16000"/>
              </a:srgbClr>
            </a:solidFill>
            <a:prstDash val="dash"/>
          </a:ln>
        </p:spPr>
      </p:sp>
      <p:sp>
        <p:nvSpPr>
          <p:cNvPr id="10" name="Text 8"/>
          <p:cNvSpPr/>
          <p:nvPr/>
        </p:nvSpPr>
        <p:spPr>
          <a:xfrm>
            <a:off x="965200" y="267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E8836F"/>
                </a:solidFill>
                <a:latin typeface="Courier New" pitchFamily="49" charset="0"/>
                <a:ea typeface="Courier New" pitchFamily="49" charset="-122"/>
                <a:cs typeface="Courier New" pitchFamily="49" charset="-120"/>
              </a:rPr>
              <a:t>MEMORY LAYER</a:t>
            </a:r>
            <a:endParaRPr lang="en-US" sz="1100" dirty="0"/>
          </a:p>
        </p:txBody>
      </p:sp>
      <p:sp>
        <p:nvSpPr>
          <p:cNvPr id="11" name="Shape 9"/>
          <p:cNvSpPr/>
          <p:nvPr/>
        </p:nvSpPr>
        <p:spPr>
          <a:xfrm>
            <a:off x="817563" y="48942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12" name="Text 10"/>
          <p:cNvSpPr/>
          <p:nvPr/>
        </p:nvSpPr>
        <p:spPr>
          <a:xfrm>
            <a:off x="965200" y="49022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DEB068"/>
                </a:solidFill>
                <a:latin typeface="Courier New" pitchFamily="49" charset="0"/>
                <a:ea typeface="Courier New" pitchFamily="49" charset="-122"/>
                <a:cs typeface="Courier New" pitchFamily="49" charset="-120"/>
              </a:rPr>
              <a:t>DATA LAYER</a:t>
            </a:r>
            <a:endParaRPr lang="en-US" sz="1100" dirty="0"/>
          </a:p>
        </p:txBody>
      </p:sp>
      <p:sp>
        <p:nvSpPr>
          <p:cNvPr id="13" name="Shape 11"/>
          <p:cNvSpPr/>
          <p:nvPr/>
        </p:nvSpPr>
        <p:spPr>
          <a:xfrm>
            <a:off x="8716963" y="1401763"/>
            <a:ext cx="2657475" cy="4435475"/>
          </a:xfrm>
          <a:prstGeom prst="roundRect">
            <a:avLst>
              <a:gd name="adj" fmla="val 5078"/>
            </a:avLst>
          </a:prstGeom>
          <a:solidFill>
            <a:srgbClr val="FFFFFF">
              <a:alpha val="2000"/>
            </a:srgbClr>
          </a:solidFill>
          <a:ln w="9525">
            <a:solidFill>
              <a:srgbClr val="FFFFFF">
                <a:alpha val="16000"/>
              </a:srgbClr>
            </a:solidFill>
            <a:prstDash val="dash"/>
          </a:ln>
        </p:spPr>
      </p:sp>
      <p:sp>
        <p:nvSpPr>
          <p:cNvPr id="14" name="Text 12"/>
          <p:cNvSpPr/>
          <p:nvPr/>
        </p:nvSpPr>
        <p:spPr>
          <a:xfrm>
            <a:off x="8864600" y="1409700"/>
            <a:ext cx="2433066"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7FC4DC"/>
                </a:solidFill>
                <a:latin typeface="Courier New" pitchFamily="49" charset="0"/>
                <a:ea typeface="Courier New" pitchFamily="49" charset="-122"/>
                <a:cs typeface="Courier New" pitchFamily="49" charset="-120"/>
              </a:rPr>
              <a:t>MODEL LAYER</a:t>
            </a:r>
            <a:endParaRPr lang="en-US" sz="1100" dirty="0"/>
          </a:p>
        </p:txBody>
      </p:sp>
      <p:sp>
        <p:nvSpPr>
          <p:cNvPr id="15" name="Shape 13"/>
          <p:cNvSpPr/>
          <p:nvPr/>
        </p:nvSpPr>
        <p:spPr>
          <a:xfrm>
            <a:off x="969963" y="1668463"/>
            <a:ext cx="1387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6" name="Image 0" descr="Users">    </p:cNvPr>
          <p:cNvPicPr>
            <a:picLocks noChangeAspect="1"/>
          </p:cNvPicPr>
          <p:nvPr/>
        </p:nvPicPr>
        <p:blipFill>
          <a:blip r:embed="rId1"/>
          <a:srcRect l="0" r="0" t="0" b="0"/>
          <a:stretch/>
        </p:blipFill>
        <p:spPr>
          <a:xfrm>
            <a:off x="1054100" y="1841500"/>
            <a:ext cx="254000" cy="254000"/>
          </a:xfrm>
          <a:prstGeom prst="rect">
            <a:avLst/>
          </a:prstGeom>
        </p:spPr>
      </p:pic>
      <p:sp>
        <p:nvSpPr>
          <p:cNvPr id="17" name="Text 14"/>
          <p:cNvSpPr/>
          <p:nvPr/>
        </p:nvSpPr>
        <p:spPr>
          <a:xfrm>
            <a:off x="1397000" y="1748830"/>
            <a:ext cx="88051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Application</a:t>
            </a:r>
            <a:endParaRPr lang="en-US" sz="1200" dirty="0"/>
          </a:p>
        </p:txBody>
      </p:sp>
      <p:sp>
        <p:nvSpPr>
          <p:cNvPr id="18" name="Text 15"/>
          <p:cNvSpPr/>
          <p:nvPr/>
        </p:nvSpPr>
        <p:spPr>
          <a:xfrm>
            <a:off x="1397000" y="1974850"/>
            <a:ext cx="88051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user · tools</a:t>
            </a:r>
            <a:endParaRPr lang="en-US" sz="1200" dirty="0"/>
          </a:p>
        </p:txBody>
      </p:sp>
      <p:sp>
        <p:nvSpPr>
          <p:cNvPr id="19" name="Shape 16"/>
          <p:cNvSpPr/>
          <p:nvPr/>
        </p:nvSpPr>
        <p:spPr>
          <a:xfrm>
            <a:off x="3001963" y="1668463"/>
            <a:ext cx="2022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0" name="Image 1" descr="Settings">    </p:cNvPr>
          <p:cNvPicPr>
            <a:picLocks noChangeAspect="1"/>
          </p:cNvPicPr>
          <p:nvPr/>
        </p:nvPicPr>
        <p:blipFill>
          <a:blip r:embed="rId2"/>
          <a:srcRect l="0" r="0" t="0" b="0"/>
          <a:stretch/>
        </p:blipFill>
        <p:spPr>
          <a:xfrm>
            <a:off x="3086100" y="1841500"/>
            <a:ext cx="254000" cy="254000"/>
          </a:xfrm>
          <a:prstGeom prst="rect">
            <a:avLst/>
          </a:prstGeom>
        </p:spPr>
      </p:pic>
      <p:sp>
        <p:nvSpPr>
          <p:cNvPr id="21" name="Text 17"/>
          <p:cNvSpPr/>
          <p:nvPr/>
        </p:nvSpPr>
        <p:spPr>
          <a:xfrm>
            <a:off x="3429000" y="174883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Agent harness</a:t>
            </a:r>
            <a:endParaRPr lang="en-US" sz="1200" dirty="0"/>
          </a:p>
        </p:txBody>
      </p:sp>
      <p:sp>
        <p:nvSpPr>
          <p:cNvPr id="22" name="Text 18"/>
          <p:cNvSpPr/>
          <p:nvPr/>
        </p:nvSpPr>
        <p:spPr>
          <a:xfrm>
            <a:off x="3429000" y="1974850"/>
            <a:ext cx="110941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the agent loop</a:t>
            </a:r>
            <a:endParaRPr lang="en-US" sz="1200" dirty="0"/>
          </a:p>
        </p:txBody>
      </p:sp>
      <p:sp>
        <p:nvSpPr>
          <p:cNvPr id="23" name="Shape 19"/>
          <p:cNvSpPr/>
          <p:nvPr/>
        </p:nvSpPr>
        <p:spPr>
          <a:xfrm>
            <a:off x="5668963" y="1668463"/>
            <a:ext cx="1895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4" name="Image 2" descr="Book">    </p:cNvPr>
          <p:cNvPicPr>
            <a:picLocks noChangeAspect="1"/>
          </p:cNvPicPr>
          <p:nvPr/>
        </p:nvPicPr>
        <p:blipFill>
          <a:blip r:embed="rId3"/>
          <a:srcRect l="0" r="0" t="0" b="0"/>
          <a:stretch/>
        </p:blipFill>
        <p:spPr>
          <a:xfrm>
            <a:off x="5753100" y="1841500"/>
            <a:ext cx="254000" cy="254000"/>
          </a:xfrm>
          <a:prstGeom prst="rect">
            <a:avLst/>
          </a:prstGeom>
        </p:spPr>
      </p:pic>
      <p:sp>
        <p:nvSpPr>
          <p:cNvPr id="25" name="Text 20"/>
          <p:cNvSpPr/>
          <p:nvPr/>
        </p:nvSpPr>
        <p:spPr>
          <a:xfrm>
            <a:off x="6096000" y="1748830"/>
            <a:ext cx="121910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Context window</a:t>
            </a:r>
            <a:endParaRPr lang="en-US" sz="1200" dirty="0"/>
          </a:p>
        </p:txBody>
      </p:sp>
      <p:sp>
        <p:nvSpPr>
          <p:cNvPr id="26" name="Text 21"/>
          <p:cNvSpPr/>
          <p:nvPr/>
        </p:nvSpPr>
        <p:spPr>
          <a:xfrm>
            <a:off x="6096000" y="1974850"/>
            <a:ext cx="121910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prompt · query</a:t>
            </a:r>
            <a:endParaRPr lang="en-US" sz="1200" dirty="0"/>
          </a:p>
        </p:txBody>
      </p:sp>
      <p:sp>
        <p:nvSpPr>
          <p:cNvPr id="27" name="Shape 22"/>
          <p:cNvSpPr/>
          <p:nvPr/>
        </p:nvSpPr>
        <p:spPr>
          <a:xfrm>
            <a:off x="8869363" y="1668463"/>
            <a:ext cx="23526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8" name="Image 3" descr="Lightbulb">    </p:cNvPr>
          <p:cNvPicPr>
            <a:picLocks noChangeAspect="1"/>
          </p:cNvPicPr>
          <p:nvPr/>
        </p:nvPicPr>
        <p:blipFill>
          <a:blip r:embed="rId4"/>
          <a:srcRect l="0" r="0" t="0" b="0"/>
          <a:stretch/>
        </p:blipFill>
        <p:spPr>
          <a:xfrm>
            <a:off x="8953500" y="1841500"/>
            <a:ext cx="254000" cy="254000"/>
          </a:xfrm>
          <a:prstGeom prst="rect">
            <a:avLst/>
          </a:prstGeom>
        </p:spPr>
      </p:pic>
      <p:sp>
        <p:nvSpPr>
          <p:cNvPr id="29" name="Text 23"/>
          <p:cNvSpPr/>
          <p:nvPr/>
        </p:nvSpPr>
        <p:spPr>
          <a:xfrm>
            <a:off x="9296400" y="1748830"/>
            <a:ext cx="171097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LLM</a:t>
            </a:r>
            <a:endParaRPr lang="en-US" sz="1200" dirty="0"/>
          </a:p>
        </p:txBody>
      </p:sp>
      <p:sp>
        <p:nvSpPr>
          <p:cNvPr id="30" name="Text 24"/>
          <p:cNvSpPr/>
          <p:nvPr/>
        </p:nvSpPr>
        <p:spPr>
          <a:xfrm>
            <a:off x="9296400" y="1974850"/>
            <a:ext cx="171097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stateless · prompt cache</a:t>
            </a:r>
            <a:endParaRPr lang="en-US" sz="1200" dirty="0"/>
          </a:p>
        </p:txBody>
      </p:sp>
      <p:sp>
        <p:nvSpPr>
          <p:cNvPr id="31" name="Shape 25"/>
          <p:cNvSpPr/>
          <p:nvPr/>
        </p:nvSpPr>
        <p:spPr>
          <a:xfrm>
            <a:off x="8869363" y="28749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32" name="Image 4" descr="Lightning">    </p:cNvPr>
          <p:cNvPicPr>
            <a:picLocks noChangeAspect="1"/>
          </p:cNvPicPr>
          <p:nvPr/>
        </p:nvPicPr>
        <p:blipFill>
          <a:blip r:embed="rId5"/>
          <a:srcRect l="0" r="0" t="0" b="0"/>
          <a:stretch/>
        </p:blipFill>
        <p:spPr>
          <a:xfrm>
            <a:off x="8953500" y="2984500"/>
            <a:ext cx="254000" cy="254000"/>
          </a:xfrm>
          <a:prstGeom prst="rect">
            <a:avLst/>
          </a:prstGeom>
        </p:spPr>
      </p:pic>
      <p:sp>
        <p:nvSpPr>
          <p:cNvPr id="33" name="Text 26"/>
          <p:cNvSpPr/>
          <p:nvPr/>
        </p:nvSpPr>
        <p:spPr>
          <a:xfrm>
            <a:off x="9296400" y="2891830"/>
            <a:ext cx="143991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Extraction LLM</a:t>
            </a:r>
            <a:endParaRPr lang="en-US" sz="1200" dirty="0"/>
          </a:p>
        </p:txBody>
      </p:sp>
      <p:sp>
        <p:nvSpPr>
          <p:cNvPr id="34" name="Text 27"/>
          <p:cNvSpPr/>
          <p:nvPr/>
        </p:nvSpPr>
        <p:spPr>
          <a:xfrm>
            <a:off x="9296400" y="3117850"/>
            <a:ext cx="143991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 turn into memories</a:t>
            </a:r>
            <a:endParaRPr lang="en-US" sz="1200" dirty="0"/>
          </a:p>
        </p:txBody>
      </p:sp>
      <p:sp>
        <p:nvSpPr>
          <p:cNvPr id="35" name="Shape 28"/>
          <p:cNvSpPr/>
          <p:nvPr/>
        </p:nvSpPr>
        <p:spPr>
          <a:xfrm>
            <a:off x="8869363" y="34845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36" name="Image 5" descr="Link">    </p:cNvPr>
          <p:cNvPicPr>
            <a:picLocks noChangeAspect="1"/>
          </p:cNvPicPr>
          <p:nvPr/>
        </p:nvPicPr>
        <p:blipFill>
          <a:blip r:embed="rId6"/>
          <a:srcRect l="0" r="0" t="0" b="0"/>
          <a:stretch/>
        </p:blipFill>
        <p:spPr>
          <a:xfrm>
            <a:off x="8953500" y="3594100"/>
            <a:ext cx="254000" cy="254000"/>
          </a:xfrm>
          <a:prstGeom prst="rect">
            <a:avLst/>
          </a:prstGeom>
        </p:spPr>
      </p:pic>
      <p:sp>
        <p:nvSpPr>
          <p:cNvPr id="37" name="Text 29"/>
          <p:cNvSpPr/>
          <p:nvPr/>
        </p:nvSpPr>
        <p:spPr>
          <a:xfrm>
            <a:off x="9296400" y="3501430"/>
            <a:ext cx="137165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Embedding model</a:t>
            </a:r>
            <a:endParaRPr lang="en-US" sz="1200" dirty="0"/>
          </a:p>
        </p:txBody>
      </p:sp>
      <p:sp>
        <p:nvSpPr>
          <p:cNvPr id="38" name="Text 30"/>
          <p:cNvSpPr/>
          <p:nvPr/>
        </p:nvSpPr>
        <p:spPr>
          <a:xfrm>
            <a:off x="9296400" y="3727450"/>
            <a:ext cx="13716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text to vectors</a:t>
            </a:r>
            <a:endParaRPr lang="en-US" sz="1200" dirty="0"/>
          </a:p>
        </p:txBody>
      </p:sp>
      <p:sp>
        <p:nvSpPr>
          <p:cNvPr id="39" name="Shape 31"/>
          <p:cNvSpPr/>
          <p:nvPr/>
        </p:nvSpPr>
        <p:spPr>
          <a:xfrm>
            <a:off x="8869363" y="40941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40" name="Image 6" descr="Star">    </p:cNvPr>
          <p:cNvPicPr>
            <a:picLocks noChangeAspect="1"/>
          </p:cNvPicPr>
          <p:nvPr/>
        </p:nvPicPr>
        <p:blipFill>
          <a:blip r:embed="rId7"/>
          <a:srcRect l="0" r="0" t="0" b="0"/>
          <a:stretch/>
        </p:blipFill>
        <p:spPr>
          <a:xfrm>
            <a:off x="8953500" y="4203700"/>
            <a:ext cx="254000" cy="254000"/>
          </a:xfrm>
          <a:prstGeom prst="rect">
            <a:avLst/>
          </a:prstGeom>
        </p:spPr>
      </p:pic>
      <p:sp>
        <p:nvSpPr>
          <p:cNvPr id="41" name="Text 32"/>
          <p:cNvSpPr/>
          <p:nvPr/>
        </p:nvSpPr>
        <p:spPr>
          <a:xfrm>
            <a:off x="9296400" y="4111030"/>
            <a:ext cx="157579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Reranker</a:t>
            </a:r>
            <a:endParaRPr lang="en-US" sz="1200" dirty="0"/>
          </a:p>
        </p:txBody>
      </p:sp>
      <p:sp>
        <p:nvSpPr>
          <p:cNvPr id="42" name="Text 33"/>
          <p:cNvSpPr/>
          <p:nvPr/>
        </p:nvSpPr>
        <p:spPr>
          <a:xfrm>
            <a:off x="9296400" y="4337050"/>
            <a:ext cx="157579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scores each candidate</a:t>
            </a:r>
            <a:endParaRPr lang="en-US" sz="1200" dirty="0"/>
          </a:p>
        </p:txBody>
      </p:sp>
      <p:sp>
        <p:nvSpPr>
          <p:cNvPr id="43" name="Shape 34"/>
          <p:cNvSpPr/>
          <p:nvPr/>
        </p:nvSpPr>
        <p:spPr>
          <a:xfrm>
            <a:off x="8869363" y="5160963"/>
            <a:ext cx="2352675" cy="473075"/>
          </a:xfrm>
          <a:prstGeom prst="roundRect">
            <a:avLst>
              <a:gd name="adj" fmla="val 20470"/>
            </a:avLst>
          </a:prstGeom>
          <a:solidFill>
            <a:srgbClr val="36677D">
              <a:alpha val="10000"/>
            </a:srgbClr>
          </a:solidFill>
          <a:ln w="9525">
            <a:solidFill>
              <a:srgbClr val="7FC4DC">
                <a:alpha val="60000"/>
              </a:srgbClr>
            </a:solidFill>
            <a:prstDash val="dash"/>
          </a:ln>
        </p:spPr>
      </p:sp>
      <p:pic>
        <p:nvPicPr>
          <p:cNvPr id="44" name="Image 7" descr="Check">    </p:cNvPr>
          <p:cNvPicPr>
            <a:picLocks noChangeAspect="1"/>
          </p:cNvPicPr>
          <p:nvPr/>
        </p:nvPicPr>
        <p:blipFill>
          <a:blip r:embed="rId8"/>
          <a:srcRect l="0" r="0" t="0" b="0"/>
          <a:stretch/>
        </p:blipFill>
        <p:spPr>
          <a:xfrm>
            <a:off x="8953500" y="5270500"/>
            <a:ext cx="254000" cy="254000"/>
          </a:xfrm>
          <a:prstGeom prst="rect">
            <a:avLst/>
          </a:prstGeom>
        </p:spPr>
      </p:pic>
      <p:sp>
        <p:nvSpPr>
          <p:cNvPr id="45" name="Text 35"/>
          <p:cNvSpPr/>
          <p:nvPr/>
        </p:nvSpPr>
        <p:spPr>
          <a:xfrm>
            <a:off x="9296400" y="5177830"/>
            <a:ext cx="167749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Decision model</a:t>
            </a:r>
            <a:endParaRPr lang="en-US" sz="1200" dirty="0"/>
          </a:p>
        </p:txBody>
      </p:sp>
      <p:sp>
        <p:nvSpPr>
          <p:cNvPr id="46" name="Text 36"/>
          <p:cNvSpPr/>
          <p:nvPr/>
        </p:nvSpPr>
        <p:spPr>
          <a:xfrm>
            <a:off x="9296400" y="5403850"/>
            <a:ext cx="167749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advanced: routes, gates</a:t>
            </a:r>
            <a:endParaRPr lang="en-US" sz="1200" dirty="0"/>
          </a:p>
        </p:txBody>
      </p:sp>
      <p:sp>
        <p:nvSpPr>
          <p:cNvPr id="47" name="Shape 37"/>
          <p:cNvSpPr/>
          <p:nvPr/>
        </p:nvSpPr>
        <p:spPr>
          <a:xfrm>
            <a:off x="969963" y="2874963"/>
            <a:ext cx="7064375" cy="1654175"/>
          </a:xfrm>
          <a:prstGeom prst="roundRect">
            <a:avLst>
              <a:gd name="adj" fmla="val 6622"/>
            </a:avLst>
          </a:prstGeom>
          <a:solidFill>
            <a:srgbClr val="FFFFFF">
              <a:alpha val="5000"/>
            </a:srgbClr>
          </a:solidFill>
          <a:ln w="9525">
            <a:solidFill>
              <a:srgbClr val="FFFFFF">
                <a:alpha val="22000"/>
              </a:srgbClr>
            </a:solidFill>
            <a:prstDash val="solid"/>
          </a:ln>
        </p:spPr>
      </p:sp>
      <p:pic>
        <p:nvPicPr>
          <p:cNvPr id="48" name="Image 8" descr="Activity">    </p:cNvPr>
          <p:cNvPicPr>
            <a:picLocks noChangeAspect="1"/>
          </p:cNvPicPr>
          <p:nvPr/>
        </p:nvPicPr>
        <p:blipFill>
          <a:blip r:embed="rId9"/>
          <a:srcRect l="0" r="0" t="0" b="0"/>
          <a:stretch/>
        </p:blipFill>
        <p:spPr>
          <a:xfrm>
            <a:off x="1117600" y="2961035"/>
            <a:ext cx="203200" cy="203200"/>
          </a:xfrm>
          <a:prstGeom prst="rect">
            <a:avLst/>
          </a:prstGeom>
        </p:spPr>
      </p:pic>
      <p:sp>
        <p:nvSpPr>
          <p:cNvPr id="49" name="Text 38"/>
          <p:cNvSpPr/>
          <p:nvPr/>
        </p:nvSpPr>
        <p:spPr>
          <a:xfrm>
            <a:off x="1422400" y="2955975"/>
            <a:ext cx="1597868"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FFFFFF"/>
                </a:solidFill>
                <a:latin typeface="Courier New" pitchFamily="49" charset="0"/>
                <a:ea typeface="Courier New" pitchFamily="49" charset="-122"/>
                <a:cs typeface="Courier New" pitchFamily="49" charset="-120"/>
              </a:rPr>
              <a:t>MEMORY MANAGER</a:t>
            </a:r>
            <a:endParaRPr lang="en-US" sz="1200" dirty="0"/>
          </a:p>
        </p:txBody>
      </p:sp>
      <p:sp>
        <p:nvSpPr>
          <p:cNvPr id="50" name="Text 39"/>
          <p:cNvSpPr/>
          <p:nvPr/>
        </p:nvSpPr>
        <p:spPr>
          <a:xfrm>
            <a:off x="1117600" y="3244900"/>
            <a:ext cx="6854444" cy="237480"/>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E8836F"/>
                </a:solidFill>
                <a:latin typeface="Courier New" pitchFamily="49" charset="0"/>
                <a:ea typeface="Courier New" pitchFamily="49" charset="-122"/>
                <a:cs typeface="Courier New" pitchFamily="49" charset="-120"/>
              </a:rPr>
              <a:t>WRITE PATH · retain, refine</a:t>
            </a:r>
            <a:endParaRPr lang="en-US" sz="1196" dirty="0"/>
          </a:p>
        </p:txBody>
      </p:sp>
      <p:sp>
        <p:nvSpPr>
          <p:cNvPr id="51" name="Text 40"/>
          <p:cNvSpPr/>
          <p:nvPr/>
        </p:nvSpPr>
        <p:spPr>
          <a:xfrm>
            <a:off x="11176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Extract</a:t>
            </a:r>
            <a:endParaRPr lang="en-US" sz="1200" dirty="0"/>
          </a:p>
        </p:txBody>
      </p:sp>
      <p:sp>
        <p:nvSpPr>
          <p:cNvPr id="52" name="Text 41"/>
          <p:cNvSpPr/>
          <p:nvPr/>
        </p:nvSpPr>
        <p:spPr>
          <a:xfrm>
            <a:off x="24638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Dedupe</a:t>
            </a:r>
            <a:endParaRPr lang="en-US" sz="1200" dirty="0"/>
          </a:p>
        </p:txBody>
      </p:sp>
      <p:sp>
        <p:nvSpPr>
          <p:cNvPr id="53" name="Text 42"/>
          <p:cNvSpPr/>
          <p:nvPr/>
        </p:nvSpPr>
        <p:spPr>
          <a:xfrm>
            <a:off x="38100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Consolidate</a:t>
            </a:r>
            <a:endParaRPr lang="en-US" sz="1200" dirty="0"/>
          </a:p>
        </p:txBody>
      </p:sp>
      <p:sp>
        <p:nvSpPr>
          <p:cNvPr id="54" name="Text 43"/>
          <p:cNvSpPr/>
          <p:nvPr/>
        </p:nvSpPr>
        <p:spPr>
          <a:xfrm>
            <a:off x="51562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Conflicts</a:t>
            </a:r>
            <a:endParaRPr lang="en-US" sz="1200" dirty="0"/>
          </a:p>
        </p:txBody>
      </p:sp>
      <p:sp>
        <p:nvSpPr>
          <p:cNvPr id="55" name="Text 44"/>
          <p:cNvSpPr/>
          <p:nvPr/>
        </p:nvSpPr>
        <p:spPr>
          <a:xfrm>
            <a:off x="65024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Decay</a:t>
            </a:r>
            <a:endParaRPr lang="en-US" sz="1200" dirty="0"/>
          </a:p>
        </p:txBody>
      </p:sp>
      <p:sp>
        <p:nvSpPr>
          <p:cNvPr id="56" name="Text 45"/>
          <p:cNvSpPr/>
          <p:nvPr/>
        </p:nvSpPr>
        <p:spPr>
          <a:xfrm>
            <a:off x="1117600" y="3884315"/>
            <a:ext cx="6854444" cy="237480"/>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7FC4DC"/>
                </a:solidFill>
                <a:latin typeface="Courier New" pitchFamily="49" charset="0"/>
                <a:ea typeface="Courier New" pitchFamily="49" charset="-122"/>
                <a:cs typeface="Courier New" pitchFamily="49" charset="-120"/>
              </a:rPr>
              <a:t>READ PATH · recall, reuse</a:t>
            </a:r>
            <a:endParaRPr lang="en-US" sz="1196" dirty="0"/>
          </a:p>
        </p:txBody>
      </p:sp>
      <p:sp>
        <p:nvSpPr>
          <p:cNvPr id="57" name="Text 46"/>
          <p:cNvSpPr/>
          <p:nvPr/>
        </p:nvSpPr>
        <p:spPr>
          <a:xfrm>
            <a:off x="11176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Scope</a:t>
            </a:r>
            <a:endParaRPr lang="en-US" sz="1200" dirty="0"/>
          </a:p>
        </p:txBody>
      </p:sp>
      <p:sp>
        <p:nvSpPr>
          <p:cNvPr id="58" name="Text 47"/>
          <p:cNvSpPr/>
          <p:nvPr/>
        </p:nvSpPr>
        <p:spPr>
          <a:xfrm>
            <a:off x="24638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Retrieve</a:t>
            </a:r>
            <a:endParaRPr lang="en-US" sz="1200" dirty="0"/>
          </a:p>
        </p:txBody>
      </p:sp>
      <p:sp>
        <p:nvSpPr>
          <p:cNvPr id="59" name="Text 48"/>
          <p:cNvSpPr/>
          <p:nvPr/>
        </p:nvSpPr>
        <p:spPr>
          <a:xfrm>
            <a:off x="38100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Rerank</a:t>
            </a:r>
            <a:endParaRPr lang="en-US" sz="1200" dirty="0"/>
          </a:p>
        </p:txBody>
      </p:sp>
      <p:sp>
        <p:nvSpPr>
          <p:cNvPr id="60" name="Text 49"/>
          <p:cNvSpPr/>
          <p:nvPr/>
        </p:nvSpPr>
        <p:spPr>
          <a:xfrm>
            <a:off x="51562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Budget</a:t>
            </a:r>
            <a:endParaRPr lang="en-US" sz="1200" dirty="0"/>
          </a:p>
        </p:txBody>
      </p:sp>
      <p:sp>
        <p:nvSpPr>
          <p:cNvPr id="61" name="Text 50"/>
          <p:cNvSpPr/>
          <p:nvPr/>
        </p:nvSpPr>
        <p:spPr>
          <a:xfrm>
            <a:off x="65024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Arial" pitchFamily="34" charset="0"/>
                <a:ea typeface="Arial" pitchFamily="34" charset="-122"/>
                <a:cs typeface="Arial" pitchFamily="34" charset="-120"/>
              </a:rPr>
              <a:t>Inject</a:t>
            </a:r>
            <a:endParaRPr lang="en-US" sz="1200" dirty="0"/>
          </a:p>
        </p:txBody>
      </p:sp>
      <p:sp>
        <p:nvSpPr>
          <p:cNvPr id="62" name="Shape 51"/>
          <p:cNvSpPr/>
          <p:nvPr/>
        </p:nvSpPr>
        <p:spPr>
          <a:xfrm>
            <a:off x="969963" y="5097463"/>
            <a:ext cx="7064375" cy="688975"/>
          </a:xfrm>
          <a:prstGeom prst="roundRect">
            <a:avLst>
              <a:gd name="adj" fmla="val 15899"/>
            </a:avLst>
          </a:prstGeom>
          <a:solidFill>
            <a:srgbClr val="DEB068">
              <a:alpha val="6000"/>
            </a:srgbClr>
          </a:solidFill>
          <a:ln w="9525">
            <a:solidFill>
              <a:srgbClr val="DEB068">
                <a:alpha val="45000"/>
              </a:srgbClr>
            </a:solidFill>
            <a:prstDash val="solid"/>
          </a:ln>
        </p:spPr>
      </p:sp>
      <p:pic>
        <p:nvPicPr>
          <p:cNvPr id="63" name="Image 9" descr="Database">    </p:cNvPr>
          <p:cNvPicPr>
            <a:picLocks noChangeAspect="1"/>
          </p:cNvPicPr>
          <p:nvPr/>
        </p:nvPicPr>
        <p:blipFill>
          <a:blip r:embed="rId10"/>
          <a:srcRect l="0" r="0" t="0" b="0"/>
          <a:stretch/>
        </p:blipFill>
        <p:spPr>
          <a:xfrm>
            <a:off x="1066800" y="5167015"/>
            <a:ext cx="203200" cy="203200"/>
          </a:xfrm>
          <a:prstGeom prst="rect">
            <a:avLst/>
          </a:prstGeom>
        </p:spPr>
      </p:pic>
      <p:sp>
        <p:nvSpPr>
          <p:cNvPr id="64" name="Text 52"/>
          <p:cNvSpPr/>
          <p:nvPr/>
        </p:nvSpPr>
        <p:spPr>
          <a:xfrm>
            <a:off x="1371600" y="5162004"/>
            <a:ext cx="250404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MEMORY CORE · DATABASE</a:t>
            </a:r>
            <a:endParaRPr lang="en-US" sz="1200" dirty="0"/>
          </a:p>
        </p:txBody>
      </p:sp>
      <p:sp>
        <p:nvSpPr>
          <p:cNvPr id="65" name="Text 53"/>
          <p:cNvSpPr/>
          <p:nvPr/>
        </p:nvSpPr>
        <p:spPr>
          <a:xfrm>
            <a:off x="1066800" y="5425629"/>
            <a:ext cx="753814" cy="295821"/>
          </a:xfrm>
          <a:custGeom>
            <a:avLst/>
            <a:gdLst/>
            <a:ahLst/>
            <a:cxnLst/>
            <a:rect l="l" t="t" r="r" b="b"/>
            <a:pathLst>
              <a:path w="753814" h="295821">
                <a:moveTo>
                  <a:pt x="147910" y="0"/>
                </a:moveTo>
                <a:lnTo>
                  <a:pt x="605904" y="0"/>
                </a:lnTo>
                <a:arcTo hR="147910" wR="147910" stAng="16200000" swAng="5400000"/>
                <a:lnTo>
                  <a:pt x="753814"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Memories</a:t>
            </a:r>
            <a:endParaRPr lang="en-US" sz="1100" dirty="0"/>
          </a:p>
        </p:txBody>
      </p:sp>
      <p:sp>
        <p:nvSpPr>
          <p:cNvPr id="66" name="Text 54"/>
          <p:cNvSpPr/>
          <p:nvPr/>
        </p:nvSpPr>
        <p:spPr>
          <a:xfrm>
            <a:off x="1896814" y="5425629"/>
            <a:ext cx="606375" cy="295821"/>
          </a:xfrm>
          <a:custGeom>
            <a:avLst/>
            <a:gdLst/>
            <a:ahLst/>
            <a:cxnLst/>
            <a:rect l="l" t="t" r="r" b="b"/>
            <a:pathLst>
              <a:path w="606375" h="295821">
                <a:moveTo>
                  <a:pt x="147910" y="0"/>
                </a:moveTo>
                <a:lnTo>
                  <a:pt x="458465" y="0"/>
                </a:lnTo>
                <a:arcTo hR="147910" wR="147910" stAng="16200000" swAng="5400000"/>
                <a:lnTo>
                  <a:pt x="606375"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Vectors</a:t>
            </a:r>
            <a:endParaRPr lang="en-US" sz="1100" dirty="0"/>
          </a:p>
        </p:txBody>
      </p:sp>
      <p:sp>
        <p:nvSpPr>
          <p:cNvPr id="67" name="Text 55"/>
          <p:cNvSpPr/>
          <p:nvPr/>
        </p:nvSpPr>
        <p:spPr>
          <a:xfrm>
            <a:off x="2579390" y="5425629"/>
            <a:ext cx="378520" cy="295821"/>
          </a:xfrm>
          <a:custGeom>
            <a:avLst/>
            <a:gdLst/>
            <a:ahLst/>
            <a:cxnLst/>
            <a:rect l="l" t="t" r="r" b="b"/>
            <a:pathLst>
              <a:path w="378520" h="295821">
                <a:moveTo>
                  <a:pt x="147910" y="0"/>
                </a:moveTo>
                <a:lnTo>
                  <a:pt x="230609" y="0"/>
                </a:lnTo>
                <a:arcTo hR="147910" wR="147910" stAng="16200000" swAng="5400000"/>
                <a:lnTo>
                  <a:pt x="378520"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Text</a:t>
            </a:r>
            <a:endParaRPr lang="en-US" sz="1100" dirty="0"/>
          </a:p>
        </p:txBody>
      </p:sp>
      <p:sp>
        <p:nvSpPr>
          <p:cNvPr id="68" name="Text 56"/>
          <p:cNvSpPr/>
          <p:nvPr/>
        </p:nvSpPr>
        <p:spPr>
          <a:xfrm>
            <a:off x="3034109" y="5425629"/>
            <a:ext cx="1312515" cy="295821"/>
          </a:xfrm>
          <a:custGeom>
            <a:avLst/>
            <a:gdLst/>
            <a:ahLst/>
            <a:cxnLst/>
            <a:rect l="l" t="t" r="r" b="b"/>
            <a:pathLst>
              <a:path w="1312515" h="295821">
                <a:moveTo>
                  <a:pt x="147910" y="0"/>
                </a:moveTo>
                <a:lnTo>
                  <a:pt x="1164605" y="0"/>
                </a:lnTo>
                <a:arcTo hR="147910" wR="147910" stAng="16200000" swAng="5400000"/>
                <a:lnTo>
                  <a:pt x="1312515"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SQL, JSON, graph</a:t>
            </a:r>
            <a:endParaRPr lang="en-US" sz="1100" dirty="0"/>
          </a:p>
        </p:txBody>
      </p:sp>
      <p:sp>
        <p:nvSpPr>
          <p:cNvPr id="69" name="Text 57"/>
          <p:cNvSpPr/>
          <p:nvPr/>
        </p:nvSpPr>
        <p:spPr>
          <a:xfrm>
            <a:off x="4422825" y="5425629"/>
            <a:ext cx="357634" cy="295821"/>
          </a:xfrm>
          <a:custGeom>
            <a:avLst/>
            <a:gdLst/>
            <a:ahLst/>
            <a:cxnLst/>
            <a:rect l="l" t="t" r="r" b="b"/>
            <a:pathLst>
              <a:path w="357634" h="295821">
                <a:moveTo>
                  <a:pt x="147910" y="0"/>
                </a:moveTo>
                <a:lnTo>
                  <a:pt x="209724" y="0"/>
                </a:lnTo>
                <a:arcTo hR="147910" wR="147910" stAng="16200000" swAng="5400000"/>
                <a:lnTo>
                  <a:pt x="357634"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TTL</a:t>
            </a:r>
            <a:endParaRPr lang="en-US" sz="1100" dirty="0"/>
          </a:p>
        </p:txBody>
      </p:sp>
      <p:sp>
        <p:nvSpPr>
          <p:cNvPr id="70" name="Text 58"/>
          <p:cNvSpPr/>
          <p:nvPr/>
        </p:nvSpPr>
        <p:spPr>
          <a:xfrm>
            <a:off x="4856659" y="5425629"/>
            <a:ext cx="939949" cy="295821"/>
          </a:xfrm>
          <a:custGeom>
            <a:avLst/>
            <a:gdLst/>
            <a:ahLst/>
            <a:cxnLst/>
            <a:rect l="l" t="t" r="r" b="b"/>
            <a:pathLst>
              <a:path w="939949" h="295821">
                <a:moveTo>
                  <a:pt x="147910" y="0"/>
                </a:moveTo>
                <a:lnTo>
                  <a:pt x="792038" y="0"/>
                </a:lnTo>
                <a:arcTo hR="147910" wR="147910" stAng="16200000" swAng="5400000"/>
                <a:lnTo>
                  <a:pt x="939949"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Entitlements</a:t>
            </a:r>
            <a:endParaRPr lang="en-US" sz="1100" dirty="0"/>
          </a:p>
        </p:txBody>
      </p:sp>
      <p:sp>
        <p:nvSpPr>
          <p:cNvPr id="71" name="Text 59"/>
          <p:cNvSpPr/>
          <p:nvPr/>
        </p:nvSpPr>
        <p:spPr>
          <a:xfrm>
            <a:off x="5872807" y="5425629"/>
            <a:ext cx="458490" cy="295821"/>
          </a:xfrm>
          <a:custGeom>
            <a:avLst/>
            <a:gdLst/>
            <a:ahLst/>
            <a:cxnLst/>
            <a:rect l="l" t="t" r="r" b="b"/>
            <a:pathLst>
              <a:path w="458490" h="295821">
                <a:moveTo>
                  <a:pt x="147910" y="0"/>
                </a:moveTo>
                <a:lnTo>
                  <a:pt x="310579" y="0"/>
                </a:lnTo>
                <a:arcTo hR="147910" wR="147910" stAng="16200000" swAng="5400000"/>
                <a:lnTo>
                  <a:pt x="458490"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Audit</a:t>
            </a:r>
            <a:endParaRPr lang="en-US" sz="1100" dirty="0"/>
          </a:p>
        </p:txBody>
      </p:sp>
      <p:pic>
        <p:nvPicPr>
          <p:cNvPr id="72" name="Image 10" descr="request, build the window, tokens in, response back to the harness">    </p:cNvPr>
          <p:cNvPicPr>
            <a:picLocks noChangeAspect="1"/>
          </p:cNvPicPr>
          <p:nvPr/>
        </p:nvPicPr>
        <p:blipFill>
          <a:blip r:embed="rId11"/>
          <a:srcRect l="0" r="0" t="0" b="0"/>
          <a:stretch/>
        </p:blipFill>
        <p:spPr>
          <a:xfrm>
            <a:off x="0" y="0"/>
            <a:ext cx="12192000" cy="6858000"/>
          </a:xfrm>
          <a:prstGeom prst="rect">
            <a:avLst/>
          </a:prstGeom>
        </p:spPr>
      </p:pic>
      <p:sp>
        <p:nvSpPr>
          <p:cNvPr id="73" name="Text 60"/>
          <p:cNvSpPr/>
          <p:nvPr/>
        </p:nvSpPr>
        <p:spPr>
          <a:xfrm>
            <a:off x="2336800" y="1778000"/>
            <a:ext cx="685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request</a:t>
            </a:r>
            <a:endParaRPr lang="en-US" sz="1200" dirty="0"/>
          </a:p>
        </p:txBody>
      </p:sp>
      <p:sp>
        <p:nvSpPr>
          <p:cNvPr id="74" name="Text 61"/>
          <p:cNvSpPr/>
          <p:nvPr/>
        </p:nvSpPr>
        <p:spPr>
          <a:xfrm>
            <a:off x="5003800" y="17780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builds</a:t>
            </a:r>
            <a:endParaRPr lang="en-US" sz="1200" dirty="0"/>
          </a:p>
        </p:txBody>
      </p:sp>
      <p:sp>
        <p:nvSpPr>
          <p:cNvPr id="75" name="Text 62"/>
          <p:cNvSpPr/>
          <p:nvPr/>
        </p:nvSpPr>
        <p:spPr>
          <a:xfrm>
            <a:off x="7543800" y="1778000"/>
            <a:ext cx="13081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tokens in</a:t>
            </a:r>
            <a:endParaRPr lang="en-US" sz="1200" dirty="0"/>
          </a:p>
        </p:txBody>
      </p:sp>
      <p:sp>
        <p:nvSpPr>
          <p:cNvPr id="76" name="Text 63"/>
          <p:cNvSpPr/>
          <p:nvPr/>
        </p:nvSpPr>
        <p:spPr>
          <a:xfrm>
            <a:off x="10147300" y="1295400"/>
            <a:ext cx="1130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response</a:t>
            </a:r>
            <a:endParaRPr lang="en-US" sz="1200" dirty="0"/>
          </a:p>
        </p:txBody>
      </p:sp>
      <p:pic>
        <p:nvPicPr>
          <p:cNvPr id="77" name="Image 11" descr="messages and traces to the manager, extraction, embedding, write to the core">    </p:cNvPr>
          <p:cNvPicPr>
            <a:picLocks noChangeAspect="1"/>
          </p:cNvPicPr>
          <p:nvPr/>
        </p:nvPicPr>
        <p:blipFill>
          <a:blip r:embed="rId12"/>
          <a:srcRect l="0" r="0" t="0" b="0"/>
          <a:stretch/>
        </p:blipFill>
        <p:spPr>
          <a:xfrm>
            <a:off x="0" y="0"/>
            <a:ext cx="12192000" cy="6858000"/>
          </a:xfrm>
          <a:prstGeom prst="rect">
            <a:avLst/>
          </a:prstGeom>
        </p:spPr>
      </p:pic>
      <p:sp>
        <p:nvSpPr>
          <p:cNvPr id="78" name="Text 64"/>
          <p:cNvSpPr/>
          <p:nvPr/>
        </p:nvSpPr>
        <p:spPr>
          <a:xfrm>
            <a:off x="1483360" y="2432050"/>
            <a:ext cx="176784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messages, traces</a:t>
            </a:r>
            <a:endParaRPr lang="en-US" sz="1200" dirty="0"/>
          </a:p>
        </p:txBody>
      </p:sp>
      <p:sp>
        <p:nvSpPr>
          <p:cNvPr id="79" name="Text 65"/>
          <p:cNvSpPr/>
          <p:nvPr/>
        </p:nvSpPr>
        <p:spPr>
          <a:xfrm>
            <a:off x="8039100" y="2895600"/>
            <a:ext cx="685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extract</a:t>
            </a:r>
            <a:endParaRPr lang="en-US" sz="1200" dirty="0"/>
          </a:p>
        </p:txBody>
      </p:sp>
      <p:sp>
        <p:nvSpPr>
          <p:cNvPr id="80" name="Text 66"/>
          <p:cNvSpPr/>
          <p:nvPr/>
        </p:nvSpPr>
        <p:spPr>
          <a:xfrm>
            <a:off x="8039100" y="35052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embed</a:t>
            </a:r>
            <a:endParaRPr lang="en-US" sz="1200" dirty="0"/>
          </a:p>
        </p:txBody>
      </p:sp>
      <p:sp>
        <p:nvSpPr>
          <p:cNvPr id="81" name="Text 67"/>
          <p:cNvSpPr/>
          <p:nvPr/>
        </p:nvSpPr>
        <p:spPr>
          <a:xfrm>
            <a:off x="2768600" y="4699000"/>
            <a:ext cx="685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write</a:t>
            </a:r>
            <a:endParaRPr lang="en-US" sz="1200" dirty="0"/>
          </a:p>
        </p:txBody>
      </p:sp>
      <p:pic>
        <p:nvPicPr>
          <p:cNvPr id="82" name="Image 12" descr="query with scope, scoped search, candidates back, rerank, context card into the window">    </p:cNvPr>
          <p:cNvPicPr>
            <a:picLocks noChangeAspect="1"/>
          </p:cNvPicPr>
          <p:nvPr/>
        </p:nvPicPr>
        <p:blipFill>
          <a:blip r:embed="rId13"/>
          <a:srcRect l="0" r="0" t="0" b="0"/>
          <a:stretch/>
        </p:blipFill>
        <p:spPr>
          <a:xfrm>
            <a:off x="0" y="0"/>
            <a:ext cx="12192000" cy="6858000"/>
          </a:xfrm>
          <a:prstGeom prst="rect">
            <a:avLst/>
          </a:prstGeom>
        </p:spPr>
      </p:pic>
      <p:sp>
        <p:nvSpPr>
          <p:cNvPr id="83" name="Text 68"/>
          <p:cNvSpPr/>
          <p:nvPr/>
        </p:nvSpPr>
        <p:spPr>
          <a:xfrm>
            <a:off x="4546600" y="2432050"/>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query + scope</a:t>
            </a:r>
            <a:endParaRPr lang="en-US" sz="1200" dirty="0"/>
          </a:p>
        </p:txBody>
      </p:sp>
      <p:sp>
        <p:nvSpPr>
          <p:cNvPr id="84" name="Text 69"/>
          <p:cNvSpPr/>
          <p:nvPr/>
        </p:nvSpPr>
        <p:spPr>
          <a:xfrm>
            <a:off x="4927600" y="4699000"/>
            <a:ext cx="685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search</a:t>
            </a:r>
            <a:endParaRPr lang="en-US" sz="1200" dirty="0"/>
          </a:p>
        </p:txBody>
      </p:sp>
      <p:sp>
        <p:nvSpPr>
          <p:cNvPr id="85" name="Text 70"/>
          <p:cNvSpPr/>
          <p:nvPr/>
        </p:nvSpPr>
        <p:spPr>
          <a:xfrm>
            <a:off x="5702300" y="4699000"/>
            <a:ext cx="9779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candidates</a:t>
            </a:r>
            <a:endParaRPr lang="en-US" sz="1200" dirty="0"/>
          </a:p>
        </p:txBody>
      </p:sp>
      <p:sp>
        <p:nvSpPr>
          <p:cNvPr id="86" name="Text 71"/>
          <p:cNvSpPr/>
          <p:nvPr/>
        </p:nvSpPr>
        <p:spPr>
          <a:xfrm>
            <a:off x="8039100" y="41148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rerank</a:t>
            </a:r>
            <a:endParaRPr lang="en-US" sz="1200" dirty="0"/>
          </a:p>
        </p:txBody>
      </p:sp>
      <p:sp>
        <p:nvSpPr>
          <p:cNvPr id="87" name="Text 72"/>
          <p:cNvSpPr/>
          <p:nvPr/>
        </p:nvSpPr>
        <p:spPr>
          <a:xfrm>
            <a:off x="7086600" y="2432050"/>
            <a:ext cx="1257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context card</a:t>
            </a:r>
            <a:endParaRPr lang="en-US" sz="1200" dirty="0"/>
          </a:p>
        </p:txBody>
      </p:sp>
      <p:sp>
        <p:nvSpPr>
          <p:cNvPr id="88" name="Shape 73"/>
          <p:cNvSpPr/>
          <p:nvPr/>
        </p:nvSpPr>
        <p:spPr>
          <a:xfrm>
            <a:off x="5991225" y="2003425"/>
            <a:ext cx="1479550" cy="234950"/>
          </a:xfrm>
          <a:prstGeom prst="roundRect">
            <a:avLst>
              <a:gd name="adj" fmla="val 44595"/>
            </a:avLst>
          </a:prstGeom>
          <a:noFill/>
          <a:ln w="19050">
            <a:solidFill>
              <a:srgbClr val="DEB068"/>
            </a:solidFill>
            <a:prstDash val="dash"/>
          </a:ln>
        </p:spPr>
      </p:sp>
      <p:sp>
        <p:nvSpPr>
          <p:cNvPr id="89" name="Shape 74"/>
          <p:cNvSpPr/>
          <p:nvPr/>
        </p:nvSpPr>
        <p:spPr>
          <a:xfrm>
            <a:off x="5610225" y="1609725"/>
            <a:ext cx="2012950" cy="717550"/>
          </a:xfrm>
          <a:prstGeom prst="roundRect">
            <a:avLst>
              <a:gd name="adj" fmla="val 14602"/>
            </a:avLst>
          </a:prstGeom>
          <a:noFill/>
          <a:ln w="19050">
            <a:solidFill>
              <a:srgbClr val="7FC4DC"/>
            </a:solidFill>
            <a:prstDash val="solid"/>
          </a:ln>
        </p:spPr>
      </p:sp>
      <p:sp>
        <p:nvSpPr>
          <p:cNvPr id="90" name="Shape 75"/>
          <p:cNvSpPr/>
          <p:nvPr/>
        </p:nvSpPr>
        <p:spPr>
          <a:xfrm>
            <a:off x="771525" y="2613025"/>
            <a:ext cx="7524750" cy="3270250"/>
          </a:xfrm>
          <a:prstGeom prst="roundRect">
            <a:avLst>
              <a:gd name="adj" fmla="val 3204"/>
            </a:avLst>
          </a:prstGeom>
          <a:noFill/>
          <a:ln w="19050">
            <a:solidFill>
              <a:srgbClr val="E8836F"/>
            </a:solidFill>
            <a:prstDash val="solid"/>
          </a:ln>
        </p:spPr>
      </p:sp>
      <p:sp>
        <p:nvSpPr>
          <p:cNvPr id="91" name="Shape 76"/>
          <p:cNvSpPr/>
          <p:nvPr/>
        </p:nvSpPr>
        <p:spPr>
          <a:xfrm>
            <a:off x="8810625" y="2816225"/>
            <a:ext cx="2470150" cy="1822450"/>
          </a:xfrm>
          <a:prstGeom prst="roundRect">
            <a:avLst>
              <a:gd name="adj" fmla="val 5749"/>
            </a:avLst>
          </a:prstGeom>
          <a:noFill/>
          <a:ln w="19050">
            <a:solidFill>
              <a:srgbClr val="E8836F"/>
            </a:solidFill>
            <a:prstDash val="solid"/>
          </a:ln>
        </p:spPr>
      </p:sp>
      <p:sp>
        <p:nvSpPr>
          <p:cNvPr id="92" name="Text 7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The memory lifecycle</a:t>
            </a:r>
            <a:endParaRPr lang="en-US" sz="2800" dirty="0"/>
          </a:p>
        </p:txBody>
      </p:sp>
      <p:pic>
        <p:nvPicPr>
          <p:cNvPr id="4" name="Image 0" descr="encode, store, retrieve, inject, forget">    </p:cNvPr>
          <p:cNvPicPr>
            <a:picLocks noChangeAspect="1"/>
          </p:cNvPicPr>
          <p:nvPr/>
        </p:nvPicPr>
        <p:blipFill>
          <a:blip r:embed="rId1"/>
          <a:srcRect l="0" r="0" t="0" b="0"/>
          <a:stretch/>
        </p:blipFill>
        <p:spPr>
          <a:xfrm>
            <a:off x="0" y="0"/>
            <a:ext cx="12192000" cy="6858000"/>
          </a:xfrm>
          <a:prstGeom prst="rect">
            <a:avLst/>
          </a:prstGeom>
        </p:spPr>
      </p:pic>
      <p:pic>
        <p:nvPicPr>
          <p:cNvPr id="5" name="Image 1" descr="forgetting feeds back into encoding">    </p:cNvPr>
          <p:cNvPicPr>
            <a:picLocks noChangeAspect="1"/>
          </p:cNvPicPr>
          <p:nvPr/>
        </p:nvPicPr>
        <p:blipFill>
          <a:blip r:embed="rId2"/>
          <a:srcRect l="0" r="0" t="0" b="0"/>
          <a:stretch/>
        </p:blipFill>
        <p:spPr>
          <a:xfrm>
            <a:off x="0" y="0"/>
            <a:ext cx="12192000" cy="6858000"/>
          </a:xfrm>
          <a:prstGeom prst="rect">
            <a:avLst/>
          </a:prstGeom>
        </p:spPr>
      </p:pic>
      <p:sp>
        <p:nvSpPr>
          <p:cNvPr id="6" name="Shape 2"/>
          <p:cNvSpPr/>
          <p:nvPr/>
        </p:nvSpPr>
        <p:spPr>
          <a:xfrm>
            <a:off x="815975" y="2162175"/>
            <a:ext cx="1924050" cy="2025650"/>
          </a:xfrm>
          <a:prstGeom prst="roundRect">
            <a:avLst>
              <a:gd name="adj" fmla="val 709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7" name="Text 3"/>
          <p:cNvSpPr/>
          <p:nvPr/>
        </p:nvSpPr>
        <p:spPr>
          <a:xfrm>
            <a:off x="1003300" y="2355850"/>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74634"/>
                </a:solidFill>
                <a:latin typeface="Courier New" pitchFamily="49" charset="0"/>
                <a:ea typeface="Courier New" pitchFamily="49" charset="-122"/>
                <a:cs typeface="Courier New" pitchFamily="49" charset="-120"/>
              </a:rPr>
              <a:t>01</a:t>
            </a:r>
            <a:endParaRPr lang="en-US" sz="1200" dirty="0"/>
          </a:p>
        </p:txBody>
      </p:sp>
      <p:sp>
        <p:nvSpPr>
          <p:cNvPr id="8" name="Text 4"/>
          <p:cNvSpPr/>
          <p:nvPr/>
        </p:nvSpPr>
        <p:spPr>
          <a:xfrm>
            <a:off x="1003300" y="2645370"/>
            <a:ext cx="99083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2D2D"/>
                </a:solidFill>
                <a:latin typeface="Arial" pitchFamily="34" charset="0"/>
                <a:ea typeface="Arial" pitchFamily="34" charset="-122"/>
                <a:cs typeface="Arial" pitchFamily="34" charset="-120"/>
              </a:rPr>
              <a:t>Encode</a:t>
            </a:r>
            <a:endParaRPr lang="en-US" sz="1800" dirty="0"/>
          </a:p>
        </p:txBody>
      </p:sp>
      <p:sp>
        <p:nvSpPr>
          <p:cNvPr id="9" name="Text 5"/>
          <p:cNvSpPr/>
          <p:nvPr/>
        </p:nvSpPr>
        <p:spPr>
          <a:xfrm>
            <a:off x="1003300" y="2995861"/>
            <a:ext cx="16002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Extract memory signals from raw conversation and traces.</a:t>
            </a:r>
            <a:endParaRPr lang="en-US" sz="1200" dirty="0"/>
          </a:p>
        </p:txBody>
      </p:sp>
      <p:sp>
        <p:nvSpPr>
          <p:cNvPr id="10" name="Shape 6"/>
          <p:cNvSpPr/>
          <p:nvPr/>
        </p:nvSpPr>
        <p:spPr>
          <a:xfrm>
            <a:off x="2962275" y="2162175"/>
            <a:ext cx="1924050" cy="2025650"/>
          </a:xfrm>
          <a:prstGeom prst="roundRect">
            <a:avLst>
              <a:gd name="adj" fmla="val 709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1" name="Text 7"/>
          <p:cNvSpPr/>
          <p:nvPr/>
        </p:nvSpPr>
        <p:spPr>
          <a:xfrm>
            <a:off x="3149600" y="2355850"/>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74634"/>
                </a:solidFill>
                <a:latin typeface="Courier New" pitchFamily="49" charset="0"/>
                <a:ea typeface="Courier New" pitchFamily="49" charset="-122"/>
                <a:cs typeface="Courier New" pitchFamily="49" charset="-120"/>
              </a:rPr>
              <a:t>02</a:t>
            </a:r>
            <a:endParaRPr lang="en-US" sz="1200" dirty="0"/>
          </a:p>
        </p:txBody>
      </p:sp>
      <p:sp>
        <p:nvSpPr>
          <p:cNvPr id="12" name="Text 8"/>
          <p:cNvSpPr/>
          <p:nvPr/>
        </p:nvSpPr>
        <p:spPr>
          <a:xfrm>
            <a:off x="3149600" y="2645370"/>
            <a:ext cx="70121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2D2D"/>
                </a:solidFill>
                <a:latin typeface="Arial" pitchFamily="34" charset="0"/>
                <a:ea typeface="Arial" pitchFamily="34" charset="-122"/>
                <a:cs typeface="Arial" pitchFamily="34" charset="-120"/>
              </a:rPr>
              <a:t>Store</a:t>
            </a:r>
            <a:endParaRPr lang="en-US" sz="1800" dirty="0"/>
          </a:p>
        </p:txBody>
      </p:sp>
      <p:sp>
        <p:nvSpPr>
          <p:cNvPr id="13" name="Text 9"/>
          <p:cNvSpPr/>
          <p:nvPr/>
        </p:nvSpPr>
        <p:spPr>
          <a:xfrm>
            <a:off x="3149600" y="2995861"/>
            <a:ext cx="16002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Persist with type, scope and metadata: user, agent, time, source.</a:t>
            </a:r>
            <a:endParaRPr lang="en-US" sz="1200" dirty="0"/>
          </a:p>
        </p:txBody>
      </p:sp>
      <p:sp>
        <p:nvSpPr>
          <p:cNvPr id="14" name="Shape 10"/>
          <p:cNvSpPr/>
          <p:nvPr/>
        </p:nvSpPr>
        <p:spPr>
          <a:xfrm>
            <a:off x="5108575" y="2162175"/>
            <a:ext cx="1924050" cy="2025650"/>
          </a:xfrm>
          <a:prstGeom prst="roundRect">
            <a:avLst>
              <a:gd name="adj" fmla="val 709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5" name="Text 11"/>
          <p:cNvSpPr/>
          <p:nvPr/>
        </p:nvSpPr>
        <p:spPr>
          <a:xfrm>
            <a:off x="5295900" y="2355850"/>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74634"/>
                </a:solidFill>
                <a:latin typeface="Courier New" pitchFamily="49" charset="0"/>
                <a:ea typeface="Courier New" pitchFamily="49" charset="-122"/>
                <a:cs typeface="Courier New" pitchFamily="49" charset="-120"/>
              </a:rPr>
              <a:t>03</a:t>
            </a:r>
            <a:endParaRPr lang="en-US" sz="1200" dirty="0"/>
          </a:p>
        </p:txBody>
      </p:sp>
      <p:sp>
        <p:nvSpPr>
          <p:cNvPr id="16" name="Text 12"/>
          <p:cNvSpPr/>
          <p:nvPr/>
        </p:nvSpPr>
        <p:spPr>
          <a:xfrm>
            <a:off x="5295900" y="2645370"/>
            <a:ext cx="108269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2D2D"/>
                </a:solidFill>
                <a:latin typeface="Arial" pitchFamily="34" charset="0"/>
                <a:ea typeface="Arial" pitchFamily="34" charset="-122"/>
                <a:cs typeface="Arial" pitchFamily="34" charset="-120"/>
              </a:rPr>
              <a:t>Retrieve</a:t>
            </a:r>
            <a:endParaRPr lang="en-US" sz="1800" dirty="0"/>
          </a:p>
        </p:txBody>
      </p:sp>
      <p:sp>
        <p:nvSpPr>
          <p:cNvPr id="17" name="Text 13"/>
          <p:cNvSpPr/>
          <p:nvPr/>
        </p:nvSpPr>
        <p:spPr>
          <a:xfrm>
            <a:off x="5295900" y="2995861"/>
            <a:ext cx="16002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Filter by scope first, then rank by meaning and keywords.</a:t>
            </a:r>
            <a:endParaRPr lang="en-US" sz="1200" dirty="0"/>
          </a:p>
        </p:txBody>
      </p:sp>
      <p:sp>
        <p:nvSpPr>
          <p:cNvPr id="18" name="Shape 14"/>
          <p:cNvSpPr/>
          <p:nvPr/>
        </p:nvSpPr>
        <p:spPr>
          <a:xfrm>
            <a:off x="7254875" y="2162175"/>
            <a:ext cx="1924050" cy="2025650"/>
          </a:xfrm>
          <a:prstGeom prst="roundRect">
            <a:avLst>
              <a:gd name="adj" fmla="val 709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9" name="Text 15"/>
          <p:cNvSpPr/>
          <p:nvPr/>
        </p:nvSpPr>
        <p:spPr>
          <a:xfrm>
            <a:off x="7442200" y="2355850"/>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74634"/>
                </a:solidFill>
                <a:latin typeface="Courier New" pitchFamily="49" charset="0"/>
                <a:ea typeface="Courier New" pitchFamily="49" charset="-122"/>
                <a:cs typeface="Courier New" pitchFamily="49" charset="-120"/>
              </a:rPr>
              <a:t>04</a:t>
            </a:r>
            <a:endParaRPr lang="en-US" sz="1200" dirty="0"/>
          </a:p>
        </p:txBody>
      </p:sp>
      <p:sp>
        <p:nvSpPr>
          <p:cNvPr id="20" name="Text 16"/>
          <p:cNvSpPr/>
          <p:nvPr/>
        </p:nvSpPr>
        <p:spPr>
          <a:xfrm>
            <a:off x="7442200" y="2645370"/>
            <a:ext cx="71651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2D2D"/>
                </a:solidFill>
                <a:latin typeface="Arial" pitchFamily="34" charset="0"/>
                <a:ea typeface="Arial" pitchFamily="34" charset="-122"/>
                <a:cs typeface="Arial" pitchFamily="34" charset="-120"/>
              </a:rPr>
              <a:t>Inject</a:t>
            </a:r>
            <a:endParaRPr lang="en-US" sz="1800" dirty="0"/>
          </a:p>
        </p:txBody>
      </p:sp>
      <p:sp>
        <p:nvSpPr>
          <p:cNvPr id="21" name="Text 17"/>
          <p:cNvSpPr/>
          <p:nvPr/>
        </p:nvSpPr>
        <p:spPr>
          <a:xfrm>
            <a:off x="7442200" y="2995861"/>
            <a:ext cx="16002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Deliver memory as clean context, not noise, within a budget.</a:t>
            </a:r>
            <a:endParaRPr lang="en-US" sz="1200" dirty="0"/>
          </a:p>
        </p:txBody>
      </p:sp>
      <p:sp>
        <p:nvSpPr>
          <p:cNvPr id="22" name="Shape 18"/>
          <p:cNvSpPr/>
          <p:nvPr/>
        </p:nvSpPr>
        <p:spPr>
          <a:xfrm>
            <a:off x="9404350" y="2165350"/>
            <a:ext cx="1968500" cy="2019300"/>
          </a:xfrm>
          <a:prstGeom prst="roundRect">
            <a:avLst>
              <a:gd name="adj" fmla="val 6774"/>
            </a:avLst>
          </a:prstGeom>
          <a:solidFill>
            <a:srgbClr val="FFF4F1"/>
          </a:solidFill>
          <a:ln w="12700">
            <a:solidFill>
              <a:srgbClr val="C74634">
                <a:alpha val="50000"/>
              </a:srgbClr>
            </a:solidFill>
            <a:prstDash val="solid"/>
          </a:ln>
        </p:spPr>
      </p:sp>
      <p:sp>
        <p:nvSpPr>
          <p:cNvPr id="23" name="Text 19"/>
          <p:cNvSpPr/>
          <p:nvPr/>
        </p:nvSpPr>
        <p:spPr>
          <a:xfrm>
            <a:off x="9588500" y="2362200"/>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74634"/>
                </a:solidFill>
                <a:latin typeface="Courier New" pitchFamily="49" charset="0"/>
                <a:ea typeface="Courier New" pitchFamily="49" charset="-122"/>
                <a:cs typeface="Courier New" pitchFamily="49" charset="-120"/>
              </a:rPr>
              <a:t>05</a:t>
            </a:r>
            <a:endParaRPr lang="en-US" sz="1200" dirty="0"/>
          </a:p>
        </p:txBody>
      </p:sp>
      <p:sp>
        <p:nvSpPr>
          <p:cNvPr id="24" name="Text 20"/>
          <p:cNvSpPr/>
          <p:nvPr/>
        </p:nvSpPr>
        <p:spPr>
          <a:xfrm>
            <a:off x="9588500" y="2651720"/>
            <a:ext cx="85338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2D2D"/>
                </a:solidFill>
                <a:latin typeface="Arial" pitchFamily="34" charset="0"/>
                <a:ea typeface="Arial" pitchFamily="34" charset="-122"/>
                <a:cs typeface="Arial" pitchFamily="34" charset="-120"/>
              </a:rPr>
              <a:t>Forget</a:t>
            </a:r>
            <a:endParaRPr lang="en-US" sz="1800" dirty="0"/>
          </a:p>
        </p:txBody>
      </p:sp>
      <p:sp>
        <p:nvSpPr>
          <p:cNvPr id="25" name="Text 21"/>
          <p:cNvSpPr/>
          <p:nvPr/>
        </p:nvSpPr>
        <p:spPr>
          <a:xfrm>
            <a:off x="9588500" y="3002211"/>
            <a:ext cx="16510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Expire, decay or prune, so memory stays dense with signal.</a:t>
            </a:r>
            <a:endParaRPr lang="en-US" sz="1200" dirty="0"/>
          </a:p>
        </p:txBody>
      </p:sp>
      <p:sp>
        <p:nvSpPr>
          <p:cNvPr id="26" name="Text 22"/>
          <p:cNvSpPr/>
          <p:nvPr/>
        </p:nvSpPr>
        <p:spPr>
          <a:xfrm>
            <a:off x="2694940" y="5080000"/>
            <a:ext cx="6802120"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C74634"/>
                </a:solidFill>
                <a:latin typeface="Arial" pitchFamily="34" charset="0"/>
                <a:ea typeface="Arial" pitchFamily="34" charset="-122"/>
                <a:cs typeface="Arial" pitchFamily="34" charset="-120"/>
              </a:rPr>
              <a:t>Forgetting feeds back into what is worth encoding next time</a:t>
            </a:r>
            <a:endParaRPr lang="en-US" sz="1300" dirty="0"/>
          </a:p>
        </p:txBody>
      </p:sp>
      <p:sp>
        <p:nvSpPr>
          <p:cNvPr id="27" name="Text 23"/>
          <p:cNvSpPr/>
          <p:nvPr/>
        </p:nvSpPr>
        <p:spPr>
          <a:xfrm>
            <a:off x="812800" y="5524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D2D2D"/>
                </a:solidFill>
                <a:latin typeface="Arial" pitchFamily="34" charset="0"/>
                <a:ea typeface="Arial" pitchFamily="34" charset="-122"/>
                <a:cs typeface="Arial" pitchFamily="34" charset="-120"/>
              </a:rPr>
              <a:t>Every stage is a technique you own. The next slides take the three that decide most of the quality.</a:t>
            </a:r>
            <a:endParaRPr lang="en-US" sz="1500" dirty="0"/>
          </a:p>
        </p:txBody>
      </p:sp>
      <p:sp>
        <p:nvSpPr>
          <p:cNvPr id="28" name="Text 2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MEMORY ENGINEERING TECHNIQUE 1</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Memory extraction as an architecture</a:t>
            </a:r>
            <a:endParaRPr lang="en-US" sz="2800" dirty="0"/>
          </a:p>
        </p:txBody>
      </p:sp>
      <p:sp>
        <p:nvSpPr>
          <p:cNvPr id="5" name="Shape 3"/>
          <p:cNvSpPr/>
          <p:nvPr/>
        </p:nvSpPr>
        <p:spPr>
          <a:xfrm>
            <a:off x="817563" y="1401763"/>
            <a:ext cx="7432675" cy="942975"/>
          </a:xfrm>
          <a:prstGeom prst="roundRect">
            <a:avLst>
              <a:gd name="adj" fmla="val 14310"/>
            </a:avLst>
          </a:prstGeom>
          <a:solidFill>
            <a:srgbClr val="31535C">
              <a:alpha val="3000"/>
            </a:srgbClr>
          </a:solidFill>
          <a:ln w="9525">
            <a:solidFill>
              <a:srgbClr val="31535C">
                <a:alpha val="28000"/>
              </a:srgbClr>
            </a:solidFill>
            <a:prstDash val="dash"/>
          </a:ln>
        </p:spPr>
      </p:sp>
      <p:sp>
        <p:nvSpPr>
          <p:cNvPr id="6" name="Text 4"/>
          <p:cNvSpPr/>
          <p:nvPr/>
        </p:nvSpPr>
        <p:spPr>
          <a:xfrm>
            <a:off x="965200" y="140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6B6B6B"/>
                </a:solidFill>
                <a:latin typeface="Courier New" pitchFamily="49" charset="0"/>
                <a:ea typeface="Courier New" pitchFamily="49" charset="-122"/>
                <a:cs typeface="Courier New" pitchFamily="49" charset="-120"/>
              </a:rPr>
              <a:t>APPLICATION LAYER</a:t>
            </a:r>
            <a:endParaRPr lang="en-US" sz="1100" dirty="0"/>
          </a:p>
        </p:txBody>
      </p:sp>
      <p:sp>
        <p:nvSpPr>
          <p:cNvPr id="7" name="Shape 5"/>
          <p:cNvSpPr/>
          <p:nvPr/>
        </p:nvSpPr>
        <p:spPr>
          <a:xfrm>
            <a:off x="817563" y="2671763"/>
            <a:ext cx="7432675" cy="1895475"/>
          </a:xfrm>
          <a:prstGeom prst="roundRect">
            <a:avLst>
              <a:gd name="adj" fmla="val 7119"/>
            </a:avLst>
          </a:prstGeom>
          <a:solidFill>
            <a:srgbClr val="31535C">
              <a:alpha val="3000"/>
            </a:srgbClr>
          </a:solidFill>
          <a:ln w="9525">
            <a:solidFill>
              <a:srgbClr val="31535C">
                <a:alpha val="28000"/>
              </a:srgbClr>
            </a:solidFill>
            <a:prstDash val="dash"/>
          </a:ln>
        </p:spPr>
      </p:sp>
      <p:sp>
        <p:nvSpPr>
          <p:cNvPr id="8" name="Text 6"/>
          <p:cNvSpPr/>
          <p:nvPr/>
        </p:nvSpPr>
        <p:spPr>
          <a:xfrm>
            <a:off x="965200" y="267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C74634"/>
                </a:solidFill>
                <a:latin typeface="Courier New" pitchFamily="49" charset="0"/>
                <a:ea typeface="Courier New" pitchFamily="49" charset="-122"/>
                <a:cs typeface="Courier New" pitchFamily="49" charset="-120"/>
              </a:rPr>
              <a:t>MEMORY LAYER</a:t>
            </a:r>
            <a:endParaRPr lang="en-US" sz="1100" dirty="0"/>
          </a:p>
        </p:txBody>
      </p:sp>
      <p:sp>
        <p:nvSpPr>
          <p:cNvPr id="9" name="Shape 7"/>
          <p:cNvSpPr/>
          <p:nvPr/>
        </p:nvSpPr>
        <p:spPr>
          <a:xfrm>
            <a:off x="817563" y="4894263"/>
            <a:ext cx="7432675" cy="942975"/>
          </a:xfrm>
          <a:prstGeom prst="roundRect">
            <a:avLst>
              <a:gd name="adj" fmla="val 14310"/>
            </a:avLst>
          </a:prstGeom>
          <a:solidFill>
            <a:srgbClr val="31535C">
              <a:alpha val="3000"/>
            </a:srgbClr>
          </a:solidFill>
          <a:ln w="9525">
            <a:solidFill>
              <a:srgbClr val="31535C">
                <a:alpha val="28000"/>
              </a:srgbClr>
            </a:solidFill>
            <a:prstDash val="dash"/>
          </a:ln>
        </p:spPr>
      </p:sp>
      <p:sp>
        <p:nvSpPr>
          <p:cNvPr id="10" name="Text 8"/>
          <p:cNvSpPr/>
          <p:nvPr/>
        </p:nvSpPr>
        <p:spPr>
          <a:xfrm>
            <a:off x="965200" y="49022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A87A2A"/>
                </a:solidFill>
                <a:latin typeface="Courier New" pitchFamily="49" charset="0"/>
                <a:ea typeface="Courier New" pitchFamily="49" charset="-122"/>
                <a:cs typeface="Courier New" pitchFamily="49" charset="-120"/>
              </a:rPr>
              <a:t>DATA LAYER</a:t>
            </a:r>
            <a:endParaRPr lang="en-US" sz="1100" dirty="0"/>
          </a:p>
        </p:txBody>
      </p:sp>
      <p:sp>
        <p:nvSpPr>
          <p:cNvPr id="11" name="Shape 9"/>
          <p:cNvSpPr/>
          <p:nvPr/>
        </p:nvSpPr>
        <p:spPr>
          <a:xfrm>
            <a:off x="8716963" y="1401763"/>
            <a:ext cx="2657475" cy="2149475"/>
          </a:xfrm>
          <a:prstGeom prst="roundRect">
            <a:avLst>
              <a:gd name="adj" fmla="val 6278"/>
            </a:avLst>
          </a:prstGeom>
          <a:solidFill>
            <a:srgbClr val="31535C">
              <a:alpha val="3000"/>
            </a:srgbClr>
          </a:solidFill>
          <a:ln w="9525">
            <a:solidFill>
              <a:srgbClr val="31535C">
                <a:alpha val="28000"/>
              </a:srgbClr>
            </a:solidFill>
            <a:prstDash val="dash"/>
          </a:ln>
        </p:spPr>
      </p:sp>
      <p:sp>
        <p:nvSpPr>
          <p:cNvPr id="12" name="Text 10"/>
          <p:cNvSpPr/>
          <p:nvPr/>
        </p:nvSpPr>
        <p:spPr>
          <a:xfrm>
            <a:off x="8864600" y="1409700"/>
            <a:ext cx="2433066"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36677D"/>
                </a:solidFill>
                <a:latin typeface="Courier New" pitchFamily="49" charset="0"/>
                <a:ea typeface="Courier New" pitchFamily="49" charset="-122"/>
                <a:cs typeface="Courier New" pitchFamily="49" charset="-120"/>
              </a:rPr>
              <a:t>MODEL LAYER</a:t>
            </a:r>
            <a:endParaRPr lang="en-US" sz="1100" dirty="0"/>
          </a:p>
        </p:txBody>
      </p:sp>
      <p:sp>
        <p:nvSpPr>
          <p:cNvPr id="13" name="Shape 11"/>
          <p:cNvSpPr/>
          <p:nvPr/>
        </p:nvSpPr>
        <p:spPr>
          <a:xfrm>
            <a:off x="968375" y="1666875"/>
            <a:ext cx="1390650" cy="603250"/>
          </a:xfrm>
          <a:prstGeom prst="roundRect">
            <a:avLst>
              <a:gd name="adj" fmla="val 16316"/>
            </a:avLst>
          </a:prstGeom>
          <a:solidFill>
            <a:srgbClr val="FFFFFF"/>
          </a:solidFill>
          <a:ln w="6350">
            <a:solidFill>
              <a:srgbClr val="31535C">
                <a:alpha val="28000"/>
              </a:srgbClr>
            </a:solidFill>
            <a:prstDash val="solid"/>
          </a:ln>
        </p:spPr>
      </p:sp>
      <p:pic>
        <p:nvPicPr>
          <p:cNvPr id="14" name="Image 0" descr="Users">    </p:cNvPr>
          <p:cNvPicPr>
            <a:picLocks noChangeAspect="1"/>
          </p:cNvPicPr>
          <p:nvPr/>
        </p:nvPicPr>
        <p:blipFill>
          <a:blip r:embed="rId1"/>
          <a:srcRect l="0" r="0" t="0" b="0"/>
          <a:stretch/>
        </p:blipFill>
        <p:spPr>
          <a:xfrm>
            <a:off x="1054100" y="1841500"/>
            <a:ext cx="254000" cy="254000"/>
          </a:xfrm>
          <a:prstGeom prst="rect">
            <a:avLst/>
          </a:prstGeom>
        </p:spPr>
      </p:pic>
      <p:sp>
        <p:nvSpPr>
          <p:cNvPr id="15" name="Text 12"/>
          <p:cNvSpPr/>
          <p:nvPr/>
        </p:nvSpPr>
        <p:spPr>
          <a:xfrm>
            <a:off x="1397000" y="1748830"/>
            <a:ext cx="88051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Application</a:t>
            </a:r>
            <a:endParaRPr lang="en-US" sz="1200" dirty="0"/>
          </a:p>
        </p:txBody>
      </p:sp>
      <p:sp>
        <p:nvSpPr>
          <p:cNvPr id="16" name="Text 13"/>
          <p:cNvSpPr/>
          <p:nvPr/>
        </p:nvSpPr>
        <p:spPr>
          <a:xfrm>
            <a:off x="1397000" y="1974850"/>
            <a:ext cx="88051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user · tools</a:t>
            </a:r>
            <a:endParaRPr lang="en-US" sz="1200" dirty="0"/>
          </a:p>
        </p:txBody>
      </p:sp>
      <p:sp>
        <p:nvSpPr>
          <p:cNvPr id="17" name="Shape 14"/>
          <p:cNvSpPr/>
          <p:nvPr/>
        </p:nvSpPr>
        <p:spPr>
          <a:xfrm>
            <a:off x="3000375" y="1666875"/>
            <a:ext cx="2025650" cy="603250"/>
          </a:xfrm>
          <a:prstGeom prst="roundRect">
            <a:avLst>
              <a:gd name="adj" fmla="val 16316"/>
            </a:avLst>
          </a:prstGeom>
          <a:solidFill>
            <a:srgbClr val="FFFFFF"/>
          </a:solidFill>
          <a:ln w="6350">
            <a:solidFill>
              <a:srgbClr val="31535C">
                <a:alpha val="28000"/>
              </a:srgbClr>
            </a:solidFill>
            <a:prstDash val="solid"/>
          </a:ln>
        </p:spPr>
      </p:sp>
      <p:pic>
        <p:nvPicPr>
          <p:cNvPr id="18" name="Image 1" descr="Settings">    </p:cNvPr>
          <p:cNvPicPr>
            <a:picLocks noChangeAspect="1"/>
          </p:cNvPicPr>
          <p:nvPr/>
        </p:nvPicPr>
        <p:blipFill>
          <a:blip r:embed="rId2"/>
          <a:srcRect l="0" r="0" t="0" b="0"/>
          <a:stretch/>
        </p:blipFill>
        <p:spPr>
          <a:xfrm>
            <a:off x="3086100" y="1841500"/>
            <a:ext cx="254000" cy="254000"/>
          </a:xfrm>
          <a:prstGeom prst="rect">
            <a:avLst/>
          </a:prstGeom>
        </p:spPr>
      </p:pic>
      <p:sp>
        <p:nvSpPr>
          <p:cNvPr id="19" name="Text 15"/>
          <p:cNvSpPr/>
          <p:nvPr/>
        </p:nvSpPr>
        <p:spPr>
          <a:xfrm>
            <a:off x="3429000" y="174883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Agent harness</a:t>
            </a:r>
            <a:endParaRPr lang="en-US" sz="1200" dirty="0"/>
          </a:p>
        </p:txBody>
      </p:sp>
      <p:sp>
        <p:nvSpPr>
          <p:cNvPr id="20" name="Text 16"/>
          <p:cNvSpPr/>
          <p:nvPr/>
        </p:nvSpPr>
        <p:spPr>
          <a:xfrm>
            <a:off x="3429000" y="1974850"/>
            <a:ext cx="110941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the agent loop</a:t>
            </a:r>
            <a:endParaRPr lang="en-US" sz="1200" dirty="0"/>
          </a:p>
        </p:txBody>
      </p:sp>
      <p:sp>
        <p:nvSpPr>
          <p:cNvPr id="21" name="Shape 17"/>
          <p:cNvSpPr/>
          <p:nvPr/>
        </p:nvSpPr>
        <p:spPr>
          <a:xfrm>
            <a:off x="5667375" y="1666875"/>
            <a:ext cx="1898650" cy="603250"/>
          </a:xfrm>
          <a:prstGeom prst="roundRect">
            <a:avLst>
              <a:gd name="adj" fmla="val 16316"/>
            </a:avLst>
          </a:prstGeom>
          <a:solidFill>
            <a:srgbClr val="FFFFFF"/>
          </a:solidFill>
          <a:ln w="6350">
            <a:solidFill>
              <a:srgbClr val="31535C">
                <a:alpha val="28000"/>
              </a:srgbClr>
            </a:solidFill>
            <a:prstDash val="solid"/>
          </a:ln>
        </p:spPr>
      </p:sp>
      <p:pic>
        <p:nvPicPr>
          <p:cNvPr id="22" name="Image 2" descr="Book">    </p:cNvPr>
          <p:cNvPicPr>
            <a:picLocks noChangeAspect="1"/>
          </p:cNvPicPr>
          <p:nvPr/>
        </p:nvPicPr>
        <p:blipFill>
          <a:blip r:embed="rId3"/>
          <a:srcRect l="0" r="0" t="0" b="0"/>
          <a:stretch/>
        </p:blipFill>
        <p:spPr>
          <a:xfrm>
            <a:off x="5753100" y="1841500"/>
            <a:ext cx="254000" cy="254000"/>
          </a:xfrm>
          <a:prstGeom prst="rect">
            <a:avLst/>
          </a:prstGeom>
        </p:spPr>
      </p:pic>
      <p:sp>
        <p:nvSpPr>
          <p:cNvPr id="23" name="Text 18"/>
          <p:cNvSpPr/>
          <p:nvPr/>
        </p:nvSpPr>
        <p:spPr>
          <a:xfrm>
            <a:off x="6096000" y="1748830"/>
            <a:ext cx="132144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Context window</a:t>
            </a:r>
            <a:endParaRPr lang="en-US" sz="1200" dirty="0"/>
          </a:p>
        </p:txBody>
      </p:sp>
      <p:sp>
        <p:nvSpPr>
          <p:cNvPr id="24" name="Text 19"/>
          <p:cNvSpPr/>
          <p:nvPr/>
        </p:nvSpPr>
        <p:spPr>
          <a:xfrm>
            <a:off x="6096000" y="1974850"/>
            <a:ext cx="132144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assembled per call</a:t>
            </a:r>
            <a:endParaRPr lang="en-US" sz="1200" dirty="0"/>
          </a:p>
        </p:txBody>
      </p:sp>
      <p:sp>
        <p:nvSpPr>
          <p:cNvPr id="25" name="Shape 20"/>
          <p:cNvSpPr/>
          <p:nvPr/>
        </p:nvSpPr>
        <p:spPr>
          <a:xfrm>
            <a:off x="8867775" y="1666875"/>
            <a:ext cx="2355850" cy="603250"/>
          </a:xfrm>
          <a:prstGeom prst="roundRect">
            <a:avLst>
              <a:gd name="adj" fmla="val 16316"/>
            </a:avLst>
          </a:prstGeom>
          <a:solidFill>
            <a:srgbClr val="FFFFFF"/>
          </a:solidFill>
          <a:ln w="6350">
            <a:solidFill>
              <a:srgbClr val="31535C">
                <a:alpha val="28000"/>
              </a:srgbClr>
            </a:solidFill>
            <a:prstDash val="solid"/>
          </a:ln>
        </p:spPr>
      </p:sp>
      <p:pic>
        <p:nvPicPr>
          <p:cNvPr id="26" name="Image 3" descr="Lightbulb">    </p:cNvPr>
          <p:cNvPicPr>
            <a:picLocks noChangeAspect="1"/>
          </p:cNvPicPr>
          <p:nvPr/>
        </p:nvPicPr>
        <p:blipFill>
          <a:blip r:embed="rId4"/>
          <a:srcRect l="0" r="0" t="0" b="0"/>
          <a:stretch/>
        </p:blipFill>
        <p:spPr>
          <a:xfrm>
            <a:off x="8953500" y="1841500"/>
            <a:ext cx="254000" cy="254000"/>
          </a:xfrm>
          <a:prstGeom prst="rect">
            <a:avLst/>
          </a:prstGeom>
        </p:spPr>
      </p:pic>
      <p:sp>
        <p:nvSpPr>
          <p:cNvPr id="27" name="Text 21"/>
          <p:cNvSpPr/>
          <p:nvPr/>
        </p:nvSpPr>
        <p:spPr>
          <a:xfrm>
            <a:off x="9296400" y="1748830"/>
            <a:ext cx="121131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LLM</a:t>
            </a:r>
            <a:endParaRPr lang="en-US" sz="1200" dirty="0"/>
          </a:p>
        </p:txBody>
      </p:sp>
      <p:sp>
        <p:nvSpPr>
          <p:cNvPr id="28" name="Text 22"/>
          <p:cNvSpPr/>
          <p:nvPr/>
        </p:nvSpPr>
        <p:spPr>
          <a:xfrm>
            <a:off x="9296400" y="1974850"/>
            <a:ext cx="121131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answers the user</a:t>
            </a:r>
            <a:endParaRPr lang="en-US" sz="1200" dirty="0"/>
          </a:p>
        </p:txBody>
      </p:sp>
      <p:pic>
        <p:nvPicPr>
          <p:cNvPr id="29" name="Image 4" descr="the inference loop">    </p:cNvPr>
          <p:cNvPicPr>
            <a:picLocks noChangeAspect="1"/>
          </p:cNvPicPr>
          <p:nvPr/>
        </p:nvPicPr>
        <p:blipFill>
          <a:blip r:embed="rId5"/>
          <a:srcRect l="0" r="0" t="0" b="0"/>
          <a:stretch/>
        </p:blipFill>
        <p:spPr>
          <a:xfrm>
            <a:off x="0" y="0"/>
            <a:ext cx="12192000" cy="6858000"/>
          </a:xfrm>
          <a:prstGeom prst="rect">
            <a:avLst/>
          </a:prstGeom>
        </p:spPr>
      </p:pic>
      <p:sp>
        <p:nvSpPr>
          <p:cNvPr id="30" name="Shape 23"/>
          <p:cNvSpPr/>
          <p:nvPr/>
        </p:nvSpPr>
        <p:spPr>
          <a:xfrm>
            <a:off x="969963" y="2874963"/>
            <a:ext cx="2657475" cy="600075"/>
          </a:xfrm>
          <a:prstGeom prst="roundRect">
            <a:avLst>
              <a:gd name="adj" fmla="val 16138"/>
            </a:avLst>
          </a:prstGeom>
          <a:solidFill>
            <a:srgbClr val="E0F2F8">
              <a:alpha val="70000"/>
            </a:srgbClr>
          </a:solidFill>
          <a:ln w="9525">
            <a:solidFill>
              <a:srgbClr val="36677D">
                <a:alpha val="50000"/>
              </a:srgbClr>
            </a:solidFill>
            <a:prstDash val="solid"/>
          </a:ln>
        </p:spPr>
      </p:sp>
      <p:pic>
        <p:nvPicPr>
          <p:cNvPr id="31" name="Image 5" descr="Activity">    </p:cNvPr>
          <p:cNvPicPr>
            <a:picLocks noChangeAspect="1"/>
          </p:cNvPicPr>
          <p:nvPr/>
        </p:nvPicPr>
        <p:blipFill>
          <a:blip r:embed="rId6"/>
          <a:srcRect l="0" r="0" t="0" b="0"/>
          <a:stretch/>
        </p:blipFill>
        <p:spPr>
          <a:xfrm>
            <a:off x="1054100" y="3048000"/>
            <a:ext cx="254000" cy="254000"/>
          </a:xfrm>
          <a:prstGeom prst="rect">
            <a:avLst/>
          </a:prstGeom>
        </p:spPr>
      </p:pic>
      <p:sp>
        <p:nvSpPr>
          <p:cNvPr id="32" name="Text 24"/>
          <p:cNvSpPr/>
          <p:nvPr/>
        </p:nvSpPr>
        <p:spPr>
          <a:xfrm>
            <a:off x="1397000" y="2955330"/>
            <a:ext cx="1744883"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Thread store</a:t>
            </a:r>
            <a:endParaRPr lang="en-US" sz="1200" dirty="0"/>
          </a:p>
        </p:txBody>
      </p:sp>
      <p:sp>
        <p:nvSpPr>
          <p:cNvPr id="33" name="Text 25"/>
          <p:cNvSpPr/>
          <p:nvPr/>
        </p:nvSpPr>
        <p:spPr>
          <a:xfrm>
            <a:off x="1397000" y="3181350"/>
            <a:ext cx="1744883"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messages, as they arrive</a:t>
            </a:r>
            <a:endParaRPr lang="en-US" sz="1200" dirty="0"/>
          </a:p>
        </p:txBody>
      </p:sp>
      <p:pic>
        <p:nvPicPr>
          <p:cNvPr id="34" name="Image 6" descr="messages land">    </p:cNvPr>
          <p:cNvPicPr>
            <a:picLocks noChangeAspect="1"/>
          </p:cNvPicPr>
          <p:nvPr/>
        </p:nvPicPr>
        <p:blipFill>
          <a:blip r:embed="rId7"/>
          <a:srcRect l="0" r="0" t="0" b="0"/>
          <a:stretch/>
        </p:blipFill>
        <p:spPr>
          <a:xfrm>
            <a:off x="0" y="0"/>
            <a:ext cx="12192000" cy="6858000"/>
          </a:xfrm>
          <a:prstGeom prst="rect">
            <a:avLst/>
          </a:prstGeom>
        </p:spPr>
      </p:pic>
      <p:sp>
        <p:nvSpPr>
          <p:cNvPr id="35" name="Text 26"/>
          <p:cNvSpPr/>
          <p:nvPr/>
        </p:nvSpPr>
        <p:spPr>
          <a:xfrm>
            <a:off x="3403600" y="2438400"/>
            <a:ext cx="30480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6677D"/>
                </a:solidFill>
                <a:latin typeface="Courier New" pitchFamily="49" charset="0"/>
                <a:ea typeface="Courier New" pitchFamily="49" charset="-122"/>
                <a:cs typeface="Courier New" pitchFamily="49" charset="-120"/>
              </a:rPr>
              <a:t>1 · messages land · foreground</a:t>
            </a:r>
            <a:endParaRPr lang="en-US" sz="1100" dirty="0"/>
          </a:p>
        </p:txBody>
      </p:sp>
      <p:sp>
        <p:nvSpPr>
          <p:cNvPr id="36" name="Shape 27"/>
          <p:cNvSpPr/>
          <p:nvPr/>
        </p:nvSpPr>
        <p:spPr>
          <a:xfrm>
            <a:off x="4449763" y="2874963"/>
            <a:ext cx="3584575" cy="600075"/>
          </a:xfrm>
          <a:prstGeom prst="roundRect">
            <a:avLst>
              <a:gd name="adj" fmla="val 16138"/>
            </a:avLst>
          </a:prstGeom>
          <a:solidFill>
            <a:srgbClr val="FFF4F1"/>
          </a:solidFill>
          <a:ln w="9525">
            <a:solidFill>
              <a:srgbClr val="C74634">
                <a:alpha val="60000"/>
              </a:srgbClr>
            </a:solidFill>
            <a:prstDash val="solid"/>
          </a:ln>
        </p:spPr>
      </p:sp>
      <p:pic>
        <p:nvPicPr>
          <p:cNvPr id="37" name="Image 7" descr="Lightning">    </p:cNvPr>
          <p:cNvPicPr>
            <a:picLocks noChangeAspect="1"/>
          </p:cNvPicPr>
          <p:nvPr/>
        </p:nvPicPr>
        <p:blipFill>
          <a:blip r:embed="rId8"/>
          <a:srcRect l="0" r="0" t="0" b="0"/>
          <a:stretch/>
        </p:blipFill>
        <p:spPr>
          <a:xfrm>
            <a:off x="4533900" y="3048000"/>
            <a:ext cx="254000" cy="254000"/>
          </a:xfrm>
          <a:prstGeom prst="rect">
            <a:avLst/>
          </a:prstGeom>
        </p:spPr>
      </p:pic>
      <p:sp>
        <p:nvSpPr>
          <p:cNvPr id="38" name="Text 28"/>
          <p:cNvSpPr/>
          <p:nvPr/>
        </p:nvSpPr>
        <p:spPr>
          <a:xfrm>
            <a:off x="4876800" y="2955330"/>
            <a:ext cx="276627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Extraction worker</a:t>
            </a:r>
            <a:endParaRPr lang="en-US" sz="1200" dirty="0"/>
          </a:p>
        </p:txBody>
      </p:sp>
      <p:sp>
        <p:nvSpPr>
          <p:cNvPr id="39" name="Text 29"/>
          <p:cNvSpPr/>
          <p:nvPr/>
        </p:nvSpPr>
        <p:spPr>
          <a:xfrm>
            <a:off x="4876800" y="3181350"/>
            <a:ext cx="276627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background, on a schedule or a window</a:t>
            </a:r>
            <a:endParaRPr lang="en-US" sz="1200" dirty="0"/>
          </a:p>
        </p:txBody>
      </p:sp>
      <p:pic>
        <p:nvPicPr>
          <p:cNvPr id="40" name="Image 8" descr="the worker reads the thread">    </p:cNvPr>
          <p:cNvPicPr>
            <a:picLocks noChangeAspect="1"/>
          </p:cNvPicPr>
          <p:nvPr/>
        </p:nvPicPr>
        <p:blipFill>
          <a:blip r:embed="rId9"/>
          <a:srcRect l="0" r="0" t="0" b="0"/>
          <a:stretch/>
        </p:blipFill>
        <p:spPr>
          <a:xfrm>
            <a:off x="0" y="0"/>
            <a:ext cx="12192000" cy="6858000"/>
          </a:xfrm>
          <a:prstGeom prst="rect">
            <a:avLst/>
          </a:prstGeom>
        </p:spPr>
      </p:pic>
      <p:sp>
        <p:nvSpPr>
          <p:cNvPr id="41" name="Text 30"/>
          <p:cNvSpPr/>
          <p:nvPr/>
        </p:nvSpPr>
        <p:spPr>
          <a:xfrm>
            <a:off x="3619500" y="2959100"/>
            <a:ext cx="8128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C74634"/>
                </a:solidFill>
                <a:latin typeface="Courier New" pitchFamily="49" charset="0"/>
                <a:ea typeface="Courier New" pitchFamily="49" charset="-122"/>
                <a:cs typeface="Courier New" pitchFamily="49" charset="-120"/>
              </a:rPr>
              <a:t>2 · reads</a:t>
            </a:r>
            <a:endParaRPr lang="en-US" sz="1000" dirty="0"/>
          </a:p>
        </p:txBody>
      </p:sp>
      <p:sp>
        <p:nvSpPr>
          <p:cNvPr id="42" name="Shape 31"/>
          <p:cNvSpPr/>
          <p:nvPr/>
        </p:nvSpPr>
        <p:spPr>
          <a:xfrm>
            <a:off x="8869363" y="2874963"/>
            <a:ext cx="2352675" cy="600075"/>
          </a:xfrm>
          <a:prstGeom prst="roundRect">
            <a:avLst>
              <a:gd name="adj" fmla="val 16138"/>
            </a:avLst>
          </a:prstGeom>
          <a:solidFill>
            <a:srgbClr val="FFF4F1"/>
          </a:solidFill>
          <a:ln w="9525">
            <a:solidFill>
              <a:srgbClr val="C74634">
                <a:alpha val="60000"/>
              </a:srgbClr>
            </a:solidFill>
            <a:prstDash val="solid"/>
          </a:ln>
        </p:spPr>
      </p:sp>
      <p:pic>
        <p:nvPicPr>
          <p:cNvPr id="43" name="Image 9" descr="Lightning">    </p:cNvPr>
          <p:cNvPicPr>
            <a:picLocks noChangeAspect="1"/>
          </p:cNvPicPr>
          <p:nvPr/>
        </p:nvPicPr>
        <p:blipFill>
          <a:blip r:embed="rId10"/>
          <a:srcRect l="0" r="0" t="0" b="0"/>
          <a:stretch/>
        </p:blipFill>
        <p:spPr>
          <a:xfrm>
            <a:off x="8953500" y="3048000"/>
            <a:ext cx="254000" cy="254000"/>
          </a:xfrm>
          <a:prstGeom prst="rect">
            <a:avLst/>
          </a:prstGeom>
        </p:spPr>
      </p:pic>
      <p:sp>
        <p:nvSpPr>
          <p:cNvPr id="44" name="Text 32"/>
          <p:cNvSpPr/>
          <p:nvPr/>
        </p:nvSpPr>
        <p:spPr>
          <a:xfrm>
            <a:off x="9296400" y="2964210"/>
            <a:ext cx="158040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Extraction LLM</a:t>
            </a:r>
            <a:endParaRPr lang="en-US" sz="1200" dirty="0"/>
          </a:p>
        </p:txBody>
      </p:sp>
      <p:sp>
        <p:nvSpPr>
          <p:cNvPr id="45" name="Text 33"/>
          <p:cNvSpPr/>
          <p:nvPr/>
        </p:nvSpPr>
        <p:spPr>
          <a:xfrm>
            <a:off x="9296400" y="3190230"/>
            <a:ext cx="1580406"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prompted with your rules</a:t>
            </a:r>
            <a:endParaRPr lang="en-US" sz="1100" dirty="0"/>
          </a:p>
        </p:txBody>
      </p:sp>
      <p:pic>
        <p:nvPicPr>
          <p:cNvPr id="46" name="Image 10" descr="turn in, memories out">    </p:cNvPr>
          <p:cNvPicPr>
            <a:picLocks noChangeAspect="1"/>
          </p:cNvPicPr>
          <p:nvPr/>
        </p:nvPicPr>
        <p:blipFill>
          <a:blip r:embed="rId11"/>
          <a:srcRect l="0" r="0" t="0" b="0"/>
          <a:stretch/>
        </p:blipFill>
        <p:spPr>
          <a:xfrm>
            <a:off x="0" y="0"/>
            <a:ext cx="12192000" cy="6858000"/>
          </a:xfrm>
          <a:prstGeom prst="rect">
            <a:avLst/>
          </a:prstGeom>
        </p:spPr>
      </p:pic>
      <p:sp>
        <p:nvSpPr>
          <p:cNvPr id="47" name="Text 34"/>
          <p:cNvSpPr/>
          <p:nvPr/>
        </p:nvSpPr>
        <p:spPr>
          <a:xfrm>
            <a:off x="8039100" y="2895600"/>
            <a:ext cx="6858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C74634"/>
                </a:solidFill>
                <a:latin typeface="Courier New" pitchFamily="49" charset="0"/>
                <a:ea typeface="Courier New" pitchFamily="49" charset="-122"/>
                <a:cs typeface="Courier New" pitchFamily="49" charset="-120"/>
              </a:rPr>
              <a:t>turns</a:t>
            </a:r>
            <a:endParaRPr lang="en-US" sz="1000" dirty="0"/>
          </a:p>
        </p:txBody>
      </p:sp>
      <p:sp>
        <p:nvSpPr>
          <p:cNvPr id="48" name="Text 35"/>
          <p:cNvSpPr/>
          <p:nvPr/>
        </p:nvSpPr>
        <p:spPr>
          <a:xfrm>
            <a:off x="8039100" y="3302000"/>
            <a:ext cx="6858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C74634"/>
                </a:solidFill>
                <a:latin typeface="Courier New" pitchFamily="49" charset="0"/>
                <a:ea typeface="Courier New" pitchFamily="49" charset="-122"/>
                <a:cs typeface="Courier New" pitchFamily="49" charset="-120"/>
              </a:rPr>
              <a:t>memories</a:t>
            </a:r>
            <a:endParaRPr lang="en-US" sz="1000" dirty="0"/>
          </a:p>
        </p:txBody>
      </p:sp>
      <p:sp>
        <p:nvSpPr>
          <p:cNvPr id="49" name="Shape 36"/>
          <p:cNvSpPr/>
          <p:nvPr/>
        </p:nvSpPr>
        <p:spPr>
          <a:xfrm>
            <a:off x="968375" y="3686175"/>
            <a:ext cx="1695450" cy="806450"/>
          </a:xfrm>
          <a:prstGeom prst="roundRect">
            <a:avLst>
              <a:gd name="adj" fmla="val 10630"/>
            </a:avLst>
          </a:prstGeom>
          <a:solidFill>
            <a:srgbClr val="1E2A2A"/>
          </a:solidFill>
          <a:ln w="6350">
            <a:solidFill>
              <a:srgbClr val="1E2A2A"/>
            </a:solidFill>
            <a:prstDash val="solid"/>
          </a:ln>
        </p:spPr>
      </p:sp>
      <p:sp>
        <p:nvSpPr>
          <p:cNvPr id="50" name="Text 37"/>
          <p:cNvSpPr/>
          <p:nvPr/>
        </p:nvSpPr>
        <p:spPr>
          <a:xfrm>
            <a:off x="1054100" y="3733056"/>
            <a:ext cx="1207234" cy="219918"/>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EB068"/>
                </a:solidFill>
                <a:latin typeface="Courier New" pitchFamily="49" charset="0"/>
                <a:ea typeface="Courier New" pitchFamily="49" charset="-122"/>
                <a:cs typeface="Courier New" pitchFamily="49" charset="-120"/>
              </a:rPr>
              <a:t>instructions</a:t>
            </a:r>
            <a:endParaRPr lang="en-US" sz="1100" dirty="0"/>
          </a:p>
        </p:txBody>
      </p:sp>
      <p:sp>
        <p:nvSpPr>
          <p:cNvPr id="51" name="Text 38"/>
          <p:cNvSpPr/>
          <p:nvPr/>
        </p:nvSpPr>
        <p:spPr>
          <a:xfrm>
            <a:off x="1054100" y="3952974"/>
            <a:ext cx="1574800" cy="518120"/>
          </a:xfrm>
          <a:prstGeom prst="rect">
            <a:avLst/>
          </a:prstGeom>
          <a:noFill/>
          <a:ln/>
        </p:spPr>
        <p:txBody>
          <a:bodyPr wrap="square" lIns="0" tIns="0" rIns="0" bIns="0" rtlCol="0" anchor="t">
            <a:normAutofit/>
          </a:bodyPr>
          <a:lstStyle/>
          <a:p>
            <a:pPr algn="l" indent="0" marL="0">
              <a:lnSpc>
                <a:spcPts val="1300"/>
              </a:lnSpc>
              <a:buNone/>
            </a:pPr>
            <a:r>
              <a:rPr lang="en-US" sz="1000" dirty="0">
                <a:solidFill>
                  <a:srgbClr val="F2EFEA"/>
                </a:solidFill>
                <a:latin typeface="Arial" pitchFamily="34" charset="0"/>
                <a:ea typeface="Arial" pitchFamily="34" charset="-122"/>
                <a:cs typeface="Arial" pitchFamily="34" charset="-120"/>
              </a:rPr>
              <a:t>keep durable facts; drop greetings, secrets, throwaway wording</a:t>
            </a:r>
            <a:endParaRPr lang="en-US" sz="1000" dirty="0"/>
          </a:p>
        </p:txBody>
      </p:sp>
      <p:sp>
        <p:nvSpPr>
          <p:cNvPr id="52" name="Shape 39"/>
          <p:cNvSpPr/>
          <p:nvPr/>
        </p:nvSpPr>
        <p:spPr>
          <a:xfrm>
            <a:off x="2759075" y="3686175"/>
            <a:ext cx="1695450" cy="806450"/>
          </a:xfrm>
          <a:prstGeom prst="roundRect">
            <a:avLst>
              <a:gd name="adj" fmla="val 10630"/>
            </a:avLst>
          </a:prstGeom>
          <a:solidFill>
            <a:srgbClr val="1E2A2A"/>
          </a:solidFill>
          <a:ln w="6350">
            <a:solidFill>
              <a:srgbClr val="1E2A2A"/>
            </a:solidFill>
            <a:prstDash val="solid"/>
          </a:ln>
        </p:spPr>
      </p:sp>
      <p:sp>
        <p:nvSpPr>
          <p:cNvPr id="53" name="Text 40"/>
          <p:cNvSpPr/>
          <p:nvPr/>
        </p:nvSpPr>
        <p:spPr>
          <a:xfrm>
            <a:off x="2844800" y="3733056"/>
            <a:ext cx="1606550" cy="219918"/>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EB068"/>
                </a:solidFill>
                <a:latin typeface="Courier New" pitchFamily="49" charset="0"/>
                <a:ea typeface="Courier New" pitchFamily="49" charset="-122"/>
                <a:cs typeface="Courier New" pitchFamily="49" charset="-120"/>
              </a:rPr>
              <a:t>inherit metadata</a:t>
            </a:r>
            <a:endParaRPr lang="en-US" sz="1100" dirty="0"/>
          </a:p>
        </p:txBody>
      </p:sp>
      <p:sp>
        <p:nvSpPr>
          <p:cNvPr id="54" name="Text 41"/>
          <p:cNvSpPr/>
          <p:nvPr/>
        </p:nvSpPr>
        <p:spPr>
          <a:xfrm>
            <a:off x="2844800" y="3952974"/>
            <a:ext cx="1574800" cy="518120"/>
          </a:xfrm>
          <a:prstGeom prst="rect">
            <a:avLst/>
          </a:prstGeom>
          <a:noFill/>
          <a:ln/>
        </p:spPr>
        <p:txBody>
          <a:bodyPr wrap="square" lIns="0" tIns="0" rIns="0" bIns="0" rtlCol="0" anchor="t">
            <a:normAutofit/>
          </a:bodyPr>
          <a:lstStyle/>
          <a:p>
            <a:pPr algn="l" indent="0" marL="0">
              <a:lnSpc>
                <a:spcPts val="1300"/>
              </a:lnSpc>
              <a:buNone/>
            </a:pPr>
            <a:r>
              <a:rPr lang="en-US" sz="1000" dirty="0">
                <a:solidFill>
                  <a:srgbClr val="F2EFEA"/>
                </a:solidFill>
                <a:latin typeface="Arial" pitchFamily="34" charset="0"/>
                <a:ea typeface="Arial" pitchFamily="34" charset="-122"/>
                <a:cs typeface="Arial" pitchFamily="34" charset="-120"/>
              </a:rPr>
              <a:t>tenant, case, channel copied from message to memory</a:t>
            </a:r>
            <a:endParaRPr lang="en-US" sz="1000" dirty="0"/>
          </a:p>
        </p:txBody>
      </p:sp>
      <p:sp>
        <p:nvSpPr>
          <p:cNvPr id="55" name="Shape 42"/>
          <p:cNvSpPr/>
          <p:nvPr/>
        </p:nvSpPr>
        <p:spPr>
          <a:xfrm>
            <a:off x="4549775" y="3686175"/>
            <a:ext cx="1695450" cy="806450"/>
          </a:xfrm>
          <a:prstGeom prst="roundRect">
            <a:avLst>
              <a:gd name="adj" fmla="val 10630"/>
            </a:avLst>
          </a:prstGeom>
          <a:solidFill>
            <a:srgbClr val="1E2A2A"/>
          </a:solidFill>
          <a:ln w="6350">
            <a:solidFill>
              <a:srgbClr val="1E2A2A"/>
            </a:solidFill>
            <a:prstDash val="solid"/>
          </a:ln>
        </p:spPr>
      </p:sp>
      <p:sp>
        <p:nvSpPr>
          <p:cNvPr id="56" name="Text 43"/>
          <p:cNvSpPr/>
          <p:nvPr/>
        </p:nvSpPr>
        <p:spPr>
          <a:xfrm>
            <a:off x="4635500" y="3733056"/>
            <a:ext cx="1606550" cy="219918"/>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EB068"/>
                </a:solidFill>
                <a:latin typeface="Courier New" pitchFamily="49" charset="0"/>
                <a:ea typeface="Courier New" pitchFamily="49" charset="-122"/>
                <a:cs typeface="Courier New" pitchFamily="49" charset="-120"/>
              </a:rPr>
              <a:t>frequency · window</a:t>
            </a:r>
            <a:endParaRPr lang="en-US" sz="1100" dirty="0"/>
          </a:p>
        </p:txBody>
      </p:sp>
      <p:sp>
        <p:nvSpPr>
          <p:cNvPr id="57" name="Text 44"/>
          <p:cNvSpPr/>
          <p:nvPr/>
        </p:nvSpPr>
        <p:spPr>
          <a:xfrm>
            <a:off x="4635500" y="3952974"/>
            <a:ext cx="1574800" cy="518120"/>
          </a:xfrm>
          <a:prstGeom prst="rect">
            <a:avLst/>
          </a:prstGeom>
          <a:noFill/>
          <a:ln/>
        </p:spPr>
        <p:txBody>
          <a:bodyPr wrap="square" lIns="0" tIns="0" rIns="0" bIns="0" rtlCol="0" anchor="t">
            <a:normAutofit/>
          </a:bodyPr>
          <a:lstStyle/>
          <a:p>
            <a:pPr algn="l" indent="0" marL="0">
              <a:lnSpc>
                <a:spcPts val="1300"/>
              </a:lnSpc>
              <a:buNone/>
            </a:pPr>
            <a:r>
              <a:rPr lang="en-US" sz="1000" dirty="0">
                <a:solidFill>
                  <a:srgbClr val="F2EFEA"/>
                </a:solidFill>
                <a:latin typeface="Arial" pitchFamily="34" charset="0"/>
                <a:ea typeface="Arial" pitchFamily="34" charset="-122"/>
                <a:cs typeface="Arial" pitchFamily="34" charset="-120"/>
              </a:rPr>
              <a:t>how often, over how many messages, within a token limit</a:t>
            </a:r>
            <a:endParaRPr lang="en-US" sz="1000" dirty="0"/>
          </a:p>
        </p:txBody>
      </p:sp>
      <p:sp>
        <p:nvSpPr>
          <p:cNvPr id="58" name="Shape 45"/>
          <p:cNvSpPr/>
          <p:nvPr/>
        </p:nvSpPr>
        <p:spPr>
          <a:xfrm>
            <a:off x="6340475" y="3686175"/>
            <a:ext cx="1695450" cy="806450"/>
          </a:xfrm>
          <a:prstGeom prst="roundRect">
            <a:avLst>
              <a:gd name="adj" fmla="val 10630"/>
            </a:avLst>
          </a:prstGeom>
          <a:solidFill>
            <a:srgbClr val="1E2A2A"/>
          </a:solidFill>
          <a:ln w="6350">
            <a:solidFill>
              <a:srgbClr val="1E2A2A"/>
            </a:solidFill>
            <a:prstDash val="solid"/>
          </a:ln>
        </p:spPr>
      </p:sp>
      <p:sp>
        <p:nvSpPr>
          <p:cNvPr id="59" name="Text 46"/>
          <p:cNvSpPr/>
          <p:nvPr/>
        </p:nvSpPr>
        <p:spPr>
          <a:xfrm>
            <a:off x="6426200" y="3778250"/>
            <a:ext cx="160655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EB068"/>
                </a:solidFill>
                <a:latin typeface="Courier New" pitchFamily="49" charset="0"/>
                <a:ea typeface="Courier New" pitchFamily="49" charset="-122"/>
                <a:cs typeface="Courier New" pitchFamily="49" charset="-120"/>
              </a:rPr>
              <a:t>dedupe · conflicts</a:t>
            </a:r>
            <a:endParaRPr lang="en-US" sz="1100" dirty="0"/>
          </a:p>
        </p:txBody>
      </p:sp>
      <p:sp>
        <p:nvSpPr>
          <p:cNvPr id="60" name="Text 47"/>
          <p:cNvSpPr/>
          <p:nvPr/>
        </p:nvSpPr>
        <p:spPr>
          <a:xfrm>
            <a:off x="6426200" y="3999210"/>
            <a:ext cx="1574800" cy="355600"/>
          </a:xfrm>
          <a:prstGeom prst="rect">
            <a:avLst/>
          </a:prstGeom>
          <a:noFill/>
          <a:ln/>
        </p:spPr>
        <p:txBody>
          <a:bodyPr wrap="square" lIns="0" tIns="0" rIns="0" bIns="0" rtlCol="0" anchor="t">
            <a:normAutofit/>
          </a:bodyPr>
          <a:lstStyle/>
          <a:p>
            <a:pPr algn="l" indent="0" marL="0">
              <a:lnSpc>
                <a:spcPts val="1300"/>
              </a:lnSpc>
              <a:buNone/>
            </a:pPr>
            <a:r>
              <a:rPr lang="en-US" sz="1000" dirty="0">
                <a:solidFill>
                  <a:srgbClr val="F2EFEA"/>
                </a:solidFill>
                <a:latin typeface="Arial" pitchFamily="34" charset="0"/>
                <a:ea typeface="Arial" pitchFamily="34" charset="-122"/>
                <a:cs typeface="Arial" pitchFamily="34" charset="-120"/>
              </a:rPr>
              <a:t>compare with what exists: update, merge or skip</a:t>
            </a:r>
            <a:endParaRPr lang="en-US" sz="1000" dirty="0"/>
          </a:p>
        </p:txBody>
      </p:sp>
      <p:pic>
        <p:nvPicPr>
          <p:cNvPr id="61" name="Image 11" descr="guided by the knobs">    </p:cNvPr>
          <p:cNvPicPr>
            <a:picLocks noChangeAspect="1"/>
          </p:cNvPicPr>
          <p:nvPr/>
        </p:nvPicPr>
        <p:blipFill>
          <a:blip r:embed="rId12"/>
          <a:srcRect l="0" r="0" t="0" b="0"/>
          <a:stretch/>
        </p:blipFill>
        <p:spPr>
          <a:xfrm>
            <a:off x="0" y="0"/>
            <a:ext cx="12192000" cy="6858000"/>
          </a:xfrm>
          <a:prstGeom prst="rect">
            <a:avLst/>
          </a:prstGeom>
        </p:spPr>
      </p:pic>
      <p:sp>
        <p:nvSpPr>
          <p:cNvPr id="62" name="Text 48"/>
          <p:cNvSpPr/>
          <p:nvPr/>
        </p:nvSpPr>
        <p:spPr>
          <a:xfrm>
            <a:off x="6324600" y="3467100"/>
            <a:ext cx="17018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C74634"/>
                </a:solidFill>
                <a:latin typeface="Courier New" pitchFamily="49" charset="0"/>
                <a:ea typeface="Courier New" pitchFamily="49" charset="-122"/>
                <a:cs typeface="Courier New" pitchFamily="49" charset="-120"/>
              </a:rPr>
              <a:t>3 · guided by</a:t>
            </a:r>
            <a:endParaRPr lang="en-US" sz="1000" dirty="0"/>
          </a:p>
        </p:txBody>
      </p:sp>
      <p:sp>
        <p:nvSpPr>
          <p:cNvPr id="63" name="Shape 49"/>
          <p:cNvSpPr/>
          <p:nvPr/>
        </p:nvSpPr>
        <p:spPr>
          <a:xfrm>
            <a:off x="969963" y="5097463"/>
            <a:ext cx="1704975" cy="600075"/>
          </a:xfrm>
          <a:prstGeom prst="roundRect">
            <a:avLst>
              <a:gd name="adj" fmla="val 16138"/>
            </a:avLst>
          </a:prstGeom>
          <a:solidFill>
            <a:srgbClr val="DEB068">
              <a:alpha val="14000"/>
            </a:srgbClr>
          </a:solidFill>
          <a:ln w="9525">
            <a:solidFill>
              <a:srgbClr val="A87A2A">
                <a:alpha val="60000"/>
              </a:srgbClr>
            </a:solidFill>
            <a:prstDash val="solid"/>
          </a:ln>
        </p:spPr>
      </p:sp>
      <p:pic>
        <p:nvPicPr>
          <p:cNvPr id="64" name="Image 12" descr="Database">    </p:cNvPr>
          <p:cNvPicPr>
            <a:picLocks noChangeAspect="1"/>
          </p:cNvPicPr>
          <p:nvPr/>
        </p:nvPicPr>
        <p:blipFill>
          <a:blip r:embed="rId13"/>
          <a:srcRect l="0" r="0" t="0" b="0"/>
          <a:stretch/>
        </p:blipFill>
        <p:spPr>
          <a:xfrm>
            <a:off x="1054100" y="5270500"/>
            <a:ext cx="254000" cy="254000"/>
          </a:xfrm>
          <a:prstGeom prst="rect">
            <a:avLst/>
          </a:prstGeom>
        </p:spPr>
      </p:pic>
      <p:sp>
        <p:nvSpPr>
          <p:cNvPr id="65" name="Text 50"/>
          <p:cNvSpPr/>
          <p:nvPr/>
        </p:nvSpPr>
        <p:spPr>
          <a:xfrm>
            <a:off x="1397000" y="5177830"/>
            <a:ext cx="48284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fact</a:t>
            </a:r>
            <a:endParaRPr lang="en-US" sz="1200" dirty="0"/>
          </a:p>
        </p:txBody>
      </p:sp>
      <p:sp>
        <p:nvSpPr>
          <p:cNvPr id="66" name="Text 51"/>
          <p:cNvSpPr/>
          <p:nvPr/>
        </p:nvSpPr>
        <p:spPr>
          <a:xfrm>
            <a:off x="1397000" y="5403850"/>
            <a:ext cx="48284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a truth</a:t>
            </a:r>
            <a:endParaRPr lang="en-US" sz="1200" dirty="0"/>
          </a:p>
        </p:txBody>
      </p:sp>
      <p:sp>
        <p:nvSpPr>
          <p:cNvPr id="67" name="Shape 52"/>
          <p:cNvSpPr/>
          <p:nvPr/>
        </p:nvSpPr>
        <p:spPr>
          <a:xfrm>
            <a:off x="2754313" y="5097463"/>
            <a:ext cx="1704975" cy="600075"/>
          </a:xfrm>
          <a:prstGeom prst="roundRect">
            <a:avLst>
              <a:gd name="adj" fmla="val 16138"/>
            </a:avLst>
          </a:prstGeom>
          <a:solidFill>
            <a:srgbClr val="DEB068">
              <a:alpha val="14000"/>
            </a:srgbClr>
          </a:solidFill>
          <a:ln w="9525">
            <a:solidFill>
              <a:srgbClr val="A87A2A">
                <a:alpha val="60000"/>
              </a:srgbClr>
            </a:solidFill>
            <a:prstDash val="solid"/>
          </a:ln>
        </p:spPr>
      </p:sp>
      <p:pic>
        <p:nvPicPr>
          <p:cNvPr id="68" name="Image 13" descr="Database">    </p:cNvPr>
          <p:cNvPicPr>
            <a:picLocks noChangeAspect="1"/>
          </p:cNvPicPr>
          <p:nvPr/>
        </p:nvPicPr>
        <p:blipFill>
          <a:blip r:embed="rId14"/>
          <a:srcRect l="0" r="0" t="0" b="0"/>
          <a:stretch/>
        </p:blipFill>
        <p:spPr>
          <a:xfrm>
            <a:off x="2838450" y="5270500"/>
            <a:ext cx="254000" cy="254000"/>
          </a:xfrm>
          <a:prstGeom prst="rect">
            <a:avLst/>
          </a:prstGeom>
        </p:spPr>
      </p:pic>
      <p:sp>
        <p:nvSpPr>
          <p:cNvPr id="69" name="Text 53"/>
          <p:cNvSpPr/>
          <p:nvPr/>
        </p:nvSpPr>
        <p:spPr>
          <a:xfrm>
            <a:off x="3181350" y="5177830"/>
            <a:ext cx="830163"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preference</a:t>
            </a:r>
            <a:endParaRPr lang="en-US" sz="1200" dirty="0"/>
          </a:p>
        </p:txBody>
      </p:sp>
      <p:sp>
        <p:nvSpPr>
          <p:cNvPr id="70" name="Text 54"/>
          <p:cNvSpPr/>
          <p:nvPr/>
        </p:nvSpPr>
        <p:spPr>
          <a:xfrm>
            <a:off x="3181350" y="5403850"/>
            <a:ext cx="830163"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a style rule</a:t>
            </a:r>
            <a:endParaRPr lang="en-US" sz="1200" dirty="0"/>
          </a:p>
        </p:txBody>
      </p:sp>
      <p:sp>
        <p:nvSpPr>
          <p:cNvPr id="71" name="Shape 55"/>
          <p:cNvSpPr/>
          <p:nvPr/>
        </p:nvSpPr>
        <p:spPr>
          <a:xfrm>
            <a:off x="4538663" y="5097463"/>
            <a:ext cx="1704975" cy="600075"/>
          </a:xfrm>
          <a:prstGeom prst="roundRect">
            <a:avLst>
              <a:gd name="adj" fmla="val 16138"/>
            </a:avLst>
          </a:prstGeom>
          <a:solidFill>
            <a:srgbClr val="DEB068">
              <a:alpha val="14000"/>
            </a:srgbClr>
          </a:solidFill>
          <a:ln w="9525">
            <a:solidFill>
              <a:srgbClr val="A87A2A">
                <a:alpha val="60000"/>
              </a:srgbClr>
            </a:solidFill>
            <a:prstDash val="solid"/>
          </a:ln>
        </p:spPr>
      </p:sp>
      <p:pic>
        <p:nvPicPr>
          <p:cNvPr id="72" name="Image 14" descr="Database">    </p:cNvPr>
          <p:cNvPicPr>
            <a:picLocks noChangeAspect="1"/>
          </p:cNvPicPr>
          <p:nvPr/>
        </p:nvPicPr>
        <p:blipFill>
          <a:blip r:embed="rId15"/>
          <a:srcRect l="0" r="0" t="0" b="0"/>
          <a:stretch/>
        </p:blipFill>
        <p:spPr>
          <a:xfrm>
            <a:off x="4622800" y="5270500"/>
            <a:ext cx="254000" cy="254000"/>
          </a:xfrm>
          <a:prstGeom prst="rect">
            <a:avLst/>
          </a:prstGeom>
        </p:spPr>
      </p:pic>
      <p:sp>
        <p:nvSpPr>
          <p:cNvPr id="73" name="Text 56"/>
          <p:cNvSpPr/>
          <p:nvPr/>
        </p:nvSpPr>
        <p:spPr>
          <a:xfrm>
            <a:off x="4965700" y="5177830"/>
            <a:ext cx="957263"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guideline</a:t>
            </a:r>
            <a:endParaRPr lang="en-US" sz="1200" dirty="0"/>
          </a:p>
        </p:txBody>
      </p:sp>
      <p:sp>
        <p:nvSpPr>
          <p:cNvPr id="74" name="Text 57"/>
          <p:cNvSpPr/>
          <p:nvPr/>
        </p:nvSpPr>
        <p:spPr>
          <a:xfrm>
            <a:off x="4965700" y="5403850"/>
            <a:ext cx="957263"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an instruction</a:t>
            </a:r>
            <a:endParaRPr lang="en-US" sz="1200" dirty="0"/>
          </a:p>
        </p:txBody>
      </p:sp>
      <p:sp>
        <p:nvSpPr>
          <p:cNvPr id="75" name="Shape 58"/>
          <p:cNvSpPr/>
          <p:nvPr/>
        </p:nvSpPr>
        <p:spPr>
          <a:xfrm>
            <a:off x="6323013" y="5097463"/>
            <a:ext cx="1704975" cy="600075"/>
          </a:xfrm>
          <a:prstGeom prst="roundRect">
            <a:avLst>
              <a:gd name="adj" fmla="val 16138"/>
            </a:avLst>
          </a:prstGeom>
          <a:solidFill>
            <a:srgbClr val="DEB068">
              <a:alpha val="14000"/>
            </a:srgbClr>
          </a:solidFill>
          <a:ln w="9525">
            <a:solidFill>
              <a:srgbClr val="A87A2A">
                <a:alpha val="60000"/>
              </a:srgbClr>
            </a:solidFill>
            <a:prstDash val="solid"/>
          </a:ln>
        </p:spPr>
      </p:sp>
      <p:pic>
        <p:nvPicPr>
          <p:cNvPr id="76" name="Image 15" descr="Database">    </p:cNvPr>
          <p:cNvPicPr>
            <a:picLocks noChangeAspect="1"/>
          </p:cNvPicPr>
          <p:nvPr/>
        </p:nvPicPr>
        <p:blipFill>
          <a:blip r:embed="rId16"/>
          <a:srcRect l="0" r="0" t="0" b="0"/>
          <a:stretch/>
        </p:blipFill>
        <p:spPr>
          <a:xfrm>
            <a:off x="6407150" y="5270500"/>
            <a:ext cx="254000" cy="254000"/>
          </a:xfrm>
          <a:prstGeom prst="rect">
            <a:avLst/>
          </a:prstGeom>
        </p:spPr>
      </p:pic>
      <p:sp>
        <p:nvSpPr>
          <p:cNvPr id="77" name="Text 59"/>
          <p:cNvSpPr/>
          <p:nvPr/>
        </p:nvSpPr>
        <p:spPr>
          <a:xfrm>
            <a:off x="6750050" y="5177830"/>
            <a:ext cx="79652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memory</a:t>
            </a:r>
            <a:endParaRPr lang="en-US" sz="1200" dirty="0"/>
          </a:p>
        </p:txBody>
      </p:sp>
      <p:sp>
        <p:nvSpPr>
          <p:cNvPr id="78" name="Text 60"/>
          <p:cNvSpPr/>
          <p:nvPr/>
        </p:nvSpPr>
        <p:spPr>
          <a:xfrm>
            <a:off x="6750050" y="5403850"/>
            <a:ext cx="79652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an episode</a:t>
            </a:r>
            <a:endParaRPr lang="en-US" sz="1200" dirty="0"/>
          </a:p>
        </p:txBody>
      </p:sp>
      <p:pic>
        <p:nvPicPr>
          <p:cNvPr id="79" name="Image 16" descr="typed memories written">    </p:cNvPr>
          <p:cNvPicPr>
            <a:picLocks noChangeAspect="1"/>
          </p:cNvPicPr>
          <p:nvPr/>
        </p:nvPicPr>
        <p:blipFill>
          <a:blip r:embed="rId17"/>
          <a:srcRect l="0" r="0" t="0" b="0"/>
          <a:stretch/>
        </p:blipFill>
        <p:spPr>
          <a:xfrm>
            <a:off x="0" y="0"/>
            <a:ext cx="12192000" cy="6858000"/>
          </a:xfrm>
          <a:prstGeom prst="rect">
            <a:avLst/>
          </a:prstGeom>
        </p:spPr>
      </p:pic>
      <p:sp>
        <p:nvSpPr>
          <p:cNvPr id="80" name="Text 61"/>
          <p:cNvSpPr/>
          <p:nvPr/>
        </p:nvSpPr>
        <p:spPr>
          <a:xfrm>
            <a:off x="6591300" y="4622800"/>
            <a:ext cx="1447800" cy="203200"/>
          </a:xfrm>
          <a:prstGeom prst="rect">
            <a:avLst/>
          </a:prstGeom>
          <a:noFill/>
          <a:ln/>
        </p:spPr>
        <p:txBody>
          <a:bodyPr wrap="square" lIns="0" tIns="0" rIns="0" bIns="0" rtlCol="0" anchor="t">
            <a:normAutofit/>
          </a:bodyPr>
          <a:lstStyle/>
          <a:p>
            <a:pPr algn="r" indent="0" marL="0">
              <a:lnSpc>
                <a:spcPts val="1400"/>
              </a:lnSpc>
              <a:buNone/>
            </a:pPr>
            <a:r>
              <a:rPr lang="en-US" sz="1000" dirty="0">
                <a:solidFill>
                  <a:srgbClr val="A87A2A"/>
                </a:solidFill>
                <a:latin typeface="Courier New" pitchFamily="49" charset="0"/>
                <a:ea typeface="Courier New" pitchFamily="49" charset="-122"/>
                <a:cs typeface="Courier New" pitchFamily="49" charset="-120"/>
              </a:rPr>
              <a:t>4 · typed rows</a:t>
            </a:r>
            <a:endParaRPr lang="en-US" sz="1000" dirty="0"/>
          </a:p>
        </p:txBody>
      </p:sp>
      <p:sp>
        <p:nvSpPr>
          <p:cNvPr id="81" name="Text 62"/>
          <p:cNvSpPr/>
          <p:nvPr/>
        </p:nvSpPr>
        <p:spPr>
          <a:xfrm>
            <a:off x="812800" y="5969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D2D2D"/>
                </a:solidFill>
                <a:latin typeface="Arial" pitchFamily="34" charset="0"/>
                <a:ea typeface="Arial" pitchFamily="34" charset="-122"/>
                <a:cs typeface="Arial" pitchFamily="34" charset="-120"/>
              </a:rPr>
              <a:t>Extraction is where retain happens. Decide it on purpose, or the agent remembers noise.</a:t>
            </a:r>
            <a:endParaRPr lang="en-US" sz="1300" dirty="0"/>
          </a:p>
        </p:txBody>
      </p:sp>
      <p:sp>
        <p:nvSpPr>
          <p:cNvPr id="82" name="Text 6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MEMORY ENGINEERING TECHNIQUE 1 · WORKED EXAMPLE</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One exchange in, five typed memories out</a:t>
            </a:r>
            <a:endParaRPr lang="en-US" sz="2800" dirty="0"/>
          </a:p>
        </p:txBody>
      </p:sp>
      <p:sp>
        <p:nvSpPr>
          <p:cNvPr id="5" name="Shape 3"/>
          <p:cNvSpPr/>
          <p:nvPr/>
        </p:nvSpPr>
        <p:spPr>
          <a:xfrm>
            <a:off x="815975" y="1590675"/>
            <a:ext cx="3930650" cy="3549650"/>
          </a:xfrm>
          <a:prstGeom prst="roundRect">
            <a:avLst>
              <a:gd name="adj" fmla="val 384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6" name="Text 4"/>
          <p:cNvSpPr/>
          <p:nvPr/>
        </p:nvSpPr>
        <p:spPr>
          <a:xfrm>
            <a:off x="990600" y="1771650"/>
            <a:ext cx="3003827"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THREAD t_8812 · turns 3 to 5</a:t>
            </a:r>
            <a:endParaRPr lang="en-US" sz="1200" dirty="0"/>
          </a:p>
        </p:txBody>
      </p:sp>
      <p:sp>
        <p:nvSpPr>
          <p:cNvPr id="7" name="Text 5"/>
          <p:cNvSpPr/>
          <p:nvPr/>
        </p:nvSpPr>
        <p:spPr>
          <a:xfrm>
            <a:off x="990600" y="2099270"/>
            <a:ext cx="3688842"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36677D"/>
                </a:solidFill>
                <a:latin typeface="Courier New" pitchFamily="49" charset="0"/>
                <a:ea typeface="Courier New" pitchFamily="49" charset="-122"/>
                <a:cs typeface="Courier New" pitchFamily="49" charset="-120"/>
              </a:rPr>
              <a:t>user</a:t>
            </a:r>
            <a:endParaRPr lang="en-US" sz="1000" dirty="0"/>
          </a:p>
        </p:txBody>
      </p:sp>
      <p:sp>
        <p:nvSpPr>
          <p:cNvPr id="8" name="Text 6"/>
          <p:cNvSpPr/>
          <p:nvPr/>
        </p:nvSpPr>
        <p:spPr>
          <a:xfrm>
            <a:off x="990600" y="2302470"/>
            <a:ext cx="3688842" cy="63872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2D2D2D"/>
                </a:solidFill>
                <a:latin typeface="Arial" pitchFamily="34" charset="0"/>
                <a:ea typeface="Arial" pitchFamily="34" charset="-122"/>
                <a:cs typeface="Arial" pitchFamily="34" charset="-120"/>
              </a:rPr>
              <a:t>We’re moving the EU rollout to 14 November. Legal wants a DPA signed first. And please stop suggesting Redis, we standardised on Oracle last quarter.</a:t>
            </a:r>
            <a:endParaRPr lang="en-US" sz="1150" dirty="0"/>
          </a:p>
        </p:txBody>
      </p:sp>
      <p:sp>
        <p:nvSpPr>
          <p:cNvPr id="9" name="Text 7"/>
          <p:cNvSpPr/>
          <p:nvPr/>
        </p:nvSpPr>
        <p:spPr>
          <a:xfrm>
            <a:off x="990600" y="3030091"/>
            <a:ext cx="3688842"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B6B"/>
                </a:solidFill>
                <a:latin typeface="Courier New" pitchFamily="49" charset="0"/>
                <a:ea typeface="Courier New" pitchFamily="49" charset="-122"/>
                <a:cs typeface="Courier New" pitchFamily="49" charset="-120"/>
              </a:rPr>
              <a:t>assistant</a:t>
            </a:r>
            <a:endParaRPr lang="en-US" sz="1000" dirty="0"/>
          </a:p>
        </p:txBody>
      </p:sp>
      <p:sp>
        <p:nvSpPr>
          <p:cNvPr id="10" name="Text 8"/>
          <p:cNvSpPr/>
          <p:nvPr/>
        </p:nvSpPr>
        <p:spPr>
          <a:xfrm>
            <a:off x="990600" y="3233291"/>
            <a:ext cx="3688842"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2D2D2D"/>
                </a:solidFill>
                <a:latin typeface="Arial" pitchFamily="34" charset="0"/>
                <a:ea typeface="Arial" pitchFamily="34" charset="-122"/>
                <a:cs typeface="Arial" pitchFamily="34" charset="-120"/>
              </a:rPr>
              <a:t>Noted. I’ll update the rollout plan and add the DPA as a blocker. Anything else?</a:t>
            </a:r>
            <a:endParaRPr lang="en-US" sz="1150" dirty="0"/>
          </a:p>
        </p:txBody>
      </p:sp>
      <p:sp>
        <p:nvSpPr>
          <p:cNvPr id="11" name="Text 9"/>
          <p:cNvSpPr/>
          <p:nvPr/>
        </p:nvSpPr>
        <p:spPr>
          <a:xfrm>
            <a:off x="990600" y="3756471"/>
            <a:ext cx="3688842"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36677D"/>
                </a:solidFill>
                <a:latin typeface="Courier New" pitchFamily="49" charset="0"/>
                <a:ea typeface="Courier New" pitchFamily="49" charset="-122"/>
                <a:cs typeface="Courier New" pitchFamily="49" charset="-120"/>
              </a:rPr>
              <a:t>user</a:t>
            </a:r>
            <a:endParaRPr lang="en-US" sz="1000" dirty="0"/>
          </a:p>
        </p:txBody>
      </p:sp>
      <p:sp>
        <p:nvSpPr>
          <p:cNvPr id="12" name="Text 10"/>
          <p:cNvSpPr/>
          <p:nvPr/>
        </p:nvSpPr>
        <p:spPr>
          <a:xfrm>
            <a:off x="990600" y="3959671"/>
            <a:ext cx="3688842"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2D2D2D"/>
                </a:solidFill>
                <a:latin typeface="Arial" pitchFamily="34" charset="0"/>
                <a:ea typeface="Arial" pitchFamily="34" charset="-122"/>
                <a:cs typeface="Arial" pitchFamily="34" charset="-120"/>
              </a:rPr>
              <a:t>When you write SQL for me, use bind variables, never string formatting. Thanks, that’s all for today.</a:t>
            </a:r>
            <a:endParaRPr lang="en-US" sz="1150" dirty="0"/>
          </a:p>
        </p:txBody>
      </p:sp>
      <p:pic>
        <p:nvPicPr>
          <p:cNvPr id="13" name="Image 0" descr="extraction">    </p:cNvPr>
          <p:cNvPicPr>
            <a:picLocks noChangeAspect="1"/>
          </p:cNvPicPr>
          <p:nvPr/>
        </p:nvPicPr>
        <p:blipFill>
          <a:blip r:embed="rId1"/>
          <a:srcRect l="0" r="0" t="0" b="0"/>
          <a:stretch/>
        </p:blipFill>
        <p:spPr>
          <a:xfrm>
            <a:off x="0" y="0"/>
            <a:ext cx="12192000" cy="6858000"/>
          </a:xfrm>
          <a:prstGeom prst="rect">
            <a:avLst/>
          </a:prstGeom>
        </p:spPr>
      </p:pic>
      <p:sp>
        <p:nvSpPr>
          <p:cNvPr id="14" name="Text 11"/>
          <p:cNvSpPr/>
          <p:nvPr/>
        </p:nvSpPr>
        <p:spPr>
          <a:xfrm>
            <a:off x="4749800" y="2959100"/>
            <a:ext cx="106680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C74634"/>
                </a:solidFill>
                <a:latin typeface="Courier New" pitchFamily="49" charset="0"/>
                <a:ea typeface="Courier New" pitchFamily="49" charset="-122"/>
                <a:cs typeface="Courier New" pitchFamily="49" charset="-120"/>
              </a:rPr>
              <a:t>extract</a:t>
            </a:r>
            <a:endParaRPr lang="en-US" sz="1100" dirty="0"/>
          </a:p>
        </p:txBody>
      </p:sp>
      <p:sp>
        <p:nvSpPr>
          <p:cNvPr id="15" name="Text 12"/>
          <p:cNvSpPr/>
          <p:nvPr/>
        </p:nvSpPr>
        <p:spPr>
          <a:xfrm>
            <a:off x="4749800" y="3327400"/>
            <a:ext cx="1066800" cy="176510"/>
          </a:xfrm>
          <a:prstGeom prst="rect">
            <a:avLst/>
          </a:prstGeom>
          <a:noFill/>
          <a:ln/>
        </p:spPr>
        <p:txBody>
          <a:bodyPr wrap="square" lIns="0" tIns="0" rIns="0" bIns="0" rtlCol="0" anchor="t">
            <a:normAutofit/>
          </a:bodyPr>
          <a:lstStyle/>
          <a:p>
            <a:pPr algn="ctr" indent="0" marL="0">
              <a:lnSpc>
                <a:spcPts val="1190"/>
              </a:lnSpc>
              <a:buNone/>
            </a:pPr>
            <a:r>
              <a:rPr lang="en-US" sz="850" dirty="0">
                <a:solidFill>
                  <a:srgbClr val="C74634"/>
                </a:solidFill>
                <a:latin typeface="Courier New" pitchFamily="49" charset="0"/>
                <a:ea typeface="Courier New" pitchFamily="49" charset="-122"/>
                <a:cs typeface="Courier New" pitchFamily="49" charset="-120"/>
              </a:rPr>
              <a:t>with your rules</a:t>
            </a:r>
            <a:endParaRPr lang="en-US" sz="850" dirty="0"/>
          </a:p>
        </p:txBody>
      </p:sp>
      <p:sp>
        <p:nvSpPr>
          <p:cNvPr id="16" name="Shape 13"/>
          <p:cNvSpPr/>
          <p:nvPr/>
        </p:nvSpPr>
        <p:spPr>
          <a:xfrm>
            <a:off x="5846763" y="1592263"/>
            <a:ext cx="5527675" cy="625475"/>
          </a:xfrm>
          <a:prstGeom prst="roundRect">
            <a:avLst>
              <a:gd name="adj" fmla="val 13452"/>
            </a:avLst>
          </a:prstGeom>
          <a:solidFill>
            <a:srgbClr val="DEB068">
              <a:alpha val="14000"/>
            </a:srgbClr>
          </a:solidFill>
          <a:ln w="9525">
            <a:solidFill>
              <a:srgbClr val="A87A2A">
                <a:alpha val="60000"/>
              </a:srgbClr>
            </a:solidFill>
            <a:prstDash val="solid"/>
          </a:ln>
        </p:spPr>
      </p:sp>
      <p:sp>
        <p:nvSpPr>
          <p:cNvPr id="17" name="Text 14"/>
          <p:cNvSpPr/>
          <p:nvPr/>
        </p:nvSpPr>
        <p:spPr>
          <a:xfrm>
            <a:off x="5918200" y="1673225"/>
            <a:ext cx="457250" cy="228600"/>
          </a:xfrm>
          <a:custGeom>
            <a:avLst/>
            <a:gdLst/>
            <a:ahLst/>
            <a:cxnLst/>
            <a:rect l="l" t="t" r="r" b="b"/>
            <a:pathLst>
              <a:path w="457250" h="228600">
                <a:moveTo>
                  <a:pt x="114300" y="0"/>
                </a:moveTo>
                <a:lnTo>
                  <a:pt x="342950" y="0"/>
                </a:lnTo>
                <a:arcTo hR="114300" wR="114300" stAng="16200000" swAng="5400000"/>
                <a:lnTo>
                  <a:pt x="457250" y="114300"/>
                </a:lnTo>
                <a:arcTo hR="114300" wR="114300" stAng="0" swAng="5400000"/>
                <a:lnTo>
                  <a:pt x="114300" y="228600"/>
                </a:lnTo>
                <a:arcTo hR="114300" wR="114300" stAng="5400000" swAng="5400000"/>
                <a:lnTo>
                  <a:pt x="0" y="114300"/>
                </a:lnTo>
                <a:arcTo hR="114300" wR="114300" stAng="10800000" swAng="5400000"/>
                <a:close/>
              </a:path>
            </a:pathLst>
          </a:custGeom>
          <a:solidFill>
            <a:srgbClr val="36677D"/>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fact</a:t>
            </a:r>
            <a:endParaRPr lang="en-US" sz="1000" dirty="0"/>
          </a:p>
        </p:txBody>
      </p:sp>
      <p:sp>
        <p:nvSpPr>
          <p:cNvPr id="18" name="Text 15"/>
          <p:cNvSpPr/>
          <p:nvPr/>
        </p:nvSpPr>
        <p:spPr>
          <a:xfrm>
            <a:off x="6464350" y="1696740"/>
            <a:ext cx="418592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Arial" pitchFamily="34" charset="0"/>
                <a:ea typeface="Arial" pitchFamily="34" charset="-122"/>
                <a:cs typeface="Arial" pitchFamily="34" charset="-120"/>
              </a:rPr>
              <a:t>EU rollout moved to 14 November</a:t>
            </a:r>
            <a:endParaRPr lang="en-US" sz="1100" dirty="0"/>
          </a:p>
        </p:txBody>
      </p:sp>
      <p:sp>
        <p:nvSpPr>
          <p:cNvPr id="19" name="Text 16"/>
          <p:cNvSpPr/>
          <p:nvPr/>
        </p:nvSpPr>
        <p:spPr>
          <a:xfrm>
            <a:off x="5918200" y="1927225"/>
            <a:ext cx="3127772" cy="185390"/>
          </a:xfrm>
          <a:prstGeom prst="rect">
            <a:avLst/>
          </a:prstGeom>
          <a:noFill/>
          <a:ln/>
        </p:spPr>
        <p:txBody>
          <a:bodyPr wrap="square" lIns="0" tIns="0" rIns="0" bIns="0" rtlCol="0" anchor="t">
            <a:normAutofit/>
          </a:bodyPr>
          <a:lstStyle/>
          <a:p>
            <a:pPr algn="l" indent="0" marL="0">
              <a:lnSpc>
                <a:spcPts val="1260"/>
              </a:lnSpc>
              <a:buNone/>
            </a:pPr>
            <a:r>
              <a:rPr lang="en-US" sz="900" dirty="0">
                <a:solidFill>
                  <a:srgbClr val="6B6B6B"/>
                </a:solidFill>
                <a:latin typeface="Courier New" pitchFamily="49" charset="0"/>
                <a:ea typeface="Courier New" pitchFamily="49" charset="-122"/>
                <a:cs typeface="Courier New" pitchFamily="49" charset="-120"/>
              </a:rPr>
              <a:t>project: eu-rollout · source: t_8812/3</a:t>
            </a:r>
            <a:endParaRPr lang="en-US" sz="900" dirty="0"/>
          </a:p>
        </p:txBody>
      </p:sp>
      <p:sp>
        <p:nvSpPr>
          <p:cNvPr id="20" name="Shape 17"/>
          <p:cNvSpPr/>
          <p:nvPr/>
        </p:nvSpPr>
        <p:spPr>
          <a:xfrm>
            <a:off x="5846763" y="2265363"/>
            <a:ext cx="5527675" cy="625475"/>
          </a:xfrm>
          <a:prstGeom prst="roundRect">
            <a:avLst>
              <a:gd name="adj" fmla="val 13452"/>
            </a:avLst>
          </a:prstGeom>
          <a:solidFill>
            <a:srgbClr val="DEB068">
              <a:alpha val="14000"/>
            </a:srgbClr>
          </a:solidFill>
          <a:ln w="9525">
            <a:solidFill>
              <a:srgbClr val="A87A2A">
                <a:alpha val="60000"/>
              </a:srgbClr>
            </a:solidFill>
            <a:prstDash val="solid"/>
          </a:ln>
        </p:spPr>
      </p:sp>
      <p:sp>
        <p:nvSpPr>
          <p:cNvPr id="21" name="Text 18"/>
          <p:cNvSpPr/>
          <p:nvPr/>
        </p:nvSpPr>
        <p:spPr>
          <a:xfrm>
            <a:off x="5918200" y="2346325"/>
            <a:ext cx="457250" cy="228600"/>
          </a:xfrm>
          <a:custGeom>
            <a:avLst/>
            <a:gdLst/>
            <a:ahLst/>
            <a:cxnLst/>
            <a:rect l="l" t="t" r="r" b="b"/>
            <a:pathLst>
              <a:path w="457250" h="228600">
                <a:moveTo>
                  <a:pt x="114300" y="0"/>
                </a:moveTo>
                <a:lnTo>
                  <a:pt x="342950" y="0"/>
                </a:lnTo>
                <a:arcTo hR="114300" wR="114300" stAng="16200000" swAng="5400000"/>
                <a:lnTo>
                  <a:pt x="457250" y="114300"/>
                </a:lnTo>
                <a:arcTo hR="114300" wR="114300" stAng="0" swAng="5400000"/>
                <a:lnTo>
                  <a:pt x="114300" y="228600"/>
                </a:lnTo>
                <a:arcTo hR="114300" wR="114300" stAng="5400000" swAng="5400000"/>
                <a:lnTo>
                  <a:pt x="0" y="114300"/>
                </a:lnTo>
                <a:arcTo hR="114300" wR="114300" stAng="10800000" swAng="5400000"/>
                <a:close/>
              </a:path>
            </a:pathLst>
          </a:custGeom>
          <a:solidFill>
            <a:srgbClr val="36677D"/>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fact</a:t>
            </a:r>
            <a:endParaRPr lang="en-US" sz="1000" dirty="0"/>
          </a:p>
        </p:txBody>
      </p:sp>
      <p:sp>
        <p:nvSpPr>
          <p:cNvPr id="22" name="Text 19"/>
          <p:cNvSpPr/>
          <p:nvPr/>
        </p:nvSpPr>
        <p:spPr>
          <a:xfrm>
            <a:off x="6464350" y="2369840"/>
            <a:ext cx="418592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Arial" pitchFamily="34" charset="0"/>
                <a:ea typeface="Arial" pitchFamily="34" charset="-122"/>
                <a:cs typeface="Arial" pitchFamily="34" charset="-120"/>
              </a:rPr>
              <a:t>Legal requires a signed DPA before the EU rollout</a:t>
            </a:r>
            <a:endParaRPr lang="en-US" sz="1100" dirty="0"/>
          </a:p>
        </p:txBody>
      </p:sp>
      <p:sp>
        <p:nvSpPr>
          <p:cNvPr id="23" name="Text 20"/>
          <p:cNvSpPr/>
          <p:nvPr/>
        </p:nvSpPr>
        <p:spPr>
          <a:xfrm>
            <a:off x="5918200" y="2600325"/>
            <a:ext cx="3127772" cy="185390"/>
          </a:xfrm>
          <a:prstGeom prst="rect">
            <a:avLst/>
          </a:prstGeom>
          <a:noFill/>
          <a:ln/>
        </p:spPr>
        <p:txBody>
          <a:bodyPr wrap="square" lIns="0" tIns="0" rIns="0" bIns="0" rtlCol="0" anchor="t">
            <a:normAutofit/>
          </a:bodyPr>
          <a:lstStyle/>
          <a:p>
            <a:pPr algn="l" indent="0" marL="0">
              <a:lnSpc>
                <a:spcPts val="1260"/>
              </a:lnSpc>
              <a:buNone/>
            </a:pPr>
            <a:r>
              <a:rPr lang="en-US" sz="900" dirty="0">
                <a:solidFill>
                  <a:srgbClr val="6B6B6B"/>
                </a:solidFill>
                <a:latin typeface="Courier New" pitchFamily="49" charset="0"/>
                <a:ea typeface="Courier New" pitchFamily="49" charset="-122"/>
                <a:cs typeface="Courier New" pitchFamily="49" charset="-120"/>
              </a:rPr>
              <a:t>project: eu-rollout · source: t_8812/3</a:t>
            </a:r>
            <a:endParaRPr lang="en-US" sz="900" dirty="0"/>
          </a:p>
        </p:txBody>
      </p:sp>
      <p:sp>
        <p:nvSpPr>
          <p:cNvPr id="24" name="Shape 21"/>
          <p:cNvSpPr/>
          <p:nvPr/>
        </p:nvSpPr>
        <p:spPr>
          <a:xfrm>
            <a:off x="5846763" y="2938463"/>
            <a:ext cx="5527675" cy="625475"/>
          </a:xfrm>
          <a:prstGeom prst="roundRect">
            <a:avLst>
              <a:gd name="adj" fmla="val 13452"/>
            </a:avLst>
          </a:prstGeom>
          <a:solidFill>
            <a:srgbClr val="E0F2F8">
              <a:alpha val="70000"/>
            </a:srgbClr>
          </a:solidFill>
          <a:ln w="9525">
            <a:solidFill>
              <a:srgbClr val="36677D">
                <a:alpha val="50000"/>
              </a:srgbClr>
            </a:solidFill>
            <a:prstDash val="solid"/>
          </a:ln>
        </p:spPr>
      </p:sp>
      <p:sp>
        <p:nvSpPr>
          <p:cNvPr id="25" name="Text 22"/>
          <p:cNvSpPr/>
          <p:nvPr/>
        </p:nvSpPr>
        <p:spPr>
          <a:xfrm>
            <a:off x="5918200" y="3019425"/>
            <a:ext cx="914549" cy="228600"/>
          </a:xfrm>
          <a:custGeom>
            <a:avLst/>
            <a:gdLst/>
            <a:ahLst/>
            <a:cxnLst/>
            <a:rect l="l" t="t" r="r" b="b"/>
            <a:pathLst>
              <a:path w="914549" h="228600">
                <a:moveTo>
                  <a:pt x="114300" y="0"/>
                </a:moveTo>
                <a:lnTo>
                  <a:pt x="800249" y="0"/>
                </a:lnTo>
                <a:arcTo hR="114300" wR="114300" stAng="16200000" swAng="5400000"/>
                <a:lnTo>
                  <a:pt x="914549" y="114300"/>
                </a:lnTo>
                <a:arcTo hR="114300" wR="114300" stAng="0" swAng="5400000"/>
                <a:lnTo>
                  <a:pt x="114300" y="228600"/>
                </a:lnTo>
                <a:arcTo hR="114300" wR="114300" stAng="5400000" swAng="5400000"/>
                <a:lnTo>
                  <a:pt x="0" y="114300"/>
                </a:lnTo>
                <a:arcTo hR="114300" wR="114300" stAng="10800000" swAng="5400000"/>
                <a:close/>
              </a:path>
            </a:pathLst>
          </a:custGeom>
          <a:solidFill>
            <a:srgbClr val="36677D"/>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preference</a:t>
            </a:r>
            <a:endParaRPr lang="en-US" sz="1000" dirty="0"/>
          </a:p>
        </p:txBody>
      </p:sp>
      <p:sp>
        <p:nvSpPr>
          <p:cNvPr id="26" name="Text 23"/>
          <p:cNvSpPr/>
          <p:nvPr/>
        </p:nvSpPr>
        <p:spPr>
          <a:xfrm>
            <a:off x="6921649" y="3042940"/>
            <a:ext cx="4185920"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Arial" pitchFamily="34" charset="0"/>
                <a:ea typeface="Arial" pitchFamily="34" charset="-122"/>
                <a:cs typeface="Arial" pitchFamily="34" charset="-120"/>
              </a:rPr>
              <a:t>Do not suggest Redis; the team standardised on Oracle</a:t>
            </a:r>
            <a:endParaRPr lang="en-US" sz="1100" dirty="0"/>
          </a:p>
        </p:txBody>
      </p:sp>
      <p:sp>
        <p:nvSpPr>
          <p:cNvPr id="27" name="Text 24"/>
          <p:cNvSpPr/>
          <p:nvPr/>
        </p:nvSpPr>
        <p:spPr>
          <a:xfrm>
            <a:off x="5918200" y="3273425"/>
            <a:ext cx="2304693" cy="185390"/>
          </a:xfrm>
          <a:prstGeom prst="rect">
            <a:avLst/>
          </a:prstGeom>
          <a:noFill/>
          <a:ln/>
        </p:spPr>
        <p:txBody>
          <a:bodyPr wrap="square" lIns="0" tIns="0" rIns="0" bIns="0" rtlCol="0" anchor="t">
            <a:normAutofit/>
          </a:bodyPr>
          <a:lstStyle/>
          <a:p>
            <a:pPr algn="l" indent="0" marL="0">
              <a:lnSpc>
                <a:spcPts val="1260"/>
              </a:lnSpc>
              <a:buNone/>
            </a:pPr>
            <a:r>
              <a:rPr lang="en-US" sz="900" dirty="0">
                <a:solidFill>
                  <a:srgbClr val="6B6B6B"/>
                </a:solidFill>
                <a:latin typeface="Courier New" pitchFamily="49" charset="0"/>
                <a:ea typeface="Courier New" pitchFamily="49" charset="-122"/>
                <a:cs typeface="Courier New" pitchFamily="49" charset="-120"/>
              </a:rPr>
              <a:t>user: a42 · source: t_8812/3</a:t>
            </a:r>
            <a:endParaRPr lang="en-US" sz="900" dirty="0"/>
          </a:p>
        </p:txBody>
      </p:sp>
      <p:sp>
        <p:nvSpPr>
          <p:cNvPr id="28" name="Shape 25"/>
          <p:cNvSpPr/>
          <p:nvPr/>
        </p:nvSpPr>
        <p:spPr>
          <a:xfrm>
            <a:off x="5846763" y="3611563"/>
            <a:ext cx="5527675" cy="625475"/>
          </a:xfrm>
          <a:prstGeom prst="roundRect">
            <a:avLst>
              <a:gd name="adj" fmla="val 13452"/>
            </a:avLst>
          </a:prstGeom>
          <a:solidFill>
            <a:srgbClr val="FFF4F1"/>
          </a:solidFill>
          <a:ln w="9525">
            <a:solidFill>
              <a:srgbClr val="C74634">
                <a:alpha val="60000"/>
              </a:srgbClr>
            </a:solidFill>
            <a:prstDash val="solid"/>
          </a:ln>
        </p:spPr>
      </p:sp>
      <p:sp>
        <p:nvSpPr>
          <p:cNvPr id="29" name="Text 26"/>
          <p:cNvSpPr/>
          <p:nvPr/>
        </p:nvSpPr>
        <p:spPr>
          <a:xfrm>
            <a:off x="5918200" y="3717727"/>
            <a:ext cx="838349" cy="228600"/>
          </a:xfrm>
          <a:custGeom>
            <a:avLst/>
            <a:gdLst/>
            <a:ahLst/>
            <a:cxnLst/>
            <a:rect l="l" t="t" r="r" b="b"/>
            <a:pathLst>
              <a:path w="838349" h="228600">
                <a:moveTo>
                  <a:pt x="114300" y="0"/>
                </a:moveTo>
                <a:lnTo>
                  <a:pt x="724049" y="0"/>
                </a:lnTo>
                <a:arcTo hR="114300" wR="114300" stAng="16200000" swAng="5400000"/>
                <a:lnTo>
                  <a:pt x="838349" y="114300"/>
                </a:lnTo>
                <a:arcTo hR="114300" wR="114300" stAng="0" swAng="5400000"/>
                <a:lnTo>
                  <a:pt x="114300" y="228600"/>
                </a:lnTo>
                <a:arcTo hR="114300" wR="114300" stAng="5400000" swAng="5400000"/>
                <a:lnTo>
                  <a:pt x="0" y="114300"/>
                </a:lnTo>
                <a:arcTo hR="114300" wR="114300" stAng="10800000" swAng="5400000"/>
                <a:close/>
              </a:path>
            </a:pathLst>
          </a:custGeom>
          <a:solidFill>
            <a:srgbClr val="36677D"/>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guideline</a:t>
            </a:r>
            <a:endParaRPr lang="en-US" sz="1000" dirty="0"/>
          </a:p>
        </p:txBody>
      </p:sp>
      <p:sp>
        <p:nvSpPr>
          <p:cNvPr id="30" name="Text 27"/>
          <p:cNvSpPr/>
          <p:nvPr/>
        </p:nvSpPr>
        <p:spPr>
          <a:xfrm>
            <a:off x="6845449" y="3650506"/>
            <a:ext cx="4185920" cy="388541"/>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Arial" pitchFamily="34" charset="0"/>
                <a:ea typeface="Arial" pitchFamily="34" charset="-122"/>
                <a:cs typeface="Arial" pitchFamily="34" charset="-120"/>
              </a:rPr>
              <a:t>SQL for this user uses bind variables, never string formatting</a:t>
            </a:r>
            <a:endParaRPr lang="en-US" sz="1100" dirty="0"/>
          </a:p>
        </p:txBody>
      </p:sp>
      <p:sp>
        <p:nvSpPr>
          <p:cNvPr id="31" name="Text 28"/>
          <p:cNvSpPr/>
          <p:nvPr/>
        </p:nvSpPr>
        <p:spPr>
          <a:xfrm>
            <a:off x="5918200" y="4038005"/>
            <a:ext cx="2304693" cy="184497"/>
          </a:xfrm>
          <a:prstGeom prst="rect">
            <a:avLst/>
          </a:prstGeom>
          <a:noFill/>
          <a:ln/>
        </p:spPr>
        <p:txBody>
          <a:bodyPr wrap="square" lIns="0" tIns="0" rIns="0" bIns="0" rtlCol="0" anchor="t">
            <a:normAutofit/>
          </a:bodyPr>
          <a:lstStyle/>
          <a:p>
            <a:pPr algn="l" indent="0" marL="0">
              <a:lnSpc>
                <a:spcPts val="1260"/>
              </a:lnSpc>
              <a:buNone/>
            </a:pPr>
            <a:r>
              <a:rPr lang="en-US" sz="900" dirty="0">
                <a:solidFill>
                  <a:srgbClr val="6B6B6B"/>
                </a:solidFill>
                <a:latin typeface="Courier New" pitchFamily="49" charset="0"/>
                <a:ea typeface="Courier New" pitchFamily="49" charset="-122"/>
                <a:cs typeface="Courier New" pitchFamily="49" charset="-120"/>
              </a:rPr>
              <a:t>user: a42 · source: t_8812/5</a:t>
            </a:r>
            <a:endParaRPr lang="en-US" sz="900" dirty="0"/>
          </a:p>
        </p:txBody>
      </p:sp>
      <p:sp>
        <p:nvSpPr>
          <p:cNvPr id="32" name="Shape 29"/>
          <p:cNvSpPr/>
          <p:nvPr/>
        </p:nvSpPr>
        <p:spPr>
          <a:xfrm>
            <a:off x="5845175" y="4283075"/>
            <a:ext cx="5530850" cy="628650"/>
          </a:xfrm>
          <a:prstGeom prst="roundRect">
            <a:avLst>
              <a:gd name="adj" fmla="val 13636"/>
            </a:avLst>
          </a:prstGeom>
          <a:solidFill>
            <a:srgbClr val="FFFFFF"/>
          </a:solidFill>
          <a:ln w="6350">
            <a:solidFill>
              <a:srgbClr val="31535C">
                <a:alpha val="28000"/>
              </a:srgbClr>
            </a:solidFill>
            <a:prstDash val="solid"/>
          </a:ln>
        </p:spPr>
      </p:sp>
      <p:sp>
        <p:nvSpPr>
          <p:cNvPr id="33" name="Text 30"/>
          <p:cNvSpPr/>
          <p:nvPr/>
        </p:nvSpPr>
        <p:spPr>
          <a:xfrm>
            <a:off x="5918200" y="4390827"/>
            <a:ext cx="609699" cy="228600"/>
          </a:xfrm>
          <a:custGeom>
            <a:avLst/>
            <a:gdLst/>
            <a:ahLst/>
            <a:cxnLst/>
            <a:rect l="l" t="t" r="r" b="b"/>
            <a:pathLst>
              <a:path w="609699" h="228600">
                <a:moveTo>
                  <a:pt x="114300" y="0"/>
                </a:moveTo>
                <a:lnTo>
                  <a:pt x="495399" y="0"/>
                </a:lnTo>
                <a:arcTo hR="114300" wR="114300" stAng="16200000" swAng="5400000"/>
                <a:lnTo>
                  <a:pt x="609699" y="114300"/>
                </a:lnTo>
                <a:arcTo hR="114300" wR="114300" stAng="0" swAng="5400000"/>
                <a:lnTo>
                  <a:pt x="114300" y="228600"/>
                </a:lnTo>
                <a:arcTo hR="114300" wR="114300" stAng="5400000" swAng="5400000"/>
                <a:lnTo>
                  <a:pt x="0" y="114300"/>
                </a:lnTo>
                <a:arcTo hR="114300" wR="114300" stAng="10800000" swAng="5400000"/>
                <a:close/>
              </a:path>
            </a:pathLst>
          </a:custGeom>
          <a:solidFill>
            <a:srgbClr val="6B6B6B"/>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memory</a:t>
            </a:r>
            <a:endParaRPr lang="en-US" sz="1000" dirty="0"/>
          </a:p>
        </p:txBody>
      </p:sp>
      <p:sp>
        <p:nvSpPr>
          <p:cNvPr id="34" name="Text 31"/>
          <p:cNvSpPr/>
          <p:nvPr/>
        </p:nvSpPr>
        <p:spPr>
          <a:xfrm>
            <a:off x="6616799" y="4323556"/>
            <a:ext cx="4185920" cy="388541"/>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Arial" pitchFamily="34" charset="0"/>
                <a:ea typeface="Arial" pitchFamily="34" charset="-122"/>
                <a:cs typeface="Arial" pitchFamily="34" charset="-120"/>
              </a:rPr>
              <a:t>On 27 Oct the user moved the rollout date and raised the DPA blocker</a:t>
            </a:r>
            <a:endParaRPr lang="en-US" sz="1100" dirty="0"/>
          </a:p>
        </p:txBody>
      </p:sp>
      <p:sp>
        <p:nvSpPr>
          <p:cNvPr id="35" name="Text 32"/>
          <p:cNvSpPr/>
          <p:nvPr/>
        </p:nvSpPr>
        <p:spPr>
          <a:xfrm>
            <a:off x="5918200" y="4711154"/>
            <a:ext cx="2222361" cy="184547"/>
          </a:xfrm>
          <a:prstGeom prst="rect">
            <a:avLst/>
          </a:prstGeom>
          <a:noFill/>
          <a:ln/>
        </p:spPr>
        <p:txBody>
          <a:bodyPr wrap="square" lIns="0" tIns="0" rIns="0" bIns="0" rtlCol="0" anchor="t">
            <a:normAutofit/>
          </a:bodyPr>
          <a:lstStyle/>
          <a:p>
            <a:pPr algn="l" indent="0" marL="0">
              <a:lnSpc>
                <a:spcPts val="1260"/>
              </a:lnSpc>
              <a:buNone/>
            </a:pPr>
            <a:r>
              <a:rPr lang="en-US" sz="900" dirty="0">
                <a:solidFill>
                  <a:srgbClr val="6B6B6B"/>
                </a:solidFill>
                <a:latin typeface="Courier New" pitchFamily="49" charset="0"/>
                <a:ea typeface="Courier New" pitchFamily="49" charset="-122"/>
                <a:cs typeface="Courier New" pitchFamily="49" charset="-120"/>
              </a:rPr>
              <a:t>episode · t_8812 · ttl 180d</a:t>
            </a:r>
            <a:endParaRPr lang="en-US" sz="900" dirty="0"/>
          </a:p>
        </p:txBody>
      </p:sp>
      <p:sp>
        <p:nvSpPr>
          <p:cNvPr id="36" name="Shape 33"/>
          <p:cNvSpPr/>
          <p:nvPr/>
        </p:nvSpPr>
        <p:spPr>
          <a:xfrm>
            <a:off x="5846763" y="5021263"/>
            <a:ext cx="5527675" cy="434975"/>
          </a:xfrm>
          <a:prstGeom prst="roundRect">
            <a:avLst>
              <a:gd name="adj" fmla="val 19343"/>
            </a:avLst>
          </a:prstGeom>
          <a:solidFill>
            <a:srgbClr val="31535C">
              <a:alpha val="5000"/>
            </a:srgbClr>
          </a:solidFill>
          <a:ln w="9525">
            <a:solidFill>
              <a:srgbClr val="31535C">
                <a:alpha val="35000"/>
              </a:srgbClr>
            </a:solidFill>
            <a:prstDash val="dash"/>
          </a:ln>
        </p:spPr>
      </p:sp>
      <p:sp>
        <p:nvSpPr>
          <p:cNvPr id="37" name="Text 34"/>
          <p:cNvSpPr/>
          <p:nvPr/>
        </p:nvSpPr>
        <p:spPr>
          <a:xfrm>
            <a:off x="5943600" y="5062091"/>
            <a:ext cx="5494020" cy="378718"/>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B6B6B"/>
                </a:solidFill>
                <a:latin typeface="Courier New" pitchFamily="49" charset="0"/>
                <a:ea typeface="Courier New" pitchFamily="49" charset="-122"/>
                <a:cs typeface="Courier New" pitchFamily="49" charset="-120"/>
              </a:rPr>
              <a:t>dropped: “Noted”, “Anything else?”, “Thanks, that’s all for today” · not durable, not retained</a:t>
            </a:r>
            <a:endParaRPr lang="en-US" sz="1000" dirty="0"/>
          </a:p>
        </p:txBody>
      </p:sp>
      <p:sp>
        <p:nvSpPr>
          <p:cNvPr id="38" name="Text 35"/>
          <p:cNvSpPr/>
          <p:nvPr/>
        </p:nvSpPr>
        <p:spPr>
          <a:xfrm>
            <a:off x="812800" y="56515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D2D2D"/>
                </a:solidFill>
                <a:latin typeface="Arial" pitchFamily="34" charset="0"/>
                <a:ea typeface="Arial" pitchFamily="34" charset="-122"/>
                <a:cs typeface="Arial" pitchFamily="34" charset="-120"/>
              </a:rPr>
              <a:t>Five rows, each with a type, a scope and a source turn. The next technique decides how long each one lives.</a:t>
            </a:r>
            <a:endParaRPr lang="en-US" sz="1300" dirty="0"/>
          </a:p>
        </p:txBody>
      </p:sp>
      <p:sp>
        <p:nvSpPr>
          <p:cNvPr id="39" name="Text 3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MEMORY ENGINEERING TECHNIQUE 2</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Retention policy: decide how long memory lives</a:t>
            </a:r>
            <a:endParaRPr lang="en-US" sz="2800" dirty="0"/>
          </a:p>
        </p:txBody>
      </p:sp>
      <p:sp>
        <p:nvSpPr>
          <p:cNvPr id="5" name="Shape 3"/>
          <p:cNvSpPr/>
          <p:nvPr/>
        </p:nvSpPr>
        <p:spPr>
          <a:xfrm>
            <a:off x="815975" y="1590675"/>
            <a:ext cx="5276850" cy="1390650"/>
          </a:xfrm>
          <a:prstGeom prst="roundRect">
            <a:avLst>
              <a:gd name="adj" fmla="val 9817"/>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6" name="Text 4"/>
          <p:cNvSpPr/>
          <p:nvPr/>
        </p:nvSpPr>
        <p:spPr>
          <a:xfrm>
            <a:off x="1016000" y="1773585"/>
            <a:ext cx="1155849" cy="238423"/>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36677D"/>
                </a:solidFill>
                <a:latin typeface="Courier New" pitchFamily="49" charset="0"/>
                <a:ea typeface="Courier New" pitchFamily="49" charset="-122"/>
                <a:cs typeface="Courier New" pitchFamily="49" charset="-120"/>
              </a:rPr>
              <a:t>PER RECORD</a:t>
            </a:r>
            <a:endParaRPr lang="en-US" sz="1200" dirty="0"/>
          </a:p>
        </p:txBody>
      </p:sp>
      <p:sp>
        <p:nvSpPr>
          <p:cNvPr id="7" name="Text 5"/>
          <p:cNvSpPr/>
          <p:nvPr/>
        </p:nvSpPr>
        <p:spPr>
          <a:xfrm>
            <a:off x="1016000" y="2050107"/>
            <a:ext cx="3983474" cy="26893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2D2D"/>
                </a:solidFill>
                <a:latin typeface="Arial" pitchFamily="34" charset="0"/>
                <a:ea typeface="Arial" pitchFamily="34" charset="-122"/>
                <a:cs typeface="Arial" pitchFamily="34" charset="-120"/>
              </a:rPr>
              <a:t>A TTL and an anchor on every row</a:t>
            </a:r>
            <a:endParaRPr lang="en-US" sz="1600" dirty="0"/>
          </a:p>
        </p:txBody>
      </p:sp>
      <p:sp>
        <p:nvSpPr>
          <p:cNvPr id="8" name="Text 6"/>
          <p:cNvSpPr/>
          <p:nvPr/>
        </p:nvSpPr>
        <p:spPr>
          <a:xfrm>
            <a:off x="1016000" y="2357140"/>
            <a:ext cx="5023104" cy="46672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B6B6B"/>
                </a:solidFill>
                <a:latin typeface="Arial" pitchFamily="34" charset="0"/>
                <a:ea typeface="Arial" pitchFamily="34" charset="-122"/>
                <a:cs typeface="Arial" pitchFamily="34" charset="-120"/>
              </a:rPr>
              <a:t>ttl_days plus an anchor: created, last accessed, or a business date such as case closed. The row decides its own expiry.</a:t>
            </a:r>
            <a:endParaRPr lang="en-US" sz="1200" dirty="0"/>
          </a:p>
        </p:txBody>
      </p:sp>
      <p:sp>
        <p:nvSpPr>
          <p:cNvPr id="9" name="Shape 7"/>
          <p:cNvSpPr/>
          <p:nvPr/>
        </p:nvSpPr>
        <p:spPr>
          <a:xfrm>
            <a:off x="6099175" y="1590675"/>
            <a:ext cx="5276850" cy="1390650"/>
          </a:xfrm>
          <a:prstGeom prst="roundRect">
            <a:avLst>
              <a:gd name="adj" fmla="val 9817"/>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0" name="Text 8"/>
          <p:cNvSpPr/>
          <p:nvPr/>
        </p:nvSpPr>
        <p:spPr>
          <a:xfrm>
            <a:off x="6299200" y="1773585"/>
            <a:ext cx="934839" cy="238423"/>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36677D"/>
                </a:solidFill>
                <a:latin typeface="Courier New" pitchFamily="49" charset="0"/>
                <a:ea typeface="Courier New" pitchFamily="49" charset="-122"/>
                <a:cs typeface="Courier New" pitchFamily="49" charset="-120"/>
              </a:rPr>
              <a:t>PER TYPE</a:t>
            </a:r>
            <a:endParaRPr lang="en-US" sz="1200" dirty="0"/>
          </a:p>
        </p:txBody>
      </p:sp>
      <p:sp>
        <p:nvSpPr>
          <p:cNvPr id="11" name="Text 9"/>
          <p:cNvSpPr/>
          <p:nvPr/>
        </p:nvSpPr>
        <p:spPr>
          <a:xfrm>
            <a:off x="6299200" y="2050107"/>
            <a:ext cx="3265289" cy="26893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2D2D"/>
                </a:solidFill>
                <a:latin typeface="Arial" pitchFamily="34" charset="0"/>
                <a:ea typeface="Arial" pitchFamily="34" charset="-122"/>
                <a:cs typeface="Arial" pitchFamily="34" charset="-120"/>
              </a:rPr>
              <a:t>Defaults that match the data</a:t>
            </a:r>
            <a:endParaRPr lang="en-US" sz="1600" dirty="0"/>
          </a:p>
        </p:txBody>
      </p:sp>
      <p:sp>
        <p:nvSpPr>
          <p:cNvPr id="12" name="Text 10"/>
          <p:cNvSpPr/>
          <p:nvPr/>
        </p:nvSpPr>
        <p:spPr>
          <a:xfrm>
            <a:off x="6299200" y="2357140"/>
            <a:ext cx="5023104" cy="46672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B6B6B"/>
                </a:solidFill>
                <a:latin typeface="Arial" pitchFamily="34" charset="0"/>
                <a:ea typeface="Arial" pitchFamily="34" charset="-122"/>
                <a:cs typeface="Arial" pitchFamily="34" charset="-120"/>
              </a:rPr>
              <a:t>Messages for weeks, episodes for months, facts and preferences until corrected, guidelines until withdrawn.</a:t>
            </a:r>
            <a:endParaRPr lang="en-US" sz="1200" dirty="0"/>
          </a:p>
        </p:txBody>
      </p:sp>
      <p:sp>
        <p:nvSpPr>
          <p:cNvPr id="13" name="Shape 11"/>
          <p:cNvSpPr/>
          <p:nvPr/>
        </p:nvSpPr>
        <p:spPr>
          <a:xfrm>
            <a:off x="815975" y="3178175"/>
            <a:ext cx="5276850" cy="1390650"/>
          </a:xfrm>
          <a:prstGeom prst="roundRect">
            <a:avLst>
              <a:gd name="adj" fmla="val 9817"/>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4" name="Text 12"/>
          <p:cNvSpPr/>
          <p:nvPr/>
        </p:nvSpPr>
        <p:spPr>
          <a:xfrm>
            <a:off x="1016000" y="3361085"/>
            <a:ext cx="603349" cy="238423"/>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36677D"/>
                </a:solidFill>
                <a:latin typeface="Courier New" pitchFamily="49" charset="0"/>
                <a:ea typeface="Courier New" pitchFamily="49" charset="-122"/>
                <a:cs typeface="Courier New" pitchFamily="49" charset="-120"/>
              </a:rPr>
              <a:t>DECAY</a:t>
            </a:r>
            <a:endParaRPr lang="en-US" sz="1200" dirty="0"/>
          </a:p>
        </p:txBody>
      </p:sp>
      <p:sp>
        <p:nvSpPr>
          <p:cNvPr id="15" name="Text 13"/>
          <p:cNvSpPr/>
          <p:nvPr/>
        </p:nvSpPr>
        <p:spPr>
          <a:xfrm>
            <a:off x="1016000" y="3637607"/>
            <a:ext cx="3821430" cy="26893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2D2D"/>
                </a:solidFill>
                <a:latin typeface="Arial" pitchFamily="34" charset="0"/>
                <a:ea typeface="Arial" pitchFamily="34" charset="-122"/>
                <a:cs typeface="Arial" pitchFamily="34" charset="-120"/>
              </a:rPr>
              <a:t>Rank falls before the row expires</a:t>
            </a:r>
            <a:endParaRPr lang="en-US" sz="1600" dirty="0"/>
          </a:p>
        </p:txBody>
      </p:sp>
      <p:sp>
        <p:nvSpPr>
          <p:cNvPr id="16" name="Text 14"/>
          <p:cNvSpPr/>
          <p:nvPr/>
        </p:nvSpPr>
        <p:spPr>
          <a:xfrm>
            <a:off x="1016000" y="3944640"/>
            <a:ext cx="5023104" cy="46672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B6B6B"/>
                </a:solidFill>
                <a:latin typeface="Arial" pitchFamily="34" charset="0"/>
                <a:ea typeface="Arial" pitchFamily="34" charset="-122"/>
                <a:cs typeface="Arial" pitchFamily="34" charset="-120"/>
              </a:rPr>
              <a:t>Recency and recall count weight retrieval, so stale memory loses the ranking long before it is purged.</a:t>
            </a:r>
            <a:endParaRPr lang="en-US" sz="1200" dirty="0"/>
          </a:p>
        </p:txBody>
      </p:sp>
      <p:sp>
        <p:nvSpPr>
          <p:cNvPr id="17" name="Shape 15"/>
          <p:cNvSpPr/>
          <p:nvPr/>
        </p:nvSpPr>
        <p:spPr>
          <a:xfrm>
            <a:off x="6099175" y="3178175"/>
            <a:ext cx="5276850" cy="1390650"/>
          </a:xfrm>
          <a:prstGeom prst="roundRect">
            <a:avLst>
              <a:gd name="adj" fmla="val 9817"/>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8" name="Text 16"/>
          <p:cNvSpPr/>
          <p:nvPr/>
        </p:nvSpPr>
        <p:spPr>
          <a:xfrm>
            <a:off x="6299200" y="3361085"/>
            <a:ext cx="824359" cy="238423"/>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36677D"/>
                </a:solidFill>
                <a:latin typeface="Courier New" pitchFamily="49" charset="0"/>
                <a:ea typeface="Courier New" pitchFamily="49" charset="-122"/>
                <a:cs typeface="Courier New" pitchFamily="49" charset="-120"/>
              </a:rPr>
              <a:t>ERASURE</a:t>
            </a:r>
            <a:endParaRPr lang="en-US" sz="1200" dirty="0"/>
          </a:p>
        </p:txBody>
      </p:sp>
      <p:sp>
        <p:nvSpPr>
          <p:cNvPr id="19" name="Text 17"/>
          <p:cNvSpPr/>
          <p:nvPr/>
        </p:nvSpPr>
        <p:spPr>
          <a:xfrm>
            <a:off x="6299200" y="3637607"/>
            <a:ext cx="3563541" cy="26893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2D2D"/>
                </a:solidFill>
                <a:latin typeface="Arial" pitchFamily="34" charset="0"/>
                <a:ea typeface="Arial" pitchFamily="34" charset="-122"/>
                <a:cs typeface="Arial" pitchFamily="34" charset="-120"/>
              </a:rPr>
              <a:t>Delete on request, and prove it</a:t>
            </a:r>
            <a:endParaRPr lang="en-US" sz="1600" dirty="0"/>
          </a:p>
        </p:txBody>
      </p:sp>
      <p:sp>
        <p:nvSpPr>
          <p:cNvPr id="20" name="Text 18"/>
          <p:cNvSpPr/>
          <p:nvPr/>
        </p:nvSpPr>
        <p:spPr>
          <a:xfrm>
            <a:off x="6299200" y="3944640"/>
            <a:ext cx="5023104" cy="46672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B6B6B"/>
                </a:solidFill>
                <a:latin typeface="Arial" pitchFamily="34" charset="0"/>
                <a:ea typeface="Arial" pitchFamily="34" charset="-122"/>
                <a:cs typeface="Arial" pitchFamily="34" charset="-120"/>
              </a:rPr>
              <a:t>A per-record delete across memories, threads and messages, with an audit trail that shows it happened.</a:t>
            </a:r>
            <a:endParaRPr lang="en-US" sz="1200" dirty="0"/>
          </a:p>
        </p:txBody>
      </p:sp>
      <p:sp>
        <p:nvSpPr>
          <p:cNvPr id="21" name="Shape 19"/>
          <p:cNvSpPr/>
          <p:nvPr/>
        </p:nvSpPr>
        <p:spPr>
          <a:xfrm>
            <a:off x="815975" y="4829175"/>
            <a:ext cx="10560050" cy="755650"/>
          </a:xfrm>
          <a:prstGeom prst="roundRect">
            <a:avLst>
              <a:gd name="adj" fmla="val 16387"/>
            </a:avLst>
          </a:prstGeom>
          <a:solidFill>
            <a:srgbClr val="1E2A2A"/>
          </a:solidFill>
          <a:ln w="6350">
            <a:solidFill>
              <a:srgbClr val="1E2A2A"/>
            </a:solidFill>
            <a:prstDash val="solid"/>
          </a:ln>
        </p:spPr>
      </p:sp>
      <p:sp>
        <p:nvSpPr>
          <p:cNvPr id="22" name="Text 20"/>
          <p:cNvSpPr/>
          <p:nvPr/>
        </p:nvSpPr>
        <p:spPr>
          <a:xfrm>
            <a:off x="1066800" y="4958110"/>
            <a:ext cx="103601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Arial" pitchFamily="34" charset="0"/>
                <a:ea typeface="Arial" pitchFamily="34" charset="-122"/>
                <a:cs typeface="Arial" pitchFamily="34" charset="-120"/>
              </a:rPr>
              <a:t>Write the policy as data on the memory row: </a:t>
            </a:r>
            <a:r>
              <a:rPr lang="en-US" sz="1400" dirty="0">
                <a:solidFill>
                  <a:srgbClr val="DEB068"/>
                </a:solidFill>
                <a:latin typeface="Arial" pitchFamily="34" charset="0"/>
                <a:ea typeface="Arial" pitchFamily="34" charset="-122"/>
                <a:cs typeface="Arial" pitchFamily="34" charset="-120"/>
              </a:rPr>
              <a:t>type, scope, TTL, anchor</a:t>
            </a:r>
            <a:r>
              <a:rPr lang="en-US" sz="1400" dirty="0">
                <a:solidFill>
                  <a:srgbClr val="FFFFFF"/>
                </a:solidFill>
                <a:latin typeface="Arial" pitchFamily="34" charset="0"/>
                <a:ea typeface="Arial" pitchFamily="34" charset="-122"/>
                <a:cs typeface="Arial" pitchFamily="34" charset="-120"/>
              </a:rPr>
              <a:t>. The purge job and the recall filter both read the same fields.</a:t>
            </a:r>
            <a:endParaRPr lang="en-US" sz="14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690563" y="1528763"/>
            <a:ext cx="5324475" cy="4435475"/>
          </a:xfrm>
          <a:prstGeom prst="roundRect">
            <a:avLst>
              <a:gd name="adj" fmla="val 3615"/>
            </a:avLst>
          </a:prstGeom>
          <a:solidFill>
            <a:srgbClr val="DEB068">
              <a:alpha val="10000"/>
            </a:srgbClr>
          </a:solidFill>
          <a:ln w="9525">
            <a:solidFill>
              <a:srgbClr val="A87A2A">
                <a:alpha val="40000"/>
              </a:srgbClr>
            </a:solidFill>
            <a:prstDash val="solid"/>
          </a:ln>
        </p:spPr>
      </p:sp>
      <p:sp>
        <p:nvSpPr>
          <p:cNvPr id="3" name="Shape 1"/>
          <p:cNvSpPr/>
          <p:nvPr/>
        </p:nvSpPr>
        <p:spPr>
          <a:xfrm>
            <a:off x="6176963" y="1528763"/>
            <a:ext cx="5324475" cy="4435475"/>
          </a:xfrm>
          <a:prstGeom prst="roundRect">
            <a:avLst>
              <a:gd name="adj" fmla="val 3615"/>
            </a:avLst>
          </a:prstGeom>
          <a:solidFill>
            <a:srgbClr val="36677D">
              <a:alpha val="8000"/>
            </a:srgbClr>
          </a:solidFill>
          <a:ln w="9525">
            <a:solidFill>
              <a:srgbClr val="36677D">
                <a:alpha val="40000"/>
              </a:srgbClr>
            </a:solidFill>
            <a:prstDash val="solid"/>
          </a:ln>
        </p:spPr>
      </p:sp>
      <p:sp>
        <p:nvSpPr>
          <p:cNvPr id="4" name="Shape 2"/>
          <p:cNvSpPr/>
          <p:nvPr/>
        </p:nvSpPr>
        <p:spPr>
          <a:xfrm>
            <a:off x="812800" y="457200"/>
            <a:ext cx="355600" cy="38100"/>
          </a:xfrm>
          <a:prstGeom prst="roundRect">
            <a:avLst>
              <a:gd name="adj" fmla="val 50000"/>
            </a:avLst>
          </a:prstGeom>
          <a:solidFill>
            <a:srgbClr val="C74634"/>
          </a:solidFill>
          <a:ln/>
        </p:spPr>
      </p:sp>
      <p:sp>
        <p:nvSpPr>
          <p:cNvPr id="5" name="Text 3"/>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MEMORY ENGINEERING TECHNIQUE 3</a:t>
            </a:r>
            <a:endParaRPr lang="en-US" sz="1200" dirty="0"/>
          </a:p>
        </p:txBody>
      </p:sp>
      <p:sp>
        <p:nvSpPr>
          <p:cNvPr id="6" name="Text 4"/>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The toolbox lives in the database: ingest, then recall</a:t>
            </a:r>
            <a:endParaRPr lang="en-US" sz="2800" dirty="0"/>
          </a:p>
        </p:txBody>
      </p:sp>
      <p:sp>
        <p:nvSpPr>
          <p:cNvPr id="7" name="Text 5"/>
          <p:cNvSpPr/>
          <p:nvPr/>
        </p:nvSpPr>
        <p:spPr>
          <a:xfrm>
            <a:off x="838200" y="1625600"/>
            <a:ext cx="3924300"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A87A2A"/>
                </a:solidFill>
                <a:latin typeface="Courier New" pitchFamily="49" charset="0"/>
                <a:ea typeface="Courier New" pitchFamily="49" charset="-122"/>
                <a:cs typeface="Courier New" pitchFamily="49" charset="-120"/>
              </a:rPr>
              <a:t>INGEST · augment before you embed</a:t>
            </a:r>
            <a:endParaRPr lang="en-US" sz="1100" dirty="0"/>
          </a:p>
        </p:txBody>
      </p:sp>
      <p:sp>
        <p:nvSpPr>
          <p:cNvPr id="8" name="Text 6"/>
          <p:cNvSpPr/>
          <p:nvPr/>
        </p:nvSpPr>
        <p:spPr>
          <a:xfrm>
            <a:off x="6324600" y="1625600"/>
            <a:ext cx="3924300"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36677D"/>
                </a:solidFill>
                <a:latin typeface="Courier New" pitchFamily="49" charset="0"/>
                <a:ea typeface="Courier New" pitchFamily="49" charset="-122"/>
                <a:cs typeface="Courier New" pitchFamily="49" charset="-120"/>
              </a:rPr>
              <a:t>RECALL · at request time</a:t>
            </a:r>
            <a:endParaRPr lang="en-US" sz="1100" dirty="0"/>
          </a:p>
        </p:txBody>
      </p:sp>
      <p:sp>
        <p:nvSpPr>
          <p:cNvPr id="9" name="Shape 7"/>
          <p:cNvSpPr/>
          <p:nvPr/>
        </p:nvSpPr>
        <p:spPr>
          <a:xfrm>
            <a:off x="942975" y="1920875"/>
            <a:ext cx="4819650" cy="527050"/>
          </a:xfrm>
          <a:prstGeom prst="roundRect">
            <a:avLst>
              <a:gd name="adj" fmla="val 18675"/>
            </a:avLst>
          </a:prstGeom>
          <a:solidFill>
            <a:srgbClr val="FFFFFF"/>
          </a:solidFill>
          <a:ln w="6350">
            <a:solidFill>
              <a:srgbClr val="31535C">
                <a:alpha val="28000"/>
              </a:srgbClr>
            </a:solidFill>
            <a:prstDash val="solid"/>
          </a:ln>
        </p:spPr>
      </p:sp>
      <p:pic>
        <p:nvPicPr>
          <p:cNvPr id="10" name="Image 0" descr="Book">    </p:cNvPr>
          <p:cNvPicPr>
            <a:picLocks noChangeAspect="1"/>
          </p:cNvPicPr>
          <p:nvPr/>
        </p:nvPicPr>
        <p:blipFill>
          <a:blip r:embed="rId1"/>
          <a:srcRect l="0" r="0" t="0" b="0"/>
          <a:stretch/>
        </p:blipFill>
        <p:spPr>
          <a:xfrm>
            <a:off x="1028700" y="2057400"/>
            <a:ext cx="254000" cy="254000"/>
          </a:xfrm>
          <a:prstGeom prst="rect">
            <a:avLst/>
          </a:prstGeom>
        </p:spPr>
      </p:pic>
      <p:sp>
        <p:nvSpPr>
          <p:cNvPr id="11" name="Text 8"/>
          <p:cNvSpPr/>
          <p:nvPr/>
        </p:nvSpPr>
        <p:spPr>
          <a:xfrm>
            <a:off x="1371600" y="1964730"/>
            <a:ext cx="279177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Tool schema</a:t>
            </a:r>
            <a:endParaRPr lang="en-US" sz="1200" dirty="0"/>
          </a:p>
        </p:txBody>
      </p:sp>
      <p:sp>
        <p:nvSpPr>
          <p:cNvPr id="12" name="Text 9"/>
          <p:cNvSpPr/>
          <p:nvPr/>
        </p:nvSpPr>
        <p:spPr>
          <a:xfrm>
            <a:off x="1371600" y="2190750"/>
            <a:ext cx="279177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name, description, parameters as JSON</a:t>
            </a:r>
            <a:endParaRPr lang="en-US" sz="1200" dirty="0"/>
          </a:p>
        </p:txBody>
      </p:sp>
      <p:sp>
        <p:nvSpPr>
          <p:cNvPr id="13" name="Shape 10"/>
          <p:cNvSpPr/>
          <p:nvPr/>
        </p:nvSpPr>
        <p:spPr>
          <a:xfrm>
            <a:off x="944563" y="2709863"/>
            <a:ext cx="4816475" cy="523875"/>
          </a:xfrm>
          <a:prstGeom prst="roundRect">
            <a:avLst>
              <a:gd name="adj" fmla="val 18485"/>
            </a:avLst>
          </a:prstGeom>
          <a:solidFill>
            <a:srgbClr val="FFF4F1"/>
          </a:solidFill>
          <a:ln w="9525">
            <a:solidFill>
              <a:srgbClr val="C74634">
                <a:alpha val="60000"/>
              </a:srgbClr>
            </a:solidFill>
            <a:prstDash val="solid"/>
          </a:ln>
        </p:spPr>
      </p:sp>
      <p:pic>
        <p:nvPicPr>
          <p:cNvPr id="14" name="Image 1" descr="Lightning">    </p:cNvPr>
          <p:cNvPicPr>
            <a:picLocks noChangeAspect="1"/>
          </p:cNvPicPr>
          <p:nvPr/>
        </p:nvPicPr>
        <p:blipFill>
          <a:blip r:embed="rId2"/>
          <a:srcRect l="0" r="0" t="0" b="0"/>
          <a:stretch/>
        </p:blipFill>
        <p:spPr>
          <a:xfrm>
            <a:off x="1028700" y="2844800"/>
            <a:ext cx="254000" cy="254000"/>
          </a:xfrm>
          <a:prstGeom prst="rect">
            <a:avLst/>
          </a:prstGeom>
        </p:spPr>
      </p:pic>
      <p:sp>
        <p:nvSpPr>
          <p:cNvPr id="15" name="Text 11"/>
          <p:cNvSpPr/>
          <p:nvPr/>
        </p:nvSpPr>
        <p:spPr>
          <a:xfrm>
            <a:off x="1371600" y="2752130"/>
            <a:ext cx="323724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SLM augmentation</a:t>
            </a:r>
            <a:endParaRPr lang="en-US" sz="1200" dirty="0"/>
          </a:p>
        </p:txBody>
      </p:sp>
      <p:sp>
        <p:nvSpPr>
          <p:cNvPr id="16" name="Text 12"/>
          <p:cNvSpPr/>
          <p:nvPr/>
        </p:nvSpPr>
        <p:spPr>
          <a:xfrm>
            <a:off x="1371600" y="2978150"/>
            <a:ext cx="323724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rewrites: when to use, when not, inputs, output</a:t>
            </a:r>
            <a:endParaRPr lang="en-US" sz="1200" dirty="0"/>
          </a:p>
        </p:txBody>
      </p:sp>
      <p:pic>
        <p:nvPicPr>
          <p:cNvPr id="17" name="Image 2" descr="ingest step">    </p:cNvPr>
          <p:cNvPicPr>
            <a:picLocks noChangeAspect="1"/>
          </p:cNvPicPr>
          <p:nvPr/>
        </p:nvPicPr>
        <p:blipFill>
          <a:blip r:embed="rId3"/>
          <a:srcRect l="0" r="0" t="0" b="0"/>
          <a:stretch/>
        </p:blipFill>
        <p:spPr>
          <a:xfrm>
            <a:off x="0" y="0"/>
            <a:ext cx="12192000" cy="6858000"/>
          </a:xfrm>
          <a:prstGeom prst="rect">
            <a:avLst/>
          </a:prstGeom>
        </p:spPr>
      </p:pic>
      <p:sp>
        <p:nvSpPr>
          <p:cNvPr id="18" name="Shape 13"/>
          <p:cNvSpPr/>
          <p:nvPr/>
        </p:nvSpPr>
        <p:spPr>
          <a:xfrm>
            <a:off x="944563" y="3497263"/>
            <a:ext cx="4816475" cy="523875"/>
          </a:xfrm>
          <a:prstGeom prst="roundRect">
            <a:avLst>
              <a:gd name="adj" fmla="val 18485"/>
            </a:avLst>
          </a:prstGeom>
          <a:solidFill>
            <a:srgbClr val="FFF4F1"/>
          </a:solidFill>
          <a:ln w="9525">
            <a:solidFill>
              <a:srgbClr val="C74634">
                <a:alpha val="60000"/>
              </a:srgbClr>
            </a:solidFill>
            <a:prstDash val="solid"/>
          </a:ln>
        </p:spPr>
      </p:sp>
      <p:pic>
        <p:nvPicPr>
          <p:cNvPr id="19" name="Image 3" descr="Users">    </p:cNvPr>
          <p:cNvPicPr>
            <a:picLocks noChangeAspect="1"/>
          </p:cNvPicPr>
          <p:nvPr/>
        </p:nvPicPr>
        <p:blipFill>
          <a:blip r:embed="rId4"/>
          <a:srcRect l="0" r="0" t="0" b="0"/>
          <a:stretch/>
        </p:blipFill>
        <p:spPr>
          <a:xfrm>
            <a:off x="1028700" y="3632200"/>
            <a:ext cx="254000" cy="254000"/>
          </a:xfrm>
          <a:prstGeom prst="rect">
            <a:avLst/>
          </a:prstGeom>
        </p:spPr>
      </p:pic>
      <p:sp>
        <p:nvSpPr>
          <p:cNvPr id="20" name="Text 14"/>
          <p:cNvSpPr/>
          <p:nvPr/>
        </p:nvSpPr>
        <p:spPr>
          <a:xfrm>
            <a:off x="1371600" y="3539530"/>
            <a:ext cx="321695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Example queries</a:t>
            </a:r>
            <a:endParaRPr lang="en-US" sz="1200" dirty="0"/>
          </a:p>
        </p:txBody>
      </p:sp>
      <p:sp>
        <p:nvSpPr>
          <p:cNvPr id="21" name="Text 15"/>
          <p:cNvSpPr/>
          <p:nvPr/>
        </p:nvSpPr>
        <p:spPr>
          <a:xfrm>
            <a:off x="1371600" y="3765550"/>
            <a:ext cx="321695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5 to 20 things a user would say, then reviewed</a:t>
            </a:r>
            <a:endParaRPr lang="en-US" sz="1200" dirty="0"/>
          </a:p>
        </p:txBody>
      </p:sp>
      <p:pic>
        <p:nvPicPr>
          <p:cNvPr id="22" name="Image 4" descr="ingest step">    </p:cNvPr>
          <p:cNvPicPr>
            <a:picLocks noChangeAspect="1"/>
          </p:cNvPicPr>
          <p:nvPr/>
        </p:nvPicPr>
        <p:blipFill>
          <a:blip r:embed="rId5"/>
          <a:srcRect l="0" r="0" t="0" b="0"/>
          <a:stretch/>
        </p:blipFill>
        <p:spPr>
          <a:xfrm>
            <a:off x="0" y="0"/>
            <a:ext cx="12192000" cy="6858000"/>
          </a:xfrm>
          <a:prstGeom prst="rect">
            <a:avLst/>
          </a:prstGeom>
        </p:spPr>
      </p:pic>
      <p:sp>
        <p:nvSpPr>
          <p:cNvPr id="23" name="Shape 16"/>
          <p:cNvSpPr/>
          <p:nvPr/>
        </p:nvSpPr>
        <p:spPr>
          <a:xfrm>
            <a:off x="942975" y="4283075"/>
            <a:ext cx="4819650" cy="527050"/>
          </a:xfrm>
          <a:prstGeom prst="roundRect">
            <a:avLst>
              <a:gd name="adj" fmla="val 18675"/>
            </a:avLst>
          </a:prstGeom>
          <a:solidFill>
            <a:srgbClr val="FFFFFF"/>
          </a:solidFill>
          <a:ln w="6350">
            <a:solidFill>
              <a:srgbClr val="31535C">
                <a:alpha val="28000"/>
              </a:srgbClr>
            </a:solidFill>
            <a:prstDash val="solid"/>
          </a:ln>
        </p:spPr>
      </p:sp>
      <p:pic>
        <p:nvPicPr>
          <p:cNvPr id="24" name="Image 5" descr="Link">    </p:cNvPr>
          <p:cNvPicPr>
            <a:picLocks noChangeAspect="1"/>
          </p:cNvPicPr>
          <p:nvPr/>
        </p:nvPicPr>
        <p:blipFill>
          <a:blip r:embed="rId6"/>
          <a:srcRect l="0" r="0" t="0" b="0"/>
          <a:stretch/>
        </p:blipFill>
        <p:spPr>
          <a:xfrm>
            <a:off x="1028700" y="4419600"/>
            <a:ext cx="254000" cy="254000"/>
          </a:xfrm>
          <a:prstGeom prst="rect">
            <a:avLst/>
          </a:prstGeom>
        </p:spPr>
      </p:pic>
      <p:sp>
        <p:nvSpPr>
          <p:cNvPr id="25" name="Text 17"/>
          <p:cNvSpPr/>
          <p:nvPr/>
        </p:nvSpPr>
        <p:spPr>
          <a:xfrm>
            <a:off x="1371600" y="4326930"/>
            <a:ext cx="307137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Embedding model</a:t>
            </a:r>
            <a:endParaRPr lang="en-US" sz="1200" dirty="0"/>
          </a:p>
        </p:txBody>
      </p:sp>
      <p:sp>
        <p:nvSpPr>
          <p:cNvPr id="26" name="Text 18"/>
          <p:cNvSpPr/>
          <p:nvPr/>
        </p:nvSpPr>
        <p:spPr>
          <a:xfrm>
            <a:off x="1371600" y="4552950"/>
            <a:ext cx="307137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one vector for the schema, one per example</a:t>
            </a:r>
            <a:endParaRPr lang="en-US" sz="1200" dirty="0"/>
          </a:p>
        </p:txBody>
      </p:sp>
      <p:pic>
        <p:nvPicPr>
          <p:cNvPr id="27" name="Image 6" descr="ingest step">    </p:cNvPr>
          <p:cNvPicPr>
            <a:picLocks noChangeAspect="1"/>
          </p:cNvPicPr>
          <p:nvPr/>
        </p:nvPicPr>
        <p:blipFill>
          <a:blip r:embed="rId7"/>
          <a:srcRect l="0" r="0" t="0" b="0"/>
          <a:stretch/>
        </p:blipFill>
        <p:spPr>
          <a:xfrm>
            <a:off x="0" y="0"/>
            <a:ext cx="12192000" cy="6858000"/>
          </a:xfrm>
          <a:prstGeom prst="rect">
            <a:avLst/>
          </a:prstGeom>
        </p:spPr>
      </p:pic>
      <p:sp>
        <p:nvSpPr>
          <p:cNvPr id="28" name="Shape 19"/>
          <p:cNvSpPr/>
          <p:nvPr/>
        </p:nvSpPr>
        <p:spPr>
          <a:xfrm>
            <a:off x="944563" y="5072063"/>
            <a:ext cx="4816475" cy="523875"/>
          </a:xfrm>
          <a:prstGeom prst="roundRect">
            <a:avLst>
              <a:gd name="adj" fmla="val 18485"/>
            </a:avLst>
          </a:prstGeom>
          <a:solidFill>
            <a:srgbClr val="DEB068">
              <a:alpha val="14000"/>
            </a:srgbClr>
          </a:solidFill>
          <a:ln w="9525">
            <a:solidFill>
              <a:srgbClr val="A87A2A">
                <a:alpha val="60000"/>
              </a:srgbClr>
            </a:solidFill>
            <a:prstDash val="solid"/>
          </a:ln>
        </p:spPr>
      </p:sp>
      <p:pic>
        <p:nvPicPr>
          <p:cNvPr id="29" name="Image 7" descr="Database">    </p:cNvPr>
          <p:cNvPicPr>
            <a:picLocks noChangeAspect="1"/>
          </p:cNvPicPr>
          <p:nvPr/>
        </p:nvPicPr>
        <p:blipFill>
          <a:blip r:embed="rId8"/>
          <a:srcRect l="0" r="0" t="0" b="0"/>
          <a:stretch/>
        </p:blipFill>
        <p:spPr>
          <a:xfrm>
            <a:off x="1028700" y="5207000"/>
            <a:ext cx="254000" cy="254000"/>
          </a:xfrm>
          <a:prstGeom prst="rect">
            <a:avLst/>
          </a:prstGeom>
        </p:spPr>
      </p:pic>
      <p:sp>
        <p:nvSpPr>
          <p:cNvPr id="30" name="Text 20"/>
          <p:cNvSpPr/>
          <p:nvPr/>
        </p:nvSpPr>
        <p:spPr>
          <a:xfrm>
            <a:off x="1371600" y="5114330"/>
            <a:ext cx="356820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Toolbox table</a:t>
            </a:r>
            <a:endParaRPr lang="en-US" sz="1200" dirty="0"/>
          </a:p>
        </p:txBody>
      </p:sp>
      <p:sp>
        <p:nvSpPr>
          <p:cNvPr id="31" name="Text 21"/>
          <p:cNvSpPr/>
          <p:nvPr/>
        </p:nvSpPr>
        <p:spPr>
          <a:xfrm>
            <a:off x="1371600" y="5340350"/>
            <a:ext cx="356820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one row per tool: JSON, vectors, owner, risk, scope</a:t>
            </a:r>
            <a:endParaRPr lang="en-US" sz="1200" dirty="0"/>
          </a:p>
        </p:txBody>
      </p:sp>
      <p:pic>
        <p:nvPicPr>
          <p:cNvPr id="32" name="Image 8" descr="ingest step">    </p:cNvPr>
          <p:cNvPicPr>
            <a:picLocks noChangeAspect="1"/>
          </p:cNvPicPr>
          <p:nvPr/>
        </p:nvPicPr>
        <p:blipFill>
          <a:blip r:embed="rId9"/>
          <a:srcRect l="0" r="0" t="0" b="0"/>
          <a:stretch/>
        </p:blipFill>
        <p:spPr>
          <a:xfrm>
            <a:off x="0" y="0"/>
            <a:ext cx="12192000" cy="6858000"/>
          </a:xfrm>
          <a:prstGeom prst="rect">
            <a:avLst/>
          </a:prstGeom>
        </p:spPr>
      </p:pic>
      <p:sp>
        <p:nvSpPr>
          <p:cNvPr id="33" name="Shape 22"/>
          <p:cNvSpPr/>
          <p:nvPr/>
        </p:nvSpPr>
        <p:spPr>
          <a:xfrm>
            <a:off x="6429375" y="1920875"/>
            <a:ext cx="4819650" cy="527050"/>
          </a:xfrm>
          <a:prstGeom prst="roundRect">
            <a:avLst>
              <a:gd name="adj" fmla="val 18675"/>
            </a:avLst>
          </a:prstGeom>
          <a:solidFill>
            <a:srgbClr val="FFFFFF"/>
          </a:solidFill>
          <a:ln w="6350">
            <a:solidFill>
              <a:srgbClr val="31535C">
                <a:alpha val="28000"/>
              </a:srgbClr>
            </a:solidFill>
            <a:prstDash val="solid"/>
          </a:ln>
        </p:spPr>
      </p:sp>
      <p:pic>
        <p:nvPicPr>
          <p:cNvPr id="34" name="Image 9" descr="Users">    </p:cNvPr>
          <p:cNvPicPr>
            <a:picLocks noChangeAspect="1"/>
          </p:cNvPicPr>
          <p:nvPr/>
        </p:nvPicPr>
        <p:blipFill>
          <a:blip r:embed="rId10"/>
          <a:srcRect l="0" r="0" t="0" b="0"/>
          <a:stretch/>
        </p:blipFill>
        <p:spPr>
          <a:xfrm>
            <a:off x="6515100" y="2057400"/>
            <a:ext cx="254000" cy="254000"/>
          </a:xfrm>
          <a:prstGeom prst="rect">
            <a:avLst/>
          </a:prstGeom>
        </p:spPr>
      </p:pic>
      <p:sp>
        <p:nvSpPr>
          <p:cNvPr id="35" name="Text 23"/>
          <p:cNvSpPr/>
          <p:nvPr/>
        </p:nvSpPr>
        <p:spPr>
          <a:xfrm>
            <a:off x="6858000" y="1964730"/>
            <a:ext cx="18208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User request</a:t>
            </a:r>
            <a:endParaRPr lang="en-US" sz="1200" dirty="0"/>
          </a:p>
        </p:txBody>
      </p:sp>
      <p:sp>
        <p:nvSpPr>
          <p:cNvPr id="36" name="Text 24"/>
          <p:cNvSpPr/>
          <p:nvPr/>
        </p:nvSpPr>
        <p:spPr>
          <a:xfrm>
            <a:off x="6858000" y="2190750"/>
            <a:ext cx="182081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or the agent’s current step</a:t>
            </a:r>
            <a:endParaRPr lang="en-US" sz="1200" dirty="0"/>
          </a:p>
        </p:txBody>
      </p:sp>
      <p:sp>
        <p:nvSpPr>
          <p:cNvPr id="37" name="Shape 25"/>
          <p:cNvSpPr/>
          <p:nvPr/>
        </p:nvSpPr>
        <p:spPr>
          <a:xfrm>
            <a:off x="6430963" y="2709863"/>
            <a:ext cx="4816475" cy="523875"/>
          </a:xfrm>
          <a:prstGeom prst="roundRect">
            <a:avLst>
              <a:gd name="adj" fmla="val 18485"/>
            </a:avLst>
          </a:prstGeom>
          <a:solidFill>
            <a:srgbClr val="E0F2F8">
              <a:alpha val="70000"/>
            </a:srgbClr>
          </a:solidFill>
          <a:ln w="9525">
            <a:solidFill>
              <a:srgbClr val="36677D">
                <a:alpha val="50000"/>
              </a:srgbClr>
            </a:solidFill>
            <a:prstDash val="solid"/>
          </a:ln>
        </p:spPr>
      </p:sp>
      <p:pic>
        <p:nvPicPr>
          <p:cNvPr id="38" name="Image 10" descr="Activity">    </p:cNvPr>
          <p:cNvPicPr>
            <a:picLocks noChangeAspect="1"/>
          </p:cNvPicPr>
          <p:nvPr/>
        </p:nvPicPr>
        <p:blipFill>
          <a:blip r:embed="rId11"/>
          <a:srcRect l="0" r="0" t="0" b="0"/>
          <a:stretch/>
        </p:blipFill>
        <p:spPr>
          <a:xfrm>
            <a:off x="6515100" y="2844800"/>
            <a:ext cx="254000" cy="254000"/>
          </a:xfrm>
          <a:prstGeom prst="rect">
            <a:avLst/>
          </a:prstGeom>
        </p:spPr>
      </p:pic>
      <p:sp>
        <p:nvSpPr>
          <p:cNvPr id="39" name="Text 26"/>
          <p:cNvSpPr/>
          <p:nvPr/>
        </p:nvSpPr>
        <p:spPr>
          <a:xfrm>
            <a:off x="6858000" y="2752130"/>
            <a:ext cx="3781993"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Hybrid search</a:t>
            </a:r>
            <a:endParaRPr lang="en-US" sz="1200" dirty="0"/>
          </a:p>
        </p:txBody>
      </p:sp>
      <p:sp>
        <p:nvSpPr>
          <p:cNvPr id="40" name="Text 27"/>
          <p:cNvSpPr/>
          <p:nvPr/>
        </p:nvSpPr>
        <p:spPr>
          <a:xfrm>
            <a:off x="6858000" y="2978150"/>
            <a:ext cx="3781993"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schema + example vectors, keywords for exact names</a:t>
            </a:r>
            <a:endParaRPr lang="en-US" sz="1200" dirty="0"/>
          </a:p>
        </p:txBody>
      </p:sp>
      <p:pic>
        <p:nvPicPr>
          <p:cNvPr id="41" name="Image 11" descr="recall step">    </p:cNvPr>
          <p:cNvPicPr>
            <a:picLocks noChangeAspect="1"/>
          </p:cNvPicPr>
          <p:nvPr/>
        </p:nvPicPr>
        <p:blipFill>
          <a:blip r:embed="rId12"/>
          <a:srcRect l="0" r="0" t="0" b="0"/>
          <a:stretch/>
        </p:blipFill>
        <p:spPr>
          <a:xfrm>
            <a:off x="0" y="0"/>
            <a:ext cx="12192000" cy="6858000"/>
          </a:xfrm>
          <a:prstGeom prst="rect">
            <a:avLst/>
          </a:prstGeom>
        </p:spPr>
      </p:pic>
      <p:sp>
        <p:nvSpPr>
          <p:cNvPr id="42" name="Shape 28"/>
          <p:cNvSpPr/>
          <p:nvPr/>
        </p:nvSpPr>
        <p:spPr>
          <a:xfrm>
            <a:off x="6430963" y="3497263"/>
            <a:ext cx="4816475" cy="523875"/>
          </a:xfrm>
          <a:prstGeom prst="roundRect">
            <a:avLst>
              <a:gd name="adj" fmla="val 18485"/>
            </a:avLst>
          </a:prstGeom>
          <a:solidFill>
            <a:srgbClr val="E0F2F8">
              <a:alpha val="70000"/>
            </a:srgbClr>
          </a:solidFill>
          <a:ln w="9525">
            <a:solidFill>
              <a:srgbClr val="36677D">
                <a:alpha val="50000"/>
              </a:srgbClr>
            </a:solidFill>
            <a:prstDash val="solid"/>
          </a:ln>
        </p:spPr>
      </p:sp>
      <p:pic>
        <p:nvPicPr>
          <p:cNvPr id="43" name="Image 12" descr="Star">    </p:cNvPr>
          <p:cNvPicPr>
            <a:picLocks noChangeAspect="1"/>
          </p:cNvPicPr>
          <p:nvPr/>
        </p:nvPicPr>
        <p:blipFill>
          <a:blip r:embed="rId13"/>
          <a:srcRect l="0" r="0" t="0" b="0"/>
          <a:stretch/>
        </p:blipFill>
        <p:spPr>
          <a:xfrm>
            <a:off x="6515100" y="3632200"/>
            <a:ext cx="254000" cy="254000"/>
          </a:xfrm>
          <a:prstGeom prst="rect">
            <a:avLst/>
          </a:prstGeom>
        </p:spPr>
      </p:pic>
      <p:sp>
        <p:nvSpPr>
          <p:cNvPr id="44" name="Text 29"/>
          <p:cNvSpPr/>
          <p:nvPr/>
        </p:nvSpPr>
        <p:spPr>
          <a:xfrm>
            <a:off x="6858000" y="3539530"/>
            <a:ext cx="348092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Rerank and gate</a:t>
            </a:r>
            <a:endParaRPr lang="en-US" sz="1200" dirty="0"/>
          </a:p>
        </p:txBody>
      </p:sp>
      <p:sp>
        <p:nvSpPr>
          <p:cNvPr id="45" name="Text 30"/>
          <p:cNvSpPr/>
          <p:nvPr/>
        </p:nvSpPr>
        <p:spPr>
          <a:xfrm>
            <a:off x="6858000" y="3765550"/>
            <a:ext cx="348092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cross-encoder or decision model, with a risk score</a:t>
            </a:r>
            <a:endParaRPr lang="en-US" sz="1200" dirty="0"/>
          </a:p>
        </p:txBody>
      </p:sp>
      <p:pic>
        <p:nvPicPr>
          <p:cNvPr id="46" name="Image 13" descr="recall step">    </p:cNvPr>
          <p:cNvPicPr>
            <a:picLocks noChangeAspect="1"/>
          </p:cNvPicPr>
          <p:nvPr/>
        </p:nvPicPr>
        <p:blipFill>
          <a:blip r:embed="rId14"/>
          <a:srcRect l="0" r="0" t="0" b="0"/>
          <a:stretch/>
        </p:blipFill>
        <p:spPr>
          <a:xfrm>
            <a:off x="0" y="0"/>
            <a:ext cx="12192000" cy="6858000"/>
          </a:xfrm>
          <a:prstGeom prst="rect">
            <a:avLst/>
          </a:prstGeom>
        </p:spPr>
      </p:pic>
      <p:sp>
        <p:nvSpPr>
          <p:cNvPr id="47" name="Shape 31"/>
          <p:cNvSpPr/>
          <p:nvPr/>
        </p:nvSpPr>
        <p:spPr>
          <a:xfrm>
            <a:off x="6429375" y="4283075"/>
            <a:ext cx="4819650" cy="527050"/>
          </a:xfrm>
          <a:prstGeom prst="roundRect">
            <a:avLst>
              <a:gd name="adj" fmla="val 18675"/>
            </a:avLst>
          </a:prstGeom>
          <a:solidFill>
            <a:srgbClr val="FFFFFF"/>
          </a:solidFill>
          <a:ln w="6350">
            <a:solidFill>
              <a:srgbClr val="31535C">
                <a:alpha val="28000"/>
              </a:srgbClr>
            </a:solidFill>
            <a:prstDash val="solid"/>
          </a:ln>
        </p:spPr>
      </p:sp>
      <p:pic>
        <p:nvPicPr>
          <p:cNvPr id="48" name="Image 14" descr="Check">    </p:cNvPr>
          <p:cNvPicPr>
            <a:picLocks noChangeAspect="1"/>
          </p:cNvPicPr>
          <p:nvPr/>
        </p:nvPicPr>
        <p:blipFill>
          <a:blip r:embed="rId15"/>
          <a:srcRect l="0" r="0" t="0" b="0"/>
          <a:stretch/>
        </p:blipFill>
        <p:spPr>
          <a:xfrm>
            <a:off x="6515100" y="4419600"/>
            <a:ext cx="254000" cy="254000"/>
          </a:xfrm>
          <a:prstGeom prst="rect">
            <a:avLst/>
          </a:prstGeom>
        </p:spPr>
      </p:pic>
      <p:sp>
        <p:nvSpPr>
          <p:cNvPr id="49" name="Text 32"/>
          <p:cNvSpPr/>
          <p:nvPr/>
        </p:nvSpPr>
        <p:spPr>
          <a:xfrm>
            <a:off x="6858000" y="4326930"/>
            <a:ext cx="337627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Top-k into the tools block</a:t>
            </a:r>
            <a:endParaRPr lang="en-US" sz="1200" dirty="0"/>
          </a:p>
        </p:txBody>
      </p:sp>
      <p:sp>
        <p:nvSpPr>
          <p:cNvPr id="50" name="Text 33"/>
          <p:cNvSpPr/>
          <p:nvPr/>
        </p:nvSpPr>
        <p:spPr>
          <a:xfrm>
            <a:off x="6858000" y="4552950"/>
            <a:ext cx="337627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mask the rest, never remove: the cache survives</a:t>
            </a:r>
            <a:endParaRPr lang="en-US" sz="1200" dirty="0"/>
          </a:p>
        </p:txBody>
      </p:sp>
      <p:pic>
        <p:nvPicPr>
          <p:cNvPr id="51" name="Image 15" descr="recall step">    </p:cNvPr>
          <p:cNvPicPr>
            <a:picLocks noChangeAspect="1"/>
          </p:cNvPicPr>
          <p:nvPr/>
        </p:nvPicPr>
        <p:blipFill>
          <a:blip r:embed="rId16"/>
          <a:srcRect l="0" r="0" t="0" b="0"/>
          <a:stretch/>
        </p:blipFill>
        <p:spPr>
          <a:xfrm>
            <a:off x="0" y="0"/>
            <a:ext cx="12192000" cy="6858000"/>
          </a:xfrm>
          <a:prstGeom prst="rect">
            <a:avLst/>
          </a:prstGeom>
        </p:spPr>
      </p:pic>
      <p:pic>
        <p:nvPicPr>
          <p:cNvPr id="52" name="Image 16" descr="search reads the toolbox table">    </p:cNvPr>
          <p:cNvPicPr>
            <a:picLocks noChangeAspect="1"/>
          </p:cNvPicPr>
          <p:nvPr/>
        </p:nvPicPr>
        <p:blipFill>
          <a:blip r:embed="rId17"/>
          <a:srcRect l="0" r="0" t="0" b="0"/>
          <a:stretch/>
        </p:blipFill>
        <p:spPr>
          <a:xfrm>
            <a:off x="0" y="0"/>
            <a:ext cx="12192000" cy="6858000"/>
          </a:xfrm>
          <a:prstGeom prst="rect">
            <a:avLst/>
          </a:prstGeom>
        </p:spPr>
      </p:pic>
      <p:sp>
        <p:nvSpPr>
          <p:cNvPr id="53" name="Shape 34"/>
          <p:cNvSpPr/>
          <p:nvPr/>
        </p:nvSpPr>
        <p:spPr>
          <a:xfrm>
            <a:off x="6430963" y="5072063"/>
            <a:ext cx="4816475" cy="752475"/>
          </a:xfrm>
          <a:prstGeom prst="roundRect">
            <a:avLst>
              <a:gd name="adj" fmla="val 12869"/>
            </a:avLst>
          </a:prstGeom>
          <a:solidFill>
            <a:srgbClr val="E0F2F8">
              <a:alpha val="70000"/>
            </a:srgbClr>
          </a:solidFill>
          <a:ln w="9525">
            <a:solidFill>
              <a:srgbClr val="36677D">
                <a:alpha val="50000"/>
              </a:srgbClr>
            </a:solidFill>
            <a:prstDash val="solid"/>
          </a:ln>
        </p:spPr>
      </p:sp>
      <p:sp>
        <p:nvSpPr>
          <p:cNvPr id="54" name="Text 35"/>
          <p:cNvSpPr/>
          <p:nvPr/>
        </p:nvSpPr>
        <p:spPr>
          <a:xfrm>
            <a:off x="6527800" y="5160863"/>
            <a:ext cx="3937943" cy="202853"/>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36677D"/>
                </a:solidFill>
                <a:latin typeface="Courier New" pitchFamily="49" charset="0"/>
                <a:ea typeface="Courier New" pitchFamily="49" charset="-122"/>
                <a:cs typeface="Courier New" pitchFamily="49" charset="-120"/>
              </a:rPr>
              <a:t>SKILLBOX · the same pipeline for procedures</a:t>
            </a:r>
            <a:endParaRPr lang="en-US" sz="1000" dirty="0"/>
          </a:p>
        </p:txBody>
      </p:sp>
      <p:sp>
        <p:nvSpPr>
          <p:cNvPr id="55" name="Text 36"/>
          <p:cNvSpPr/>
          <p:nvPr/>
        </p:nvSpPr>
        <p:spPr>
          <a:xfrm>
            <a:off x="6527800" y="5376416"/>
            <a:ext cx="4761484" cy="384721"/>
          </a:xfrm>
          <a:prstGeom prst="rect">
            <a:avLst/>
          </a:prstGeom>
          <a:noFill/>
          <a:ln/>
        </p:spPr>
        <p:txBody>
          <a:bodyPr wrap="square" lIns="0" tIns="0" rIns="0" bIns="0" rtlCol="0" anchor="t">
            <a:normAutofit/>
          </a:bodyPr>
          <a:lstStyle/>
          <a:p>
            <a:pPr algn="l" indent="0" marL="0">
              <a:lnSpc>
                <a:spcPts val="1418"/>
              </a:lnSpc>
              <a:buNone/>
            </a:pPr>
            <a:r>
              <a:rPr lang="en-US" sz="1050" dirty="0">
                <a:solidFill>
                  <a:srgbClr val="2D2D2D"/>
                </a:solidFill>
                <a:latin typeface="Arial" pitchFamily="34" charset="0"/>
                <a:ea typeface="Arial" pitchFamily="34" charset="-122"/>
                <a:cs typeface="Arial" pitchFamily="34" charset="-120"/>
              </a:rPr>
              <a:t>A skill is a stored workflow: steps, tools, checks, example triggers. Successful runs write new examples back.</a:t>
            </a:r>
            <a:endParaRPr lang="en-US" sz="1050" dirty="0"/>
          </a:p>
        </p:txBody>
      </p:sp>
      <p:sp>
        <p:nvSpPr>
          <p:cNvPr id="56" name="Text 37"/>
          <p:cNvSpPr/>
          <p:nvPr/>
        </p:nvSpPr>
        <p:spPr>
          <a:xfrm>
            <a:off x="812800" y="61087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2D2D"/>
                </a:solidFill>
                <a:latin typeface="Arial" pitchFamily="34" charset="0"/>
                <a:ea typeface="Arial" pitchFamily="34" charset="-122"/>
                <a:cs typeface="Arial" pitchFamily="34" charset="-120"/>
              </a:rPr>
              <a:t>Augmentation at ingest is where most of the retrieval quality comes from: the schema says what a tool does, the examples say when someone needs it.</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MEMORY ENGINEERING TECHNIQUE 3 · THE ROW</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What a tool looks like as a row in the database</a:t>
            </a:r>
            <a:endParaRPr lang="en-US" sz="2800" dirty="0"/>
          </a:p>
        </p:txBody>
      </p:sp>
      <p:sp>
        <p:nvSpPr>
          <p:cNvPr id="5" name="Shape 3"/>
          <p:cNvSpPr/>
          <p:nvPr/>
        </p:nvSpPr>
        <p:spPr>
          <a:xfrm>
            <a:off x="815975" y="1501775"/>
            <a:ext cx="10560050" cy="2787650"/>
          </a:xfrm>
          <a:prstGeom prst="roundRect">
            <a:avLst>
              <a:gd name="adj" fmla="val 4442"/>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6" name="Text 4"/>
          <p:cNvSpPr/>
          <p:nvPr/>
        </p:nvSpPr>
        <p:spPr>
          <a:xfrm>
            <a:off x="952500" y="1587550"/>
            <a:ext cx="1384300" cy="181471"/>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36677D"/>
                </a:solidFill>
                <a:latin typeface="Courier New" pitchFamily="49" charset="0"/>
                <a:ea typeface="Courier New" pitchFamily="49" charset="-122"/>
                <a:cs typeface="Courier New" pitchFamily="49" charset="-120"/>
              </a:rPr>
              <a:t>name</a:t>
            </a:r>
            <a:endParaRPr lang="en-US" sz="950" dirty="0"/>
          </a:p>
        </p:txBody>
      </p:sp>
      <p:sp>
        <p:nvSpPr>
          <p:cNvPr id="7" name="Text 5"/>
          <p:cNvSpPr/>
          <p:nvPr/>
        </p:nvSpPr>
        <p:spPr>
          <a:xfrm>
            <a:off x="2374900" y="1587550"/>
            <a:ext cx="2485390" cy="181471"/>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36677D"/>
                </a:solidFill>
                <a:latin typeface="Courier New" pitchFamily="49" charset="0"/>
                <a:ea typeface="Courier New" pitchFamily="49" charset="-122"/>
                <a:cs typeface="Courier New" pitchFamily="49" charset="-120"/>
              </a:rPr>
              <a:t>description · augmented</a:t>
            </a:r>
            <a:endParaRPr lang="en-US" sz="950" dirty="0"/>
          </a:p>
        </p:txBody>
      </p:sp>
      <p:sp>
        <p:nvSpPr>
          <p:cNvPr id="8" name="Text 6"/>
          <p:cNvSpPr/>
          <p:nvPr/>
        </p:nvSpPr>
        <p:spPr>
          <a:xfrm>
            <a:off x="4876800" y="1587550"/>
            <a:ext cx="1831340" cy="181471"/>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36677D"/>
                </a:solidFill>
                <a:latin typeface="Courier New" pitchFamily="49" charset="0"/>
                <a:ea typeface="Courier New" pitchFamily="49" charset="-122"/>
                <a:cs typeface="Courier New" pitchFamily="49" charset="-120"/>
              </a:rPr>
              <a:t>parameters</a:t>
            </a:r>
            <a:endParaRPr lang="en-US" sz="950" dirty="0"/>
          </a:p>
        </p:txBody>
      </p:sp>
      <p:sp>
        <p:nvSpPr>
          <p:cNvPr id="9" name="Text 7"/>
          <p:cNvSpPr/>
          <p:nvPr/>
        </p:nvSpPr>
        <p:spPr>
          <a:xfrm>
            <a:off x="6743700" y="1587550"/>
            <a:ext cx="2027555" cy="181471"/>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36677D"/>
                </a:solidFill>
                <a:latin typeface="Courier New" pitchFamily="49" charset="0"/>
                <a:ea typeface="Courier New" pitchFamily="49" charset="-122"/>
                <a:cs typeface="Courier New" pitchFamily="49" charset="-120"/>
              </a:rPr>
              <a:t>example_queries</a:t>
            </a:r>
            <a:endParaRPr lang="en-US" sz="950" dirty="0"/>
          </a:p>
        </p:txBody>
      </p:sp>
      <p:sp>
        <p:nvSpPr>
          <p:cNvPr id="10" name="Text 8"/>
          <p:cNvSpPr/>
          <p:nvPr/>
        </p:nvSpPr>
        <p:spPr>
          <a:xfrm>
            <a:off x="8801100" y="1587550"/>
            <a:ext cx="1130300" cy="181471"/>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36677D"/>
                </a:solidFill>
                <a:latin typeface="Courier New" pitchFamily="49" charset="0"/>
                <a:ea typeface="Courier New" pitchFamily="49" charset="-122"/>
                <a:cs typeface="Courier New" pitchFamily="49" charset="-120"/>
              </a:rPr>
              <a:t>vectors</a:t>
            </a:r>
            <a:endParaRPr lang="en-US" sz="950" dirty="0"/>
          </a:p>
        </p:txBody>
      </p:sp>
      <p:sp>
        <p:nvSpPr>
          <p:cNvPr id="11" name="Text 9"/>
          <p:cNvSpPr/>
          <p:nvPr/>
        </p:nvSpPr>
        <p:spPr>
          <a:xfrm>
            <a:off x="9969500" y="1587550"/>
            <a:ext cx="1257300" cy="181471"/>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36677D"/>
                </a:solidFill>
                <a:latin typeface="Courier New" pitchFamily="49" charset="0"/>
                <a:ea typeface="Courier New" pitchFamily="49" charset="-122"/>
                <a:cs typeface="Courier New" pitchFamily="49" charset="-120"/>
              </a:rPr>
              <a:t>governance</a:t>
            </a:r>
            <a:endParaRPr lang="en-US" sz="950" dirty="0"/>
          </a:p>
        </p:txBody>
      </p:sp>
      <p:sp>
        <p:nvSpPr>
          <p:cNvPr id="12" name="Shape 10"/>
          <p:cNvSpPr/>
          <p:nvPr/>
        </p:nvSpPr>
        <p:spPr>
          <a:xfrm>
            <a:off x="952500" y="1832521"/>
            <a:ext cx="10261600" cy="9525"/>
          </a:xfrm>
          <a:prstGeom prst="rect">
            <a:avLst/>
          </a:prstGeom>
          <a:solidFill>
            <a:srgbClr val="31535C">
              <a:alpha val="30000"/>
            </a:srgbClr>
          </a:solidFill>
          <a:ln/>
        </p:spPr>
      </p:sp>
      <p:sp>
        <p:nvSpPr>
          <p:cNvPr id="13" name="Text 11"/>
          <p:cNvSpPr/>
          <p:nvPr/>
        </p:nvSpPr>
        <p:spPr>
          <a:xfrm>
            <a:off x="952500" y="1930946"/>
            <a:ext cx="1384300" cy="182215"/>
          </a:xfrm>
          <a:prstGeom prst="rect">
            <a:avLst/>
          </a:prstGeom>
          <a:noFill/>
          <a:ln/>
        </p:spPr>
        <p:txBody>
          <a:bodyPr wrap="square" lIns="0" tIns="0" rIns="0" bIns="0" rtlCol="0" anchor="t">
            <a:normAutofit/>
          </a:bodyPr>
          <a:lstStyle/>
          <a:p>
            <a:pPr algn="l" indent="0" marL="0">
              <a:lnSpc>
                <a:spcPts val="1235"/>
              </a:lnSpc>
              <a:buNone/>
            </a:pPr>
            <a:r>
              <a:rPr lang="en-US" sz="950" b="1" dirty="0">
                <a:solidFill>
                  <a:srgbClr val="2D2D2D"/>
                </a:solidFill>
                <a:latin typeface="Courier New" pitchFamily="49" charset="0"/>
                <a:ea typeface="Courier New" pitchFamily="49" charset="-122"/>
                <a:cs typeface="Courier New" pitchFamily="49" charset="-120"/>
              </a:rPr>
              <a:t>get_order_status</a:t>
            </a:r>
            <a:endParaRPr lang="en-US" sz="950" dirty="0"/>
          </a:p>
        </p:txBody>
      </p:sp>
      <p:sp>
        <p:nvSpPr>
          <p:cNvPr id="14" name="Text 12"/>
          <p:cNvSpPr/>
          <p:nvPr/>
        </p:nvSpPr>
        <p:spPr>
          <a:xfrm>
            <a:off x="2374900" y="1930946"/>
            <a:ext cx="2485390" cy="685800"/>
          </a:xfrm>
          <a:prstGeom prst="rect">
            <a:avLst/>
          </a:prstGeom>
          <a:noFill/>
          <a:ln/>
        </p:spPr>
        <p:txBody>
          <a:bodyPr wrap="square" lIns="0" tIns="0" rIns="0" bIns="0" rtlCol="0" anchor="t">
            <a:normAutofit/>
          </a:bodyPr>
          <a:lstStyle/>
          <a:p>
            <a:pPr algn="l" indent="0" marL="0">
              <a:lnSpc>
                <a:spcPts val="1300"/>
              </a:lnSpc>
              <a:buNone/>
            </a:pPr>
            <a:r>
              <a:rPr lang="en-US" sz="1000" dirty="0">
                <a:solidFill>
                  <a:srgbClr val="2D2D2D"/>
                </a:solidFill>
                <a:latin typeface="Arial" pitchFamily="34" charset="0"/>
                <a:ea typeface="Arial" pitchFamily="34" charset="-122"/>
                <a:cs typeface="Arial" pitchFamily="34" charset="-120"/>
              </a:rPr>
              <a:t>Returns the status and ETA of one order. Use when the user asks where an order is. Not for refunds or changes. Needs an order id.</a:t>
            </a:r>
            <a:endParaRPr lang="en-US" sz="1000" dirty="0"/>
          </a:p>
        </p:txBody>
      </p:sp>
      <p:sp>
        <p:nvSpPr>
          <p:cNvPr id="15" name="Text 13"/>
          <p:cNvSpPr/>
          <p:nvPr/>
        </p:nvSpPr>
        <p:spPr>
          <a:xfrm>
            <a:off x="4876800" y="1930946"/>
            <a:ext cx="1831340" cy="182215"/>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2D2D2D"/>
                </a:solidFill>
                <a:latin typeface="Courier New" pitchFamily="49" charset="0"/>
                <a:ea typeface="Courier New" pitchFamily="49" charset="-122"/>
                <a:cs typeface="Courier New" pitchFamily="49" charset="-120"/>
              </a:rPr>
              <a:t>{"order_id": "string"}</a:t>
            </a:r>
            <a:endParaRPr lang="en-US" sz="950" dirty="0"/>
          </a:p>
        </p:txBody>
      </p:sp>
      <p:sp>
        <p:nvSpPr>
          <p:cNvPr id="16" name="Text 14"/>
          <p:cNvSpPr/>
          <p:nvPr/>
        </p:nvSpPr>
        <p:spPr>
          <a:xfrm>
            <a:off x="6743700" y="1930946"/>
            <a:ext cx="2027555" cy="49584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2D2D2D"/>
                </a:solidFill>
                <a:latin typeface="Courier New" pitchFamily="49" charset="0"/>
                <a:ea typeface="Courier New" pitchFamily="49" charset="-122"/>
                <a:cs typeface="Courier New" pitchFamily="49" charset="-120"/>
              </a:rPr>
              <a:t>"where is my order?"</a:t>
            </a:r>
            <a:endParaRPr lang="en-US" sz="950" dirty="0"/>
          </a:p>
          <a:p>
            <a:pPr algn="l" indent="0" marL="0">
              <a:lnSpc>
                <a:spcPts val="1235"/>
              </a:lnSpc>
              <a:buNone/>
            </a:pPr>
            <a:r>
              <a:rPr lang="en-US" sz="950" dirty="0">
                <a:solidFill>
                  <a:srgbClr val="2D2D2D"/>
                </a:solidFill>
                <a:latin typeface="Courier New" pitchFamily="49" charset="0"/>
                <a:ea typeface="Courier New" pitchFamily="49" charset="-122"/>
                <a:cs typeface="Courier New" pitchFamily="49" charset="-120"/>
              </a:rPr>
              <a:t>"has 4471 shipped?" · 14 more</a:t>
            </a:r>
            <a:endParaRPr lang="en-US" sz="950" dirty="0"/>
          </a:p>
        </p:txBody>
      </p:sp>
      <p:sp>
        <p:nvSpPr>
          <p:cNvPr id="17" name="Text 15"/>
          <p:cNvSpPr/>
          <p:nvPr/>
        </p:nvSpPr>
        <p:spPr>
          <a:xfrm>
            <a:off x="8801100" y="1930946"/>
            <a:ext cx="1130300" cy="49584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6B6B6B"/>
                </a:solidFill>
                <a:latin typeface="Courier New" pitchFamily="49" charset="0"/>
                <a:ea typeface="Courier New" pitchFamily="49" charset="-122"/>
                <a:cs typeface="Courier New" pitchFamily="49" charset="-120"/>
              </a:rPr>
              <a:t>schema_vec · 15 example_vecs</a:t>
            </a:r>
            <a:endParaRPr lang="en-US" sz="950" dirty="0"/>
          </a:p>
        </p:txBody>
      </p:sp>
      <p:sp>
        <p:nvSpPr>
          <p:cNvPr id="18" name="Text 16"/>
          <p:cNvSpPr/>
          <p:nvPr/>
        </p:nvSpPr>
        <p:spPr>
          <a:xfrm>
            <a:off x="9969500" y="1930946"/>
            <a:ext cx="1257300" cy="652661"/>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6B6B6B"/>
                </a:solidFill>
                <a:latin typeface="Courier New" pitchFamily="49" charset="0"/>
                <a:ea typeface="Courier New" pitchFamily="49" charset="-122"/>
                <a:cs typeface="Courier New" pitchFamily="49" charset="-120"/>
              </a:rPr>
              <a:t>v3 · owner: commerce · risk: low · scope: support</a:t>
            </a:r>
            <a:endParaRPr lang="en-US" sz="950" dirty="0"/>
          </a:p>
        </p:txBody>
      </p:sp>
      <p:sp>
        <p:nvSpPr>
          <p:cNvPr id="19" name="Text 17"/>
          <p:cNvSpPr/>
          <p:nvPr/>
        </p:nvSpPr>
        <p:spPr>
          <a:xfrm>
            <a:off x="952500" y="2677120"/>
            <a:ext cx="1384300" cy="182215"/>
          </a:xfrm>
          <a:prstGeom prst="rect">
            <a:avLst/>
          </a:prstGeom>
          <a:noFill/>
          <a:ln/>
        </p:spPr>
        <p:txBody>
          <a:bodyPr wrap="square" lIns="0" tIns="0" rIns="0" bIns="0" rtlCol="0" anchor="t">
            <a:normAutofit/>
          </a:bodyPr>
          <a:lstStyle/>
          <a:p>
            <a:pPr algn="l" indent="0" marL="0">
              <a:lnSpc>
                <a:spcPts val="1235"/>
              </a:lnSpc>
              <a:buNone/>
            </a:pPr>
            <a:r>
              <a:rPr lang="en-US" sz="950" b="1" dirty="0">
                <a:solidFill>
                  <a:srgbClr val="2D2D2D"/>
                </a:solidFill>
                <a:latin typeface="Courier New" pitchFamily="49" charset="0"/>
                <a:ea typeface="Courier New" pitchFamily="49" charset="-122"/>
                <a:cs typeface="Courier New" pitchFamily="49" charset="-120"/>
              </a:rPr>
              <a:t>refund_order</a:t>
            </a:r>
            <a:endParaRPr lang="en-US" sz="950" dirty="0"/>
          </a:p>
        </p:txBody>
      </p:sp>
      <p:sp>
        <p:nvSpPr>
          <p:cNvPr id="20" name="Text 18"/>
          <p:cNvSpPr/>
          <p:nvPr/>
        </p:nvSpPr>
        <p:spPr>
          <a:xfrm>
            <a:off x="2374900" y="2677120"/>
            <a:ext cx="2485390" cy="520700"/>
          </a:xfrm>
          <a:prstGeom prst="rect">
            <a:avLst/>
          </a:prstGeom>
          <a:noFill/>
          <a:ln/>
        </p:spPr>
        <p:txBody>
          <a:bodyPr wrap="square" lIns="0" tIns="0" rIns="0" bIns="0" rtlCol="0" anchor="t">
            <a:normAutofit/>
          </a:bodyPr>
          <a:lstStyle/>
          <a:p>
            <a:pPr algn="l" indent="0" marL="0">
              <a:lnSpc>
                <a:spcPts val="1300"/>
              </a:lnSpc>
              <a:buNone/>
            </a:pPr>
            <a:r>
              <a:rPr lang="en-US" sz="1000" dirty="0">
                <a:solidFill>
                  <a:srgbClr val="2D2D2D"/>
                </a:solidFill>
                <a:latin typeface="Arial" pitchFamily="34" charset="0"/>
                <a:ea typeface="Arial" pitchFamily="34" charset="-122"/>
                <a:cs typeface="Arial" pitchFamily="34" charset="-120"/>
              </a:rPr>
              <a:t>Issues a refund for a delivered order. Use only after eligibility is confirmed. Never for orders in transit. Returns a refund id.</a:t>
            </a:r>
            <a:endParaRPr lang="en-US" sz="1000" dirty="0"/>
          </a:p>
        </p:txBody>
      </p:sp>
      <p:sp>
        <p:nvSpPr>
          <p:cNvPr id="21" name="Text 19"/>
          <p:cNvSpPr/>
          <p:nvPr/>
        </p:nvSpPr>
        <p:spPr>
          <a:xfrm>
            <a:off x="4876800" y="2677120"/>
            <a:ext cx="1831340" cy="339030"/>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2D2D2D"/>
                </a:solidFill>
                <a:latin typeface="Courier New" pitchFamily="49" charset="0"/>
                <a:ea typeface="Courier New" pitchFamily="49" charset="-122"/>
                <a:cs typeface="Courier New" pitchFamily="49" charset="-120"/>
              </a:rPr>
              <a:t>{"order_id": "string", "amount": "number"}</a:t>
            </a:r>
            <a:endParaRPr lang="en-US" sz="950" dirty="0"/>
          </a:p>
        </p:txBody>
      </p:sp>
      <p:sp>
        <p:nvSpPr>
          <p:cNvPr id="22" name="Text 20"/>
          <p:cNvSpPr/>
          <p:nvPr/>
        </p:nvSpPr>
        <p:spPr>
          <a:xfrm>
            <a:off x="6743700" y="2677120"/>
            <a:ext cx="2027555" cy="49584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2D2D2D"/>
                </a:solidFill>
                <a:latin typeface="Courier New" pitchFamily="49" charset="0"/>
                <a:ea typeface="Courier New" pitchFamily="49" charset="-122"/>
                <a:cs typeface="Courier New" pitchFamily="49" charset="-120"/>
              </a:rPr>
              <a:t>"I want my money back"</a:t>
            </a:r>
            <a:endParaRPr lang="en-US" sz="950" dirty="0"/>
          </a:p>
          <a:p>
            <a:pPr algn="l" indent="0" marL="0">
              <a:lnSpc>
                <a:spcPts val="1235"/>
              </a:lnSpc>
              <a:buNone/>
            </a:pPr>
            <a:r>
              <a:rPr lang="en-US" sz="950" dirty="0">
                <a:solidFill>
                  <a:srgbClr val="2D2D2D"/>
                </a:solidFill>
                <a:latin typeface="Courier New" pitchFamily="49" charset="0"/>
                <a:ea typeface="Courier New" pitchFamily="49" charset="-122"/>
                <a:cs typeface="Courier New" pitchFamily="49" charset="-120"/>
              </a:rPr>
              <a:t>"refund order 4471" · 11 more</a:t>
            </a:r>
            <a:endParaRPr lang="en-US" sz="950" dirty="0"/>
          </a:p>
        </p:txBody>
      </p:sp>
      <p:sp>
        <p:nvSpPr>
          <p:cNvPr id="23" name="Text 21"/>
          <p:cNvSpPr/>
          <p:nvPr/>
        </p:nvSpPr>
        <p:spPr>
          <a:xfrm>
            <a:off x="8801100" y="2677120"/>
            <a:ext cx="1130300" cy="49584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6B6B6B"/>
                </a:solidFill>
                <a:latin typeface="Courier New" pitchFamily="49" charset="0"/>
                <a:ea typeface="Courier New" pitchFamily="49" charset="-122"/>
                <a:cs typeface="Courier New" pitchFamily="49" charset="-120"/>
              </a:rPr>
              <a:t>schema_vec · 12 example_vecs</a:t>
            </a:r>
            <a:endParaRPr lang="en-US" sz="950" dirty="0"/>
          </a:p>
        </p:txBody>
      </p:sp>
      <p:sp>
        <p:nvSpPr>
          <p:cNvPr id="24" name="Text 22"/>
          <p:cNvSpPr/>
          <p:nvPr/>
        </p:nvSpPr>
        <p:spPr>
          <a:xfrm>
            <a:off x="9969500" y="2677120"/>
            <a:ext cx="1257300" cy="80947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6B6B6B"/>
                </a:solidFill>
                <a:latin typeface="Courier New" pitchFamily="49" charset="0"/>
                <a:ea typeface="Courier New" pitchFamily="49" charset="-122"/>
                <a:cs typeface="Courier New" pitchFamily="49" charset="-120"/>
              </a:rPr>
              <a:t>v5 · owner: payments · risk: high · scope: support, approved</a:t>
            </a:r>
            <a:endParaRPr lang="en-US" sz="950" dirty="0"/>
          </a:p>
        </p:txBody>
      </p:sp>
      <p:sp>
        <p:nvSpPr>
          <p:cNvPr id="25" name="Text 23"/>
          <p:cNvSpPr/>
          <p:nvPr/>
        </p:nvSpPr>
        <p:spPr>
          <a:xfrm>
            <a:off x="952500" y="3546376"/>
            <a:ext cx="1384300" cy="182215"/>
          </a:xfrm>
          <a:prstGeom prst="rect">
            <a:avLst/>
          </a:prstGeom>
          <a:noFill/>
          <a:ln/>
        </p:spPr>
        <p:txBody>
          <a:bodyPr wrap="square" lIns="0" tIns="0" rIns="0" bIns="0" rtlCol="0" anchor="t">
            <a:normAutofit/>
          </a:bodyPr>
          <a:lstStyle/>
          <a:p>
            <a:pPr algn="l" indent="0" marL="0">
              <a:lnSpc>
                <a:spcPts val="1235"/>
              </a:lnSpc>
              <a:buNone/>
            </a:pPr>
            <a:r>
              <a:rPr lang="en-US" sz="950" b="1" dirty="0">
                <a:solidFill>
                  <a:srgbClr val="2D2D2D"/>
                </a:solidFill>
                <a:latin typeface="Courier New" pitchFamily="49" charset="0"/>
                <a:ea typeface="Courier New" pitchFamily="49" charset="-122"/>
                <a:cs typeface="Courier New" pitchFamily="49" charset="-120"/>
              </a:rPr>
              <a:t>search_kb</a:t>
            </a:r>
            <a:endParaRPr lang="en-US" sz="950" dirty="0"/>
          </a:p>
        </p:txBody>
      </p:sp>
      <p:sp>
        <p:nvSpPr>
          <p:cNvPr id="26" name="Text 24"/>
          <p:cNvSpPr/>
          <p:nvPr/>
        </p:nvSpPr>
        <p:spPr>
          <a:xfrm>
            <a:off x="2374900" y="3546376"/>
            <a:ext cx="2485390" cy="685800"/>
          </a:xfrm>
          <a:prstGeom prst="rect">
            <a:avLst/>
          </a:prstGeom>
          <a:noFill/>
          <a:ln/>
        </p:spPr>
        <p:txBody>
          <a:bodyPr wrap="square" lIns="0" tIns="0" rIns="0" bIns="0" rtlCol="0" anchor="t">
            <a:normAutofit/>
          </a:bodyPr>
          <a:lstStyle/>
          <a:p>
            <a:pPr algn="l" indent="0" marL="0">
              <a:lnSpc>
                <a:spcPts val="1300"/>
              </a:lnSpc>
              <a:buNone/>
            </a:pPr>
            <a:r>
              <a:rPr lang="en-US" sz="1000" dirty="0">
                <a:solidFill>
                  <a:srgbClr val="2D2D2D"/>
                </a:solidFill>
                <a:latin typeface="Arial" pitchFamily="34" charset="0"/>
                <a:ea typeface="Arial" pitchFamily="34" charset="-122"/>
                <a:cs typeface="Arial" pitchFamily="34" charset="-120"/>
              </a:rPr>
              <a:t>Searches the product knowledge base. Use for how-to and policy questions. Not for account data. Returns passages with citations.</a:t>
            </a:r>
            <a:endParaRPr lang="en-US" sz="1000" dirty="0"/>
          </a:p>
        </p:txBody>
      </p:sp>
      <p:sp>
        <p:nvSpPr>
          <p:cNvPr id="27" name="Text 25"/>
          <p:cNvSpPr/>
          <p:nvPr/>
        </p:nvSpPr>
        <p:spPr>
          <a:xfrm>
            <a:off x="4876800" y="3546376"/>
            <a:ext cx="1831340" cy="339030"/>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2D2D2D"/>
                </a:solidFill>
                <a:latin typeface="Courier New" pitchFamily="49" charset="0"/>
                <a:ea typeface="Courier New" pitchFamily="49" charset="-122"/>
                <a:cs typeface="Courier New" pitchFamily="49" charset="-120"/>
              </a:rPr>
              <a:t>{"query": "string", "k": "int"}</a:t>
            </a:r>
            <a:endParaRPr lang="en-US" sz="950" dirty="0"/>
          </a:p>
        </p:txBody>
      </p:sp>
      <p:sp>
        <p:nvSpPr>
          <p:cNvPr id="28" name="Text 26"/>
          <p:cNvSpPr/>
          <p:nvPr/>
        </p:nvSpPr>
        <p:spPr>
          <a:xfrm>
            <a:off x="6743700" y="3546376"/>
            <a:ext cx="2027555" cy="652661"/>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2D2D2D"/>
                </a:solidFill>
                <a:latin typeface="Courier New" pitchFamily="49" charset="0"/>
                <a:ea typeface="Courier New" pitchFamily="49" charset="-122"/>
                <a:cs typeface="Courier New" pitchFamily="49" charset="-120"/>
              </a:rPr>
              <a:t>"how do I reset the device?"</a:t>
            </a:r>
            <a:endParaRPr lang="en-US" sz="950" dirty="0"/>
          </a:p>
          <a:p>
            <a:pPr algn="l" indent="0" marL="0">
              <a:lnSpc>
                <a:spcPts val="1235"/>
              </a:lnSpc>
              <a:buNone/>
            </a:pPr>
            <a:r>
              <a:rPr lang="en-US" sz="950" dirty="0">
                <a:solidFill>
                  <a:srgbClr val="2D2D2D"/>
                </a:solidFill>
                <a:latin typeface="Courier New" pitchFamily="49" charset="0"/>
                <a:ea typeface="Courier New" pitchFamily="49" charset="-122"/>
                <a:cs typeface="Courier New" pitchFamily="49" charset="-120"/>
              </a:rPr>
              <a:t>"what is the return window?" · 18 more</a:t>
            </a:r>
            <a:endParaRPr lang="en-US" sz="950" dirty="0"/>
          </a:p>
        </p:txBody>
      </p:sp>
      <p:sp>
        <p:nvSpPr>
          <p:cNvPr id="29" name="Text 27"/>
          <p:cNvSpPr/>
          <p:nvPr/>
        </p:nvSpPr>
        <p:spPr>
          <a:xfrm>
            <a:off x="8801100" y="3546376"/>
            <a:ext cx="1130300" cy="49584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6B6B6B"/>
                </a:solidFill>
                <a:latin typeface="Courier New" pitchFamily="49" charset="0"/>
                <a:ea typeface="Courier New" pitchFamily="49" charset="-122"/>
                <a:cs typeface="Courier New" pitchFamily="49" charset="-120"/>
              </a:rPr>
              <a:t>schema_vec · 20 example_vecs</a:t>
            </a:r>
            <a:endParaRPr lang="en-US" sz="950" dirty="0"/>
          </a:p>
        </p:txBody>
      </p:sp>
      <p:sp>
        <p:nvSpPr>
          <p:cNvPr id="30" name="Text 28"/>
          <p:cNvSpPr/>
          <p:nvPr/>
        </p:nvSpPr>
        <p:spPr>
          <a:xfrm>
            <a:off x="9969500" y="3546376"/>
            <a:ext cx="1257300" cy="495846"/>
          </a:xfrm>
          <a:prstGeom prst="rect">
            <a:avLst/>
          </a:prstGeom>
          <a:noFill/>
          <a:ln/>
        </p:spPr>
        <p:txBody>
          <a:bodyPr wrap="square" lIns="0" tIns="0" rIns="0" bIns="0" rtlCol="0" anchor="t">
            <a:normAutofit/>
          </a:bodyPr>
          <a:lstStyle/>
          <a:p>
            <a:pPr algn="l" indent="0" marL="0">
              <a:lnSpc>
                <a:spcPts val="1235"/>
              </a:lnSpc>
              <a:buNone/>
            </a:pPr>
            <a:r>
              <a:rPr lang="en-US" sz="950" dirty="0">
                <a:solidFill>
                  <a:srgbClr val="6B6B6B"/>
                </a:solidFill>
                <a:latin typeface="Courier New" pitchFamily="49" charset="0"/>
                <a:ea typeface="Courier New" pitchFamily="49" charset="-122"/>
                <a:cs typeface="Courier New" pitchFamily="49" charset="-120"/>
              </a:rPr>
              <a:t>v2 · owner: docs · risk: low · scope: any</a:t>
            </a:r>
            <a:endParaRPr lang="en-US" sz="950" dirty="0"/>
          </a:p>
        </p:txBody>
      </p:sp>
      <p:sp>
        <p:nvSpPr>
          <p:cNvPr id="31" name="Shape 29"/>
          <p:cNvSpPr/>
          <p:nvPr/>
        </p:nvSpPr>
        <p:spPr>
          <a:xfrm>
            <a:off x="815975" y="4384675"/>
            <a:ext cx="10560050" cy="1657350"/>
          </a:xfrm>
          <a:prstGeom prst="roundRect">
            <a:avLst>
              <a:gd name="adj" fmla="val 6705"/>
            </a:avLst>
          </a:prstGeom>
          <a:solidFill>
            <a:srgbClr val="1E2A2A"/>
          </a:solidFill>
          <a:ln w="6350">
            <a:solidFill>
              <a:srgbClr val="1E2A2A"/>
            </a:solidFill>
            <a:prstDash val="solid"/>
          </a:ln>
        </p:spPr>
      </p:sp>
      <p:sp>
        <p:nvSpPr>
          <p:cNvPr id="32" name="Text 30"/>
          <p:cNvSpPr/>
          <p:nvPr/>
        </p:nvSpPr>
        <p:spPr>
          <a:xfrm>
            <a:off x="927100" y="4460429"/>
            <a:ext cx="1727498" cy="202555"/>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F2EFEA"/>
                </a:solidFill>
                <a:latin typeface="Courier New" pitchFamily="49" charset="0"/>
                <a:ea typeface="Courier New" pitchFamily="49" charset="-122"/>
                <a:cs typeface="Courier New" pitchFamily="49" charset="-120"/>
              </a:rPr>
              <a:t>CREATE TABLE toolbox (</a:t>
            </a:r>
            <a:endParaRPr lang="en-US" sz="1000" dirty="0"/>
          </a:p>
        </p:txBody>
      </p:sp>
      <p:sp>
        <p:nvSpPr>
          <p:cNvPr id="33" name="Text 31"/>
          <p:cNvSpPr/>
          <p:nvPr/>
        </p:nvSpPr>
        <p:spPr>
          <a:xfrm>
            <a:off x="927100" y="4650284"/>
            <a:ext cx="3218488" cy="202505"/>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F2EFEA"/>
                </a:solidFill>
                <a:latin typeface="Courier New" pitchFamily="49" charset="0"/>
                <a:ea typeface="Courier New" pitchFamily="49" charset="-122"/>
                <a:cs typeface="Courier New" pitchFamily="49" charset="-120"/>
              </a:rPr>
              <a:t>  tool_id       VARCHAR2(64) PRIMARY KEY,</a:t>
            </a:r>
            <a:endParaRPr lang="en-US" sz="1000" dirty="0"/>
          </a:p>
        </p:txBody>
      </p:sp>
      <p:sp>
        <p:nvSpPr>
          <p:cNvPr id="34" name="Text 32"/>
          <p:cNvSpPr/>
          <p:nvPr/>
        </p:nvSpPr>
        <p:spPr>
          <a:xfrm>
            <a:off x="927100" y="4840089"/>
            <a:ext cx="7928415" cy="202505"/>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F2EFEA"/>
                </a:solidFill>
                <a:latin typeface="Courier New" pitchFamily="49" charset="0"/>
                <a:ea typeface="Courier New" pitchFamily="49" charset="-122"/>
                <a:cs typeface="Courier New" pitchFamily="49" charset="-120"/>
              </a:rPr>
              <a:t>  name          VARCHAR2(128),  version NUMBER,  owner VARCHAR2(64),  risk VARCHAR2(16),  scope JSON,</a:t>
            </a:r>
            <a:endParaRPr lang="en-US" sz="1000" dirty="0"/>
          </a:p>
        </p:txBody>
      </p:sp>
      <p:sp>
        <p:nvSpPr>
          <p:cNvPr id="35" name="Text 33"/>
          <p:cNvSpPr/>
          <p:nvPr/>
        </p:nvSpPr>
        <p:spPr>
          <a:xfrm>
            <a:off x="927100" y="5029895"/>
            <a:ext cx="5887421" cy="202505"/>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F2EFEA"/>
                </a:solidFill>
                <a:latin typeface="Courier New" pitchFamily="49" charset="0"/>
                <a:ea typeface="Courier New" pitchFamily="49" charset="-122"/>
                <a:cs typeface="Courier New" pitchFamily="49" charset="-120"/>
              </a:rPr>
              <a:t>  schema        JSON,                      -- name, description, parameters</a:t>
            </a:r>
            <a:endParaRPr lang="en-US" sz="1000" dirty="0"/>
          </a:p>
        </p:txBody>
      </p:sp>
      <p:sp>
        <p:nvSpPr>
          <p:cNvPr id="36" name="Text 34"/>
          <p:cNvSpPr/>
          <p:nvPr/>
        </p:nvSpPr>
        <p:spPr>
          <a:xfrm>
            <a:off x="927100" y="5219700"/>
            <a:ext cx="5573426" cy="202505"/>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F2EFEA"/>
                </a:solidFill>
                <a:latin typeface="Courier New" pitchFamily="49" charset="0"/>
                <a:ea typeface="Courier New" pitchFamily="49" charset="-122"/>
                <a:cs typeface="Courier New" pitchFamily="49" charset="-120"/>
              </a:rPr>
              <a:t>  description   CLOB,                      -- the augmented description</a:t>
            </a:r>
            <a:endParaRPr lang="en-US" sz="1000" dirty="0"/>
          </a:p>
        </p:txBody>
      </p:sp>
      <p:sp>
        <p:nvSpPr>
          <p:cNvPr id="37" name="Text 35"/>
          <p:cNvSpPr/>
          <p:nvPr/>
        </p:nvSpPr>
        <p:spPr>
          <a:xfrm>
            <a:off x="927100" y="5409505"/>
            <a:ext cx="5887421" cy="202505"/>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F2EFEA"/>
                </a:solidFill>
                <a:latin typeface="Courier New" pitchFamily="49" charset="0"/>
                <a:ea typeface="Courier New" pitchFamily="49" charset="-122"/>
                <a:cs typeface="Courier New" pitchFamily="49" charset="-120"/>
              </a:rPr>
              <a:t>  examples      JSON,                      -- the example queries, reviewed</a:t>
            </a:r>
            <a:endParaRPr lang="en-US" sz="1000" dirty="0"/>
          </a:p>
        </p:txBody>
      </p:sp>
      <p:sp>
        <p:nvSpPr>
          <p:cNvPr id="38" name="Text 36"/>
          <p:cNvSpPr/>
          <p:nvPr/>
        </p:nvSpPr>
        <p:spPr>
          <a:xfrm>
            <a:off x="927100" y="5599311"/>
            <a:ext cx="7849877" cy="202505"/>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F2EFEA"/>
                </a:solidFill>
                <a:latin typeface="Courier New" pitchFamily="49" charset="0"/>
                <a:ea typeface="Courier New" pitchFamily="49" charset="-122"/>
                <a:cs typeface="Courier New" pitchFamily="49" charset="-120"/>
              </a:rPr>
              <a:t>  schema_vec    VECTOR(768, FLOAT32),      -- the schema embedding; example vectors in a child table</a:t>
            </a:r>
            <a:endParaRPr lang="en-US" sz="1000" dirty="0"/>
          </a:p>
        </p:txBody>
      </p:sp>
      <p:sp>
        <p:nvSpPr>
          <p:cNvPr id="39" name="Text 37"/>
          <p:cNvSpPr/>
          <p:nvPr/>
        </p:nvSpPr>
        <p:spPr>
          <a:xfrm>
            <a:off x="927100" y="5789116"/>
            <a:ext cx="6044444" cy="202505"/>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F2EFEA"/>
                </a:solidFill>
                <a:latin typeface="Courier New" pitchFamily="49" charset="0"/>
                <a:ea typeface="Courier New" pitchFamily="49" charset="-122"/>
                <a:cs typeface="Courier New" pitchFamily="49" charset="-120"/>
              </a:rPr>
              <a:t>);  -- plus a vector index on the vectors and a text index on the description</a:t>
            </a:r>
            <a:endParaRPr lang="en-US" sz="1000" dirty="0"/>
          </a:p>
        </p:txBody>
      </p:sp>
      <p:sp>
        <p:nvSpPr>
          <p:cNvPr id="40" name="Text 3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The rest of the memory engineering toolbox</a:t>
            </a:r>
            <a:endParaRPr lang="en-US" sz="2800" dirty="0"/>
          </a:p>
        </p:txBody>
      </p:sp>
      <p:sp>
        <p:nvSpPr>
          <p:cNvPr id="4" name="Shape 2"/>
          <p:cNvSpPr/>
          <p:nvPr/>
        </p:nvSpPr>
        <p:spPr>
          <a:xfrm>
            <a:off x="817563" y="1503363"/>
            <a:ext cx="3375025" cy="1704975"/>
          </a:xfrm>
          <a:prstGeom prst="roundRect">
            <a:avLst>
              <a:gd name="adj" fmla="val 8659"/>
            </a:avLst>
          </a:prstGeom>
          <a:solidFill>
            <a:srgbClr val="FFFFFF">
              <a:alpha val="6000"/>
            </a:srgbClr>
          </a:solidFill>
          <a:ln w="9525">
            <a:solidFill>
              <a:srgbClr val="FFFFFF">
                <a:alpha val="18000"/>
              </a:srgbClr>
            </a:solidFill>
            <a:prstDash val="solid"/>
          </a:ln>
        </p:spPr>
      </p:sp>
      <p:sp>
        <p:nvSpPr>
          <p:cNvPr id="5" name="Text 3"/>
          <p:cNvSpPr/>
          <p:nvPr/>
        </p:nvSpPr>
        <p:spPr>
          <a:xfrm>
            <a:off x="1041400" y="1736725"/>
            <a:ext cx="1487388"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CONSOLIDATION</a:t>
            </a:r>
            <a:endParaRPr lang="en-US" sz="1200" dirty="0"/>
          </a:p>
        </p:txBody>
      </p:sp>
      <p:sp>
        <p:nvSpPr>
          <p:cNvPr id="6" name="Text 4"/>
          <p:cNvSpPr/>
          <p:nvPr/>
        </p:nvSpPr>
        <p:spPr>
          <a:xfrm>
            <a:off x="1041400" y="2051645"/>
            <a:ext cx="3015171"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2EFEA"/>
                </a:solidFill>
                <a:latin typeface="Arial" pitchFamily="34" charset="0"/>
                <a:ea typeface="Arial" pitchFamily="34" charset="-122"/>
                <a:cs typeface="Arial" pitchFamily="34" charset="-120"/>
              </a:rPr>
              <a:t>Merge near-duplicates into one memory, keep the provenance of each source.</a:t>
            </a:r>
            <a:endParaRPr lang="en-US" sz="1400" dirty="0"/>
          </a:p>
        </p:txBody>
      </p:sp>
      <p:sp>
        <p:nvSpPr>
          <p:cNvPr id="7" name="Shape 5"/>
          <p:cNvSpPr/>
          <p:nvPr/>
        </p:nvSpPr>
        <p:spPr>
          <a:xfrm>
            <a:off x="4405313" y="1503363"/>
            <a:ext cx="3375025" cy="1704975"/>
          </a:xfrm>
          <a:prstGeom prst="roundRect">
            <a:avLst>
              <a:gd name="adj" fmla="val 8659"/>
            </a:avLst>
          </a:prstGeom>
          <a:solidFill>
            <a:srgbClr val="FFFFFF">
              <a:alpha val="6000"/>
            </a:srgbClr>
          </a:solidFill>
          <a:ln w="9525">
            <a:solidFill>
              <a:srgbClr val="FFFFFF">
                <a:alpha val="18000"/>
              </a:srgbClr>
            </a:solidFill>
            <a:prstDash val="solid"/>
          </a:ln>
        </p:spPr>
      </p:sp>
      <p:sp>
        <p:nvSpPr>
          <p:cNvPr id="8" name="Text 6"/>
          <p:cNvSpPr/>
          <p:nvPr/>
        </p:nvSpPr>
        <p:spPr>
          <a:xfrm>
            <a:off x="4629150" y="1736725"/>
            <a:ext cx="2162606"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CONFLICT RESOLUTION</a:t>
            </a:r>
            <a:endParaRPr lang="en-US" sz="1200" dirty="0"/>
          </a:p>
        </p:txBody>
      </p:sp>
      <p:sp>
        <p:nvSpPr>
          <p:cNvPr id="9" name="Text 7"/>
          <p:cNvSpPr/>
          <p:nvPr/>
        </p:nvSpPr>
        <p:spPr>
          <a:xfrm>
            <a:off x="4629150" y="2051645"/>
            <a:ext cx="3015171"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2EFEA"/>
                </a:solidFill>
                <a:latin typeface="Arial" pitchFamily="34" charset="0"/>
                <a:ea typeface="Arial" pitchFamily="34" charset="-122"/>
                <a:cs typeface="Arial" pitchFamily="34" charset="-120"/>
              </a:rPr>
              <a:t>Newest wins by default, with the old value kept as history, not overwritten.</a:t>
            </a:r>
            <a:endParaRPr lang="en-US" sz="1400" dirty="0"/>
          </a:p>
        </p:txBody>
      </p:sp>
      <p:sp>
        <p:nvSpPr>
          <p:cNvPr id="10" name="Shape 8"/>
          <p:cNvSpPr/>
          <p:nvPr/>
        </p:nvSpPr>
        <p:spPr>
          <a:xfrm>
            <a:off x="7993063" y="1503363"/>
            <a:ext cx="3381375" cy="1704975"/>
          </a:xfrm>
          <a:prstGeom prst="roundRect">
            <a:avLst>
              <a:gd name="adj" fmla="val 8659"/>
            </a:avLst>
          </a:prstGeom>
          <a:solidFill>
            <a:srgbClr val="FFFFFF">
              <a:alpha val="6000"/>
            </a:srgbClr>
          </a:solidFill>
          <a:ln w="9525">
            <a:solidFill>
              <a:srgbClr val="FFFFFF">
                <a:alpha val="18000"/>
              </a:srgbClr>
            </a:solidFill>
            <a:prstDash val="solid"/>
          </a:ln>
        </p:spPr>
      </p:sp>
      <p:sp>
        <p:nvSpPr>
          <p:cNvPr id="11" name="Text 9"/>
          <p:cNvSpPr/>
          <p:nvPr/>
        </p:nvSpPr>
        <p:spPr>
          <a:xfrm>
            <a:off x="8216900" y="1736725"/>
            <a:ext cx="82435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SCOPING</a:t>
            </a:r>
            <a:endParaRPr lang="en-US" sz="1200" dirty="0"/>
          </a:p>
        </p:txBody>
      </p:sp>
      <p:sp>
        <p:nvSpPr>
          <p:cNvPr id="12" name="Text 10"/>
          <p:cNvSpPr/>
          <p:nvPr/>
        </p:nvSpPr>
        <p:spPr>
          <a:xfrm>
            <a:off x="8216900" y="2051645"/>
            <a:ext cx="3021711"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2EFEA"/>
                </a:solidFill>
                <a:latin typeface="Arial" pitchFamily="34" charset="0"/>
                <a:ea typeface="Arial" pitchFamily="34" charset="-122"/>
                <a:cs typeface="Arial" pitchFamily="34" charset="-120"/>
              </a:rPr>
              <a:t>User, agent, thread, tenant. Scope filters the pool before anything is ranked.</a:t>
            </a:r>
            <a:endParaRPr lang="en-US" sz="1400" dirty="0"/>
          </a:p>
        </p:txBody>
      </p:sp>
      <p:sp>
        <p:nvSpPr>
          <p:cNvPr id="13" name="Shape 11"/>
          <p:cNvSpPr/>
          <p:nvPr/>
        </p:nvSpPr>
        <p:spPr>
          <a:xfrm>
            <a:off x="817563" y="3408363"/>
            <a:ext cx="3375025" cy="1704975"/>
          </a:xfrm>
          <a:prstGeom prst="roundRect">
            <a:avLst>
              <a:gd name="adj" fmla="val 8659"/>
            </a:avLst>
          </a:prstGeom>
          <a:solidFill>
            <a:srgbClr val="FFFFFF">
              <a:alpha val="6000"/>
            </a:srgbClr>
          </a:solidFill>
          <a:ln w="9525">
            <a:solidFill>
              <a:srgbClr val="FFFFFF">
                <a:alpha val="18000"/>
              </a:srgbClr>
            </a:solidFill>
            <a:prstDash val="solid"/>
          </a:ln>
        </p:spPr>
      </p:sp>
      <p:sp>
        <p:nvSpPr>
          <p:cNvPr id="14" name="Text 12"/>
          <p:cNvSpPr/>
          <p:nvPr/>
        </p:nvSpPr>
        <p:spPr>
          <a:xfrm>
            <a:off x="1041400" y="3641725"/>
            <a:ext cx="1821120"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HYBRID RETRIEVAL</a:t>
            </a:r>
            <a:endParaRPr lang="en-US" sz="1200" dirty="0"/>
          </a:p>
        </p:txBody>
      </p:sp>
      <p:sp>
        <p:nvSpPr>
          <p:cNvPr id="15" name="Text 13"/>
          <p:cNvSpPr/>
          <p:nvPr/>
        </p:nvSpPr>
        <p:spPr>
          <a:xfrm>
            <a:off x="1041400" y="3956645"/>
            <a:ext cx="3015171"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2EFEA"/>
                </a:solidFill>
                <a:latin typeface="Arial" pitchFamily="34" charset="0"/>
                <a:ea typeface="Arial" pitchFamily="34" charset="-122"/>
                <a:cs typeface="Arial" pitchFamily="34" charset="-120"/>
              </a:rPr>
              <a:t>Vectors for meaning, keywords for exact codes like RET-14D. One query, both.</a:t>
            </a:r>
            <a:endParaRPr lang="en-US" sz="1400" dirty="0"/>
          </a:p>
        </p:txBody>
      </p:sp>
      <p:sp>
        <p:nvSpPr>
          <p:cNvPr id="16" name="Shape 14"/>
          <p:cNvSpPr/>
          <p:nvPr/>
        </p:nvSpPr>
        <p:spPr>
          <a:xfrm>
            <a:off x="4405313" y="3408363"/>
            <a:ext cx="3375025" cy="1704975"/>
          </a:xfrm>
          <a:prstGeom prst="roundRect">
            <a:avLst>
              <a:gd name="adj" fmla="val 8659"/>
            </a:avLst>
          </a:prstGeom>
          <a:solidFill>
            <a:srgbClr val="FFFFFF">
              <a:alpha val="6000"/>
            </a:srgbClr>
          </a:solidFill>
          <a:ln w="9525">
            <a:solidFill>
              <a:srgbClr val="FFFFFF">
                <a:alpha val="18000"/>
              </a:srgbClr>
            </a:solidFill>
            <a:prstDash val="solid"/>
          </a:ln>
        </p:spPr>
      </p:sp>
      <p:sp>
        <p:nvSpPr>
          <p:cNvPr id="17" name="Text 15"/>
          <p:cNvSpPr/>
          <p:nvPr/>
        </p:nvSpPr>
        <p:spPr>
          <a:xfrm>
            <a:off x="4629150" y="3641725"/>
            <a:ext cx="2617886"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RERANKING AND BUDGETING</a:t>
            </a:r>
            <a:endParaRPr lang="en-US" sz="1200" dirty="0"/>
          </a:p>
        </p:txBody>
      </p:sp>
      <p:sp>
        <p:nvSpPr>
          <p:cNvPr id="18" name="Text 16"/>
          <p:cNvSpPr/>
          <p:nvPr/>
        </p:nvSpPr>
        <p:spPr>
          <a:xfrm>
            <a:off x="4629150" y="3956645"/>
            <a:ext cx="3015171"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2EFEA"/>
                </a:solidFill>
                <a:latin typeface="Arial" pitchFamily="34" charset="0"/>
                <a:ea typeface="Arial" pitchFamily="34" charset="-122"/>
                <a:cs typeface="Arial" pitchFamily="34" charset="-120"/>
              </a:rPr>
              <a:t>Rerank the candidates, then inject only what fits the token budget.</a:t>
            </a:r>
            <a:endParaRPr lang="en-US" sz="1400" dirty="0"/>
          </a:p>
        </p:txBody>
      </p:sp>
      <p:sp>
        <p:nvSpPr>
          <p:cNvPr id="19" name="Shape 17"/>
          <p:cNvSpPr/>
          <p:nvPr/>
        </p:nvSpPr>
        <p:spPr>
          <a:xfrm>
            <a:off x="7993063" y="3408363"/>
            <a:ext cx="3381375" cy="1704975"/>
          </a:xfrm>
          <a:prstGeom prst="roundRect">
            <a:avLst>
              <a:gd name="adj" fmla="val 8659"/>
            </a:avLst>
          </a:prstGeom>
          <a:solidFill>
            <a:srgbClr val="FFFFFF">
              <a:alpha val="6000"/>
            </a:srgbClr>
          </a:solidFill>
          <a:ln w="9525">
            <a:solidFill>
              <a:srgbClr val="FFFFFF">
                <a:alpha val="18000"/>
              </a:srgbClr>
            </a:solidFill>
            <a:prstDash val="solid"/>
          </a:ln>
        </p:spPr>
      </p:sp>
      <p:sp>
        <p:nvSpPr>
          <p:cNvPr id="20" name="Text 18"/>
          <p:cNvSpPr/>
          <p:nvPr/>
        </p:nvSpPr>
        <p:spPr>
          <a:xfrm>
            <a:off x="8216900" y="3641725"/>
            <a:ext cx="1487388"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SHARED MEMORY</a:t>
            </a:r>
            <a:endParaRPr lang="en-US" sz="1200" dirty="0"/>
          </a:p>
        </p:txBody>
      </p:sp>
      <p:sp>
        <p:nvSpPr>
          <p:cNvPr id="21" name="Text 19"/>
          <p:cNvSpPr/>
          <p:nvPr/>
        </p:nvSpPr>
        <p:spPr>
          <a:xfrm>
            <a:off x="8216900" y="3956645"/>
            <a:ext cx="3021711"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2EFEA"/>
                </a:solidFill>
                <a:latin typeface="Arial" pitchFamily="34" charset="0"/>
                <a:ea typeface="Arial" pitchFamily="34" charset="-122"/>
                <a:cs typeface="Arial" pitchFamily="34" charset="-120"/>
              </a:rPr>
              <a:t>One memory reused across a fleet of agents, with transactional writes under concurrency.</a:t>
            </a:r>
            <a:endParaRPr lang="en-US" sz="1400" dirty="0"/>
          </a:p>
        </p:txBody>
      </p:sp>
      <p:sp>
        <p:nvSpPr>
          <p:cNvPr id="22" name="Text 20"/>
          <p:cNvSpPr/>
          <p:nvPr/>
        </p:nvSpPr>
        <p:spPr>
          <a:xfrm>
            <a:off x="812800" y="53721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EB9B7"/>
                </a:solidFill>
                <a:latin typeface="Arial" pitchFamily="34" charset="0"/>
                <a:ea typeface="Arial" pitchFamily="34" charset="-122"/>
                <a:cs typeface="Arial" pitchFamily="34" charset="-120"/>
              </a:rPr>
              <a:t>Every one of these is a database operation under a different name. That is why the substrate matters.</a:t>
            </a:r>
            <a:endParaRPr lang="en-US" sz="15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raised hands">    </p:cNvPr>
          <p:cNvPicPr>
            <a:picLocks noChangeAspect="1"/>
          </p:cNvPicPr>
          <p:nvPr/>
        </p:nvPicPr>
        <p:blipFill>
          <a:blip r:embed="rId1"/>
          <a:srcRect l="0" r="0" t="0" b="0"/>
          <a:stretch/>
        </p:blipFill>
        <p:spPr>
          <a:xfrm>
            <a:off x="0" y="0"/>
            <a:ext cx="12192000" cy="6858000"/>
          </a:xfrm>
          <a:prstGeom prst="rect">
            <a:avLst/>
          </a:prstGeom>
        </p:spPr>
      </p:pic>
      <p:sp>
        <p:nvSpPr>
          <p:cNvPr id="3" name="Shape 0"/>
          <p:cNvSpPr/>
          <p:nvPr/>
        </p:nvSpPr>
        <p:spPr>
          <a:xfrm>
            <a:off x="812800" y="457200"/>
            <a:ext cx="355600" cy="38100"/>
          </a:xfrm>
          <a:prstGeom prst="roundRect">
            <a:avLst>
              <a:gd name="adj" fmla="val 50000"/>
            </a:avLst>
          </a:prstGeom>
          <a:solidFill>
            <a:srgbClr val="C74634"/>
          </a:solidFill>
          <a:ln/>
        </p:spPr>
      </p:sp>
      <p:sp>
        <p:nvSpPr>
          <p:cNvPr id="4" name="Text 1"/>
          <p:cNvSpPr/>
          <p:nvPr/>
        </p:nvSpPr>
        <p:spPr>
          <a:xfrm>
            <a:off x="680466" y="2794000"/>
            <a:ext cx="10831068" cy="1073150"/>
          </a:xfrm>
          <a:prstGeom prst="rect">
            <a:avLst/>
          </a:prstGeom>
          <a:noFill/>
          <a:ln/>
        </p:spPr>
        <p:txBody>
          <a:bodyPr wrap="none" lIns="0" tIns="0" rIns="0" bIns="0" rtlCol="0" anchor="t">
            <a:normAutofit/>
          </a:bodyPr>
          <a:lstStyle/>
          <a:p>
            <a:pPr algn="ctr" indent="0" marL="0">
              <a:lnSpc>
                <a:spcPts val="8250"/>
              </a:lnSpc>
              <a:buNone/>
            </a:pPr>
            <a:r>
              <a:rPr lang="en-US" sz="7500" b="1" spc="-150" kern="0" dirty="0">
                <a:solidFill>
                  <a:srgbClr val="FFFFFF"/>
                </a:solidFill>
                <a:latin typeface="Arial" pitchFamily="34" charset="0"/>
                <a:ea typeface="Arial" pitchFamily="34" charset="-122"/>
                <a:cs typeface="Arial" pitchFamily="34" charset="-120"/>
              </a:rPr>
              <a:t>Context engineering</a:t>
            </a:r>
            <a:endParaRPr lang="en-US" sz="7500" dirty="0"/>
          </a:p>
        </p:txBody>
      </p:sp>
      <p:sp>
        <p:nvSpPr>
          <p:cNvPr id="5" name="Text 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4297109"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Context engineering</a:t>
            </a:r>
            <a:endParaRPr lang="en-US" sz="2800" dirty="0"/>
          </a:p>
        </p:txBody>
      </p:sp>
      <p:sp>
        <p:nvSpPr>
          <p:cNvPr id="4" name="Text 2"/>
          <p:cNvSpPr/>
          <p:nvPr/>
        </p:nvSpPr>
        <p:spPr>
          <a:xfrm>
            <a:off x="812800" y="1905000"/>
            <a:ext cx="10464800" cy="870645"/>
          </a:xfrm>
          <a:prstGeom prst="rect">
            <a:avLst/>
          </a:prstGeom>
          <a:noFill/>
          <a:ln/>
        </p:spPr>
        <p:txBody>
          <a:bodyPr wrap="square" lIns="0" tIns="0" rIns="0" bIns="0" rtlCol="0" anchor="t">
            <a:normAutofit/>
          </a:bodyPr>
          <a:lstStyle/>
          <a:p>
            <a:pPr algn="l" indent="0" marL="0">
              <a:lnSpc>
                <a:spcPts val="3328"/>
              </a:lnSpc>
              <a:buNone/>
            </a:pPr>
            <a:r>
              <a:rPr lang="en-US" sz="2600" spc="-25" kern="0" dirty="0">
                <a:solidFill>
                  <a:srgbClr val="FFFFFF"/>
                </a:solidFill>
                <a:latin typeface="Arial" pitchFamily="34" charset="0"/>
                <a:ea typeface="Arial" pitchFamily="34" charset="-122"/>
                <a:cs typeface="Arial" pitchFamily="34" charset="-120"/>
              </a:rPr>
              <a:t>Context engineering is the discipline of curating and maintaining the </a:t>
            </a:r>
            <a:r>
              <a:rPr lang="en-US" sz="2600" spc="-25" kern="0" dirty="0">
                <a:solidFill>
                  <a:srgbClr val="DEB068"/>
                </a:solidFill>
                <a:latin typeface="Arial" pitchFamily="34" charset="0"/>
                <a:ea typeface="Arial" pitchFamily="34" charset="-122"/>
                <a:cs typeface="Arial" pitchFamily="34" charset="-120"/>
              </a:rPr>
              <a:t>optimal set of information</a:t>
            </a:r>
            <a:r>
              <a:rPr lang="en-US" sz="2600" spc="-25" kern="0" dirty="0">
                <a:solidFill>
                  <a:srgbClr val="FFFFFF"/>
                </a:solidFill>
                <a:latin typeface="Arial" pitchFamily="34" charset="0"/>
                <a:ea typeface="Arial" pitchFamily="34" charset="-122"/>
                <a:cs typeface="Arial" pitchFamily="34" charset="-120"/>
              </a:rPr>
              <a:t> in the context window during inference.</a:t>
            </a:r>
            <a:endParaRPr lang="en-US" sz="2600" dirty="0"/>
          </a:p>
        </p:txBody>
      </p:sp>
      <p:sp>
        <p:nvSpPr>
          <p:cNvPr id="5" name="Text 3"/>
          <p:cNvSpPr/>
          <p:nvPr/>
        </p:nvSpPr>
        <p:spPr>
          <a:xfrm>
            <a:off x="812800" y="3556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EB9B7"/>
                </a:solidFill>
                <a:latin typeface="Courier New" pitchFamily="49" charset="0"/>
                <a:ea typeface="Courier New" pitchFamily="49" charset="-122"/>
                <a:cs typeface="Courier New" pitchFamily="49" charset="-120"/>
              </a:rPr>
              <a:t>WHY WE NEED IT</a:t>
            </a:r>
            <a:endParaRPr lang="en-US" sz="1200" dirty="0"/>
          </a:p>
        </p:txBody>
      </p:sp>
      <p:sp>
        <p:nvSpPr>
          <p:cNvPr id="6" name="Shape 4"/>
          <p:cNvSpPr/>
          <p:nvPr/>
        </p:nvSpPr>
        <p:spPr>
          <a:xfrm>
            <a:off x="817563" y="3852863"/>
            <a:ext cx="3375025" cy="1895475"/>
          </a:xfrm>
          <a:prstGeom prst="roundRect">
            <a:avLst>
              <a:gd name="adj" fmla="val 7789"/>
            </a:avLst>
          </a:prstGeom>
          <a:solidFill>
            <a:srgbClr val="FFFFFF">
              <a:alpha val="6000"/>
            </a:srgbClr>
          </a:solidFill>
          <a:ln w="9525">
            <a:solidFill>
              <a:srgbClr val="FFFFFF">
                <a:alpha val="18000"/>
              </a:srgbClr>
            </a:solidFill>
            <a:prstDash val="solid"/>
          </a:ln>
        </p:spPr>
      </p:sp>
      <p:sp>
        <p:nvSpPr>
          <p:cNvPr id="7" name="Text 5"/>
          <p:cNvSpPr/>
          <p:nvPr/>
        </p:nvSpPr>
        <p:spPr>
          <a:xfrm>
            <a:off x="1016000" y="4060825"/>
            <a:ext cx="1821120"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7FC4DC"/>
                </a:solidFill>
                <a:latin typeface="Courier New" pitchFamily="49" charset="0"/>
                <a:ea typeface="Courier New" pitchFamily="49" charset="-122"/>
                <a:cs typeface="Courier New" pitchFamily="49" charset="-120"/>
              </a:rPr>
              <a:t>ATTENTION BUDGET</a:t>
            </a:r>
            <a:endParaRPr lang="en-US" sz="1200" dirty="0"/>
          </a:p>
        </p:txBody>
      </p:sp>
      <p:sp>
        <p:nvSpPr>
          <p:cNvPr id="8" name="Text 6"/>
          <p:cNvSpPr/>
          <p:nvPr/>
        </p:nvSpPr>
        <p:spPr>
          <a:xfrm>
            <a:off x="1016000" y="4350345"/>
            <a:ext cx="194327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Arial" pitchFamily="34" charset="0"/>
                <a:ea typeface="Arial" pitchFamily="34" charset="-122"/>
                <a:cs typeface="Arial" pitchFamily="34" charset="-120"/>
              </a:rPr>
              <a:t>Context is finite</a:t>
            </a:r>
            <a:endParaRPr lang="en-US" sz="1700" dirty="0"/>
          </a:p>
        </p:txBody>
      </p:sp>
      <p:sp>
        <p:nvSpPr>
          <p:cNvPr id="9" name="Text 7"/>
          <p:cNvSpPr/>
          <p:nvPr/>
        </p:nvSpPr>
        <p:spPr>
          <a:xfrm>
            <a:off x="1016000" y="4685605"/>
            <a:ext cx="306749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Every token competes with every other token for attention. Precision drops well before the window is full.</a:t>
            </a:r>
            <a:endParaRPr lang="en-US" sz="1300" dirty="0"/>
          </a:p>
        </p:txBody>
      </p:sp>
      <p:sp>
        <p:nvSpPr>
          <p:cNvPr id="10" name="Shape 8"/>
          <p:cNvSpPr/>
          <p:nvPr/>
        </p:nvSpPr>
        <p:spPr>
          <a:xfrm>
            <a:off x="4405313" y="3852863"/>
            <a:ext cx="3375025" cy="1895475"/>
          </a:xfrm>
          <a:prstGeom prst="roundRect">
            <a:avLst>
              <a:gd name="adj" fmla="val 7789"/>
            </a:avLst>
          </a:prstGeom>
          <a:solidFill>
            <a:srgbClr val="FFFFFF">
              <a:alpha val="6000"/>
            </a:srgbClr>
          </a:solidFill>
          <a:ln w="9525">
            <a:solidFill>
              <a:srgbClr val="FFFFFF">
                <a:alpha val="18000"/>
              </a:srgbClr>
            </a:solidFill>
            <a:prstDash val="solid"/>
          </a:ln>
        </p:spPr>
      </p:sp>
      <p:sp>
        <p:nvSpPr>
          <p:cNvPr id="11" name="Text 9"/>
          <p:cNvSpPr/>
          <p:nvPr/>
        </p:nvSpPr>
        <p:spPr>
          <a:xfrm>
            <a:off x="4603750" y="4013845"/>
            <a:ext cx="1266379" cy="238175"/>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7FC4DC"/>
                </a:solidFill>
                <a:latin typeface="Courier New" pitchFamily="49" charset="0"/>
                <a:ea typeface="Courier New" pitchFamily="49" charset="-122"/>
                <a:cs typeface="Courier New" pitchFamily="49" charset="-120"/>
              </a:rPr>
              <a:t>CONTEXT ROT</a:t>
            </a:r>
            <a:endParaRPr lang="en-US" sz="1200" dirty="0"/>
          </a:p>
        </p:txBody>
      </p:sp>
      <p:sp>
        <p:nvSpPr>
          <p:cNvPr id="12" name="Text 10"/>
          <p:cNvSpPr/>
          <p:nvPr/>
        </p:nvSpPr>
        <p:spPr>
          <a:xfrm>
            <a:off x="4603750" y="4302820"/>
            <a:ext cx="3067495" cy="542181"/>
          </a:xfrm>
          <a:prstGeom prst="rect">
            <a:avLst/>
          </a:prstGeom>
          <a:noFill/>
          <a:ln/>
        </p:spPr>
        <p:txBody>
          <a:bodyPr wrap="square" lIns="0" tIns="0" rIns="0" bIns="0" rtlCol="0" anchor="t">
            <a:normAutofit/>
          </a:bodyPr>
          <a:lstStyle/>
          <a:p>
            <a:pPr algn="l" indent="0" marL="0">
              <a:lnSpc>
                <a:spcPts val="2034"/>
              </a:lnSpc>
              <a:buNone/>
            </a:pPr>
            <a:r>
              <a:rPr lang="en-US" sz="1695" b="1" dirty="0">
                <a:solidFill>
                  <a:srgbClr val="FFFFFF"/>
                </a:solidFill>
                <a:latin typeface="Arial" pitchFamily="34" charset="0"/>
                <a:ea typeface="Arial" pitchFamily="34" charset="-122"/>
                <a:cs typeface="Arial" pitchFamily="34" charset="-120"/>
              </a:rPr>
              <a:t>More context, worse answers</a:t>
            </a:r>
            <a:endParaRPr lang="en-US" sz="1695" dirty="0"/>
          </a:p>
        </p:txBody>
      </p:sp>
      <p:sp>
        <p:nvSpPr>
          <p:cNvPr id="13" name="Text 11"/>
          <p:cNvSpPr/>
          <p:nvPr/>
        </p:nvSpPr>
        <p:spPr>
          <a:xfrm>
            <a:off x="4603750" y="4895800"/>
            <a:ext cx="3067495" cy="7170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Early content gets buried, facts in the middle get lost, and stale tool output crowds out what matters now.</a:t>
            </a:r>
            <a:endParaRPr lang="en-US" sz="1300" dirty="0"/>
          </a:p>
        </p:txBody>
      </p:sp>
      <p:sp>
        <p:nvSpPr>
          <p:cNvPr id="14" name="Shape 12"/>
          <p:cNvSpPr/>
          <p:nvPr/>
        </p:nvSpPr>
        <p:spPr>
          <a:xfrm>
            <a:off x="7994650" y="3854450"/>
            <a:ext cx="3378200" cy="1892300"/>
          </a:xfrm>
          <a:prstGeom prst="roundRect">
            <a:avLst>
              <a:gd name="adj" fmla="val 7718"/>
            </a:avLst>
          </a:prstGeom>
          <a:solidFill>
            <a:srgbClr val="C74634">
              <a:alpha val="16000"/>
            </a:srgbClr>
          </a:solidFill>
          <a:ln w="12700">
            <a:solidFill>
              <a:srgbClr val="C74634"/>
            </a:solidFill>
            <a:prstDash val="solid"/>
          </a:ln>
        </p:spPr>
      </p:sp>
      <p:sp>
        <p:nvSpPr>
          <p:cNvPr id="15" name="Text 13"/>
          <p:cNvSpPr/>
          <p:nvPr/>
        </p:nvSpPr>
        <p:spPr>
          <a:xfrm>
            <a:off x="8191500" y="4013895"/>
            <a:ext cx="1821120" cy="238125"/>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E8836F"/>
                </a:solidFill>
                <a:latin typeface="Courier New" pitchFamily="49" charset="0"/>
                <a:ea typeface="Courier New" pitchFamily="49" charset="-122"/>
                <a:cs typeface="Courier New" pitchFamily="49" charset="-120"/>
              </a:rPr>
              <a:t>COST AND LATENCY</a:t>
            </a:r>
            <a:endParaRPr lang="en-US" sz="1200" dirty="0"/>
          </a:p>
        </p:txBody>
      </p:sp>
      <p:sp>
        <p:nvSpPr>
          <p:cNvPr id="16" name="Text 14"/>
          <p:cNvSpPr/>
          <p:nvPr/>
        </p:nvSpPr>
        <p:spPr>
          <a:xfrm>
            <a:off x="8191500" y="4302820"/>
            <a:ext cx="3074035" cy="542131"/>
          </a:xfrm>
          <a:prstGeom prst="rect">
            <a:avLst/>
          </a:prstGeom>
          <a:noFill/>
          <a:ln/>
        </p:spPr>
        <p:txBody>
          <a:bodyPr wrap="square" lIns="0" tIns="0" rIns="0" bIns="0" rtlCol="0" anchor="t">
            <a:normAutofit/>
          </a:bodyPr>
          <a:lstStyle/>
          <a:p>
            <a:pPr algn="l" indent="0" marL="0">
              <a:lnSpc>
                <a:spcPts val="2034"/>
              </a:lnSpc>
              <a:buNone/>
            </a:pPr>
            <a:r>
              <a:rPr lang="en-US" sz="1695" b="1" dirty="0">
                <a:solidFill>
                  <a:srgbClr val="FFFFFF"/>
                </a:solidFill>
                <a:latin typeface="Arial" pitchFamily="34" charset="0"/>
                <a:ea typeface="Arial" pitchFamily="34" charset="-122"/>
                <a:cs typeface="Arial" pitchFamily="34" charset="-120"/>
              </a:rPr>
              <a:t>You pay for every token, every call</a:t>
            </a:r>
            <a:endParaRPr lang="en-US" sz="1695" dirty="0"/>
          </a:p>
        </p:txBody>
      </p:sp>
      <p:sp>
        <p:nvSpPr>
          <p:cNvPr id="17" name="Text 15"/>
          <p:cNvSpPr/>
          <p:nvPr/>
        </p:nvSpPr>
        <p:spPr>
          <a:xfrm>
            <a:off x="8191500" y="4895751"/>
            <a:ext cx="3074035" cy="71690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Agent input to output ratios run near 100 to 1. Prefill is the bill, and the cache is the only discount.</a:t>
            </a:r>
            <a:endParaRPr lang="en-US" sz="13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4297109"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Context engineering</a:t>
            </a:r>
            <a:endParaRPr lang="en-US" sz="2800" dirty="0"/>
          </a:p>
        </p:txBody>
      </p:sp>
      <p:sp>
        <p:nvSpPr>
          <p:cNvPr id="4" name="Text 2"/>
          <p:cNvSpPr/>
          <p:nvPr/>
        </p:nvSpPr>
        <p:spPr>
          <a:xfrm>
            <a:off x="812800" y="1206500"/>
            <a:ext cx="1088339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2EFEA"/>
                </a:solidFill>
                <a:latin typeface="Arial" pitchFamily="34" charset="0"/>
                <a:ea typeface="Arial" pitchFamily="34" charset="-122"/>
                <a:cs typeface="Arial" pitchFamily="34" charset="-120"/>
              </a:rPr>
              <a:t>Context engineering is the discipline of curating and maintaining the </a:t>
            </a:r>
            <a:r>
              <a:rPr lang="en-US" sz="1500" dirty="0">
                <a:solidFill>
                  <a:srgbClr val="DEB068"/>
                </a:solidFill>
                <a:latin typeface="Arial" pitchFamily="34" charset="0"/>
                <a:ea typeface="Arial" pitchFamily="34" charset="-122"/>
                <a:cs typeface="Arial" pitchFamily="34" charset="-120"/>
              </a:rPr>
              <a:t>optimal set of information</a:t>
            </a:r>
            <a:r>
              <a:rPr lang="en-US" sz="1500" dirty="0">
                <a:solidFill>
                  <a:srgbClr val="F2EFEA"/>
                </a:solidFill>
                <a:latin typeface="Arial" pitchFamily="34" charset="0"/>
                <a:ea typeface="Arial" pitchFamily="34" charset="-122"/>
                <a:cs typeface="Arial" pitchFamily="34" charset="-120"/>
              </a:rPr>
              <a:t> in the context window during inference.</a:t>
            </a:r>
            <a:endParaRPr lang="en-US" sz="1500" dirty="0"/>
          </a:p>
        </p:txBody>
      </p:sp>
      <p:sp>
        <p:nvSpPr>
          <p:cNvPr id="5" name="Shape 3"/>
          <p:cNvSpPr/>
          <p:nvPr/>
        </p:nvSpPr>
        <p:spPr>
          <a:xfrm>
            <a:off x="4449763" y="1909762"/>
            <a:ext cx="3292475" cy="434975"/>
          </a:xfrm>
          <a:prstGeom prst="roundRect">
            <a:avLst>
              <a:gd name="adj" fmla="val 22263"/>
            </a:avLst>
          </a:prstGeom>
          <a:solidFill>
            <a:srgbClr val="DEB068">
              <a:alpha val="14000"/>
            </a:srgbClr>
          </a:solidFill>
          <a:ln w="9525">
            <a:solidFill>
              <a:srgbClr val="DEB068">
                <a:alpha val="60000"/>
              </a:srgbClr>
            </a:solidFill>
            <a:prstDash val="solid"/>
          </a:ln>
        </p:spPr>
      </p:sp>
      <p:sp>
        <p:nvSpPr>
          <p:cNvPr id="6" name="Text 4"/>
          <p:cNvSpPr/>
          <p:nvPr/>
        </p:nvSpPr>
        <p:spPr>
          <a:xfrm>
            <a:off x="5501680" y="1914525"/>
            <a:ext cx="1188641" cy="240010"/>
          </a:xfrm>
          <a:prstGeom prst="rect">
            <a:avLst/>
          </a:prstGeom>
          <a:noFill/>
          <a:ln/>
        </p:spPr>
        <p:txBody>
          <a:bodyPr wrap="none" lIns="0" tIns="0" rIns="0" bIns="0" rtlCol="0" anchor="t">
            <a:normAutofit/>
          </a:bodyPr>
          <a:lstStyle/>
          <a:p>
            <a:pPr algn="ctr" indent="0" marL="0">
              <a:lnSpc>
                <a:spcPts val="1723"/>
              </a:lnSpc>
              <a:buNone/>
            </a:pPr>
            <a:r>
              <a:rPr lang="en-US" sz="1231" b="1" dirty="0">
                <a:solidFill>
                  <a:srgbClr val="FFFFFF"/>
                </a:solidFill>
                <a:latin typeface="Arial" pitchFamily="34" charset="0"/>
                <a:ea typeface="Arial" pitchFamily="34" charset="-122"/>
                <a:cs typeface="Arial" pitchFamily="34" charset="-120"/>
              </a:rPr>
              <a:t>System prompt</a:t>
            </a:r>
            <a:endParaRPr lang="en-US" sz="1231" dirty="0"/>
          </a:p>
        </p:txBody>
      </p:sp>
      <p:sp>
        <p:nvSpPr>
          <p:cNvPr id="7" name="Text 5"/>
          <p:cNvSpPr/>
          <p:nvPr/>
        </p:nvSpPr>
        <p:spPr>
          <a:xfrm>
            <a:off x="5516612" y="2141835"/>
            <a:ext cx="1158726" cy="223540"/>
          </a:xfrm>
          <a:prstGeom prst="rect">
            <a:avLst/>
          </a:prstGeom>
          <a:noFill/>
          <a:ln/>
        </p:spPr>
        <p:txBody>
          <a:bodyPr wrap="none" lIns="0" tIns="0" rIns="0" bIns="0" rtlCol="0" anchor="t">
            <a:normAutofit/>
          </a:bodyPr>
          <a:lstStyle/>
          <a:p>
            <a:pPr algn="ctr" indent="0" marL="0">
              <a:lnSpc>
                <a:spcPts val="1570"/>
              </a:lnSpc>
              <a:buNone/>
            </a:pPr>
            <a:r>
              <a:rPr lang="en-US" sz="1121" dirty="0">
                <a:solidFill>
                  <a:srgbClr val="AEB9B7"/>
                </a:solidFill>
                <a:latin typeface="Arial" pitchFamily="34" charset="0"/>
                <a:ea typeface="Arial" pitchFamily="34" charset="-122"/>
                <a:cs typeface="Arial" pitchFamily="34" charset="-120"/>
              </a:rPr>
              <a:t>role, rules, format</a:t>
            </a:r>
            <a:endParaRPr lang="en-US" sz="1121" dirty="0"/>
          </a:p>
        </p:txBody>
      </p:sp>
      <p:sp>
        <p:nvSpPr>
          <p:cNvPr id="8" name="Shape 6"/>
          <p:cNvSpPr/>
          <p:nvPr/>
        </p:nvSpPr>
        <p:spPr>
          <a:xfrm>
            <a:off x="4449763" y="2405063"/>
            <a:ext cx="3292475" cy="434975"/>
          </a:xfrm>
          <a:prstGeom prst="roundRect">
            <a:avLst>
              <a:gd name="adj" fmla="val 22263"/>
            </a:avLst>
          </a:prstGeom>
          <a:solidFill>
            <a:srgbClr val="DEB068">
              <a:alpha val="14000"/>
            </a:srgbClr>
          </a:solidFill>
          <a:ln w="9525">
            <a:solidFill>
              <a:srgbClr val="DEB068">
                <a:alpha val="60000"/>
              </a:srgbClr>
            </a:solidFill>
            <a:prstDash val="solid"/>
          </a:ln>
        </p:spPr>
      </p:sp>
      <p:sp>
        <p:nvSpPr>
          <p:cNvPr id="9" name="Text 7"/>
          <p:cNvSpPr/>
          <p:nvPr/>
        </p:nvSpPr>
        <p:spPr>
          <a:xfrm>
            <a:off x="5494635" y="2409825"/>
            <a:ext cx="1202680" cy="240010"/>
          </a:xfrm>
          <a:prstGeom prst="rect">
            <a:avLst/>
          </a:prstGeom>
          <a:noFill/>
          <a:ln/>
        </p:spPr>
        <p:txBody>
          <a:bodyPr wrap="none" lIns="0" tIns="0" rIns="0" bIns="0" rtlCol="0" anchor="t">
            <a:normAutofit/>
          </a:bodyPr>
          <a:lstStyle/>
          <a:p>
            <a:pPr algn="ctr" indent="0" marL="0">
              <a:lnSpc>
                <a:spcPts val="1723"/>
              </a:lnSpc>
              <a:buNone/>
            </a:pPr>
            <a:r>
              <a:rPr lang="en-US" sz="1231" b="1" dirty="0">
                <a:solidFill>
                  <a:srgbClr val="FFFFFF"/>
                </a:solidFill>
                <a:latin typeface="Arial" pitchFamily="34" charset="0"/>
                <a:ea typeface="Arial" pitchFamily="34" charset="-122"/>
                <a:cs typeface="Arial" pitchFamily="34" charset="-120"/>
              </a:rPr>
              <a:t>Tool definitions</a:t>
            </a:r>
            <a:endParaRPr lang="en-US" sz="1231" dirty="0"/>
          </a:p>
        </p:txBody>
      </p:sp>
      <p:sp>
        <p:nvSpPr>
          <p:cNvPr id="10" name="Text 8"/>
          <p:cNvSpPr/>
          <p:nvPr/>
        </p:nvSpPr>
        <p:spPr>
          <a:xfrm>
            <a:off x="5052535" y="2637135"/>
            <a:ext cx="2086930" cy="223540"/>
          </a:xfrm>
          <a:prstGeom prst="rect">
            <a:avLst/>
          </a:prstGeom>
          <a:noFill/>
          <a:ln/>
        </p:spPr>
        <p:txBody>
          <a:bodyPr wrap="none" lIns="0" tIns="0" rIns="0" bIns="0" rtlCol="0" anchor="t">
            <a:normAutofit/>
          </a:bodyPr>
          <a:lstStyle/>
          <a:p>
            <a:pPr algn="ctr" indent="0" marL="0">
              <a:lnSpc>
                <a:spcPts val="1570"/>
              </a:lnSpc>
              <a:buNone/>
            </a:pPr>
            <a:r>
              <a:rPr lang="en-US" sz="1121" dirty="0">
                <a:solidFill>
                  <a:srgbClr val="AEB9B7"/>
                </a:solidFill>
                <a:latin typeface="Arial" pitchFamily="34" charset="0"/>
                <a:ea typeface="Arial" pitchFamily="34" charset="-122"/>
                <a:cs typeface="Arial" pitchFamily="34" charset="-120"/>
              </a:rPr>
              <a:t>schemas, stable across the task</a:t>
            </a:r>
            <a:endParaRPr lang="en-US" sz="1121" dirty="0"/>
          </a:p>
        </p:txBody>
      </p:sp>
      <p:sp>
        <p:nvSpPr>
          <p:cNvPr id="11" name="Shape 9"/>
          <p:cNvSpPr/>
          <p:nvPr/>
        </p:nvSpPr>
        <p:spPr>
          <a:xfrm>
            <a:off x="4449763" y="2900363"/>
            <a:ext cx="3292475" cy="942975"/>
          </a:xfrm>
          <a:prstGeom prst="roundRect">
            <a:avLst>
              <a:gd name="adj" fmla="val 10269"/>
            </a:avLst>
          </a:prstGeom>
          <a:solidFill>
            <a:srgbClr val="C74634">
              <a:alpha val="18000"/>
            </a:srgbClr>
          </a:solidFill>
          <a:ln w="9525">
            <a:solidFill>
              <a:srgbClr val="C74634">
                <a:alpha val="70000"/>
              </a:srgbClr>
            </a:solidFill>
            <a:prstDash val="solid"/>
          </a:ln>
        </p:spPr>
      </p:sp>
      <p:sp>
        <p:nvSpPr>
          <p:cNvPr id="12" name="Text 10"/>
          <p:cNvSpPr/>
          <p:nvPr/>
        </p:nvSpPr>
        <p:spPr>
          <a:xfrm>
            <a:off x="5386933" y="3143250"/>
            <a:ext cx="1418134" cy="256530"/>
          </a:xfrm>
          <a:prstGeom prst="rect">
            <a:avLst/>
          </a:prstGeom>
          <a:noFill/>
          <a:ln/>
        </p:spPr>
        <p:txBody>
          <a:bodyPr wrap="none" lIns="0" tIns="0" rIns="0" bIns="0" rtlCol="0" anchor="t">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Recalled memory</a:t>
            </a:r>
            <a:endParaRPr lang="en-US" sz="1300" dirty="0"/>
          </a:p>
        </p:txBody>
      </p:sp>
      <p:sp>
        <p:nvSpPr>
          <p:cNvPr id="13" name="Text 11"/>
          <p:cNvSpPr/>
          <p:nvPr/>
        </p:nvSpPr>
        <p:spPr>
          <a:xfrm>
            <a:off x="4674055" y="3387080"/>
            <a:ext cx="284384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AEB9B7"/>
                </a:solidFill>
                <a:latin typeface="Arial" pitchFamily="34" charset="0"/>
                <a:ea typeface="Arial" pitchFamily="34" charset="-122"/>
                <a:cs typeface="Arial" pitchFamily="34" charset="-120"/>
              </a:rPr>
              <a:t>facts · preferences · summaries · entities</a:t>
            </a:r>
            <a:endParaRPr lang="en-US" sz="1200" dirty="0"/>
          </a:p>
        </p:txBody>
      </p:sp>
      <p:sp>
        <p:nvSpPr>
          <p:cNvPr id="14" name="Shape 12"/>
          <p:cNvSpPr/>
          <p:nvPr/>
        </p:nvSpPr>
        <p:spPr>
          <a:xfrm>
            <a:off x="4449763" y="3903663"/>
            <a:ext cx="3292475" cy="688975"/>
          </a:xfrm>
          <a:prstGeom prst="roundRect">
            <a:avLst>
              <a:gd name="adj" fmla="val 14055"/>
            </a:avLst>
          </a:prstGeom>
          <a:solidFill>
            <a:srgbClr val="36677D">
              <a:alpha val="30000"/>
            </a:srgbClr>
          </a:solidFill>
          <a:ln w="9525">
            <a:solidFill>
              <a:srgbClr val="36677D"/>
            </a:solidFill>
            <a:prstDash val="solid"/>
          </a:ln>
        </p:spPr>
      </p:sp>
      <p:sp>
        <p:nvSpPr>
          <p:cNvPr id="15" name="Text 13"/>
          <p:cNvSpPr/>
          <p:nvPr/>
        </p:nvSpPr>
        <p:spPr>
          <a:xfrm>
            <a:off x="5373092" y="4019550"/>
            <a:ext cx="1445766" cy="256530"/>
          </a:xfrm>
          <a:prstGeom prst="rect">
            <a:avLst/>
          </a:prstGeom>
          <a:noFill/>
          <a:ln/>
        </p:spPr>
        <p:txBody>
          <a:bodyPr wrap="none" lIns="0" tIns="0" rIns="0" bIns="0" rtlCol="0" anchor="t">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Recent messages</a:t>
            </a:r>
            <a:endParaRPr lang="en-US" sz="1300" dirty="0"/>
          </a:p>
        </p:txBody>
      </p:sp>
      <p:sp>
        <p:nvSpPr>
          <p:cNvPr id="16" name="Text 14"/>
          <p:cNvSpPr/>
          <p:nvPr/>
        </p:nvSpPr>
        <p:spPr>
          <a:xfrm>
            <a:off x="5299819" y="4263380"/>
            <a:ext cx="1592362"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AEB9B7"/>
                </a:solidFill>
                <a:latin typeface="Arial" pitchFamily="34" charset="0"/>
                <a:ea typeface="Arial" pitchFamily="34" charset="-122"/>
                <a:cs typeface="Arial" pitchFamily="34" charset="-120"/>
              </a:rPr>
              <a:t>the last turns, verbatim</a:t>
            </a:r>
            <a:endParaRPr lang="en-US" sz="1200" dirty="0"/>
          </a:p>
        </p:txBody>
      </p:sp>
      <p:sp>
        <p:nvSpPr>
          <p:cNvPr id="17" name="Shape 15"/>
          <p:cNvSpPr/>
          <p:nvPr/>
        </p:nvSpPr>
        <p:spPr>
          <a:xfrm>
            <a:off x="4449763" y="4652963"/>
            <a:ext cx="3292475" cy="561975"/>
          </a:xfrm>
          <a:prstGeom prst="roundRect">
            <a:avLst>
              <a:gd name="adj" fmla="val 17232"/>
            </a:avLst>
          </a:prstGeom>
          <a:solidFill>
            <a:srgbClr val="FFFFFF">
              <a:alpha val="6000"/>
            </a:srgbClr>
          </a:solidFill>
          <a:ln w="9525">
            <a:solidFill>
              <a:srgbClr val="FFFFFF">
                <a:alpha val="18000"/>
              </a:srgbClr>
            </a:solidFill>
            <a:prstDash val="solid"/>
          </a:ln>
        </p:spPr>
      </p:sp>
      <p:sp>
        <p:nvSpPr>
          <p:cNvPr id="18" name="Text 16"/>
          <p:cNvSpPr/>
          <p:nvPr/>
        </p:nvSpPr>
        <p:spPr>
          <a:xfrm>
            <a:off x="5576987" y="4705350"/>
            <a:ext cx="1038027" cy="256530"/>
          </a:xfrm>
          <a:prstGeom prst="rect">
            <a:avLst/>
          </a:prstGeom>
          <a:noFill/>
          <a:ln/>
        </p:spPr>
        <p:txBody>
          <a:bodyPr wrap="none" lIns="0" tIns="0" rIns="0" bIns="0" rtlCol="0" anchor="t">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Tool outputs</a:t>
            </a:r>
            <a:endParaRPr lang="en-US" sz="1300" dirty="0"/>
          </a:p>
        </p:txBody>
      </p:sp>
      <p:sp>
        <p:nvSpPr>
          <p:cNvPr id="19" name="Text 17"/>
          <p:cNvSpPr/>
          <p:nvPr/>
        </p:nvSpPr>
        <p:spPr>
          <a:xfrm>
            <a:off x="5430937" y="4949180"/>
            <a:ext cx="1330077"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AEB9B7"/>
                </a:solidFill>
                <a:latin typeface="Arial" pitchFamily="34" charset="0"/>
                <a:ea typeface="Arial" pitchFamily="34" charset="-122"/>
                <a:cs typeface="Arial" pitchFamily="34" charset="-120"/>
              </a:rPr>
              <a:t>volatile, often large</a:t>
            </a:r>
            <a:endParaRPr lang="en-US" sz="1200" dirty="0"/>
          </a:p>
        </p:txBody>
      </p:sp>
      <p:sp>
        <p:nvSpPr>
          <p:cNvPr id="20" name="Shape 18"/>
          <p:cNvSpPr/>
          <p:nvPr/>
        </p:nvSpPr>
        <p:spPr>
          <a:xfrm>
            <a:off x="4449763" y="5275263"/>
            <a:ext cx="3292475" cy="346075"/>
          </a:xfrm>
          <a:prstGeom prst="roundRect">
            <a:avLst>
              <a:gd name="adj" fmla="val 27982"/>
            </a:avLst>
          </a:prstGeom>
          <a:solidFill>
            <a:srgbClr val="FFFFFF">
              <a:alpha val="10000"/>
            </a:srgbClr>
          </a:solidFill>
          <a:ln w="9525">
            <a:solidFill>
              <a:srgbClr val="FFFFFF">
                <a:alpha val="30000"/>
              </a:srgbClr>
            </a:solidFill>
            <a:prstDash val="solid"/>
          </a:ln>
        </p:spPr>
      </p:sp>
      <p:sp>
        <p:nvSpPr>
          <p:cNvPr id="21" name="Text 19"/>
          <p:cNvSpPr/>
          <p:nvPr/>
        </p:nvSpPr>
        <p:spPr>
          <a:xfrm>
            <a:off x="5639296" y="5332710"/>
            <a:ext cx="913408" cy="256530"/>
          </a:xfrm>
          <a:prstGeom prst="rect">
            <a:avLst/>
          </a:prstGeom>
          <a:noFill/>
          <a:ln/>
        </p:spPr>
        <p:txBody>
          <a:bodyPr wrap="none" lIns="0" tIns="0" rIns="0" bIns="0" rtlCol="0" anchor="t">
            <a:normAutofit/>
          </a:bodyPr>
          <a:lstStyle/>
          <a:p>
            <a:pPr algn="ctr" indent="0" marL="0">
              <a:lnSpc>
                <a:spcPts val="1820"/>
              </a:lnSpc>
              <a:buNone/>
            </a:pPr>
            <a:r>
              <a:rPr lang="en-US" sz="1300" b="1" dirty="0">
                <a:solidFill>
                  <a:srgbClr val="FFFFFF"/>
                </a:solidFill>
                <a:latin typeface="Arial" pitchFamily="34" charset="0"/>
                <a:ea typeface="Arial" pitchFamily="34" charset="-122"/>
                <a:cs typeface="Arial" pitchFamily="34" charset="-120"/>
              </a:rPr>
              <a:t>User query</a:t>
            </a:r>
            <a:endParaRPr lang="en-US" sz="1300" dirty="0"/>
          </a:p>
        </p:txBody>
      </p:sp>
      <p:pic>
        <p:nvPicPr>
          <p:cNvPr id="22" name="Image 0" descr="stable prefix bracket">    </p:cNvPr>
          <p:cNvPicPr>
            <a:picLocks noChangeAspect="1"/>
          </p:cNvPicPr>
          <p:nvPr/>
        </p:nvPicPr>
        <p:blipFill>
          <a:blip r:embed="rId1"/>
          <a:srcRect l="0" r="0" t="0" b="0"/>
          <a:stretch/>
        </p:blipFill>
        <p:spPr>
          <a:xfrm>
            <a:off x="0" y="0"/>
            <a:ext cx="12192000" cy="6858000"/>
          </a:xfrm>
          <a:prstGeom prst="rect">
            <a:avLst/>
          </a:prstGeom>
        </p:spPr>
      </p:pic>
      <p:sp>
        <p:nvSpPr>
          <p:cNvPr id="23" name="Text 20"/>
          <p:cNvSpPr/>
          <p:nvPr/>
        </p:nvSpPr>
        <p:spPr>
          <a:xfrm>
            <a:off x="812800" y="1905000"/>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STABLE PREFIX</a:t>
            </a:r>
            <a:endParaRPr lang="en-US" sz="1200" dirty="0"/>
          </a:p>
        </p:txBody>
      </p:sp>
      <p:sp>
        <p:nvSpPr>
          <p:cNvPr id="24" name="Text 21"/>
          <p:cNvSpPr/>
          <p:nvPr/>
        </p:nvSpPr>
        <p:spPr>
          <a:xfrm>
            <a:off x="812800" y="2159000"/>
            <a:ext cx="32702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Identical on every call. The prompt cache serves it, so it is nearly free after the first request.</a:t>
            </a:r>
            <a:endParaRPr lang="en-US" sz="1200" dirty="0"/>
          </a:p>
        </p:txBody>
      </p:sp>
      <p:pic>
        <p:nvPicPr>
          <p:cNvPr id="25" name="Image 1" descr="assembled per call bracket">    </p:cNvPr>
          <p:cNvPicPr>
            <a:picLocks noChangeAspect="1"/>
          </p:cNvPicPr>
          <p:nvPr/>
        </p:nvPicPr>
        <p:blipFill>
          <a:blip r:embed="rId2"/>
          <a:srcRect l="0" r="0" t="0" b="0"/>
          <a:stretch/>
        </p:blipFill>
        <p:spPr>
          <a:xfrm>
            <a:off x="0" y="0"/>
            <a:ext cx="12192000" cy="6858000"/>
          </a:xfrm>
          <a:prstGeom prst="rect">
            <a:avLst/>
          </a:prstGeom>
        </p:spPr>
      </p:pic>
      <p:sp>
        <p:nvSpPr>
          <p:cNvPr id="26" name="Text 22"/>
          <p:cNvSpPr/>
          <p:nvPr/>
        </p:nvSpPr>
        <p:spPr>
          <a:xfrm>
            <a:off x="812800" y="3556000"/>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C4DC"/>
                </a:solidFill>
                <a:latin typeface="Courier New" pitchFamily="49" charset="0"/>
                <a:ea typeface="Courier New" pitchFamily="49" charset="-122"/>
                <a:cs typeface="Courier New" pitchFamily="49" charset="-120"/>
              </a:rPr>
              <a:t>ASSEMBLED PER CALL</a:t>
            </a:r>
            <a:endParaRPr lang="en-US" sz="1200" dirty="0"/>
          </a:p>
        </p:txBody>
      </p:sp>
      <p:sp>
        <p:nvSpPr>
          <p:cNvPr id="27" name="Text 23"/>
          <p:cNvSpPr/>
          <p:nvPr/>
        </p:nvSpPr>
        <p:spPr>
          <a:xfrm>
            <a:off x="812800" y="3810000"/>
            <a:ext cx="32702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The harness and the memory manager decide what goes here, how much of it, and in what order.</a:t>
            </a:r>
            <a:endParaRPr lang="en-US" sz="1200" dirty="0"/>
          </a:p>
        </p:txBody>
      </p:sp>
      <p:pic>
        <p:nvPicPr>
          <p:cNvPr id="28" name="Image 2" descr="four techniques point at the parts of the window they shape">    </p:cNvPr>
          <p:cNvPicPr>
            <a:picLocks noChangeAspect="1"/>
          </p:cNvPicPr>
          <p:nvPr/>
        </p:nvPicPr>
        <p:blipFill>
          <a:blip r:embed="rId3"/>
          <a:srcRect l="0" r="0" t="0" b="0"/>
          <a:stretch/>
        </p:blipFill>
        <p:spPr>
          <a:xfrm>
            <a:off x="0" y="0"/>
            <a:ext cx="12192000" cy="6858000"/>
          </a:xfrm>
          <a:prstGeom prst="rect">
            <a:avLst/>
          </a:prstGeom>
        </p:spPr>
      </p:pic>
      <p:sp>
        <p:nvSpPr>
          <p:cNvPr id="29" name="Shape 24"/>
          <p:cNvSpPr/>
          <p:nvPr/>
        </p:nvSpPr>
        <p:spPr>
          <a:xfrm>
            <a:off x="8005763" y="1909762"/>
            <a:ext cx="3368675" cy="498475"/>
          </a:xfrm>
          <a:prstGeom prst="roundRect">
            <a:avLst>
              <a:gd name="adj" fmla="val 19427"/>
            </a:avLst>
          </a:prstGeom>
          <a:solidFill>
            <a:srgbClr val="FFFFFF">
              <a:alpha val="6000"/>
            </a:srgbClr>
          </a:solidFill>
          <a:ln w="9525">
            <a:solidFill>
              <a:srgbClr val="FFFFFF">
                <a:alpha val="18000"/>
              </a:srgbClr>
            </a:solidFill>
            <a:prstDash val="solid"/>
          </a:ln>
        </p:spPr>
      </p:sp>
      <p:sp>
        <p:nvSpPr>
          <p:cNvPr id="30" name="Text 25"/>
          <p:cNvSpPr/>
          <p:nvPr/>
        </p:nvSpPr>
        <p:spPr>
          <a:xfrm>
            <a:off x="8115300" y="1930400"/>
            <a:ext cx="2126276" cy="25653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FFFFFF"/>
                </a:solidFill>
                <a:latin typeface="Arial" pitchFamily="34" charset="0"/>
                <a:ea typeface="Arial" pitchFamily="34" charset="-122"/>
                <a:cs typeface="Arial" pitchFamily="34" charset="-120"/>
              </a:rPr>
              <a:t>Cache-aware construction</a:t>
            </a:r>
            <a:endParaRPr lang="en-US" sz="1300" dirty="0"/>
          </a:p>
        </p:txBody>
      </p:sp>
      <p:sp>
        <p:nvSpPr>
          <p:cNvPr id="31" name="Text 26"/>
          <p:cNvSpPr/>
          <p:nvPr/>
        </p:nvSpPr>
        <p:spPr>
          <a:xfrm>
            <a:off x="8115300" y="2174230"/>
            <a:ext cx="226853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stable prefix, explicit breakpoints</a:t>
            </a:r>
            <a:endParaRPr lang="en-US" sz="1200" dirty="0"/>
          </a:p>
        </p:txBody>
      </p:sp>
      <p:sp>
        <p:nvSpPr>
          <p:cNvPr id="32" name="Shape 27"/>
          <p:cNvSpPr/>
          <p:nvPr/>
        </p:nvSpPr>
        <p:spPr>
          <a:xfrm>
            <a:off x="8005763" y="3052763"/>
            <a:ext cx="3368675" cy="498475"/>
          </a:xfrm>
          <a:prstGeom prst="roundRect">
            <a:avLst>
              <a:gd name="adj" fmla="val 19427"/>
            </a:avLst>
          </a:prstGeom>
          <a:solidFill>
            <a:srgbClr val="FFFFFF">
              <a:alpha val="6000"/>
            </a:srgbClr>
          </a:solidFill>
          <a:ln w="9525">
            <a:solidFill>
              <a:srgbClr val="FFFFFF">
                <a:alpha val="18000"/>
              </a:srgbClr>
            </a:solidFill>
            <a:prstDash val="solid"/>
          </a:ln>
        </p:spPr>
      </p:sp>
      <p:sp>
        <p:nvSpPr>
          <p:cNvPr id="33" name="Text 28"/>
          <p:cNvSpPr/>
          <p:nvPr/>
        </p:nvSpPr>
        <p:spPr>
          <a:xfrm>
            <a:off x="8115300" y="3073400"/>
            <a:ext cx="1860977" cy="25653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FFFFFF"/>
                </a:solidFill>
                <a:latin typeface="Arial" pitchFamily="34" charset="0"/>
                <a:ea typeface="Arial" pitchFamily="34" charset="-122"/>
                <a:cs typeface="Arial" pitchFamily="34" charset="-120"/>
              </a:rPr>
              <a:t>Offloading, just-in-time</a:t>
            </a:r>
            <a:endParaRPr lang="en-US" sz="1300" dirty="0"/>
          </a:p>
        </p:txBody>
      </p:sp>
      <p:sp>
        <p:nvSpPr>
          <p:cNvPr id="34" name="Text 29"/>
          <p:cNvSpPr/>
          <p:nvPr/>
        </p:nvSpPr>
        <p:spPr>
          <a:xfrm>
            <a:off x="8115300" y="3317230"/>
            <a:ext cx="219898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references in, detail on demand</a:t>
            </a:r>
            <a:endParaRPr lang="en-US" sz="1200" dirty="0"/>
          </a:p>
        </p:txBody>
      </p:sp>
      <p:sp>
        <p:nvSpPr>
          <p:cNvPr id="35" name="Shape 30"/>
          <p:cNvSpPr/>
          <p:nvPr/>
        </p:nvSpPr>
        <p:spPr>
          <a:xfrm>
            <a:off x="8005763" y="3941763"/>
            <a:ext cx="3368675" cy="498475"/>
          </a:xfrm>
          <a:prstGeom prst="roundRect">
            <a:avLst>
              <a:gd name="adj" fmla="val 19427"/>
            </a:avLst>
          </a:prstGeom>
          <a:solidFill>
            <a:srgbClr val="FFFFFF">
              <a:alpha val="6000"/>
            </a:srgbClr>
          </a:solidFill>
          <a:ln w="9525">
            <a:solidFill>
              <a:srgbClr val="FFFFFF">
                <a:alpha val="18000"/>
              </a:srgbClr>
            </a:solidFill>
            <a:prstDash val="solid"/>
          </a:ln>
        </p:spPr>
      </p:sp>
      <p:sp>
        <p:nvSpPr>
          <p:cNvPr id="36" name="Text 31"/>
          <p:cNvSpPr/>
          <p:nvPr/>
        </p:nvSpPr>
        <p:spPr>
          <a:xfrm>
            <a:off x="8115300" y="3962400"/>
            <a:ext cx="1243509" cy="25653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FFFFFF"/>
                </a:solidFill>
                <a:latin typeface="Arial" pitchFamily="34" charset="0"/>
                <a:ea typeface="Arial" pitchFamily="34" charset="-122"/>
                <a:cs typeface="Arial" pitchFamily="34" charset="-120"/>
              </a:rPr>
              <a:t>Summarisation</a:t>
            </a:r>
            <a:endParaRPr lang="en-US" sz="1300" dirty="0"/>
          </a:p>
        </p:txBody>
      </p:sp>
      <p:sp>
        <p:nvSpPr>
          <p:cNvPr id="37" name="Text 32"/>
          <p:cNvSpPr/>
          <p:nvPr/>
        </p:nvSpPr>
        <p:spPr>
          <a:xfrm>
            <a:off x="8115300" y="4206230"/>
            <a:ext cx="236434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old turns summarised, recent kept</a:t>
            </a:r>
            <a:endParaRPr lang="en-US" sz="1200" dirty="0"/>
          </a:p>
        </p:txBody>
      </p:sp>
      <p:sp>
        <p:nvSpPr>
          <p:cNvPr id="38" name="Shape 33"/>
          <p:cNvSpPr/>
          <p:nvPr/>
        </p:nvSpPr>
        <p:spPr>
          <a:xfrm>
            <a:off x="8005763" y="4640263"/>
            <a:ext cx="3368675" cy="498475"/>
          </a:xfrm>
          <a:prstGeom prst="roundRect">
            <a:avLst>
              <a:gd name="adj" fmla="val 19427"/>
            </a:avLst>
          </a:prstGeom>
          <a:solidFill>
            <a:srgbClr val="FFFFFF">
              <a:alpha val="6000"/>
            </a:srgbClr>
          </a:solidFill>
          <a:ln w="9525">
            <a:solidFill>
              <a:srgbClr val="FFFFFF">
                <a:alpha val="18000"/>
              </a:srgbClr>
            </a:solidFill>
            <a:prstDash val="solid"/>
          </a:ln>
        </p:spPr>
      </p:sp>
      <p:sp>
        <p:nvSpPr>
          <p:cNvPr id="39" name="Text 34"/>
          <p:cNvSpPr/>
          <p:nvPr/>
        </p:nvSpPr>
        <p:spPr>
          <a:xfrm>
            <a:off x="8115300" y="4660900"/>
            <a:ext cx="1004739" cy="25653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FFFFFF"/>
                </a:solidFill>
                <a:latin typeface="Arial" pitchFamily="34" charset="0"/>
                <a:ea typeface="Arial" pitchFamily="34" charset="-122"/>
                <a:cs typeface="Arial" pitchFamily="34" charset="-120"/>
              </a:rPr>
              <a:t>Compaction</a:t>
            </a:r>
            <a:endParaRPr lang="en-US" sz="1300" dirty="0"/>
          </a:p>
        </p:txBody>
      </p:sp>
      <p:sp>
        <p:nvSpPr>
          <p:cNvPr id="40" name="Text 35"/>
          <p:cNvSpPr/>
          <p:nvPr/>
        </p:nvSpPr>
        <p:spPr>
          <a:xfrm>
            <a:off x="8115300" y="4904730"/>
            <a:ext cx="225964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clear used results, compact later</a:t>
            </a:r>
            <a:endParaRPr lang="en-US" sz="1200" dirty="0"/>
          </a:p>
        </p:txBody>
      </p:sp>
      <p:sp>
        <p:nvSpPr>
          <p:cNvPr id="41" name="Text 3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CONTEXT ENGINEERING TECHNIQUE 1</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Context summarisation: keep the thread, drop the transcript</a:t>
            </a:r>
            <a:endParaRPr lang="en-US" sz="2800" dirty="0"/>
          </a:p>
        </p:txBody>
      </p:sp>
      <p:sp>
        <p:nvSpPr>
          <p:cNvPr id="5" name="Text 3"/>
          <p:cNvSpPr/>
          <p:nvPr/>
        </p:nvSpPr>
        <p:spPr>
          <a:xfrm>
            <a:off x="812800" y="15875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Courier New" pitchFamily="49" charset="0"/>
                <a:ea typeface="Courier New" pitchFamily="49" charset="-122"/>
                <a:cs typeface="Courier New" pitchFamily="49" charset="-120"/>
              </a:rPr>
              <a:t>THE THREAD</a:t>
            </a:r>
            <a:endParaRPr lang="en-US" sz="1200" dirty="0"/>
          </a:p>
        </p:txBody>
      </p:sp>
      <p:sp>
        <p:nvSpPr>
          <p:cNvPr id="6" name="Shape 4"/>
          <p:cNvSpPr/>
          <p:nvPr/>
        </p:nvSpPr>
        <p:spPr>
          <a:xfrm>
            <a:off x="815975" y="1844675"/>
            <a:ext cx="1898650" cy="273050"/>
          </a:xfrm>
          <a:prstGeom prst="roundRect">
            <a:avLst>
              <a:gd name="adj" fmla="val 31395"/>
            </a:avLst>
          </a:prstGeom>
          <a:solidFill>
            <a:srgbClr val="EAF4F8"/>
          </a:solidFill>
          <a:ln w="6350">
            <a:solidFill>
              <a:srgbClr val="31535C">
                <a:alpha val="16000"/>
              </a:srgbClr>
            </a:solidFill>
            <a:prstDash val="solid"/>
          </a:ln>
        </p:spPr>
      </p:sp>
      <p:sp>
        <p:nvSpPr>
          <p:cNvPr id="7" name="Shape 5"/>
          <p:cNvSpPr/>
          <p:nvPr/>
        </p:nvSpPr>
        <p:spPr>
          <a:xfrm>
            <a:off x="1196975" y="2200275"/>
            <a:ext cx="1898650" cy="273050"/>
          </a:xfrm>
          <a:prstGeom prst="roundRect">
            <a:avLst>
              <a:gd name="adj" fmla="val 31395"/>
            </a:avLst>
          </a:prstGeom>
          <a:solidFill>
            <a:srgbClr val="FFFFFF"/>
          </a:solidFill>
          <a:ln w="6350">
            <a:solidFill>
              <a:srgbClr val="31535C">
                <a:alpha val="16000"/>
              </a:srgbClr>
            </a:solidFill>
            <a:prstDash val="solid"/>
          </a:ln>
        </p:spPr>
      </p:sp>
      <p:sp>
        <p:nvSpPr>
          <p:cNvPr id="8" name="Shape 6"/>
          <p:cNvSpPr/>
          <p:nvPr/>
        </p:nvSpPr>
        <p:spPr>
          <a:xfrm>
            <a:off x="815975" y="2555875"/>
            <a:ext cx="1898650" cy="273050"/>
          </a:xfrm>
          <a:prstGeom prst="roundRect">
            <a:avLst>
              <a:gd name="adj" fmla="val 31395"/>
            </a:avLst>
          </a:prstGeom>
          <a:solidFill>
            <a:srgbClr val="EAF4F8"/>
          </a:solidFill>
          <a:ln w="6350">
            <a:solidFill>
              <a:srgbClr val="31535C">
                <a:alpha val="16000"/>
              </a:srgbClr>
            </a:solidFill>
            <a:prstDash val="solid"/>
          </a:ln>
        </p:spPr>
      </p:sp>
      <p:sp>
        <p:nvSpPr>
          <p:cNvPr id="9" name="Shape 7"/>
          <p:cNvSpPr/>
          <p:nvPr/>
        </p:nvSpPr>
        <p:spPr>
          <a:xfrm>
            <a:off x="1196975" y="2911475"/>
            <a:ext cx="1898650" cy="273050"/>
          </a:xfrm>
          <a:prstGeom prst="roundRect">
            <a:avLst>
              <a:gd name="adj" fmla="val 31395"/>
            </a:avLst>
          </a:prstGeom>
          <a:solidFill>
            <a:srgbClr val="FFFFFF"/>
          </a:solidFill>
          <a:ln w="6350">
            <a:solidFill>
              <a:srgbClr val="31535C">
                <a:alpha val="16000"/>
              </a:srgbClr>
            </a:solidFill>
            <a:prstDash val="solid"/>
          </a:ln>
        </p:spPr>
      </p:sp>
      <p:sp>
        <p:nvSpPr>
          <p:cNvPr id="10" name="Shape 8"/>
          <p:cNvSpPr/>
          <p:nvPr/>
        </p:nvSpPr>
        <p:spPr>
          <a:xfrm>
            <a:off x="815975" y="3267075"/>
            <a:ext cx="1898650" cy="273050"/>
          </a:xfrm>
          <a:prstGeom prst="roundRect">
            <a:avLst>
              <a:gd name="adj" fmla="val 31395"/>
            </a:avLst>
          </a:prstGeom>
          <a:solidFill>
            <a:srgbClr val="EAF4F8"/>
          </a:solidFill>
          <a:ln w="6350">
            <a:solidFill>
              <a:srgbClr val="31535C">
                <a:alpha val="16000"/>
              </a:srgbClr>
            </a:solidFill>
            <a:prstDash val="solid"/>
          </a:ln>
        </p:spPr>
      </p:sp>
      <p:sp>
        <p:nvSpPr>
          <p:cNvPr id="11" name="Shape 9"/>
          <p:cNvSpPr/>
          <p:nvPr/>
        </p:nvSpPr>
        <p:spPr>
          <a:xfrm>
            <a:off x="1196975" y="3622675"/>
            <a:ext cx="1898650" cy="273050"/>
          </a:xfrm>
          <a:prstGeom prst="roundRect">
            <a:avLst>
              <a:gd name="adj" fmla="val 31395"/>
            </a:avLst>
          </a:prstGeom>
          <a:solidFill>
            <a:srgbClr val="FFFFFF"/>
          </a:solidFill>
          <a:ln w="6350">
            <a:solidFill>
              <a:srgbClr val="31535C">
                <a:alpha val="16000"/>
              </a:srgbClr>
            </a:solidFill>
            <a:prstDash val="solid"/>
          </a:ln>
        </p:spPr>
      </p:sp>
      <p:sp>
        <p:nvSpPr>
          <p:cNvPr id="12" name="Shape 10"/>
          <p:cNvSpPr/>
          <p:nvPr/>
        </p:nvSpPr>
        <p:spPr>
          <a:xfrm>
            <a:off x="815975" y="3978275"/>
            <a:ext cx="1898650" cy="273050"/>
          </a:xfrm>
          <a:prstGeom prst="roundRect">
            <a:avLst>
              <a:gd name="adj" fmla="val 31395"/>
            </a:avLst>
          </a:prstGeom>
          <a:solidFill>
            <a:srgbClr val="EAF4F8"/>
          </a:solidFill>
          <a:ln w="6350">
            <a:solidFill>
              <a:srgbClr val="31535C">
                <a:alpha val="16000"/>
              </a:srgbClr>
            </a:solidFill>
            <a:prstDash val="solid"/>
          </a:ln>
        </p:spPr>
      </p:sp>
      <p:sp>
        <p:nvSpPr>
          <p:cNvPr id="13" name="Shape 11"/>
          <p:cNvSpPr/>
          <p:nvPr/>
        </p:nvSpPr>
        <p:spPr>
          <a:xfrm>
            <a:off x="1196975" y="4333875"/>
            <a:ext cx="1898650" cy="273050"/>
          </a:xfrm>
          <a:prstGeom prst="roundRect">
            <a:avLst>
              <a:gd name="adj" fmla="val 31395"/>
            </a:avLst>
          </a:prstGeom>
          <a:solidFill>
            <a:srgbClr val="FFFFFF"/>
          </a:solidFill>
          <a:ln w="6350">
            <a:solidFill>
              <a:srgbClr val="31535C">
                <a:alpha val="16000"/>
              </a:srgbClr>
            </a:solidFill>
            <a:prstDash val="solid"/>
          </a:ln>
        </p:spPr>
      </p:sp>
      <p:sp>
        <p:nvSpPr>
          <p:cNvPr id="14" name="Text 12"/>
          <p:cNvSpPr/>
          <p:nvPr/>
        </p:nvSpPr>
        <p:spPr>
          <a:xfrm>
            <a:off x="812800" y="4699000"/>
            <a:ext cx="36576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Hundreds of turns, corrections and tool calls</a:t>
            </a:r>
            <a:endParaRPr lang="en-US" sz="1200" dirty="0"/>
          </a:p>
        </p:txBody>
      </p:sp>
      <p:pic>
        <p:nvPicPr>
          <p:cNvPr id="15" name="Image 0" descr="the older turns are summarised">    </p:cNvPr>
          <p:cNvPicPr>
            <a:picLocks noChangeAspect="1"/>
          </p:cNvPicPr>
          <p:nvPr/>
        </p:nvPicPr>
        <p:blipFill>
          <a:blip r:embed="rId1"/>
          <a:srcRect l="0" r="0" t="0" b="0"/>
          <a:stretch/>
        </p:blipFill>
        <p:spPr>
          <a:xfrm>
            <a:off x="0" y="0"/>
            <a:ext cx="12192000" cy="6858000"/>
          </a:xfrm>
          <a:prstGeom prst="rect">
            <a:avLst/>
          </a:prstGeom>
        </p:spPr>
      </p:pic>
      <p:sp>
        <p:nvSpPr>
          <p:cNvPr id="16" name="Text 13"/>
          <p:cNvSpPr/>
          <p:nvPr/>
        </p:nvSpPr>
        <p:spPr>
          <a:xfrm>
            <a:off x="3530600" y="2794000"/>
            <a:ext cx="990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4634"/>
                </a:solidFill>
                <a:latin typeface="Courier New" pitchFamily="49" charset="0"/>
                <a:ea typeface="Courier New" pitchFamily="49" charset="-122"/>
                <a:cs typeface="Courier New" pitchFamily="49" charset="-120"/>
              </a:rPr>
              <a:t>summarise</a:t>
            </a:r>
            <a:endParaRPr lang="en-US" sz="1200" dirty="0"/>
          </a:p>
        </p:txBody>
      </p:sp>
      <p:pic>
        <p:nvPicPr>
          <p:cNvPr id="17" name="Image 1" descr="the recent turns stay verbatim">    </p:cNvPr>
          <p:cNvPicPr>
            <a:picLocks noChangeAspect="1"/>
          </p:cNvPicPr>
          <p:nvPr/>
        </p:nvPicPr>
        <p:blipFill>
          <a:blip r:embed="rId2"/>
          <a:srcRect l="0" r="0" t="0" b="0"/>
          <a:stretch/>
        </p:blipFill>
        <p:spPr>
          <a:xfrm>
            <a:off x="0" y="0"/>
            <a:ext cx="12192000" cy="6858000"/>
          </a:xfrm>
          <a:prstGeom prst="rect">
            <a:avLst/>
          </a:prstGeom>
        </p:spPr>
      </p:pic>
      <p:sp>
        <p:nvSpPr>
          <p:cNvPr id="18" name="Text 14"/>
          <p:cNvSpPr/>
          <p:nvPr/>
        </p:nvSpPr>
        <p:spPr>
          <a:xfrm>
            <a:off x="3530600" y="4216400"/>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6677D"/>
                </a:solidFill>
                <a:latin typeface="Courier New" pitchFamily="49" charset="0"/>
                <a:ea typeface="Courier New" pitchFamily="49" charset="-122"/>
                <a:cs typeface="Courier New" pitchFamily="49" charset="-120"/>
              </a:rPr>
              <a:t>verbatim</a:t>
            </a:r>
            <a:endParaRPr lang="en-US" sz="1200" dirty="0"/>
          </a:p>
        </p:txBody>
      </p:sp>
      <p:sp>
        <p:nvSpPr>
          <p:cNvPr id="19" name="Shape 15"/>
          <p:cNvSpPr/>
          <p:nvPr/>
        </p:nvSpPr>
        <p:spPr>
          <a:xfrm>
            <a:off x="4575175" y="1590675"/>
            <a:ext cx="6800850" cy="3168650"/>
          </a:xfrm>
          <a:prstGeom prst="roundRect">
            <a:avLst>
              <a:gd name="adj" fmla="val 3908"/>
            </a:avLst>
          </a:prstGeom>
          <a:solidFill>
            <a:srgbClr val="1E2A2A"/>
          </a:solidFill>
          <a:ln w="6350">
            <a:solidFill>
              <a:srgbClr val="1E2A2A"/>
            </a:solidFill>
            <a:prstDash val="solid"/>
          </a:ln>
          <a:effectLst>
            <a:outerShdw sx="100000" sy="100000" kx="0" ky="0" algn="bl" rotWithShape="0" blurRad="406400" dist="152400" dir="5400000">
              <a:srgbClr val="1E2A2A">
                <a:alpha val="25000"/>
              </a:srgbClr>
            </a:outerShdw>
          </a:effectLst>
        </p:spPr>
      </p:sp>
      <p:sp>
        <p:nvSpPr>
          <p:cNvPr id="20" name="Text 16"/>
          <p:cNvSpPr/>
          <p:nvPr/>
        </p:nvSpPr>
        <p:spPr>
          <a:xfrm>
            <a:off x="4749800" y="1695500"/>
            <a:ext cx="1331168" cy="253057"/>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836F"/>
                </a:solidFill>
                <a:latin typeface="Courier New" pitchFamily="49" charset="0"/>
                <a:ea typeface="Courier New" pitchFamily="49" charset="-122"/>
                <a:cs typeface="Courier New" pitchFamily="49" charset="-120"/>
              </a:rPr>
              <a:t>&lt;context_card&gt;</a:t>
            </a:r>
            <a:endParaRPr lang="en-US" sz="1200" dirty="0"/>
          </a:p>
        </p:txBody>
      </p:sp>
      <p:sp>
        <p:nvSpPr>
          <p:cNvPr id="21" name="Text 17"/>
          <p:cNvSpPr/>
          <p:nvPr/>
        </p:nvSpPr>
        <p:spPr>
          <a:xfrm>
            <a:off x="4749800" y="1923157"/>
            <a:ext cx="4333183" cy="25300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a:t>
            </a:r>
            <a:r>
              <a:rPr lang="en-US" sz="1200" dirty="0">
                <a:solidFill>
                  <a:srgbClr val="7FC4DC"/>
                </a:solidFill>
                <a:latin typeface="Courier New" pitchFamily="49" charset="0"/>
                <a:ea typeface="Courier New" pitchFamily="49" charset="-122"/>
                <a:cs typeface="Courier New" pitchFamily="49" charset="-120"/>
              </a:rPr>
              <a:t>&lt;topics&gt;</a:t>
            </a:r>
            <a:r>
              <a:rPr lang="en-US" sz="1200" dirty="0">
                <a:solidFill>
                  <a:srgbClr val="F2EFEA"/>
                </a:solidFill>
                <a:latin typeface="Courier New" pitchFamily="49" charset="0"/>
                <a:ea typeface="Courier New" pitchFamily="49" charset="-122"/>
                <a:cs typeface="Courier New" pitchFamily="49" charset="-120"/>
              </a:rPr>
              <a:t>counterparty exposure, Acme</a:t>
            </a:r>
            <a:r>
              <a:rPr lang="en-US" sz="1200" dirty="0">
                <a:solidFill>
                  <a:srgbClr val="7FC4DC"/>
                </a:solidFill>
                <a:latin typeface="Courier New" pitchFamily="49" charset="0"/>
                <a:ea typeface="Courier New" pitchFamily="49" charset="-122"/>
                <a:cs typeface="Courier New" pitchFamily="49" charset="-120"/>
              </a:rPr>
              <a:t>&lt;/topics&gt;</a:t>
            </a:r>
            <a:endParaRPr lang="en-US" sz="1200" dirty="0"/>
          </a:p>
        </p:txBody>
      </p:sp>
      <p:sp>
        <p:nvSpPr>
          <p:cNvPr id="22" name="Text 18"/>
          <p:cNvSpPr/>
          <p:nvPr/>
        </p:nvSpPr>
        <p:spPr>
          <a:xfrm>
            <a:off x="4749800" y="2150765"/>
            <a:ext cx="4992548" cy="253057"/>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a:t>
            </a:r>
            <a:r>
              <a:rPr lang="en-US" sz="1200" dirty="0">
                <a:solidFill>
                  <a:srgbClr val="7FC4DC"/>
                </a:solidFill>
                <a:latin typeface="Courier New" pitchFamily="49" charset="0"/>
                <a:ea typeface="Courier New" pitchFamily="49" charset="-122"/>
                <a:cs typeface="Courier New" pitchFamily="49" charset="-120"/>
              </a:rPr>
              <a:t>&lt;summary&gt;</a:t>
            </a:r>
            <a:r>
              <a:rPr lang="en-US" sz="1200" dirty="0">
                <a:solidFill>
                  <a:srgbClr val="F2EFEA"/>
                </a:solidFill>
                <a:latin typeface="Courier New" pitchFamily="49" charset="0"/>
                <a:ea typeface="Courier New" pitchFamily="49" charset="-122"/>
                <a:cs typeface="Courier New" pitchFamily="49" charset="-120"/>
              </a:rPr>
              <a:t>Analyst on desk A is reviewing exposure to</a:t>
            </a:r>
            <a:endParaRPr lang="en-US" sz="1200" dirty="0"/>
          </a:p>
        </p:txBody>
      </p:sp>
      <p:sp>
        <p:nvSpPr>
          <p:cNvPr id="23" name="Text 19"/>
          <p:cNvSpPr/>
          <p:nvPr/>
        </p:nvSpPr>
        <p:spPr>
          <a:xfrm>
            <a:off x="4749800" y="2378422"/>
            <a:ext cx="5086721" cy="25300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Acme Holdings; now asks for net figures.</a:t>
            </a:r>
            <a:r>
              <a:rPr lang="en-US" sz="1200" dirty="0">
                <a:solidFill>
                  <a:srgbClr val="7FC4DC"/>
                </a:solidFill>
                <a:latin typeface="Courier New" pitchFamily="49" charset="0"/>
                <a:ea typeface="Courier New" pitchFamily="49" charset="-122"/>
                <a:cs typeface="Courier New" pitchFamily="49" charset="-120"/>
              </a:rPr>
              <a:t>&lt;/summary&gt;</a:t>
            </a:r>
            <a:endParaRPr lang="en-US" sz="1200" dirty="0"/>
          </a:p>
        </p:txBody>
      </p:sp>
      <p:sp>
        <p:nvSpPr>
          <p:cNvPr id="24" name="Text 20"/>
          <p:cNvSpPr/>
          <p:nvPr/>
        </p:nvSpPr>
        <p:spPr>
          <a:xfrm>
            <a:off x="4749800" y="2606030"/>
            <a:ext cx="2260765" cy="253057"/>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a:t>
            </a:r>
            <a:r>
              <a:rPr lang="en-US" sz="1200" dirty="0">
                <a:solidFill>
                  <a:srgbClr val="7FC4DC"/>
                </a:solidFill>
                <a:latin typeface="Courier New" pitchFamily="49" charset="0"/>
                <a:ea typeface="Courier New" pitchFamily="49" charset="-122"/>
                <a:cs typeface="Courier New" pitchFamily="49" charset="-120"/>
              </a:rPr>
              <a:t>&lt;relevant_information&gt;</a:t>
            </a:r>
            <a:endParaRPr lang="en-US" sz="1200" dirty="0"/>
          </a:p>
        </p:txBody>
      </p:sp>
      <p:sp>
        <p:nvSpPr>
          <p:cNvPr id="25" name="Text 21"/>
          <p:cNvSpPr/>
          <p:nvPr/>
        </p:nvSpPr>
        <p:spPr>
          <a:xfrm>
            <a:off x="4749800" y="2833688"/>
            <a:ext cx="4427356" cy="25300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a:t>
            </a:r>
            <a:r>
              <a:rPr lang="en-US" sz="1200" dirty="0">
                <a:solidFill>
                  <a:srgbClr val="DEB068"/>
                </a:solidFill>
                <a:latin typeface="Courier New" pitchFamily="49" charset="0"/>
                <a:ea typeface="Courier New" pitchFamily="49" charset="-122"/>
                <a:cs typeface="Courier New" pitchFamily="49" charset="-120"/>
              </a:rPr>
              <a:t>&lt;fact&gt;</a:t>
            </a:r>
            <a:r>
              <a:rPr lang="en-US" sz="1200" dirty="0">
                <a:solidFill>
                  <a:srgbClr val="F2EFEA"/>
                </a:solidFill>
                <a:latin typeface="Courier New" pitchFamily="49" charset="0"/>
                <a:ea typeface="Courier New" pitchFamily="49" charset="-122"/>
                <a:cs typeface="Courier New" pitchFamily="49" charset="-120"/>
              </a:rPr>
              <a:t>Acme = 12 legal entities (LEI)</a:t>
            </a:r>
            <a:r>
              <a:rPr lang="en-US" sz="1200" dirty="0">
                <a:solidFill>
                  <a:srgbClr val="DEB068"/>
                </a:solidFill>
                <a:latin typeface="Courier New" pitchFamily="49" charset="0"/>
                <a:ea typeface="Courier New" pitchFamily="49" charset="-122"/>
                <a:cs typeface="Courier New" pitchFamily="49" charset="-120"/>
              </a:rPr>
              <a:t>&lt;/fact&gt;</a:t>
            </a:r>
            <a:endParaRPr lang="en-US" sz="1200" dirty="0"/>
          </a:p>
        </p:txBody>
      </p:sp>
      <p:sp>
        <p:nvSpPr>
          <p:cNvPr id="26" name="Text 22"/>
          <p:cNvSpPr/>
          <p:nvPr/>
        </p:nvSpPr>
        <p:spPr>
          <a:xfrm>
            <a:off x="4749800" y="3061295"/>
            <a:ext cx="4898375" cy="25300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a:t>
            </a:r>
            <a:r>
              <a:rPr lang="en-US" sz="1200" dirty="0">
                <a:solidFill>
                  <a:srgbClr val="DEB068"/>
                </a:solidFill>
                <a:latin typeface="Courier New" pitchFamily="49" charset="0"/>
                <a:ea typeface="Courier New" pitchFamily="49" charset="-122"/>
                <a:cs typeface="Courier New" pitchFamily="49" charset="-120"/>
              </a:rPr>
              <a:t>&lt;preference&gt;</a:t>
            </a:r>
            <a:r>
              <a:rPr lang="en-US" sz="1200" dirty="0">
                <a:solidFill>
                  <a:srgbClr val="F2EFEA"/>
                </a:solidFill>
                <a:latin typeface="Courier New" pitchFamily="49" charset="0"/>
                <a:ea typeface="Courier New" pitchFamily="49" charset="-122"/>
                <a:cs typeface="Courier New" pitchFamily="49" charset="-120"/>
              </a:rPr>
              <a:t>Net exposure for desk A</a:t>
            </a:r>
            <a:r>
              <a:rPr lang="en-US" sz="1200" dirty="0">
                <a:solidFill>
                  <a:srgbClr val="DEB068"/>
                </a:solidFill>
                <a:latin typeface="Courier New" pitchFamily="49" charset="0"/>
                <a:ea typeface="Courier New" pitchFamily="49" charset="-122"/>
                <a:cs typeface="Courier New" pitchFamily="49" charset="-120"/>
              </a:rPr>
              <a:t>&lt;/preference&gt;</a:t>
            </a:r>
            <a:endParaRPr lang="en-US" sz="1200" dirty="0"/>
          </a:p>
        </p:txBody>
      </p:sp>
      <p:sp>
        <p:nvSpPr>
          <p:cNvPr id="27" name="Text 23"/>
          <p:cNvSpPr/>
          <p:nvPr/>
        </p:nvSpPr>
        <p:spPr>
          <a:xfrm>
            <a:off x="4749800" y="3288903"/>
            <a:ext cx="4709978" cy="25300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a:t>
            </a:r>
            <a:r>
              <a:rPr lang="en-US" sz="1200" dirty="0">
                <a:solidFill>
                  <a:srgbClr val="DEB068"/>
                </a:solidFill>
                <a:latin typeface="Courier New" pitchFamily="49" charset="0"/>
                <a:ea typeface="Courier New" pitchFamily="49" charset="-122"/>
                <a:cs typeface="Courier New" pitchFamily="49" charset="-120"/>
              </a:rPr>
              <a:t>&lt;memory&gt;</a:t>
            </a:r>
            <a:r>
              <a:rPr lang="en-US" sz="1200" dirty="0">
                <a:solidFill>
                  <a:srgbClr val="F2EFEA"/>
                </a:solidFill>
                <a:latin typeface="Courier New" pitchFamily="49" charset="0"/>
                <a:ea typeface="Courier New" pitchFamily="49" charset="-122"/>
                <a:cs typeface="Courier New" pitchFamily="49" charset="-120"/>
              </a:rPr>
              <a:t>Collateral for 2 subs pending</a:t>
            </a:r>
            <a:r>
              <a:rPr lang="en-US" sz="1200" dirty="0">
                <a:solidFill>
                  <a:srgbClr val="DEB068"/>
                </a:solidFill>
                <a:latin typeface="Courier New" pitchFamily="49" charset="0"/>
                <a:ea typeface="Courier New" pitchFamily="49" charset="-122"/>
                <a:cs typeface="Courier New" pitchFamily="49" charset="-120"/>
              </a:rPr>
              <a:t>&lt;/memory&gt;</a:t>
            </a:r>
            <a:endParaRPr lang="en-US" sz="1200" dirty="0"/>
          </a:p>
        </p:txBody>
      </p:sp>
      <p:sp>
        <p:nvSpPr>
          <p:cNvPr id="28" name="Text 24"/>
          <p:cNvSpPr/>
          <p:nvPr/>
        </p:nvSpPr>
        <p:spPr>
          <a:xfrm>
            <a:off x="4749800" y="3516511"/>
            <a:ext cx="2354989" cy="25300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a:t>
            </a:r>
            <a:r>
              <a:rPr lang="en-US" sz="1200" dirty="0">
                <a:solidFill>
                  <a:srgbClr val="7FC4DC"/>
                </a:solidFill>
                <a:latin typeface="Courier New" pitchFamily="49" charset="0"/>
                <a:ea typeface="Courier New" pitchFamily="49" charset="-122"/>
                <a:cs typeface="Courier New" pitchFamily="49" charset="-120"/>
              </a:rPr>
              <a:t>&lt;/relevant_information&gt;</a:t>
            </a:r>
            <a:endParaRPr lang="en-US" sz="1200" dirty="0"/>
          </a:p>
        </p:txBody>
      </p:sp>
      <p:sp>
        <p:nvSpPr>
          <p:cNvPr id="29" name="Text 25"/>
          <p:cNvSpPr/>
          <p:nvPr/>
        </p:nvSpPr>
        <p:spPr>
          <a:xfrm>
            <a:off x="4749800" y="3744119"/>
            <a:ext cx="1789798" cy="25300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a:t>
            </a:r>
            <a:r>
              <a:rPr lang="en-US" sz="1200" dirty="0">
                <a:solidFill>
                  <a:srgbClr val="7FC4DC"/>
                </a:solidFill>
                <a:latin typeface="Courier New" pitchFamily="49" charset="0"/>
                <a:ea typeface="Courier New" pitchFamily="49" charset="-122"/>
                <a:cs typeface="Courier New" pitchFamily="49" charset="-120"/>
              </a:rPr>
              <a:t>&lt;recent_messages&gt;</a:t>
            </a:r>
            <a:endParaRPr lang="en-US" sz="1200" dirty="0"/>
          </a:p>
        </p:txBody>
      </p:sp>
      <p:sp>
        <p:nvSpPr>
          <p:cNvPr id="30" name="Text 26"/>
          <p:cNvSpPr/>
          <p:nvPr/>
        </p:nvSpPr>
        <p:spPr>
          <a:xfrm>
            <a:off x="4749800" y="3971727"/>
            <a:ext cx="4050562" cy="25300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user: What is our net exposure to Acme?</a:t>
            </a:r>
            <a:endParaRPr lang="en-US" sz="1200" dirty="0"/>
          </a:p>
        </p:txBody>
      </p:sp>
      <p:sp>
        <p:nvSpPr>
          <p:cNvPr id="31" name="Text 27"/>
          <p:cNvSpPr/>
          <p:nvPr/>
        </p:nvSpPr>
        <p:spPr>
          <a:xfrm>
            <a:off x="4749800" y="4199334"/>
            <a:ext cx="1883971" cy="25300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a:t>
            </a:r>
            <a:r>
              <a:rPr lang="en-US" sz="1200" dirty="0">
                <a:solidFill>
                  <a:srgbClr val="7FC4DC"/>
                </a:solidFill>
                <a:latin typeface="Courier New" pitchFamily="49" charset="0"/>
                <a:ea typeface="Courier New" pitchFamily="49" charset="-122"/>
                <a:cs typeface="Courier New" pitchFamily="49" charset="-120"/>
              </a:rPr>
              <a:t>&lt;/recent_messages&gt;</a:t>
            </a:r>
            <a:endParaRPr lang="en-US" sz="1200" dirty="0"/>
          </a:p>
        </p:txBody>
      </p:sp>
      <p:sp>
        <p:nvSpPr>
          <p:cNvPr id="32" name="Text 28"/>
          <p:cNvSpPr/>
          <p:nvPr/>
        </p:nvSpPr>
        <p:spPr>
          <a:xfrm>
            <a:off x="4749800" y="4426942"/>
            <a:ext cx="1422648" cy="25300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836F"/>
                </a:solidFill>
                <a:latin typeface="Courier New" pitchFamily="49" charset="0"/>
                <a:ea typeface="Courier New" pitchFamily="49" charset="-122"/>
                <a:cs typeface="Courier New" pitchFamily="49" charset="-120"/>
              </a:rPr>
              <a:t>&lt;/context_card&gt;</a:t>
            </a:r>
            <a:endParaRPr lang="en-US" sz="1200" dirty="0"/>
          </a:p>
        </p:txBody>
      </p:sp>
      <p:sp>
        <p:nvSpPr>
          <p:cNvPr id="33" name="Text 29"/>
          <p:cNvSpPr/>
          <p:nvPr/>
        </p:nvSpPr>
        <p:spPr>
          <a:xfrm>
            <a:off x="4572000" y="4838700"/>
            <a:ext cx="76200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The context card: topics, a rolling summary, typed memories, recent messages. Content illustrative.</a:t>
            </a:r>
            <a:endParaRPr lang="en-US" sz="1200" dirty="0"/>
          </a:p>
        </p:txBody>
      </p:sp>
      <p:sp>
        <p:nvSpPr>
          <p:cNvPr id="34" name="Shape 30"/>
          <p:cNvSpPr/>
          <p:nvPr/>
        </p:nvSpPr>
        <p:spPr>
          <a:xfrm>
            <a:off x="815975" y="5337175"/>
            <a:ext cx="10560050" cy="476250"/>
          </a:xfrm>
          <a:prstGeom prst="roundRect">
            <a:avLst>
              <a:gd name="adj" fmla="val 26000"/>
            </a:avLst>
          </a:prstGeom>
          <a:solidFill>
            <a:srgbClr val="1E2A2A"/>
          </a:solidFill>
          <a:ln w="6350">
            <a:solidFill>
              <a:srgbClr val="1E2A2A"/>
            </a:solidFill>
            <a:prstDash val="solid"/>
          </a:ln>
        </p:spPr>
      </p:sp>
      <p:sp>
        <p:nvSpPr>
          <p:cNvPr id="35" name="Text 31"/>
          <p:cNvSpPr/>
          <p:nvPr/>
        </p:nvSpPr>
        <p:spPr>
          <a:xfrm>
            <a:off x="1016000" y="5377210"/>
            <a:ext cx="104648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FFFFF"/>
                </a:solidFill>
                <a:latin typeface="Arial" pitchFamily="34" charset="0"/>
                <a:ea typeface="Arial" pitchFamily="34" charset="-122"/>
                <a:cs typeface="Arial" pitchFamily="34" charset="-120"/>
              </a:rPr>
              <a:t>Measured: an 80-turn run with a 10,000-token summarisation trigger used about 60% fewer total tokens than flat history. Source: Oracle Developers blog, May 2026.</a:t>
            </a:r>
            <a:endParaRPr lang="en-US" sz="1200" dirty="0"/>
          </a:p>
        </p:txBody>
      </p:sp>
      <p:sp>
        <p:nvSpPr>
          <p:cNvPr id="36" name="Text 3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CONTEXT ENGINEERING TECHNIQUE 2</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Compaction and context window utility</a:t>
            </a:r>
            <a:endParaRPr lang="en-US" sz="2800" dirty="0"/>
          </a:p>
        </p:txBody>
      </p:sp>
      <p:sp>
        <p:nvSpPr>
          <p:cNvPr id="5" name="Text 3"/>
          <p:cNvSpPr/>
          <p:nvPr/>
        </p:nvSpPr>
        <p:spPr>
          <a:xfrm>
            <a:off x="812800" y="1435100"/>
            <a:ext cx="1046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6B6B"/>
                </a:solidFill>
                <a:latin typeface="Arial" pitchFamily="34" charset="0"/>
                <a:ea typeface="Arial" pitchFamily="34" charset="-122"/>
                <a:cs typeface="Arial" pitchFamily="34" charset="-120"/>
              </a:rPr>
              <a:t>Utility is signal per token. Compaction raises it without losing the decisions that got you here.</a:t>
            </a:r>
            <a:endParaRPr lang="en-US" sz="1500" dirty="0"/>
          </a:p>
        </p:txBody>
      </p:sp>
      <p:sp>
        <p:nvSpPr>
          <p:cNvPr id="6" name="Shape 4"/>
          <p:cNvSpPr/>
          <p:nvPr/>
        </p:nvSpPr>
        <p:spPr>
          <a:xfrm>
            <a:off x="815975" y="1971675"/>
            <a:ext cx="3378200" cy="1835150"/>
          </a:xfrm>
          <a:prstGeom prst="roundRect">
            <a:avLst>
              <a:gd name="adj" fmla="val 7439"/>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7" name="Text 5"/>
          <p:cNvSpPr/>
          <p:nvPr/>
        </p:nvSpPr>
        <p:spPr>
          <a:xfrm>
            <a:off x="1016000" y="2178050"/>
            <a:ext cx="2467455"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CLEAR USED TOOL RESULTS</a:t>
            </a:r>
            <a:endParaRPr lang="en-US" sz="1200" dirty="0"/>
          </a:p>
        </p:txBody>
      </p:sp>
      <p:sp>
        <p:nvSpPr>
          <p:cNvPr id="8" name="Text 6"/>
          <p:cNvSpPr/>
          <p:nvPr/>
        </p:nvSpPr>
        <p:spPr>
          <a:xfrm>
            <a:off x="1016000" y="2467570"/>
            <a:ext cx="280439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2D2D"/>
                </a:solidFill>
                <a:latin typeface="Arial" pitchFamily="34" charset="0"/>
                <a:ea typeface="Arial" pitchFamily="34" charset="-122"/>
                <a:cs typeface="Arial" pitchFamily="34" charset="-120"/>
              </a:rPr>
              <a:t>The lightest compaction</a:t>
            </a:r>
            <a:endParaRPr lang="en-US" sz="1600" dirty="0"/>
          </a:p>
        </p:txBody>
      </p:sp>
      <p:sp>
        <p:nvSpPr>
          <p:cNvPr id="9" name="Text 7"/>
          <p:cNvSpPr/>
          <p:nvPr/>
        </p:nvSpPr>
        <p:spPr>
          <a:xfrm>
            <a:off x="1016000" y="2787600"/>
            <a:ext cx="3067495"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B6B6B"/>
                </a:solidFill>
                <a:latin typeface="Arial" pitchFamily="34" charset="0"/>
                <a:ea typeface="Arial" pitchFamily="34" charset="-122"/>
                <a:cs typeface="Arial" pitchFamily="34" charset="-120"/>
              </a:rPr>
              <a:t>Keep the fact a tool returned, drop the dump it came in, as soon as the result has been used.</a:t>
            </a:r>
            <a:endParaRPr lang="en-US" sz="1200" dirty="0"/>
          </a:p>
        </p:txBody>
      </p:sp>
      <p:sp>
        <p:nvSpPr>
          <p:cNvPr id="10" name="Shape 8"/>
          <p:cNvSpPr/>
          <p:nvPr/>
        </p:nvSpPr>
        <p:spPr>
          <a:xfrm>
            <a:off x="4403725" y="1971675"/>
            <a:ext cx="3378200" cy="1835150"/>
          </a:xfrm>
          <a:prstGeom prst="roundRect">
            <a:avLst>
              <a:gd name="adj" fmla="val 7439"/>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1" name="Text 9"/>
          <p:cNvSpPr/>
          <p:nvPr/>
        </p:nvSpPr>
        <p:spPr>
          <a:xfrm>
            <a:off x="4603750" y="2143820"/>
            <a:ext cx="2360150" cy="238323"/>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COMPACT NEAR THE LIMIT</a:t>
            </a:r>
            <a:endParaRPr lang="en-US" sz="1200" dirty="0"/>
          </a:p>
        </p:txBody>
      </p:sp>
      <p:sp>
        <p:nvSpPr>
          <p:cNvPr id="12" name="Text 10"/>
          <p:cNvSpPr/>
          <p:nvPr/>
        </p:nvSpPr>
        <p:spPr>
          <a:xfrm>
            <a:off x="4603750" y="2432943"/>
            <a:ext cx="2927271" cy="26878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2D2D"/>
                </a:solidFill>
                <a:latin typeface="Arial" pitchFamily="34" charset="0"/>
                <a:ea typeface="Arial" pitchFamily="34" charset="-122"/>
                <a:cs typeface="Arial" pitchFamily="34" charset="-120"/>
              </a:rPr>
              <a:t>Summarise the trajectory</a:t>
            </a:r>
            <a:endParaRPr lang="en-US" sz="1600" dirty="0"/>
          </a:p>
        </p:txBody>
      </p:sp>
      <p:sp>
        <p:nvSpPr>
          <p:cNvPr id="13" name="Text 11"/>
          <p:cNvSpPr/>
          <p:nvPr/>
        </p:nvSpPr>
        <p:spPr>
          <a:xfrm>
            <a:off x="4603750" y="2752527"/>
            <a:ext cx="3067495" cy="9075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B6B6B"/>
                </a:solidFill>
                <a:latin typeface="Arial" pitchFamily="34" charset="0"/>
                <a:ea typeface="Arial" pitchFamily="34" charset="-122"/>
                <a:cs typeface="Arial" pitchFamily="34" charset="-120"/>
              </a:rPr>
              <a:t>Decisions, open issues, current state and the plan survive. Redundant output and dead ends do not. Restart from the summary.</a:t>
            </a:r>
            <a:endParaRPr lang="en-US" sz="1200" dirty="0"/>
          </a:p>
        </p:txBody>
      </p:sp>
      <p:sp>
        <p:nvSpPr>
          <p:cNvPr id="14" name="Shape 12"/>
          <p:cNvSpPr/>
          <p:nvPr/>
        </p:nvSpPr>
        <p:spPr>
          <a:xfrm>
            <a:off x="7991475" y="1971675"/>
            <a:ext cx="3384550" cy="1835150"/>
          </a:xfrm>
          <a:prstGeom prst="roundRect">
            <a:avLst>
              <a:gd name="adj" fmla="val 7439"/>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5" name="Text 13"/>
          <p:cNvSpPr/>
          <p:nvPr/>
        </p:nvSpPr>
        <p:spPr>
          <a:xfrm>
            <a:off x="8191500" y="2178050"/>
            <a:ext cx="3003827"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RECALL FIRST, THEN PRECISION</a:t>
            </a:r>
            <a:endParaRPr lang="en-US" sz="1200" dirty="0"/>
          </a:p>
        </p:txBody>
      </p:sp>
      <p:sp>
        <p:nvSpPr>
          <p:cNvPr id="16" name="Text 14"/>
          <p:cNvSpPr/>
          <p:nvPr/>
        </p:nvSpPr>
        <p:spPr>
          <a:xfrm>
            <a:off x="8191500" y="2467570"/>
            <a:ext cx="205454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2D2D"/>
                </a:solidFill>
                <a:latin typeface="Arial" pitchFamily="34" charset="0"/>
                <a:ea typeface="Arial" pitchFamily="34" charset="-122"/>
                <a:cs typeface="Arial" pitchFamily="34" charset="-120"/>
              </a:rPr>
              <a:t>Tune in that order</a:t>
            </a:r>
            <a:endParaRPr lang="en-US" sz="1600" dirty="0"/>
          </a:p>
        </p:txBody>
      </p:sp>
      <p:sp>
        <p:nvSpPr>
          <p:cNvPr id="17" name="Text 15"/>
          <p:cNvSpPr/>
          <p:nvPr/>
        </p:nvSpPr>
        <p:spPr>
          <a:xfrm>
            <a:off x="8191500" y="2787600"/>
            <a:ext cx="3074035"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6B6B6B"/>
                </a:solidFill>
                <a:latin typeface="Arial" pitchFamily="34" charset="0"/>
                <a:ea typeface="Arial" pitchFamily="34" charset="-122"/>
                <a:cs typeface="Arial" pitchFamily="34" charset="-120"/>
              </a:rPr>
              <a:t>Start with a compaction that never drops a decision. Only then trim until the window is lean.</a:t>
            </a:r>
            <a:endParaRPr lang="en-US" sz="1200" dirty="0"/>
          </a:p>
        </p:txBody>
      </p:sp>
      <p:sp>
        <p:nvSpPr>
          <p:cNvPr id="18" name="Text 16"/>
          <p:cNvSpPr/>
          <p:nvPr/>
        </p:nvSpPr>
        <p:spPr>
          <a:xfrm>
            <a:off x="812800" y="4064000"/>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Courier New" pitchFamily="49" charset="0"/>
                <a:ea typeface="Courier New" pitchFamily="49" charset="-122"/>
                <a:cs typeface="Courier New" pitchFamily="49" charset="-120"/>
              </a:rPr>
              <a:t>BEFORE</a:t>
            </a:r>
            <a:endParaRPr lang="en-US" sz="1200" dirty="0"/>
          </a:p>
        </p:txBody>
      </p:sp>
      <p:sp>
        <p:nvSpPr>
          <p:cNvPr id="19" name="Shape 17"/>
          <p:cNvSpPr/>
          <p:nvPr/>
        </p:nvSpPr>
        <p:spPr>
          <a:xfrm>
            <a:off x="1905000" y="4025900"/>
            <a:ext cx="1905000" cy="254000"/>
          </a:xfrm>
          <a:custGeom>
            <a:avLst/>
            <a:gdLst/>
            <a:ahLst/>
            <a:cxnLst/>
            <a:rect l="l" t="t" r="r" b="b"/>
            <a:pathLst>
              <a:path w="1905000" h="254000">
                <a:moveTo>
                  <a:pt x="0" y="76200"/>
                </a:moveTo>
                <a:arcTo hR="76200" wR="76200" stAng="10800000" swAng="5400000"/>
                <a:lnTo>
                  <a:pt x="1905000" y="0"/>
                </a:lnTo>
                <a:lnTo>
                  <a:pt x="1905000" y="254000"/>
                </a:lnTo>
                <a:lnTo>
                  <a:pt x="76200" y="254000"/>
                </a:lnTo>
                <a:arcTo hR="76200" wR="76200" stAng="5400000" swAng="5400000"/>
                <a:close/>
              </a:path>
            </a:pathLst>
          </a:custGeom>
          <a:solidFill>
            <a:srgbClr val="36677D"/>
          </a:solidFill>
          <a:ln/>
        </p:spPr>
      </p:sp>
      <p:sp>
        <p:nvSpPr>
          <p:cNvPr id="20" name="Shape 18"/>
          <p:cNvSpPr/>
          <p:nvPr/>
        </p:nvSpPr>
        <p:spPr>
          <a:xfrm>
            <a:off x="3810000" y="4025900"/>
            <a:ext cx="7569200" cy="254000"/>
          </a:xfrm>
          <a:custGeom>
            <a:avLst/>
            <a:gdLst/>
            <a:ahLst/>
            <a:cxnLst/>
            <a:rect l="l" t="t" r="r" b="b"/>
            <a:pathLst>
              <a:path w="7569200" h="254000">
                <a:moveTo>
                  <a:pt x="7493000" y="0"/>
                </a:moveTo>
                <a:arcTo hR="76200" wR="76200" stAng="16200000" swAng="5400000"/>
                <a:lnTo>
                  <a:pt x="7569200" y="177800"/>
                </a:lnTo>
                <a:arcTo hR="76200" wR="76200" stAng="0" swAng="5400000"/>
                <a:lnTo>
                  <a:pt x="0" y="254000"/>
                </a:lnTo>
                <a:lnTo>
                  <a:pt x="0" y="0"/>
                </a:lnTo>
                <a:close/>
              </a:path>
            </a:pathLst>
          </a:custGeom>
          <a:solidFill>
            <a:srgbClr val="D9DEDD"/>
          </a:solidFill>
          <a:ln/>
        </p:spPr>
      </p:sp>
      <p:sp>
        <p:nvSpPr>
          <p:cNvPr id="21" name="Text 19"/>
          <p:cNvSpPr/>
          <p:nvPr/>
        </p:nvSpPr>
        <p:spPr>
          <a:xfrm>
            <a:off x="1905000" y="4343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120k tokens · about 20% signal: old tool dumps, repeated history, dead ends</a:t>
            </a:r>
            <a:endParaRPr lang="en-US" sz="1200" dirty="0"/>
          </a:p>
        </p:txBody>
      </p:sp>
      <p:sp>
        <p:nvSpPr>
          <p:cNvPr id="22" name="Text 20"/>
          <p:cNvSpPr/>
          <p:nvPr/>
        </p:nvSpPr>
        <p:spPr>
          <a:xfrm>
            <a:off x="812800" y="4724400"/>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Courier New" pitchFamily="49" charset="0"/>
                <a:ea typeface="Courier New" pitchFamily="49" charset="-122"/>
                <a:cs typeface="Courier New" pitchFamily="49" charset="-120"/>
              </a:rPr>
              <a:t>AFTER</a:t>
            </a:r>
            <a:endParaRPr lang="en-US" sz="1200" dirty="0"/>
          </a:p>
        </p:txBody>
      </p:sp>
      <p:sp>
        <p:nvSpPr>
          <p:cNvPr id="23" name="Shape 21"/>
          <p:cNvSpPr/>
          <p:nvPr/>
        </p:nvSpPr>
        <p:spPr>
          <a:xfrm>
            <a:off x="1905000" y="4686300"/>
            <a:ext cx="1905000" cy="254000"/>
          </a:xfrm>
          <a:custGeom>
            <a:avLst/>
            <a:gdLst/>
            <a:ahLst/>
            <a:cxnLst/>
            <a:rect l="l" t="t" r="r" b="b"/>
            <a:pathLst>
              <a:path w="1905000" h="254000">
                <a:moveTo>
                  <a:pt x="0" y="76200"/>
                </a:moveTo>
                <a:arcTo hR="76200" wR="76200" stAng="10800000" swAng="5400000"/>
                <a:lnTo>
                  <a:pt x="1905000" y="0"/>
                </a:lnTo>
                <a:lnTo>
                  <a:pt x="1905000" y="254000"/>
                </a:lnTo>
                <a:lnTo>
                  <a:pt x="76200" y="254000"/>
                </a:lnTo>
                <a:arcTo hR="76200" wR="76200" stAng="5400000" swAng="5400000"/>
                <a:close/>
              </a:path>
            </a:pathLst>
          </a:custGeom>
          <a:solidFill>
            <a:srgbClr val="36677D"/>
          </a:solidFill>
          <a:ln/>
        </p:spPr>
      </p:sp>
      <p:sp>
        <p:nvSpPr>
          <p:cNvPr id="24" name="Shape 22"/>
          <p:cNvSpPr/>
          <p:nvPr/>
        </p:nvSpPr>
        <p:spPr>
          <a:xfrm>
            <a:off x="3810000" y="4686300"/>
            <a:ext cx="508000" cy="254000"/>
          </a:xfrm>
          <a:custGeom>
            <a:avLst/>
            <a:gdLst/>
            <a:ahLst/>
            <a:cxnLst/>
            <a:rect l="l" t="t" r="r" b="b"/>
            <a:pathLst>
              <a:path w="508000" h="254000">
                <a:moveTo>
                  <a:pt x="431800" y="0"/>
                </a:moveTo>
                <a:arcTo hR="76200" wR="76200" stAng="16200000" swAng="5400000"/>
                <a:lnTo>
                  <a:pt x="508000" y="177800"/>
                </a:lnTo>
                <a:arcTo hR="76200" wR="76200" stAng="0" swAng="5400000"/>
                <a:lnTo>
                  <a:pt x="0" y="254000"/>
                </a:lnTo>
                <a:lnTo>
                  <a:pt x="0" y="0"/>
                </a:lnTo>
                <a:close/>
              </a:path>
            </a:pathLst>
          </a:custGeom>
          <a:solidFill>
            <a:srgbClr val="D9DEDD"/>
          </a:solidFill>
          <a:ln/>
        </p:spPr>
      </p:sp>
      <p:sp>
        <p:nvSpPr>
          <p:cNvPr id="25" name="Text 23"/>
          <p:cNvSpPr/>
          <p:nvPr/>
        </p:nvSpPr>
        <p:spPr>
          <a:xfrm>
            <a:off x="1905000" y="5003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30k tokens · about 80% signal: the same decisions, a quarter of the bill</a:t>
            </a:r>
            <a:endParaRPr lang="en-US" sz="1200" dirty="0"/>
          </a:p>
        </p:txBody>
      </p:sp>
      <p:sp>
        <p:nvSpPr>
          <p:cNvPr id="26" name="Text 24"/>
          <p:cNvSpPr/>
          <p:nvPr/>
        </p:nvSpPr>
        <p:spPr>
          <a:xfrm>
            <a:off x="812800" y="54610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D2D2D"/>
                </a:solidFill>
                <a:latin typeface="Arial" pitchFamily="34" charset="0"/>
                <a:ea typeface="Arial" pitchFamily="34" charset="-122"/>
                <a:cs typeface="Arial" pitchFamily="34" charset="-120"/>
              </a:rPr>
              <a:t>Compaction is a memory operation done inside the window. Write the summary back to memory, not only to the prompt.</a:t>
            </a:r>
            <a:endParaRPr lang="en-US" sz="1400" dirty="0"/>
          </a:p>
        </p:txBody>
      </p:sp>
      <p:sp>
        <p:nvSpPr>
          <p:cNvPr id="27" name="Text 2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CONTEXT ENGINEERING TECHNIQUE 3</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Offloading: window, database, operations</a:t>
            </a:r>
            <a:endParaRPr lang="en-US" sz="2800" dirty="0"/>
          </a:p>
        </p:txBody>
      </p:sp>
      <p:sp>
        <p:nvSpPr>
          <p:cNvPr id="5" name="Shape 3"/>
          <p:cNvSpPr/>
          <p:nvPr/>
        </p:nvSpPr>
        <p:spPr>
          <a:xfrm>
            <a:off x="815975" y="1501775"/>
            <a:ext cx="3549650" cy="3676650"/>
          </a:xfrm>
          <a:prstGeom prst="roundRect">
            <a:avLst>
              <a:gd name="adj" fmla="val 384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6" name="Text 4"/>
          <p:cNvSpPr/>
          <p:nvPr/>
        </p:nvSpPr>
        <p:spPr>
          <a:xfrm>
            <a:off x="965200" y="16256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CONTEXT WINDOW · 200k budget</a:t>
            </a:r>
            <a:endParaRPr lang="en-US" sz="1200" dirty="0"/>
          </a:p>
        </p:txBody>
      </p:sp>
      <p:sp>
        <p:nvSpPr>
          <p:cNvPr id="7" name="Shape 5"/>
          <p:cNvSpPr/>
          <p:nvPr/>
        </p:nvSpPr>
        <p:spPr>
          <a:xfrm>
            <a:off x="969963" y="2417763"/>
            <a:ext cx="3241675" cy="422275"/>
          </a:xfrm>
          <a:prstGeom prst="roundRect">
            <a:avLst>
              <a:gd name="adj" fmla="val 22932"/>
            </a:avLst>
          </a:prstGeom>
          <a:solidFill>
            <a:srgbClr val="DEB068">
              <a:alpha val="16000"/>
            </a:srgbClr>
          </a:solidFill>
          <a:ln w="9525">
            <a:solidFill>
              <a:srgbClr val="DEB068">
                <a:alpha val="60000"/>
              </a:srgbClr>
            </a:solidFill>
            <a:prstDash val="solid"/>
          </a:ln>
        </p:spPr>
      </p:sp>
      <p:sp>
        <p:nvSpPr>
          <p:cNvPr id="8" name="Text 6"/>
          <p:cNvSpPr/>
          <p:nvPr/>
        </p:nvSpPr>
        <p:spPr>
          <a:xfrm>
            <a:off x="1066800" y="2422525"/>
            <a:ext cx="1122065"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System prompt</a:t>
            </a:r>
            <a:endParaRPr lang="en-US" sz="1159" dirty="0"/>
          </a:p>
        </p:txBody>
      </p:sp>
      <p:sp>
        <p:nvSpPr>
          <p:cNvPr id="9" name="Text 7"/>
          <p:cNvSpPr/>
          <p:nvPr/>
        </p:nvSpPr>
        <p:spPr>
          <a:xfrm>
            <a:off x="1066800" y="2635250"/>
            <a:ext cx="206226"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2k</a:t>
            </a:r>
            <a:endParaRPr lang="en-US" sz="1159" dirty="0"/>
          </a:p>
        </p:txBody>
      </p:sp>
      <p:sp>
        <p:nvSpPr>
          <p:cNvPr id="10" name="Shape 8"/>
          <p:cNvSpPr/>
          <p:nvPr/>
        </p:nvSpPr>
        <p:spPr>
          <a:xfrm>
            <a:off x="969963" y="2874963"/>
            <a:ext cx="3241675" cy="422275"/>
          </a:xfrm>
          <a:prstGeom prst="roundRect">
            <a:avLst>
              <a:gd name="adj" fmla="val 22932"/>
            </a:avLst>
          </a:prstGeom>
          <a:solidFill>
            <a:srgbClr val="DEB068">
              <a:alpha val="16000"/>
            </a:srgbClr>
          </a:solidFill>
          <a:ln w="9525">
            <a:solidFill>
              <a:srgbClr val="DEB068">
                <a:alpha val="60000"/>
              </a:srgbClr>
            </a:solidFill>
            <a:prstDash val="solid"/>
          </a:ln>
        </p:spPr>
      </p:sp>
      <p:sp>
        <p:nvSpPr>
          <p:cNvPr id="11" name="Text 9"/>
          <p:cNvSpPr/>
          <p:nvPr/>
        </p:nvSpPr>
        <p:spPr>
          <a:xfrm>
            <a:off x="1066800" y="2879725"/>
            <a:ext cx="1135261"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Tool definitions</a:t>
            </a:r>
            <a:endParaRPr lang="en-US" sz="1159" dirty="0"/>
          </a:p>
        </p:txBody>
      </p:sp>
      <p:sp>
        <p:nvSpPr>
          <p:cNvPr id="12" name="Text 10"/>
          <p:cNvSpPr/>
          <p:nvPr/>
        </p:nvSpPr>
        <p:spPr>
          <a:xfrm>
            <a:off x="1066800" y="3092450"/>
            <a:ext cx="206226"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6k</a:t>
            </a:r>
            <a:endParaRPr lang="en-US" sz="1159" dirty="0"/>
          </a:p>
        </p:txBody>
      </p:sp>
      <p:sp>
        <p:nvSpPr>
          <p:cNvPr id="13" name="Shape 11"/>
          <p:cNvSpPr/>
          <p:nvPr/>
        </p:nvSpPr>
        <p:spPr>
          <a:xfrm>
            <a:off x="969963" y="3332163"/>
            <a:ext cx="3241675" cy="422275"/>
          </a:xfrm>
          <a:prstGeom prst="roundRect">
            <a:avLst>
              <a:gd name="adj" fmla="val 22932"/>
            </a:avLst>
          </a:prstGeom>
          <a:solidFill>
            <a:srgbClr val="C74634">
              <a:alpha val="10000"/>
            </a:srgbClr>
          </a:solidFill>
          <a:ln w="9525">
            <a:solidFill>
              <a:srgbClr val="C74634">
                <a:alpha val="50000"/>
              </a:srgbClr>
            </a:solidFill>
            <a:prstDash val="solid"/>
          </a:ln>
        </p:spPr>
      </p:sp>
      <p:sp>
        <p:nvSpPr>
          <p:cNvPr id="14" name="Text 12"/>
          <p:cNvSpPr/>
          <p:nvPr/>
        </p:nvSpPr>
        <p:spPr>
          <a:xfrm>
            <a:off x="1066800" y="3336925"/>
            <a:ext cx="1269554"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Recalled memory</a:t>
            </a:r>
            <a:endParaRPr lang="en-US" sz="1159" dirty="0"/>
          </a:p>
        </p:txBody>
      </p:sp>
      <p:sp>
        <p:nvSpPr>
          <p:cNvPr id="15" name="Text 13"/>
          <p:cNvSpPr/>
          <p:nvPr/>
        </p:nvSpPr>
        <p:spPr>
          <a:xfrm>
            <a:off x="1066800" y="3549650"/>
            <a:ext cx="288082"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18k</a:t>
            </a:r>
            <a:endParaRPr lang="en-US" sz="1159" dirty="0"/>
          </a:p>
        </p:txBody>
      </p:sp>
      <p:sp>
        <p:nvSpPr>
          <p:cNvPr id="16" name="Shape 14"/>
          <p:cNvSpPr/>
          <p:nvPr/>
        </p:nvSpPr>
        <p:spPr>
          <a:xfrm>
            <a:off x="969963" y="3789363"/>
            <a:ext cx="3241675" cy="422275"/>
          </a:xfrm>
          <a:prstGeom prst="roundRect">
            <a:avLst>
              <a:gd name="adj" fmla="val 22932"/>
            </a:avLst>
          </a:prstGeom>
          <a:solidFill>
            <a:srgbClr val="36677D">
              <a:alpha val="12000"/>
            </a:srgbClr>
          </a:solidFill>
          <a:ln w="9525">
            <a:solidFill>
              <a:srgbClr val="36677D"/>
            </a:solidFill>
            <a:prstDash val="solid"/>
          </a:ln>
        </p:spPr>
      </p:sp>
      <p:sp>
        <p:nvSpPr>
          <p:cNvPr id="17" name="Text 15"/>
          <p:cNvSpPr/>
          <p:nvPr/>
        </p:nvSpPr>
        <p:spPr>
          <a:xfrm>
            <a:off x="1066800" y="3794125"/>
            <a:ext cx="754360"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Messages</a:t>
            </a:r>
            <a:endParaRPr lang="en-US" sz="1159" dirty="0"/>
          </a:p>
        </p:txBody>
      </p:sp>
      <p:sp>
        <p:nvSpPr>
          <p:cNvPr id="18" name="Text 16"/>
          <p:cNvSpPr/>
          <p:nvPr/>
        </p:nvSpPr>
        <p:spPr>
          <a:xfrm>
            <a:off x="1066800" y="4006850"/>
            <a:ext cx="288082"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40k</a:t>
            </a:r>
            <a:endParaRPr lang="en-US" sz="1159" dirty="0"/>
          </a:p>
        </p:txBody>
      </p:sp>
      <p:sp>
        <p:nvSpPr>
          <p:cNvPr id="19" name="Shape 17"/>
          <p:cNvSpPr/>
          <p:nvPr/>
        </p:nvSpPr>
        <p:spPr>
          <a:xfrm>
            <a:off x="971550" y="4248150"/>
            <a:ext cx="3238500" cy="419100"/>
          </a:xfrm>
          <a:prstGeom prst="roundRect">
            <a:avLst>
              <a:gd name="adj" fmla="val 22727"/>
            </a:avLst>
          </a:prstGeom>
          <a:solidFill>
            <a:srgbClr val="C74634">
              <a:alpha val="18000"/>
            </a:srgbClr>
          </a:solidFill>
          <a:ln w="12700">
            <a:solidFill>
              <a:srgbClr val="C74634"/>
            </a:solidFill>
            <a:prstDash val="solid"/>
          </a:ln>
        </p:spPr>
      </p:sp>
      <p:sp>
        <p:nvSpPr>
          <p:cNvPr id="20" name="Text 18"/>
          <p:cNvSpPr/>
          <p:nvPr/>
        </p:nvSpPr>
        <p:spPr>
          <a:xfrm>
            <a:off x="1066800" y="4254500"/>
            <a:ext cx="902295" cy="222250"/>
          </a:xfrm>
          <a:prstGeom prst="rect">
            <a:avLst/>
          </a:prstGeom>
          <a:noFill/>
          <a:ln/>
        </p:spPr>
        <p:txBody>
          <a:bodyPr wrap="none" lIns="0" tIns="0" rIns="0" bIns="0" rtlCol="0" anchor="t">
            <a:normAutofit/>
          </a:bodyPr>
          <a:lstStyle/>
          <a:p>
            <a:pPr algn="l" indent="0" marL="0">
              <a:lnSpc>
                <a:spcPts val="1570"/>
              </a:lnSpc>
              <a:buNone/>
            </a:pPr>
            <a:r>
              <a:rPr lang="en-US" sz="1121" b="1" dirty="0">
                <a:solidFill>
                  <a:srgbClr val="2D2D2D"/>
                </a:solidFill>
                <a:latin typeface="Arial" pitchFamily="34" charset="0"/>
                <a:ea typeface="Arial" pitchFamily="34" charset="-122"/>
                <a:cs typeface="Arial" pitchFamily="34" charset="-120"/>
              </a:rPr>
              <a:t>Tool outputs</a:t>
            </a:r>
            <a:endParaRPr lang="en-US" sz="1121" dirty="0"/>
          </a:p>
        </p:txBody>
      </p:sp>
      <p:sp>
        <p:nvSpPr>
          <p:cNvPr id="21" name="Text 19"/>
          <p:cNvSpPr/>
          <p:nvPr/>
        </p:nvSpPr>
        <p:spPr>
          <a:xfrm>
            <a:off x="1066800" y="4464050"/>
            <a:ext cx="1681113" cy="222250"/>
          </a:xfrm>
          <a:prstGeom prst="rect">
            <a:avLst/>
          </a:prstGeom>
          <a:noFill/>
          <a:ln/>
        </p:spPr>
        <p:txBody>
          <a:bodyPr wrap="none" lIns="0" tIns="0" rIns="0" bIns="0" rtlCol="0" anchor="t">
            <a:normAutofit/>
          </a:bodyPr>
          <a:lstStyle/>
          <a:p>
            <a:pPr algn="l" indent="0" marL="0">
              <a:lnSpc>
                <a:spcPts val="1570"/>
              </a:lnSpc>
              <a:buNone/>
            </a:pPr>
            <a:r>
              <a:rPr lang="en-US" sz="1121" dirty="0">
                <a:solidFill>
                  <a:srgbClr val="6B6B6B"/>
                </a:solidFill>
                <a:latin typeface="Arial" pitchFamily="34" charset="0"/>
                <a:ea typeface="Arial" pitchFamily="34" charset="-122"/>
                <a:cs typeface="Arial" pitchFamily="34" charset="-120"/>
              </a:rPr>
              <a:t>78k · largest, lowest utility</a:t>
            </a:r>
            <a:endParaRPr lang="en-US" sz="1121" dirty="0"/>
          </a:p>
        </p:txBody>
      </p:sp>
      <p:sp>
        <p:nvSpPr>
          <p:cNvPr id="22" name="Shape 20"/>
          <p:cNvSpPr/>
          <p:nvPr/>
        </p:nvSpPr>
        <p:spPr>
          <a:xfrm>
            <a:off x="969963" y="4703763"/>
            <a:ext cx="3241675" cy="422275"/>
          </a:xfrm>
          <a:prstGeom prst="roundRect">
            <a:avLst>
              <a:gd name="adj" fmla="val 22932"/>
            </a:avLst>
          </a:prstGeom>
          <a:solidFill>
            <a:srgbClr val="FFFFFF"/>
          </a:solidFill>
          <a:ln w="9525">
            <a:solidFill>
              <a:srgbClr val="31535C">
                <a:alpha val="30000"/>
              </a:srgbClr>
            </a:solidFill>
            <a:prstDash val="solid"/>
          </a:ln>
        </p:spPr>
      </p:sp>
      <p:sp>
        <p:nvSpPr>
          <p:cNvPr id="23" name="Text 21"/>
          <p:cNvSpPr/>
          <p:nvPr/>
        </p:nvSpPr>
        <p:spPr>
          <a:xfrm>
            <a:off x="1066800" y="4708525"/>
            <a:ext cx="819696"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User query</a:t>
            </a:r>
            <a:endParaRPr lang="en-US" sz="1159" dirty="0"/>
          </a:p>
        </p:txBody>
      </p:sp>
      <p:sp>
        <p:nvSpPr>
          <p:cNvPr id="24" name="Text 22"/>
          <p:cNvSpPr/>
          <p:nvPr/>
        </p:nvSpPr>
        <p:spPr>
          <a:xfrm>
            <a:off x="1066800" y="4921250"/>
            <a:ext cx="328960"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0.4k</a:t>
            </a:r>
            <a:endParaRPr lang="en-US" sz="1159" dirty="0"/>
          </a:p>
        </p:txBody>
      </p:sp>
      <p:sp>
        <p:nvSpPr>
          <p:cNvPr id="25" name="Shape 23"/>
          <p:cNvSpPr/>
          <p:nvPr/>
        </p:nvSpPr>
        <p:spPr>
          <a:xfrm>
            <a:off x="965200" y="1905000"/>
            <a:ext cx="3251200" cy="177800"/>
          </a:xfrm>
          <a:prstGeom prst="roundRect">
            <a:avLst>
              <a:gd name="adj" fmla="val 28571"/>
            </a:avLst>
          </a:prstGeom>
          <a:solidFill>
            <a:srgbClr val="D9DEDD"/>
          </a:solidFill>
          <a:ln/>
        </p:spPr>
      </p:sp>
      <p:sp>
        <p:nvSpPr>
          <p:cNvPr id="26" name="Shape 24"/>
          <p:cNvSpPr/>
          <p:nvPr/>
        </p:nvSpPr>
        <p:spPr>
          <a:xfrm>
            <a:off x="965200" y="1905000"/>
            <a:ext cx="2336800" cy="177800"/>
          </a:xfrm>
          <a:custGeom>
            <a:avLst/>
            <a:gdLst/>
            <a:ahLst/>
            <a:cxnLst/>
            <a:rect l="l" t="t" r="r" b="b"/>
            <a:pathLst>
              <a:path w="2336800" h="177800">
                <a:moveTo>
                  <a:pt x="0" y="50800"/>
                </a:moveTo>
                <a:arcTo hR="50800" wR="50800" stAng="10800000" swAng="5400000"/>
                <a:lnTo>
                  <a:pt x="2336800" y="0"/>
                </a:lnTo>
                <a:lnTo>
                  <a:pt x="2336800" y="177800"/>
                </a:lnTo>
                <a:lnTo>
                  <a:pt x="50800" y="177800"/>
                </a:lnTo>
                <a:arcTo hR="50800" wR="50800" stAng="5400000" swAng="5400000"/>
                <a:close/>
              </a:path>
            </a:pathLst>
          </a:custGeom>
          <a:solidFill>
            <a:srgbClr val="36677D"/>
          </a:solidFill>
          <a:ln/>
        </p:spPr>
      </p:sp>
      <p:sp>
        <p:nvSpPr>
          <p:cNvPr id="27" name="Shape 25"/>
          <p:cNvSpPr/>
          <p:nvPr/>
        </p:nvSpPr>
        <p:spPr>
          <a:xfrm>
            <a:off x="3549650" y="1866900"/>
            <a:ext cx="25400" cy="254000"/>
          </a:xfrm>
          <a:prstGeom prst="roundRect">
            <a:avLst>
              <a:gd name="adj" fmla="val 50000"/>
            </a:avLst>
          </a:prstGeom>
          <a:solidFill>
            <a:srgbClr val="2D2D2D"/>
          </a:solidFill>
          <a:ln/>
        </p:spPr>
      </p:sp>
      <p:sp>
        <p:nvSpPr>
          <p:cNvPr id="28" name="Text 26"/>
          <p:cNvSpPr/>
          <p:nvPr/>
        </p:nvSpPr>
        <p:spPr>
          <a:xfrm>
            <a:off x="965200" y="21336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72% used · threshold 80% · reserve 16k</a:t>
            </a:r>
            <a:endParaRPr lang="en-US" sz="1200" dirty="0"/>
          </a:p>
        </p:txBody>
      </p:sp>
      <p:sp>
        <p:nvSpPr>
          <p:cNvPr id="29" name="Shape 27"/>
          <p:cNvSpPr/>
          <p:nvPr/>
        </p:nvSpPr>
        <p:spPr>
          <a:xfrm>
            <a:off x="7826375" y="1501775"/>
            <a:ext cx="3549650" cy="3676650"/>
          </a:xfrm>
          <a:prstGeom prst="roundRect">
            <a:avLst>
              <a:gd name="adj" fmla="val 3846"/>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30" name="Text 28"/>
          <p:cNvSpPr/>
          <p:nvPr/>
        </p:nvSpPr>
        <p:spPr>
          <a:xfrm>
            <a:off x="7975600" y="1625600"/>
            <a:ext cx="33487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7A2A"/>
                </a:solidFill>
                <a:latin typeface="Courier New" pitchFamily="49" charset="0"/>
                <a:ea typeface="Courier New" pitchFamily="49" charset="-122"/>
                <a:cs typeface="Courier New" pitchFamily="49" charset="-120"/>
              </a:rPr>
              <a:t>DATABASE · the offload target</a:t>
            </a:r>
            <a:endParaRPr lang="en-US" sz="1200" dirty="0"/>
          </a:p>
        </p:txBody>
      </p:sp>
      <p:sp>
        <p:nvSpPr>
          <p:cNvPr id="31" name="Shape 29"/>
          <p:cNvSpPr/>
          <p:nvPr/>
        </p:nvSpPr>
        <p:spPr>
          <a:xfrm>
            <a:off x="7978775" y="1908175"/>
            <a:ext cx="3244850" cy="755650"/>
          </a:xfrm>
          <a:prstGeom prst="roundRect">
            <a:avLst>
              <a:gd name="adj" fmla="val 11345"/>
            </a:avLst>
          </a:prstGeom>
          <a:solidFill>
            <a:srgbClr val="FFFFFF"/>
          </a:solidFill>
          <a:ln w="6350">
            <a:solidFill>
              <a:srgbClr val="31535C">
                <a:alpha val="20000"/>
              </a:srgbClr>
            </a:solidFill>
            <a:prstDash val="solid"/>
          </a:ln>
        </p:spPr>
      </p:sp>
      <p:sp>
        <p:nvSpPr>
          <p:cNvPr id="32" name="Text 30"/>
          <p:cNvSpPr/>
          <p:nvPr/>
        </p:nvSpPr>
        <p:spPr>
          <a:xfrm>
            <a:off x="8077200" y="2012950"/>
            <a:ext cx="8779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2D2D"/>
                </a:solidFill>
                <a:latin typeface="Courier New" pitchFamily="49" charset="0"/>
                <a:ea typeface="Courier New" pitchFamily="49" charset="-122"/>
                <a:cs typeface="Courier New" pitchFamily="49" charset="-120"/>
              </a:rPr>
              <a:t>tool_log</a:t>
            </a:r>
            <a:endParaRPr lang="en-US" sz="1200" dirty="0"/>
          </a:p>
        </p:txBody>
      </p:sp>
      <p:sp>
        <p:nvSpPr>
          <p:cNvPr id="33" name="Text 31"/>
          <p:cNvSpPr/>
          <p:nvPr/>
        </p:nvSpPr>
        <p:spPr>
          <a:xfrm>
            <a:off x="8077200" y="2251670"/>
            <a:ext cx="314325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id, step, summary, payload, tokens, path</a:t>
            </a:r>
            <a:endParaRPr lang="en-US" sz="1200" dirty="0"/>
          </a:p>
        </p:txBody>
      </p:sp>
      <p:sp>
        <p:nvSpPr>
          <p:cNvPr id="34" name="Shape 32"/>
          <p:cNvSpPr/>
          <p:nvPr/>
        </p:nvSpPr>
        <p:spPr>
          <a:xfrm>
            <a:off x="7978775" y="2708275"/>
            <a:ext cx="3244850" cy="755650"/>
          </a:xfrm>
          <a:prstGeom prst="roundRect">
            <a:avLst>
              <a:gd name="adj" fmla="val 11345"/>
            </a:avLst>
          </a:prstGeom>
          <a:solidFill>
            <a:srgbClr val="FFFFFF"/>
          </a:solidFill>
          <a:ln w="6350">
            <a:solidFill>
              <a:srgbClr val="31535C">
                <a:alpha val="20000"/>
              </a:srgbClr>
            </a:solidFill>
            <a:prstDash val="solid"/>
          </a:ln>
        </p:spPr>
      </p:sp>
      <p:sp>
        <p:nvSpPr>
          <p:cNvPr id="35" name="Text 33"/>
          <p:cNvSpPr/>
          <p:nvPr/>
        </p:nvSpPr>
        <p:spPr>
          <a:xfrm>
            <a:off x="8077200" y="2762597"/>
            <a:ext cx="875228" cy="237629"/>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2D2D2D"/>
                </a:solidFill>
                <a:latin typeface="Courier New" pitchFamily="49" charset="0"/>
                <a:ea typeface="Courier New" pitchFamily="49" charset="-122"/>
                <a:cs typeface="Courier New" pitchFamily="49" charset="-120"/>
              </a:rPr>
              <a:t>memories</a:t>
            </a:r>
            <a:endParaRPr lang="en-US" sz="1196" dirty="0"/>
          </a:p>
        </p:txBody>
      </p:sp>
      <p:sp>
        <p:nvSpPr>
          <p:cNvPr id="36" name="Text 34"/>
          <p:cNvSpPr/>
          <p:nvPr/>
        </p:nvSpPr>
        <p:spPr>
          <a:xfrm>
            <a:off x="8077200" y="3000226"/>
            <a:ext cx="3139440" cy="434727"/>
          </a:xfrm>
          <a:prstGeom prst="rect">
            <a:avLst/>
          </a:prstGeom>
          <a:noFill/>
          <a:ln/>
        </p:spPr>
        <p:txBody>
          <a:bodyPr wrap="square" lIns="0" tIns="0" rIns="0" bIns="0" rtlCol="0" anchor="t">
            <a:normAutofit/>
          </a:bodyPr>
          <a:lstStyle/>
          <a:p>
            <a:pPr algn="l" indent="0" marL="0">
              <a:lnSpc>
                <a:spcPts val="1610"/>
              </a:lnSpc>
              <a:buNone/>
            </a:pPr>
            <a:r>
              <a:rPr lang="en-US" sz="1193" dirty="0">
                <a:solidFill>
                  <a:srgbClr val="6B6B6B"/>
                </a:solidFill>
                <a:latin typeface="Arial" pitchFamily="34" charset="0"/>
                <a:ea typeface="Arial" pitchFamily="34" charset="-122"/>
                <a:cs typeface="Arial" pitchFamily="34" charset="-120"/>
              </a:rPr>
              <a:t>typed rows: fact, preference, guideline, episode</a:t>
            </a:r>
            <a:endParaRPr lang="en-US" sz="1193" dirty="0"/>
          </a:p>
        </p:txBody>
      </p:sp>
      <p:sp>
        <p:nvSpPr>
          <p:cNvPr id="37" name="Shape 35"/>
          <p:cNvSpPr/>
          <p:nvPr/>
        </p:nvSpPr>
        <p:spPr>
          <a:xfrm>
            <a:off x="7978775" y="3508375"/>
            <a:ext cx="3244850" cy="755650"/>
          </a:xfrm>
          <a:prstGeom prst="roundRect">
            <a:avLst>
              <a:gd name="adj" fmla="val 11345"/>
            </a:avLst>
          </a:prstGeom>
          <a:solidFill>
            <a:srgbClr val="FFFFFF"/>
          </a:solidFill>
          <a:ln w="6350">
            <a:solidFill>
              <a:srgbClr val="31535C">
                <a:alpha val="20000"/>
              </a:srgbClr>
            </a:solidFill>
            <a:prstDash val="solid"/>
          </a:ln>
        </p:spPr>
      </p:sp>
      <p:sp>
        <p:nvSpPr>
          <p:cNvPr id="38" name="Text 36"/>
          <p:cNvSpPr/>
          <p:nvPr/>
        </p:nvSpPr>
        <p:spPr>
          <a:xfrm>
            <a:off x="8077200" y="3613150"/>
            <a:ext cx="9877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2D2D"/>
                </a:solidFill>
                <a:latin typeface="Courier New" pitchFamily="49" charset="0"/>
                <a:ea typeface="Courier New" pitchFamily="49" charset="-122"/>
                <a:cs typeface="Courier New" pitchFamily="49" charset="-120"/>
              </a:rPr>
              <a:t>summaries</a:t>
            </a:r>
            <a:endParaRPr lang="en-US" sz="1200" dirty="0"/>
          </a:p>
        </p:txBody>
      </p:sp>
      <p:sp>
        <p:nvSpPr>
          <p:cNvPr id="39" name="Text 37"/>
          <p:cNvSpPr/>
          <p:nvPr/>
        </p:nvSpPr>
        <p:spPr>
          <a:xfrm>
            <a:off x="8077200" y="3851870"/>
            <a:ext cx="314325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one rolling summary per thread, versioned</a:t>
            </a:r>
            <a:endParaRPr lang="en-US" sz="1200" dirty="0"/>
          </a:p>
        </p:txBody>
      </p:sp>
      <p:sp>
        <p:nvSpPr>
          <p:cNvPr id="40" name="Shape 38"/>
          <p:cNvSpPr/>
          <p:nvPr/>
        </p:nvSpPr>
        <p:spPr>
          <a:xfrm>
            <a:off x="7978775" y="4308475"/>
            <a:ext cx="3244850" cy="755650"/>
          </a:xfrm>
          <a:prstGeom prst="roundRect">
            <a:avLst>
              <a:gd name="adj" fmla="val 11345"/>
            </a:avLst>
          </a:prstGeom>
          <a:solidFill>
            <a:srgbClr val="FFFFFF"/>
          </a:solidFill>
          <a:ln w="6350">
            <a:solidFill>
              <a:srgbClr val="31535C">
                <a:alpha val="20000"/>
              </a:srgbClr>
            </a:solidFill>
            <a:prstDash val="solid"/>
          </a:ln>
        </p:spPr>
      </p:sp>
      <p:sp>
        <p:nvSpPr>
          <p:cNvPr id="41" name="Text 39"/>
          <p:cNvSpPr/>
          <p:nvPr/>
        </p:nvSpPr>
        <p:spPr>
          <a:xfrm>
            <a:off x="8077200" y="4413250"/>
            <a:ext cx="5487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2D2D"/>
                </a:solidFill>
                <a:latin typeface="Courier New" pitchFamily="49" charset="0"/>
                <a:ea typeface="Courier New" pitchFamily="49" charset="-122"/>
                <a:cs typeface="Courier New" pitchFamily="49" charset="-120"/>
              </a:rPr>
              <a:t>files</a:t>
            </a:r>
            <a:endParaRPr lang="en-US" sz="1200" dirty="0"/>
          </a:p>
        </p:txBody>
      </p:sp>
      <p:sp>
        <p:nvSpPr>
          <p:cNvPr id="42" name="Text 40"/>
          <p:cNvSpPr/>
          <p:nvPr/>
        </p:nvSpPr>
        <p:spPr>
          <a:xfrm>
            <a:off x="8077200" y="4651970"/>
            <a:ext cx="314325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documents and blobs, with a path and a size</a:t>
            </a:r>
            <a:endParaRPr lang="en-US" sz="1200" dirty="0"/>
          </a:p>
        </p:txBody>
      </p:sp>
      <p:pic>
        <p:nvPicPr>
          <p:cNvPr id="43" name="Image 0" descr="MONITOR · every turn">    </p:cNvPr>
          <p:cNvPicPr>
            <a:picLocks noChangeAspect="1"/>
          </p:cNvPicPr>
          <p:nvPr/>
        </p:nvPicPr>
        <p:blipFill>
          <a:blip r:embed="rId1"/>
          <a:srcRect l="0" r="0" t="0" b="0"/>
          <a:stretch/>
        </p:blipFill>
        <p:spPr>
          <a:xfrm>
            <a:off x="0" y="0"/>
            <a:ext cx="12192000" cy="6858000"/>
          </a:xfrm>
          <a:prstGeom prst="rect">
            <a:avLst/>
          </a:prstGeom>
        </p:spPr>
      </p:pic>
      <p:sp>
        <p:nvSpPr>
          <p:cNvPr id="44" name="Shape 41"/>
          <p:cNvSpPr/>
          <p:nvPr/>
        </p:nvSpPr>
        <p:spPr>
          <a:xfrm>
            <a:off x="4703763" y="2011363"/>
            <a:ext cx="2784475" cy="981075"/>
          </a:xfrm>
          <a:prstGeom prst="roundRect">
            <a:avLst>
              <a:gd name="adj" fmla="val 8576"/>
            </a:avLst>
          </a:prstGeom>
          <a:solidFill>
            <a:srgbClr val="FFFFFF"/>
          </a:solidFill>
          <a:ln w="9525">
            <a:solidFill>
              <a:srgbClr val="A87A2A"/>
            </a:solidFill>
            <a:prstDash val="solid"/>
          </a:ln>
        </p:spPr>
      </p:sp>
      <p:sp>
        <p:nvSpPr>
          <p:cNvPr id="45" name="Text 42"/>
          <p:cNvSpPr/>
          <p:nvPr/>
        </p:nvSpPr>
        <p:spPr>
          <a:xfrm>
            <a:off x="4800600" y="2069654"/>
            <a:ext cx="2139714" cy="237679"/>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A87A2A"/>
                </a:solidFill>
                <a:latin typeface="Courier New" pitchFamily="49" charset="0"/>
                <a:ea typeface="Courier New" pitchFamily="49" charset="-122"/>
                <a:cs typeface="Courier New" pitchFamily="49" charset="-120"/>
              </a:rPr>
              <a:t>MONITOR · every turn</a:t>
            </a:r>
            <a:endParaRPr lang="en-US" sz="1196" dirty="0"/>
          </a:p>
        </p:txBody>
      </p:sp>
      <p:sp>
        <p:nvSpPr>
          <p:cNvPr id="46" name="Text 43"/>
          <p:cNvSpPr/>
          <p:nvPr/>
        </p:nvSpPr>
        <p:spPr>
          <a:xfrm>
            <a:off x="4800600" y="2320032"/>
            <a:ext cx="2668524" cy="6395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Count tokens per segment after every call. Thresholds decide what moves, and when.</a:t>
            </a:r>
            <a:endParaRPr lang="en-US" sz="1200" dirty="0"/>
          </a:p>
        </p:txBody>
      </p:sp>
      <p:pic>
        <p:nvPicPr>
          <p:cNvPr id="47" name="Image 1" descr="OFFLOAD · write">    </p:cNvPr>
          <p:cNvPicPr>
            <a:picLocks noChangeAspect="1"/>
          </p:cNvPicPr>
          <p:nvPr/>
        </p:nvPicPr>
        <p:blipFill>
          <a:blip r:embed="rId2"/>
          <a:srcRect l="0" r="0" t="0" b="0"/>
          <a:stretch/>
        </p:blipFill>
        <p:spPr>
          <a:xfrm>
            <a:off x="0" y="0"/>
            <a:ext cx="12192000" cy="6858000"/>
          </a:xfrm>
          <a:prstGeom prst="rect">
            <a:avLst/>
          </a:prstGeom>
        </p:spPr>
      </p:pic>
      <p:sp>
        <p:nvSpPr>
          <p:cNvPr id="48" name="Shape 44"/>
          <p:cNvSpPr/>
          <p:nvPr/>
        </p:nvSpPr>
        <p:spPr>
          <a:xfrm>
            <a:off x="4703763" y="3040063"/>
            <a:ext cx="2784475" cy="981075"/>
          </a:xfrm>
          <a:prstGeom prst="roundRect">
            <a:avLst>
              <a:gd name="adj" fmla="val 8576"/>
            </a:avLst>
          </a:prstGeom>
          <a:solidFill>
            <a:srgbClr val="FFFFFF"/>
          </a:solidFill>
          <a:ln w="9525">
            <a:solidFill>
              <a:srgbClr val="C74634"/>
            </a:solidFill>
            <a:prstDash val="solid"/>
          </a:ln>
        </p:spPr>
      </p:sp>
      <p:sp>
        <p:nvSpPr>
          <p:cNvPr id="49" name="Text 45"/>
          <p:cNvSpPr/>
          <p:nvPr/>
        </p:nvSpPr>
        <p:spPr>
          <a:xfrm>
            <a:off x="4800600" y="3098354"/>
            <a:ext cx="1608882" cy="237679"/>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C74634"/>
                </a:solidFill>
                <a:latin typeface="Courier New" pitchFamily="49" charset="0"/>
                <a:ea typeface="Courier New" pitchFamily="49" charset="-122"/>
                <a:cs typeface="Courier New" pitchFamily="49" charset="-120"/>
              </a:rPr>
              <a:t>OFFLOAD · write</a:t>
            </a:r>
            <a:endParaRPr lang="en-US" sz="1196" dirty="0"/>
          </a:p>
        </p:txBody>
      </p:sp>
      <p:sp>
        <p:nvSpPr>
          <p:cNvPr id="50" name="Text 46"/>
          <p:cNvSpPr/>
          <p:nvPr/>
        </p:nvSpPr>
        <p:spPr>
          <a:xfrm>
            <a:off x="4800600" y="3348732"/>
            <a:ext cx="2668524" cy="6395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Summarise the segment, store the payload, keep a reference in the window: id, path, size.</a:t>
            </a:r>
            <a:endParaRPr lang="en-US" sz="1200" dirty="0"/>
          </a:p>
        </p:txBody>
      </p:sp>
      <p:pic>
        <p:nvPicPr>
          <p:cNvPr id="51" name="Image 2" descr="RETRIEVE · read">    </p:cNvPr>
          <p:cNvPicPr>
            <a:picLocks noChangeAspect="1"/>
          </p:cNvPicPr>
          <p:nvPr/>
        </p:nvPicPr>
        <p:blipFill>
          <a:blip r:embed="rId3"/>
          <a:srcRect l="0" r="0" t="0" b="0"/>
          <a:stretch/>
        </p:blipFill>
        <p:spPr>
          <a:xfrm>
            <a:off x="0" y="0"/>
            <a:ext cx="12192000" cy="6858000"/>
          </a:xfrm>
          <a:prstGeom prst="rect">
            <a:avLst/>
          </a:prstGeom>
        </p:spPr>
      </p:pic>
      <p:sp>
        <p:nvSpPr>
          <p:cNvPr id="52" name="Shape 47"/>
          <p:cNvSpPr/>
          <p:nvPr/>
        </p:nvSpPr>
        <p:spPr>
          <a:xfrm>
            <a:off x="4703763" y="4068763"/>
            <a:ext cx="2784475" cy="981075"/>
          </a:xfrm>
          <a:prstGeom prst="roundRect">
            <a:avLst>
              <a:gd name="adj" fmla="val 8576"/>
            </a:avLst>
          </a:prstGeom>
          <a:solidFill>
            <a:srgbClr val="FFFFFF"/>
          </a:solidFill>
          <a:ln w="9525">
            <a:solidFill>
              <a:srgbClr val="36677D"/>
            </a:solidFill>
            <a:prstDash val="solid"/>
          </a:ln>
        </p:spPr>
      </p:sp>
      <p:sp>
        <p:nvSpPr>
          <p:cNvPr id="53" name="Text 48"/>
          <p:cNvSpPr/>
          <p:nvPr/>
        </p:nvSpPr>
        <p:spPr>
          <a:xfrm>
            <a:off x="4800600" y="4127054"/>
            <a:ext cx="1608882" cy="237679"/>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36677D"/>
                </a:solidFill>
                <a:latin typeface="Courier New" pitchFamily="49" charset="0"/>
                <a:ea typeface="Courier New" pitchFamily="49" charset="-122"/>
                <a:cs typeface="Courier New" pitchFamily="49" charset="-120"/>
              </a:rPr>
              <a:t>RETRIEVE · read</a:t>
            </a:r>
            <a:endParaRPr lang="en-US" sz="1196" dirty="0"/>
          </a:p>
        </p:txBody>
      </p:sp>
      <p:sp>
        <p:nvSpPr>
          <p:cNvPr id="54" name="Text 49"/>
          <p:cNvSpPr/>
          <p:nvPr/>
        </p:nvSpPr>
        <p:spPr>
          <a:xfrm>
            <a:off x="4800600" y="4377432"/>
            <a:ext cx="2668524" cy="6395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Fetch by id, or search, rerank and budget; inject for this step, then compact again.</a:t>
            </a:r>
            <a:endParaRPr lang="en-US" sz="1200" dirty="0"/>
          </a:p>
        </p:txBody>
      </p:sp>
      <p:sp>
        <p:nvSpPr>
          <p:cNvPr id="55" name="Text 50"/>
          <p:cNvSpPr/>
          <p:nvPr/>
        </p:nvSpPr>
        <p:spPr>
          <a:xfrm>
            <a:off x="812800" y="53721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D2D2D"/>
                </a:solidFill>
                <a:latin typeface="Arial" pitchFamily="34" charset="0"/>
                <a:ea typeface="Arial" pitchFamily="34" charset="-122"/>
                <a:cs typeface="Arial" pitchFamily="34" charset="-120"/>
              </a:rPr>
              <a:t>The window is a cache of the database, not the other way round. Offloading keeps the cache small and the record complete.</a:t>
            </a:r>
            <a:endParaRPr lang="en-US" sz="1300" dirty="0"/>
          </a:p>
        </p:txBody>
      </p:sp>
      <p:sp>
        <p:nvSpPr>
          <p:cNvPr id="56" name="Text 5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CONTEXT ENGINEERING TECHNIQUE 3 · OFFLOAD</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When utilisation crosses the threshold</a:t>
            </a:r>
            <a:endParaRPr lang="en-US" sz="2800" dirty="0"/>
          </a:p>
        </p:txBody>
      </p:sp>
      <p:sp>
        <p:nvSpPr>
          <p:cNvPr id="5" name="Shape 3"/>
          <p:cNvSpPr/>
          <p:nvPr/>
        </p:nvSpPr>
        <p:spPr>
          <a:xfrm>
            <a:off x="815975" y="1501775"/>
            <a:ext cx="3168650" cy="3676650"/>
          </a:xfrm>
          <a:prstGeom prst="roundRect">
            <a:avLst>
              <a:gd name="adj" fmla="val 4309"/>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6" name="Text 4"/>
          <p:cNvSpPr/>
          <p:nvPr/>
        </p:nvSpPr>
        <p:spPr>
          <a:xfrm>
            <a:off x="965200" y="1625600"/>
            <a:ext cx="295630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BEFORE · turn 23</a:t>
            </a:r>
            <a:endParaRPr lang="en-US" sz="1200" dirty="0"/>
          </a:p>
        </p:txBody>
      </p:sp>
      <p:sp>
        <p:nvSpPr>
          <p:cNvPr id="7" name="Shape 5"/>
          <p:cNvSpPr/>
          <p:nvPr/>
        </p:nvSpPr>
        <p:spPr>
          <a:xfrm>
            <a:off x="965200" y="1905000"/>
            <a:ext cx="2870200" cy="177800"/>
          </a:xfrm>
          <a:prstGeom prst="roundRect">
            <a:avLst>
              <a:gd name="adj" fmla="val 28571"/>
            </a:avLst>
          </a:prstGeom>
          <a:solidFill>
            <a:srgbClr val="D9DEDD"/>
          </a:solidFill>
          <a:ln/>
        </p:spPr>
      </p:sp>
      <p:sp>
        <p:nvSpPr>
          <p:cNvPr id="8" name="Shape 6"/>
          <p:cNvSpPr/>
          <p:nvPr/>
        </p:nvSpPr>
        <p:spPr>
          <a:xfrm>
            <a:off x="965200" y="1905000"/>
            <a:ext cx="2463800" cy="177800"/>
          </a:xfrm>
          <a:custGeom>
            <a:avLst/>
            <a:gdLst/>
            <a:ahLst/>
            <a:cxnLst/>
            <a:rect l="l" t="t" r="r" b="b"/>
            <a:pathLst>
              <a:path w="2463800" h="177800">
                <a:moveTo>
                  <a:pt x="0" y="50800"/>
                </a:moveTo>
                <a:arcTo hR="50800" wR="50800" stAng="10800000" swAng="5400000"/>
                <a:lnTo>
                  <a:pt x="2463800" y="0"/>
                </a:lnTo>
                <a:lnTo>
                  <a:pt x="2463800" y="177800"/>
                </a:lnTo>
                <a:lnTo>
                  <a:pt x="50800" y="177800"/>
                </a:lnTo>
                <a:arcTo hR="50800" wR="50800" stAng="5400000" swAng="5400000"/>
                <a:close/>
              </a:path>
            </a:pathLst>
          </a:custGeom>
          <a:solidFill>
            <a:srgbClr val="C74634"/>
          </a:solidFill>
          <a:ln/>
        </p:spPr>
      </p:sp>
      <p:sp>
        <p:nvSpPr>
          <p:cNvPr id="9" name="Shape 7"/>
          <p:cNvSpPr/>
          <p:nvPr/>
        </p:nvSpPr>
        <p:spPr>
          <a:xfrm>
            <a:off x="3244850" y="1866900"/>
            <a:ext cx="25400" cy="254000"/>
          </a:xfrm>
          <a:prstGeom prst="roundRect">
            <a:avLst>
              <a:gd name="adj" fmla="val 50000"/>
            </a:avLst>
          </a:prstGeom>
          <a:solidFill>
            <a:srgbClr val="2D2D2D"/>
          </a:solidFill>
          <a:ln/>
        </p:spPr>
      </p:sp>
      <p:sp>
        <p:nvSpPr>
          <p:cNvPr id="10" name="Text 8"/>
          <p:cNvSpPr/>
          <p:nvPr/>
        </p:nvSpPr>
        <p:spPr>
          <a:xfrm>
            <a:off x="965200" y="2133600"/>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86% used · over the 80% threshold</a:t>
            </a:r>
            <a:endParaRPr lang="en-US" sz="1200" dirty="0"/>
          </a:p>
        </p:txBody>
      </p:sp>
      <p:sp>
        <p:nvSpPr>
          <p:cNvPr id="11" name="Shape 9"/>
          <p:cNvSpPr/>
          <p:nvPr/>
        </p:nvSpPr>
        <p:spPr>
          <a:xfrm>
            <a:off x="969963" y="2417763"/>
            <a:ext cx="2860675" cy="422275"/>
          </a:xfrm>
          <a:prstGeom prst="roundRect">
            <a:avLst>
              <a:gd name="adj" fmla="val 22932"/>
            </a:avLst>
          </a:prstGeom>
          <a:solidFill>
            <a:srgbClr val="FFFFFF"/>
          </a:solidFill>
          <a:ln w="9525">
            <a:solidFill>
              <a:srgbClr val="31535C">
                <a:alpha val="20000"/>
              </a:srgbClr>
            </a:solidFill>
            <a:prstDash val="solid"/>
          </a:ln>
        </p:spPr>
      </p:sp>
      <p:sp>
        <p:nvSpPr>
          <p:cNvPr id="12" name="Text 10"/>
          <p:cNvSpPr/>
          <p:nvPr/>
        </p:nvSpPr>
        <p:spPr>
          <a:xfrm>
            <a:off x="1066800" y="2422525"/>
            <a:ext cx="1122065"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System prompt</a:t>
            </a:r>
            <a:endParaRPr lang="en-US" sz="1159" dirty="0"/>
          </a:p>
        </p:txBody>
      </p:sp>
      <p:sp>
        <p:nvSpPr>
          <p:cNvPr id="13" name="Text 11"/>
          <p:cNvSpPr/>
          <p:nvPr/>
        </p:nvSpPr>
        <p:spPr>
          <a:xfrm>
            <a:off x="1066800" y="2635250"/>
            <a:ext cx="206226"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2k</a:t>
            </a:r>
            <a:endParaRPr lang="en-US" sz="1159" dirty="0"/>
          </a:p>
        </p:txBody>
      </p:sp>
      <p:sp>
        <p:nvSpPr>
          <p:cNvPr id="14" name="Shape 12"/>
          <p:cNvSpPr/>
          <p:nvPr/>
        </p:nvSpPr>
        <p:spPr>
          <a:xfrm>
            <a:off x="969963" y="2874963"/>
            <a:ext cx="2860675" cy="422275"/>
          </a:xfrm>
          <a:prstGeom prst="roundRect">
            <a:avLst>
              <a:gd name="adj" fmla="val 22932"/>
            </a:avLst>
          </a:prstGeom>
          <a:solidFill>
            <a:srgbClr val="FFFFFF"/>
          </a:solidFill>
          <a:ln w="9525">
            <a:solidFill>
              <a:srgbClr val="31535C">
                <a:alpha val="20000"/>
              </a:srgbClr>
            </a:solidFill>
            <a:prstDash val="solid"/>
          </a:ln>
        </p:spPr>
      </p:sp>
      <p:sp>
        <p:nvSpPr>
          <p:cNvPr id="15" name="Text 13"/>
          <p:cNvSpPr/>
          <p:nvPr/>
        </p:nvSpPr>
        <p:spPr>
          <a:xfrm>
            <a:off x="1066800" y="2879725"/>
            <a:ext cx="1135261"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Tool definitions</a:t>
            </a:r>
            <a:endParaRPr lang="en-US" sz="1159" dirty="0"/>
          </a:p>
        </p:txBody>
      </p:sp>
      <p:sp>
        <p:nvSpPr>
          <p:cNvPr id="16" name="Text 14"/>
          <p:cNvSpPr/>
          <p:nvPr/>
        </p:nvSpPr>
        <p:spPr>
          <a:xfrm>
            <a:off x="1066800" y="3092450"/>
            <a:ext cx="206226"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6k</a:t>
            </a:r>
            <a:endParaRPr lang="en-US" sz="1159" dirty="0"/>
          </a:p>
        </p:txBody>
      </p:sp>
      <p:sp>
        <p:nvSpPr>
          <p:cNvPr id="17" name="Shape 15"/>
          <p:cNvSpPr/>
          <p:nvPr/>
        </p:nvSpPr>
        <p:spPr>
          <a:xfrm>
            <a:off x="969963" y="3332163"/>
            <a:ext cx="2860675" cy="422275"/>
          </a:xfrm>
          <a:prstGeom prst="roundRect">
            <a:avLst>
              <a:gd name="adj" fmla="val 22932"/>
            </a:avLst>
          </a:prstGeom>
          <a:solidFill>
            <a:srgbClr val="FFFFFF"/>
          </a:solidFill>
          <a:ln w="9525">
            <a:solidFill>
              <a:srgbClr val="31535C">
                <a:alpha val="20000"/>
              </a:srgbClr>
            </a:solidFill>
            <a:prstDash val="solid"/>
          </a:ln>
        </p:spPr>
      </p:sp>
      <p:sp>
        <p:nvSpPr>
          <p:cNvPr id="18" name="Text 16"/>
          <p:cNvSpPr/>
          <p:nvPr/>
        </p:nvSpPr>
        <p:spPr>
          <a:xfrm>
            <a:off x="1066800" y="3336925"/>
            <a:ext cx="1269554"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Recalled memory</a:t>
            </a:r>
            <a:endParaRPr lang="en-US" sz="1159" dirty="0"/>
          </a:p>
        </p:txBody>
      </p:sp>
      <p:sp>
        <p:nvSpPr>
          <p:cNvPr id="19" name="Text 17"/>
          <p:cNvSpPr/>
          <p:nvPr/>
        </p:nvSpPr>
        <p:spPr>
          <a:xfrm>
            <a:off x="1066800" y="3549650"/>
            <a:ext cx="288082"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18k</a:t>
            </a:r>
            <a:endParaRPr lang="en-US" sz="1159" dirty="0"/>
          </a:p>
        </p:txBody>
      </p:sp>
      <p:sp>
        <p:nvSpPr>
          <p:cNvPr id="20" name="Shape 18"/>
          <p:cNvSpPr/>
          <p:nvPr/>
        </p:nvSpPr>
        <p:spPr>
          <a:xfrm>
            <a:off x="969963" y="3789363"/>
            <a:ext cx="2860675" cy="422275"/>
          </a:xfrm>
          <a:prstGeom prst="roundRect">
            <a:avLst>
              <a:gd name="adj" fmla="val 22932"/>
            </a:avLst>
          </a:prstGeom>
          <a:solidFill>
            <a:srgbClr val="FFFFFF"/>
          </a:solidFill>
          <a:ln w="9525">
            <a:solidFill>
              <a:srgbClr val="31535C">
                <a:alpha val="20000"/>
              </a:srgbClr>
            </a:solidFill>
            <a:prstDash val="solid"/>
          </a:ln>
        </p:spPr>
      </p:sp>
      <p:sp>
        <p:nvSpPr>
          <p:cNvPr id="21" name="Text 19"/>
          <p:cNvSpPr/>
          <p:nvPr/>
        </p:nvSpPr>
        <p:spPr>
          <a:xfrm>
            <a:off x="1066800" y="3794125"/>
            <a:ext cx="754360"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Messages</a:t>
            </a:r>
            <a:endParaRPr lang="en-US" sz="1159" dirty="0"/>
          </a:p>
        </p:txBody>
      </p:sp>
      <p:sp>
        <p:nvSpPr>
          <p:cNvPr id="22" name="Text 20"/>
          <p:cNvSpPr/>
          <p:nvPr/>
        </p:nvSpPr>
        <p:spPr>
          <a:xfrm>
            <a:off x="1066800" y="4006850"/>
            <a:ext cx="288082"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40k</a:t>
            </a:r>
            <a:endParaRPr lang="en-US" sz="1159" dirty="0"/>
          </a:p>
        </p:txBody>
      </p:sp>
      <p:sp>
        <p:nvSpPr>
          <p:cNvPr id="23" name="Shape 21"/>
          <p:cNvSpPr/>
          <p:nvPr/>
        </p:nvSpPr>
        <p:spPr>
          <a:xfrm>
            <a:off x="971550" y="4248150"/>
            <a:ext cx="2857500" cy="419100"/>
          </a:xfrm>
          <a:prstGeom prst="roundRect">
            <a:avLst>
              <a:gd name="adj" fmla="val 22727"/>
            </a:avLst>
          </a:prstGeom>
          <a:solidFill>
            <a:srgbClr val="C74634">
              <a:alpha val="18000"/>
            </a:srgbClr>
          </a:solidFill>
          <a:ln w="12700">
            <a:solidFill>
              <a:srgbClr val="C74634"/>
            </a:solidFill>
            <a:prstDash val="solid"/>
          </a:ln>
        </p:spPr>
      </p:sp>
      <p:sp>
        <p:nvSpPr>
          <p:cNvPr id="24" name="Text 22"/>
          <p:cNvSpPr/>
          <p:nvPr/>
        </p:nvSpPr>
        <p:spPr>
          <a:xfrm>
            <a:off x="1066800" y="4254500"/>
            <a:ext cx="902295" cy="222250"/>
          </a:xfrm>
          <a:prstGeom prst="rect">
            <a:avLst/>
          </a:prstGeom>
          <a:noFill/>
          <a:ln/>
        </p:spPr>
        <p:txBody>
          <a:bodyPr wrap="none" lIns="0" tIns="0" rIns="0" bIns="0" rtlCol="0" anchor="t">
            <a:normAutofit/>
          </a:bodyPr>
          <a:lstStyle/>
          <a:p>
            <a:pPr algn="l" indent="0" marL="0">
              <a:lnSpc>
                <a:spcPts val="1570"/>
              </a:lnSpc>
              <a:buNone/>
            </a:pPr>
            <a:r>
              <a:rPr lang="en-US" sz="1121" b="1" dirty="0">
                <a:solidFill>
                  <a:srgbClr val="2D2D2D"/>
                </a:solidFill>
                <a:latin typeface="Arial" pitchFamily="34" charset="0"/>
                <a:ea typeface="Arial" pitchFamily="34" charset="-122"/>
                <a:cs typeface="Arial" pitchFamily="34" charset="-120"/>
              </a:rPr>
              <a:t>Tool outputs</a:t>
            </a:r>
            <a:endParaRPr lang="en-US" sz="1121" dirty="0"/>
          </a:p>
        </p:txBody>
      </p:sp>
      <p:sp>
        <p:nvSpPr>
          <p:cNvPr id="25" name="Text 23"/>
          <p:cNvSpPr/>
          <p:nvPr/>
        </p:nvSpPr>
        <p:spPr>
          <a:xfrm>
            <a:off x="1066800" y="4464050"/>
            <a:ext cx="280392" cy="222250"/>
          </a:xfrm>
          <a:prstGeom prst="rect">
            <a:avLst/>
          </a:prstGeom>
          <a:noFill/>
          <a:ln/>
        </p:spPr>
        <p:txBody>
          <a:bodyPr wrap="none" lIns="0" tIns="0" rIns="0" bIns="0" rtlCol="0" anchor="t">
            <a:normAutofit/>
          </a:bodyPr>
          <a:lstStyle/>
          <a:p>
            <a:pPr algn="l" indent="0" marL="0">
              <a:lnSpc>
                <a:spcPts val="1570"/>
              </a:lnSpc>
              <a:buNone/>
            </a:pPr>
            <a:r>
              <a:rPr lang="en-US" sz="1121" dirty="0">
                <a:solidFill>
                  <a:srgbClr val="6B6B6B"/>
                </a:solidFill>
                <a:latin typeface="Arial" pitchFamily="34" charset="0"/>
                <a:ea typeface="Arial" pitchFamily="34" charset="-122"/>
                <a:cs typeface="Arial" pitchFamily="34" charset="-120"/>
              </a:rPr>
              <a:t>78k</a:t>
            </a:r>
            <a:endParaRPr lang="en-US" sz="1121" dirty="0"/>
          </a:p>
        </p:txBody>
      </p:sp>
      <p:sp>
        <p:nvSpPr>
          <p:cNvPr id="26" name="Shape 24"/>
          <p:cNvSpPr/>
          <p:nvPr/>
        </p:nvSpPr>
        <p:spPr>
          <a:xfrm>
            <a:off x="969963" y="4703763"/>
            <a:ext cx="2860675" cy="422275"/>
          </a:xfrm>
          <a:prstGeom prst="roundRect">
            <a:avLst>
              <a:gd name="adj" fmla="val 22932"/>
            </a:avLst>
          </a:prstGeom>
          <a:solidFill>
            <a:srgbClr val="FFFFFF"/>
          </a:solidFill>
          <a:ln w="9525">
            <a:solidFill>
              <a:srgbClr val="31535C">
                <a:alpha val="20000"/>
              </a:srgbClr>
            </a:solidFill>
            <a:prstDash val="solid"/>
          </a:ln>
        </p:spPr>
      </p:sp>
      <p:sp>
        <p:nvSpPr>
          <p:cNvPr id="27" name="Text 25"/>
          <p:cNvSpPr/>
          <p:nvPr/>
        </p:nvSpPr>
        <p:spPr>
          <a:xfrm>
            <a:off x="1066800" y="4708525"/>
            <a:ext cx="819696"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User query</a:t>
            </a:r>
            <a:endParaRPr lang="en-US" sz="1159" dirty="0"/>
          </a:p>
        </p:txBody>
      </p:sp>
      <p:sp>
        <p:nvSpPr>
          <p:cNvPr id="28" name="Text 26"/>
          <p:cNvSpPr/>
          <p:nvPr/>
        </p:nvSpPr>
        <p:spPr>
          <a:xfrm>
            <a:off x="1066800" y="4921250"/>
            <a:ext cx="328960"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0.4k</a:t>
            </a:r>
            <a:endParaRPr lang="en-US" sz="1159" dirty="0"/>
          </a:p>
        </p:txBody>
      </p:sp>
      <p:pic>
        <p:nvPicPr>
          <p:cNvPr id="29" name="Image 0" descr="the tool output segment is offloaded">    </p:cNvPr>
          <p:cNvPicPr>
            <a:picLocks noChangeAspect="1"/>
          </p:cNvPicPr>
          <p:nvPr/>
        </p:nvPicPr>
        <p:blipFill>
          <a:blip r:embed="rId1"/>
          <a:srcRect l="0" r="0" t="0" b="0"/>
          <a:stretch/>
        </p:blipFill>
        <p:spPr>
          <a:xfrm>
            <a:off x="0" y="0"/>
            <a:ext cx="12192000" cy="6858000"/>
          </a:xfrm>
          <a:prstGeom prst="rect">
            <a:avLst/>
          </a:prstGeom>
        </p:spPr>
      </p:pic>
      <p:sp>
        <p:nvSpPr>
          <p:cNvPr id="30" name="Shape 27"/>
          <p:cNvSpPr/>
          <p:nvPr/>
        </p:nvSpPr>
        <p:spPr>
          <a:xfrm>
            <a:off x="4449763" y="3814763"/>
            <a:ext cx="3292475" cy="1108075"/>
          </a:xfrm>
          <a:prstGeom prst="roundRect">
            <a:avLst>
              <a:gd name="adj" fmla="val 8739"/>
            </a:avLst>
          </a:prstGeom>
          <a:solidFill>
            <a:srgbClr val="FFFFFF"/>
          </a:solidFill>
          <a:ln w="9525">
            <a:solidFill>
              <a:srgbClr val="C74634"/>
            </a:solidFill>
            <a:prstDash val="solid"/>
          </a:ln>
        </p:spPr>
      </p:sp>
      <p:sp>
        <p:nvSpPr>
          <p:cNvPr id="31" name="Text 28"/>
          <p:cNvSpPr/>
          <p:nvPr/>
        </p:nvSpPr>
        <p:spPr>
          <a:xfrm>
            <a:off x="4559300" y="3905250"/>
            <a:ext cx="1813303" cy="238175"/>
          </a:xfrm>
          <a:prstGeom prst="rect">
            <a:avLst/>
          </a:prstGeom>
          <a:noFill/>
          <a:ln/>
        </p:spPr>
        <p:txBody>
          <a:bodyPr wrap="none" lIns="0" tIns="0" rIns="0" bIns="0" rtlCol="0" anchor="t">
            <a:normAutofit/>
          </a:bodyPr>
          <a:lstStyle/>
          <a:p>
            <a:pPr algn="l" indent="0" marL="0">
              <a:lnSpc>
                <a:spcPts val="1680"/>
              </a:lnSpc>
              <a:buNone/>
            </a:pPr>
            <a:r>
              <a:rPr lang="en-US" sz="1200" spc="50" kern="0" dirty="0">
                <a:solidFill>
                  <a:srgbClr val="C74634"/>
                </a:solidFill>
                <a:latin typeface="Courier New" pitchFamily="49" charset="0"/>
                <a:ea typeface="Courier New" pitchFamily="49" charset="-122"/>
                <a:cs typeface="Courier New" pitchFamily="49" charset="-120"/>
              </a:rPr>
              <a:t>tool_log · tl_8821</a:t>
            </a:r>
            <a:endParaRPr lang="en-US" sz="1200" dirty="0"/>
          </a:p>
        </p:txBody>
      </p:sp>
      <p:sp>
        <p:nvSpPr>
          <p:cNvPr id="32" name="Text 29"/>
          <p:cNvSpPr/>
          <p:nvPr/>
        </p:nvSpPr>
        <p:spPr>
          <a:xfrm>
            <a:off x="4559300" y="4143425"/>
            <a:ext cx="1921133" cy="23812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summary · 120 tokens</a:t>
            </a:r>
            <a:endParaRPr lang="en-US" sz="1200" dirty="0"/>
          </a:p>
        </p:txBody>
      </p:sp>
      <p:sp>
        <p:nvSpPr>
          <p:cNvPr id="33" name="Text 30"/>
          <p:cNvSpPr/>
          <p:nvPr/>
        </p:nvSpPr>
        <p:spPr>
          <a:xfrm>
            <a:off x="4559300" y="4381550"/>
            <a:ext cx="2826068" cy="23812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payload · 78k tokens, the full result</a:t>
            </a:r>
            <a:endParaRPr lang="en-US" sz="1200" dirty="0"/>
          </a:p>
        </p:txBody>
      </p:sp>
      <p:sp>
        <p:nvSpPr>
          <p:cNvPr id="34" name="Text 31"/>
          <p:cNvSpPr/>
          <p:nvPr/>
        </p:nvSpPr>
        <p:spPr>
          <a:xfrm>
            <a:off x="4559300" y="4619675"/>
            <a:ext cx="3178175" cy="23812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path · /runs/23/tool-outputs.json</a:t>
            </a:r>
            <a:endParaRPr lang="en-US" sz="1200" dirty="0"/>
          </a:p>
        </p:txBody>
      </p:sp>
      <p:sp>
        <p:nvSpPr>
          <p:cNvPr id="35" name="Text 32"/>
          <p:cNvSpPr/>
          <p:nvPr/>
        </p:nvSpPr>
        <p:spPr>
          <a:xfrm>
            <a:off x="4445000" y="1905000"/>
            <a:ext cx="34010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2D2D"/>
                </a:solidFill>
                <a:latin typeface="Arial" pitchFamily="34" charset="0"/>
                <a:ea typeface="Arial" pitchFamily="34" charset="-122"/>
                <a:cs typeface="Arial" pitchFamily="34" charset="-120"/>
              </a:rPr>
              <a:t>Trigger: utilisation above 80%, or one segment above 10% of the budget.</a:t>
            </a:r>
            <a:endParaRPr lang="en-US" sz="1200" dirty="0"/>
          </a:p>
        </p:txBody>
      </p:sp>
      <p:sp>
        <p:nvSpPr>
          <p:cNvPr id="36" name="Text 33"/>
          <p:cNvSpPr/>
          <p:nvPr/>
        </p:nvSpPr>
        <p:spPr>
          <a:xfrm>
            <a:off x="4445000" y="2413000"/>
            <a:ext cx="34010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2D2D"/>
                </a:solidFill>
                <a:latin typeface="Arial" pitchFamily="34" charset="0"/>
                <a:ea typeface="Arial" pitchFamily="34" charset="-122"/>
                <a:cs typeface="Arial" pitchFamily="34" charset="-120"/>
              </a:rPr>
              <a:t>Candidate: the largest segment with the lowest utility: already used, old, and restorable from a reference.</a:t>
            </a:r>
            <a:endParaRPr lang="en-US" sz="1200" dirty="0"/>
          </a:p>
        </p:txBody>
      </p:sp>
      <p:sp>
        <p:nvSpPr>
          <p:cNvPr id="37" name="Text 34"/>
          <p:cNvSpPr/>
          <p:nvPr/>
        </p:nvSpPr>
        <p:spPr>
          <a:xfrm>
            <a:off x="4445000" y="3022600"/>
            <a:ext cx="340106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Action: summary and reference in, payload out.</a:t>
            </a:r>
            <a:endParaRPr lang="en-US" sz="1200" dirty="0"/>
          </a:p>
        </p:txBody>
      </p:sp>
      <p:pic>
        <p:nvPicPr>
          <p:cNvPr id="38" name="Image 1" descr="a stub replaces the segment in the window">    </p:cNvPr>
          <p:cNvPicPr>
            <a:picLocks noChangeAspect="1"/>
          </p:cNvPicPr>
          <p:nvPr/>
        </p:nvPicPr>
        <p:blipFill>
          <a:blip r:embed="rId2"/>
          <a:srcRect l="0" r="0" t="0" b="0"/>
          <a:stretch/>
        </p:blipFill>
        <p:spPr>
          <a:xfrm>
            <a:off x="0" y="0"/>
            <a:ext cx="12192000" cy="6858000"/>
          </a:xfrm>
          <a:prstGeom prst="rect">
            <a:avLst/>
          </a:prstGeom>
        </p:spPr>
      </p:pic>
      <p:sp>
        <p:nvSpPr>
          <p:cNvPr id="39" name="Shape 35"/>
          <p:cNvSpPr/>
          <p:nvPr/>
        </p:nvSpPr>
        <p:spPr>
          <a:xfrm>
            <a:off x="8207375" y="1501775"/>
            <a:ext cx="3168650" cy="3676650"/>
          </a:xfrm>
          <a:prstGeom prst="roundRect">
            <a:avLst>
              <a:gd name="adj" fmla="val 4309"/>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40" name="Text 36"/>
          <p:cNvSpPr/>
          <p:nvPr/>
        </p:nvSpPr>
        <p:spPr>
          <a:xfrm>
            <a:off x="8356600" y="1625600"/>
            <a:ext cx="295630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AFTER · same turn</a:t>
            </a:r>
            <a:endParaRPr lang="en-US" sz="1200" dirty="0"/>
          </a:p>
        </p:txBody>
      </p:sp>
      <p:sp>
        <p:nvSpPr>
          <p:cNvPr id="41" name="Shape 37"/>
          <p:cNvSpPr/>
          <p:nvPr/>
        </p:nvSpPr>
        <p:spPr>
          <a:xfrm>
            <a:off x="8356600" y="1905000"/>
            <a:ext cx="2870200" cy="177800"/>
          </a:xfrm>
          <a:prstGeom prst="roundRect">
            <a:avLst>
              <a:gd name="adj" fmla="val 28571"/>
            </a:avLst>
          </a:prstGeom>
          <a:solidFill>
            <a:srgbClr val="D9DEDD"/>
          </a:solidFill>
          <a:ln/>
        </p:spPr>
      </p:sp>
      <p:sp>
        <p:nvSpPr>
          <p:cNvPr id="42" name="Shape 38"/>
          <p:cNvSpPr/>
          <p:nvPr/>
        </p:nvSpPr>
        <p:spPr>
          <a:xfrm>
            <a:off x="8356600" y="1905000"/>
            <a:ext cx="1346200" cy="177800"/>
          </a:xfrm>
          <a:custGeom>
            <a:avLst/>
            <a:gdLst/>
            <a:ahLst/>
            <a:cxnLst/>
            <a:rect l="l" t="t" r="r" b="b"/>
            <a:pathLst>
              <a:path w="1346200" h="177800">
                <a:moveTo>
                  <a:pt x="0" y="50800"/>
                </a:moveTo>
                <a:arcTo hR="50800" wR="50800" stAng="10800000" swAng="5400000"/>
                <a:lnTo>
                  <a:pt x="1346200" y="0"/>
                </a:lnTo>
                <a:lnTo>
                  <a:pt x="1346200" y="177800"/>
                </a:lnTo>
                <a:lnTo>
                  <a:pt x="50800" y="177800"/>
                </a:lnTo>
                <a:arcTo hR="50800" wR="50800" stAng="5400000" swAng="5400000"/>
                <a:close/>
              </a:path>
            </a:pathLst>
          </a:custGeom>
          <a:solidFill>
            <a:srgbClr val="36677D"/>
          </a:solidFill>
          <a:ln/>
        </p:spPr>
      </p:sp>
      <p:sp>
        <p:nvSpPr>
          <p:cNvPr id="43" name="Shape 39"/>
          <p:cNvSpPr/>
          <p:nvPr/>
        </p:nvSpPr>
        <p:spPr>
          <a:xfrm>
            <a:off x="10636250" y="1866900"/>
            <a:ext cx="25400" cy="254000"/>
          </a:xfrm>
          <a:prstGeom prst="roundRect">
            <a:avLst>
              <a:gd name="adj" fmla="val 50000"/>
            </a:avLst>
          </a:prstGeom>
          <a:solidFill>
            <a:srgbClr val="2D2D2D"/>
          </a:solidFill>
          <a:ln/>
        </p:spPr>
      </p:sp>
      <p:sp>
        <p:nvSpPr>
          <p:cNvPr id="44" name="Text 40"/>
          <p:cNvSpPr/>
          <p:nvPr/>
        </p:nvSpPr>
        <p:spPr>
          <a:xfrm>
            <a:off x="8356600" y="2133600"/>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47% used · 106k freed, record intact</a:t>
            </a:r>
            <a:endParaRPr lang="en-US" sz="1200" dirty="0"/>
          </a:p>
        </p:txBody>
      </p:sp>
      <p:sp>
        <p:nvSpPr>
          <p:cNvPr id="45" name="Shape 41"/>
          <p:cNvSpPr/>
          <p:nvPr/>
        </p:nvSpPr>
        <p:spPr>
          <a:xfrm>
            <a:off x="8361362" y="2417763"/>
            <a:ext cx="2860675" cy="422275"/>
          </a:xfrm>
          <a:prstGeom prst="roundRect">
            <a:avLst>
              <a:gd name="adj" fmla="val 22932"/>
            </a:avLst>
          </a:prstGeom>
          <a:solidFill>
            <a:srgbClr val="FFFFFF"/>
          </a:solidFill>
          <a:ln w="9525">
            <a:solidFill>
              <a:srgbClr val="31535C">
                <a:alpha val="20000"/>
              </a:srgbClr>
            </a:solidFill>
            <a:prstDash val="solid"/>
          </a:ln>
        </p:spPr>
      </p:sp>
      <p:sp>
        <p:nvSpPr>
          <p:cNvPr id="46" name="Text 42"/>
          <p:cNvSpPr/>
          <p:nvPr/>
        </p:nvSpPr>
        <p:spPr>
          <a:xfrm>
            <a:off x="8458200" y="2422525"/>
            <a:ext cx="1122065"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System prompt</a:t>
            </a:r>
            <a:endParaRPr lang="en-US" sz="1159" dirty="0"/>
          </a:p>
        </p:txBody>
      </p:sp>
      <p:sp>
        <p:nvSpPr>
          <p:cNvPr id="47" name="Text 43"/>
          <p:cNvSpPr/>
          <p:nvPr/>
        </p:nvSpPr>
        <p:spPr>
          <a:xfrm>
            <a:off x="8458200" y="2635250"/>
            <a:ext cx="206226"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2k</a:t>
            </a:r>
            <a:endParaRPr lang="en-US" sz="1159" dirty="0"/>
          </a:p>
        </p:txBody>
      </p:sp>
      <p:sp>
        <p:nvSpPr>
          <p:cNvPr id="48" name="Shape 44"/>
          <p:cNvSpPr/>
          <p:nvPr/>
        </p:nvSpPr>
        <p:spPr>
          <a:xfrm>
            <a:off x="8361362" y="2874963"/>
            <a:ext cx="2860675" cy="422275"/>
          </a:xfrm>
          <a:prstGeom prst="roundRect">
            <a:avLst>
              <a:gd name="adj" fmla="val 22932"/>
            </a:avLst>
          </a:prstGeom>
          <a:solidFill>
            <a:srgbClr val="FFFFFF"/>
          </a:solidFill>
          <a:ln w="9525">
            <a:solidFill>
              <a:srgbClr val="31535C">
                <a:alpha val="20000"/>
              </a:srgbClr>
            </a:solidFill>
            <a:prstDash val="solid"/>
          </a:ln>
        </p:spPr>
      </p:sp>
      <p:sp>
        <p:nvSpPr>
          <p:cNvPr id="49" name="Text 45"/>
          <p:cNvSpPr/>
          <p:nvPr/>
        </p:nvSpPr>
        <p:spPr>
          <a:xfrm>
            <a:off x="8458200" y="2879725"/>
            <a:ext cx="1135261"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Tool definitions</a:t>
            </a:r>
            <a:endParaRPr lang="en-US" sz="1159" dirty="0"/>
          </a:p>
        </p:txBody>
      </p:sp>
      <p:sp>
        <p:nvSpPr>
          <p:cNvPr id="50" name="Text 46"/>
          <p:cNvSpPr/>
          <p:nvPr/>
        </p:nvSpPr>
        <p:spPr>
          <a:xfrm>
            <a:off x="8458200" y="3092450"/>
            <a:ext cx="206226"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6k</a:t>
            </a:r>
            <a:endParaRPr lang="en-US" sz="1159" dirty="0"/>
          </a:p>
        </p:txBody>
      </p:sp>
      <p:sp>
        <p:nvSpPr>
          <p:cNvPr id="51" name="Shape 47"/>
          <p:cNvSpPr/>
          <p:nvPr/>
        </p:nvSpPr>
        <p:spPr>
          <a:xfrm>
            <a:off x="8361362" y="3332163"/>
            <a:ext cx="2860675" cy="422275"/>
          </a:xfrm>
          <a:prstGeom prst="roundRect">
            <a:avLst>
              <a:gd name="adj" fmla="val 22932"/>
            </a:avLst>
          </a:prstGeom>
          <a:solidFill>
            <a:srgbClr val="FFFFFF"/>
          </a:solidFill>
          <a:ln w="9525">
            <a:solidFill>
              <a:srgbClr val="31535C">
                <a:alpha val="20000"/>
              </a:srgbClr>
            </a:solidFill>
            <a:prstDash val="solid"/>
          </a:ln>
        </p:spPr>
      </p:sp>
      <p:sp>
        <p:nvSpPr>
          <p:cNvPr id="52" name="Text 48"/>
          <p:cNvSpPr/>
          <p:nvPr/>
        </p:nvSpPr>
        <p:spPr>
          <a:xfrm>
            <a:off x="8458200" y="3336925"/>
            <a:ext cx="1269554"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Recalled memory</a:t>
            </a:r>
            <a:endParaRPr lang="en-US" sz="1159" dirty="0"/>
          </a:p>
        </p:txBody>
      </p:sp>
      <p:sp>
        <p:nvSpPr>
          <p:cNvPr id="53" name="Text 49"/>
          <p:cNvSpPr/>
          <p:nvPr/>
        </p:nvSpPr>
        <p:spPr>
          <a:xfrm>
            <a:off x="8458200" y="3549650"/>
            <a:ext cx="288082"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18k</a:t>
            </a:r>
            <a:endParaRPr lang="en-US" sz="1159" dirty="0"/>
          </a:p>
        </p:txBody>
      </p:sp>
      <p:sp>
        <p:nvSpPr>
          <p:cNvPr id="54" name="Shape 50"/>
          <p:cNvSpPr/>
          <p:nvPr/>
        </p:nvSpPr>
        <p:spPr>
          <a:xfrm>
            <a:off x="8361362" y="3789363"/>
            <a:ext cx="2860675" cy="422275"/>
          </a:xfrm>
          <a:prstGeom prst="roundRect">
            <a:avLst>
              <a:gd name="adj" fmla="val 22932"/>
            </a:avLst>
          </a:prstGeom>
          <a:solidFill>
            <a:srgbClr val="FFFFFF"/>
          </a:solidFill>
          <a:ln w="9525">
            <a:solidFill>
              <a:srgbClr val="31535C">
                <a:alpha val="20000"/>
              </a:srgbClr>
            </a:solidFill>
            <a:prstDash val="solid"/>
          </a:ln>
        </p:spPr>
      </p:sp>
      <p:sp>
        <p:nvSpPr>
          <p:cNvPr id="55" name="Text 51"/>
          <p:cNvSpPr/>
          <p:nvPr/>
        </p:nvSpPr>
        <p:spPr>
          <a:xfrm>
            <a:off x="8458200" y="3794125"/>
            <a:ext cx="754360"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Messages</a:t>
            </a:r>
            <a:endParaRPr lang="en-US" sz="1159" dirty="0"/>
          </a:p>
        </p:txBody>
      </p:sp>
      <p:sp>
        <p:nvSpPr>
          <p:cNvPr id="56" name="Text 52"/>
          <p:cNvSpPr/>
          <p:nvPr/>
        </p:nvSpPr>
        <p:spPr>
          <a:xfrm>
            <a:off x="8458200" y="4006850"/>
            <a:ext cx="288082"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40k</a:t>
            </a:r>
            <a:endParaRPr lang="en-US" sz="1159" dirty="0"/>
          </a:p>
        </p:txBody>
      </p:sp>
      <p:sp>
        <p:nvSpPr>
          <p:cNvPr id="57" name="Shape 53"/>
          <p:cNvSpPr/>
          <p:nvPr/>
        </p:nvSpPr>
        <p:spPr>
          <a:xfrm>
            <a:off x="8362950" y="4248150"/>
            <a:ext cx="2857500" cy="419100"/>
          </a:xfrm>
          <a:prstGeom prst="roundRect">
            <a:avLst>
              <a:gd name="adj" fmla="val 22727"/>
            </a:avLst>
          </a:prstGeom>
          <a:solidFill>
            <a:srgbClr val="36677D">
              <a:alpha val="14000"/>
            </a:srgbClr>
          </a:solidFill>
          <a:ln w="12700">
            <a:solidFill>
              <a:srgbClr val="36677D"/>
            </a:solidFill>
            <a:prstDash val="solid"/>
          </a:ln>
        </p:spPr>
      </p:sp>
      <p:sp>
        <p:nvSpPr>
          <p:cNvPr id="58" name="Text 54"/>
          <p:cNvSpPr/>
          <p:nvPr/>
        </p:nvSpPr>
        <p:spPr>
          <a:xfrm>
            <a:off x="8458200" y="4254500"/>
            <a:ext cx="1689100" cy="222250"/>
          </a:xfrm>
          <a:prstGeom prst="rect">
            <a:avLst/>
          </a:prstGeom>
          <a:noFill/>
          <a:ln/>
        </p:spPr>
        <p:txBody>
          <a:bodyPr wrap="none" lIns="0" tIns="0" rIns="0" bIns="0" rtlCol="0" anchor="t">
            <a:normAutofit/>
          </a:bodyPr>
          <a:lstStyle/>
          <a:p>
            <a:pPr algn="l" indent="0" marL="0">
              <a:lnSpc>
                <a:spcPts val="1570"/>
              </a:lnSpc>
              <a:buNone/>
            </a:pPr>
            <a:r>
              <a:rPr lang="en-US" sz="1121" b="1" dirty="0">
                <a:solidFill>
                  <a:srgbClr val="2D2D2D"/>
                </a:solidFill>
                <a:latin typeface="Arial" pitchFamily="34" charset="0"/>
                <a:ea typeface="Arial" pitchFamily="34" charset="-122"/>
                <a:cs typeface="Arial" pitchFamily="34" charset="-120"/>
              </a:rPr>
              <a:t>Reference stub · tl_8821</a:t>
            </a:r>
            <a:endParaRPr lang="en-US" sz="1121" dirty="0"/>
          </a:p>
        </p:txBody>
      </p:sp>
      <p:sp>
        <p:nvSpPr>
          <p:cNvPr id="59" name="Text 55"/>
          <p:cNvSpPr/>
          <p:nvPr/>
        </p:nvSpPr>
        <p:spPr>
          <a:xfrm>
            <a:off x="8458200" y="4464050"/>
            <a:ext cx="399157" cy="222250"/>
          </a:xfrm>
          <a:prstGeom prst="rect">
            <a:avLst/>
          </a:prstGeom>
          <a:noFill/>
          <a:ln/>
        </p:spPr>
        <p:txBody>
          <a:bodyPr wrap="none" lIns="0" tIns="0" rIns="0" bIns="0" rtlCol="0" anchor="t">
            <a:normAutofit/>
          </a:bodyPr>
          <a:lstStyle/>
          <a:p>
            <a:pPr algn="l" indent="0" marL="0">
              <a:lnSpc>
                <a:spcPts val="1570"/>
              </a:lnSpc>
              <a:buNone/>
            </a:pPr>
            <a:r>
              <a:rPr lang="en-US" sz="1121" dirty="0">
                <a:solidFill>
                  <a:srgbClr val="6B6B6B"/>
                </a:solidFill>
                <a:latin typeface="Arial" pitchFamily="34" charset="0"/>
                <a:ea typeface="Arial" pitchFamily="34" charset="-122"/>
                <a:cs typeface="Arial" pitchFamily="34" charset="-120"/>
              </a:rPr>
              <a:t>0.06k</a:t>
            </a:r>
            <a:endParaRPr lang="en-US" sz="1121" dirty="0"/>
          </a:p>
        </p:txBody>
      </p:sp>
      <p:sp>
        <p:nvSpPr>
          <p:cNvPr id="60" name="Shape 56"/>
          <p:cNvSpPr/>
          <p:nvPr/>
        </p:nvSpPr>
        <p:spPr>
          <a:xfrm>
            <a:off x="8361362" y="4703763"/>
            <a:ext cx="2860675" cy="422275"/>
          </a:xfrm>
          <a:prstGeom prst="roundRect">
            <a:avLst>
              <a:gd name="adj" fmla="val 22932"/>
            </a:avLst>
          </a:prstGeom>
          <a:solidFill>
            <a:srgbClr val="FFFFFF"/>
          </a:solidFill>
          <a:ln w="9525">
            <a:solidFill>
              <a:srgbClr val="31535C">
                <a:alpha val="20000"/>
              </a:srgbClr>
            </a:solidFill>
            <a:prstDash val="solid"/>
          </a:ln>
        </p:spPr>
      </p:sp>
      <p:sp>
        <p:nvSpPr>
          <p:cNvPr id="61" name="Text 57"/>
          <p:cNvSpPr/>
          <p:nvPr/>
        </p:nvSpPr>
        <p:spPr>
          <a:xfrm>
            <a:off x="8458200" y="4708525"/>
            <a:ext cx="819696" cy="225425"/>
          </a:xfrm>
          <a:prstGeom prst="rect">
            <a:avLst/>
          </a:prstGeom>
          <a:noFill/>
          <a:ln/>
        </p:spPr>
        <p:txBody>
          <a:bodyPr wrap="none" lIns="0" tIns="0" rIns="0" bIns="0" rtlCol="0" anchor="t">
            <a:normAutofit/>
          </a:bodyPr>
          <a:lstStyle/>
          <a:p>
            <a:pPr algn="l" indent="0" marL="0">
              <a:lnSpc>
                <a:spcPts val="1622"/>
              </a:lnSpc>
              <a:buNone/>
            </a:pPr>
            <a:r>
              <a:rPr lang="en-US" sz="1159" b="1" dirty="0">
                <a:solidFill>
                  <a:srgbClr val="2D2D2D"/>
                </a:solidFill>
                <a:latin typeface="Arial" pitchFamily="34" charset="0"/>
                <a:ea typeface="Arial" pitchFamily="34" charset="-122"/>
                <a:cs typeface="Arial" pitchFamily="34" charset="-120"/>
              </a:rPr>
              <a:t>User query</a:t>
            </a:r>
            <a:endParaRPr lang="en-US" sz="1159" dirty="0"/>
          </a:p>
        </p:txBody>
      </p:sp>
      <p:sp>
        <p:nvSpPr>
          <p:cNvPr id="62" name="Text 58"/>
          <p:cNvSpPr/>
          <p:nvPr/>
        </p:nvSpPr>
        <p:spPr>
          <a:xfrm>
            <a:off x="8458200" y="4921250"/>
            <a:ext cx="328960" cy="225425"/>
          </a:xfrm>
          <a:prstGeom prst="rect">
            <a:avLst/>
          </a:prstGeom>
          <a:noFill/>
          <a:ln/>
        </p:spPr>
        <p:txBody>
          <a:bodyPr wrap="none" lIns="0" tIns="0" rIns="0" bIns="0" rtlCol="0" anchor="t">
            <a:normAutofit/>
          </a:bodyPr>
          <a:lstStyle/>
          <a:p>
            <a:pPr algn="l" indent="0" marL="0">
              <a:lnSpc>
                <a:spcPts val="1622"/>
              </a:lnSpc>
              <a:buNone/>
            </a:pPr>
            <a:r>
              <a:rPr lang="en-US" sz="1159" dirty="0">
                <a:solidFill>
                  <a:srgbClr val="6B6B6B"/>
                </a:solidFill>
                <a:latin typeface="Arial" pitchFamily="34" charset="0"/>
                <a:ea typeface="Arial" pitchFamily="34" charset="-122"/>
                <a:cs typeface="Arial" pitchFamily="34" charset="-120"/>
              </a:rPr>
              <a:t>0.4k</a:t>
            </a:r>
            <a:endParaRPr lang="en-US" sz="1159" dirty="0"/>
          </a:p>
        </p:txBody>
      </p:sp>
      <p:sp>
        <p:nvSpPr>
          <p:cNvPr id="63" name="Text 59"/>
          <p:cNvSpPr/>
          <p:nvPr/>
        </p:nvSpPr>
        <p:spPr>
          <a:xfrm>
            <a:off x="812800" y="53721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D2D2D"/>
                </a:solidFill>
                <a:latin typeface="Arial" pitchFamily="34" charset="0"/>
                <a:ea typeface="Arial" pitchFamily="34" charset="-122"/>
                <a:cs typeface="Arial" pitchFamily="34" charset="-120"/>
              </a:rPr>
              <a:t>The payload is one fetch away. The window keeps the 120-token summary and the id, which is all the next step usually needs.</a:t>
            </a:r>
            <a:endParaRPr lang="en-US" sz="1300" dirty="0"/>
          </a:p>
        </p:txBody>
      </p:sp>
      <p:sp>
        <p:nvSpPr>
          <p:cNvPr id="64" name="Text 6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CONTEXT ENGINEERING TECHNIQUE 3 · JUST IN TIME</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Recalling what was offloaded, without refilling the window</a:t>
            </a:r>
            <a:endParaRPr lang="en-US" sz="2800" dirty="0"/>
          </a:p>
        </p:txBody>
      </p:sp>
      <p:sp>
        <p:nvSpPr>
          <p:cNvPr id="5" name="Shape 3"/>
          <p:cNvSpPr/>
          <p:nvPr/>
        </p:nvSpPr>
        <p:spPr>
          <a:xfrm>
            <a:off x="815975" y="1590675"/>
            <a:ext cx="1898650" cy="1644650"/>
          </a:xfrm>
          <a:prstGeom prst="roundRect">
            <a:avLst>
              <a:gd name="adj" fmla="val 6757"/>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6" name="Text 4"/>
          <p:cNvSpPr/>
          <p:nvPr/>
        </p:nvSpPr>
        <p:spPr>
          <a:xfrm>
            <a:off x="939800" y="1720850"/>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74634"/>
                </a:solidFill>
                <a:latin typeface="Courier New" pitchFamily="49" charset="0"/>
                <a:ea typeface="Courier New" pitchFamily="49" charset="-122"/>
                <a:cs typeface="Courier New" pitchFamily="49" charset="-120"/>
              </a:rPr>
              <a:t>01</a:t>
            </a:r>
            <a:endParaRPr lang="en-US" sz="1200" dirty="0"/>
          </a:p>
        </p:txBody>
      </p:sp>
      <p:sp>
        <p:nvSpPr>
          <p:cNvPr id="7" name="Text 5"/>
          <p:cNvSpPr/>
          <p:nvPr/>
        </p:nvSpPr>
        <p:spPr>
          <a:xfrm>
            <a:off x="939800" y="1984970"/>
            <a:ext cx="150846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2D2D"/>
                </a:solidFill>
                <a:latin typeface="Arial" pitchFamily="34" charset="0"/>
                <a:ea typeface="Arial" pitchFamily="34" charset="-122"/>
                <a:cs typeface="Arial" pitchFamily="34" charset="-120"/>
              </a:rPr>
              <a:t>Step 31 needs it</a:t>
            </a:r>
            <a:endParaRPr lang="en-US" sz="1300" dirty="0"/>
          </a:p>
        </p:txBody>
      </p:sp>
      <p:sp>
        <p:nvSpPr>
          <p:cNvPr id="8" name="Text 6"/>
          <p:cNvSpPr/>
          <p:nvPr/>
        </p:nvSpPr>
        <p:spPr>
          <a:xfrm>
            <a:off x="939800" y="2233861"/>
            <a:ext cx="17018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the plan references rows 40 to 60 of the result</a:t>
            </a:r>
            <a:endParaRPr lang="en-US" sz="1200" dirty="0"/>
          </a:p>
        </p:txBody>
      </p:sp>
      <p:sp>
        <p:nvSpPr>
          <p:cNvPr id="9" name="Shape 7"/>
          <p:cNvSpPr/>
          <p:nvPr/>
        </p:nvSpPr>
        <p:spPr>
          <a:xfrm>
            <a:off x="2981325" y="1590675"/>
            <a:ext cx="1898650" cy="1644650"/>
          </a:xfrm>
          <a:prstGeom prst="roundRect">
            <a:avLst>
              <a:gd name="adj" fmla="val 6757"/>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0" name="Text 8"/>
          <p:cNvSpPr/>
          <p:nvPr/>
        </p:nvSpPr>
        <p:spPr>
          <a:xfrm>
            <a:off x="3105150" y="1720850"/>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74634"/>
                </a:solidFill>
                <a:latin typeface="Courier New" pitchFamily="49" charset="0"/>
                <a:ea typeface="Courier New" pitchFamily="49" charset="-122"/>
                <a:cs typeface="Courier New" pitchFamily="49" charset="-120"/>
              </a:rPr>
              <a:t>02</a:t>
            </a:r>
            <a:endParaRPr lang="en-US" sz="1200" dirty="0"/>
          </a:p>
        </p:txBody>
      </p:sp>
      <p:sp>
        <p:nvSpPr>
          <p:cNvPr id="11" name="Text 9"/>
          <p:cNvSpPr/>
          <p:nvPr/>
        </p:nvSpPr>
        <p:spPr>
          <a:xfrm>
            <a:off x="3105150" y="1984970"/>
            <a:ext cx="1701800" cy="42158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2D2D"/>
                </a:solidFill>
                <a:latin typeface="Arial" pitchFamily="34" charset="0"/>
                <a:ea typeface="Arial" pitchFamily="34" charset="-122"/>
                <a:cs typeface="Arial" pitchFamily="34" charset="-120"/>
              </a:rPr>
              <a:t>fetch(tl_8821, rows=40..60)</a:t>
            </a:r>
            <a:endParaRPr lang="en-US" sz="1300" dirty="0"/>
          </a:p>
        </p:txBody>
      </p:sp>
      <p:sp>
        <p:nvSpPr>
          <p:cNvPr id="12" name="Text 10"/>
          <p:cNvSpPr/>
          <p:nvPr/>
        </p:nvSpPr>
        <p:spPr>
          <a:xfrm>
            <a:off x="3105150" y="2431951"/>
            <a:ext cx="17018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a slice, not the whole payload</a:t>
            </a:r>
            <a:endParaRPr lang="en-US" sz="1200" dirty="0"/>
          </a:p>
        </p:txBody>
      </p:sp>
      <p:sp>
        <p:nvSpPr>
          <p:cNvPr id="13" name="Shape 11"/>
          <p:cNvSpPr/>
          <p:nvPr/>
        </p:nvSpPr>
        <p:spPr>
          <a:xfrm>
            <a:off x="5149850" y="1593850"/>
            <a:ext cx="1892300" cy="1638300"/>
          </a:xfrm>
          <a:prstGeom prst="roundRect">
            <a:avLst>
              <a:gd name="adj" fmla="val 6589"/>
            </a:avLst>
          </a:prstGeom>
          <a:solidFill>
            <a:srgbClr val="FFF4F1"/>
          </a:solidFill>
          <a:ln w="12700">
            <a:solidFill>
              <a:srgbClr val="C74634">
                <a:alpha val="50000"/>
              </a:srgbClr>
            </a:solidFill>
            <a:prstDash val="solid"/>
          </a:ln>
        </p:spPr>
      </p:sp>
      <p:sp>
        <p:nvSpPr>
          <p:cNvPr id="14" name="Text 12"/>
          <p:cNvSpPr/>
          <p:nvPr/>
        </p:nvSpPr>
        <p:spPr>
          <a:xfrm>
            <a:off x="5270500" y="1727200"/>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74634"/>
                </a:solidFill>
                <a:latin typeface="Courier New" pitchFamily="49" charset="0"/>
                <a:ea typeface="Courier New" pitchFamily="49" charset="-122"/>
                <a:cs typeface="Courier New" pitchFamily="49" charset="-120"/>
              </a:rPr>
              <a:t>03</a:t>
            </a:r>
            <a:endParaRPr lang="en-US" sz="1200" dirty="0"/>
          </a:p>
        </p:txBody>
      </p:sp>
      <p:sp>
        <p:nvSpPr>
          <p:cNvPr id="15" name="Text 13"/>
          <p:cNvSpPr/>
          <p:nvPr/>
        </p:nvSpPr>
        <p:spPr>
          <a:xfrm>
            <a:off x="5270500" y="1991320"/>
            <a:ext cx="1596569"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2D2D"/>
                </a:solidFill>
                <a:latin typeface="Arial" pitchFamily="34" charset="0"/>
                <a:ea typeface="Arial" pitchFamily="34" charset="-122"/>
                <a:cs typeface="Arial" pitchFamily="34" charset="-120"/>
              </a:rPr>
              <a:t>Headroom check</a:t>
            </a:r>
            <a:endParaRPr lang="en-US" sz="1300" dirty="0"/>
          </a:p>
        </p:txBody>
      </p:sp>
      <p:sp>
        <p:nvSpPr>
          <p:cNvPr id="16" name="Text 14"/>
          <p:cNvSpPr/>
          <p:nvPr/>
        </p:nvSpPr>
        <p:spPr>
          <a:xfrm>
            <a:off x="5270500" y="2240211"/>
            <a:ext cx="17018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200k, less 16k reserve, less 94k used: 90k free; 4k asked</a:t>
            </a:r>
            <a:endParaRPr lang="en-US" sz="1200" dirty="0"/>
          </a:p>
        </p:txBody>
      </p:sp>
      <p:sp>
        <p:nvSpPr>
          <p:cNvPr id="17" name="Shape 15"/>
          <p:cNvSpPr/>
          <p:nvPr/>
        </p:nvSpPr>
        <p:spPr>
          <a:xfrm>
            <a:off x="7312025" y="1590675"/>
            <a:ext cx="1898650" cy="1644650"/>
          </a:xfrm>
          <a:prstGeom prst="roundRect">
            <a:avLst>
              <a:gd name="adj" fmla="val 6757"/>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8" name="Text 16"/>
          <p:cNvSpPr/>
          <p:nvPr/>
        </p:nvSpPr>
        <p:spPr>
          <a:xfrm>
            <a:off x="7435850" y="1720850"/>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74634"/>
                </a:solidFill>
                <a:latin typeface="Courier New" pitchFamily="49" charset="0"/>
                <a:ea typeface="Courier New" pitchFamily="49" charset="-122"/>
                <a:cs typeface="Courier New" pitchFamily="49" charset="-120"/>
              </a:rPr>
              <a:t>04</a:t>
            </a:r>
            <a:endParaRPr lang="en-US" sz="1200" dirty="0"/>
          </a:p>
        </p:txBody>
      </p:sp>
      <p:sp>
        <p:nvSpPr>
          <p:cNvPr id="19" name="Text 17"/>
          <p:cNvSpPr/>
          <p:nvPr/>
        </p:nvSpPr>
        <p:spPr>
          <a:xfrm>
            <a:off x="7435850" y="1984970"/>
            <a:ext cx="170628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2D2D"/>
                </a:solidFill>
                <a:latin typeface="Arial" pitchFamily="34" charset="0"/>
                <a:ea typeface="Arial" pitchFamily="34" charset="-122"/>
                <a:cs typeface="Arial" pitchFamily="34" charset="-120"/>
              </a:rPr>
              <a:t>Inject for this step</a:t>
            </a:r>
            <a:endParaRPr lang="en-US" sz="1300" dirty="0"/>
          </a:p>
        </p:txBody>
      </p:sp>
      <p:sp>
        <p:nvSpPr>
          <p:cNvPr id="20" name="Text 18"/>
          <p:cNvSpPr/>
          <p:nvPr/>
        </p:nvSpPr>
        <p:spPr>
          <a:xfrm>
            <a:off x="7435850" y="2233861"/>
            <a:ext cx="17018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into the tool-result slot, tagged ephemeral</a:t>
            </a:r>
            <a:endParaRPr lang="en-US" sz="1200" dirty="0"/>
          </a:p>
        </p:txBody>
      </p:sp>
      <p:sp>
        <p:nvSpPr>
          <p:cNvPr id="21" name="Shape 19"/>
          <p:cNvSpPr/>
          <p:nvPr/>
        </p:nvSpPr>
        <p:spPr>
          <a:xfrm>
            <a:off x="9477375" y="1590675"/>
            <a:ext cx="1898650" cy="1644650"/>
          </a:xfrm>
          <a:prstGeom prst="roundRect">
            <a:avLst>
              <a:gd name="adj" fmla="val 6757"/>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22" name="Text 20"/>
          <p:cNvSpPr/>
          <p:nvPr/>
        </p:nvSpPr>
        <p:spPr>
          <a:xfrm>
            <a:off x="9601200" y="1720850"/>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74634"/>
                </a:solidFill>
                <a:latin typeface="Courier New" pitchFamily="49" charset="0"/>
                <a:ea typeface="Courier New" pitchFamily="49" charset="-122"/>
                <a:cs typeface="Courier New" pitchFamily="49" charset="-120"/>
              </a:rPr>
              <a:t>05</a:t>
            </a:r>
            <a:endParaRPr lang="en-US" sz="1200" dirty="0"/>
          </a:p>
        </p:txBody>
      </p:sp>
      <p:sp>
        <p:nvSpPr>
          <p:cNvPr id="23" name="Text 21"/>
          <p:cNvSpPr/>
          <p:nvPr/>
        </p:nvSpPr>
        <p:spPr>
          <a:xfrm>
            <a:off x="9601200" y="1984970"/>
            <a:ext cx="177165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2D2D"/>
                </a:solidFill>
                <a:latin typeface="Arial" pitchFamily="34" charset="0"/>
                <a:ea typeface="Arial" pitchFamily="34" charset="-122"/>
                <a:cs typeface="Arial" pitchFamily="34" charset="-120"/>
              </a:rPr>
              <a:t>Use it, then compact</a:t>
            </a:r>
            <a:endParaRPr lang="en-US" sz="1300" dirty="0"/>
          </a:p>
        </p:txBody>
      </p:sp>
      <p:sp>
        <p:nvSpPr>
          <p:cNvPr id="24" name="Text 22"/>
          <p:cNvSpPr/>
          <p:nvPr/>
        </p:nvSpPr>
        <p:spPr>
          <a:xfrm>
            <a:off x="9601200" y="2233861"/>
            <a:ext cx="17018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the slice collapses back to the stub</a:t>
            </a:r>
            <a:endParaRPr lang="en-US" sz="1200" dirty="0"/>
          </a:p>
        </p:txBody>
      </p:sp>
      <p:pic>
        <p:nvPicPr>
          <p:cNvPr id="25" name="Image 0" descr="the recall sequence">    </p:cNvPr>
          <p:cNvPicPr>
            <a:picLocks noChangeAspect="1"/>
          </p:cNvPicPr>
          <p:nvPr/>
        </p:nvPicPr>
        <p:blipFill>
          <a:blip r:embed="rId1"/>
          <a:srcRect l="0" r="0" t="0" b="0"/>
          <a:stretch/>
        </p:blipFill>
        <p:spPr>
          <a:xfrm>
            <a:off x="0" y="0"/>
            <a:ext cx="12192000" cy="6858000"/>
          </a:xfrm>
          <a:prstGeom prst="rect">
            <a:avLst/>
          </a:prstGeom>
        </p:spPr>
      </p:pic>
      <p:sp>
        <p:nvSpPr>
          <p:cNvPr id="26" name="Text 23"/>
          <p:cNvSpPr/>
          <p:nvPr/>
        </p:nvSpPr>
        <p:spPr>
          <a:xfrm>
            <a:off x="812800" y="353060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Courier New" pitchFamily="49" charset="0"/>
                <a:ea typeface="Courier New" pitchFamily="49" charset="-122"/>
                <a:cs typeface="Courier New" pitchFamily="49" charset="-120"/>
              </a:rPr>
              <a:t>HOW A RECALL IS STOPPED FROM BLOWING THE WINDOW UP AGAIN</a:t>
            </a:r>
            <a:endParaRPr lang="en-US" sz="1200" dirty="0"/>
          </a:p>
        </p:txBody>
      </p:sp>
      <p:sp>
        <p:nvSpPr>
          <p:cNvPr id="27" name="Shape 24"/>
          <p:cNvSpPr/>
          <p:nvPr/>
        </p:nvSpPr>
        <p:spPr>
          <a:xfrm>
            <a:off x="815975" y="3851275"/>
            <a:ext cx="3378200" cy="958850"/>
          </a:xfrm>
          <a:prstGeom prst="roundRect">
            <a:avLst>
              <a:gd name="adj" fmla="val 10265"/>
            </a:avLst>
          </a:prstGeom>
          <a:solidFill>
            <a:srgbClr val="FFFFFF"/>
          </a:solidFill>
          <a:ln w="6350">
            <a:solidFill>
              <a:srgbClr val="31535C">
                <a:alpha val="20000"/>
              </a:srgbClr>
            </a:solidFill>
            <a:prstDash val="solid"/>
          </a:ln>
        </p:spPr>
      </p:sp>
      <p:sp>
        <p:nvSpPr>
          <p:cNvPr id="28" name="Text 25"/>
          <p:cNvSpPr/>
          <p:nvPr/>
        </p:nvSpPr>
        <p:spPr>
          <a:xfrm>
            <a:off x="927100" y="3968750"/>
            <a:ext cx="20425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D2D2D"/>
                </a:solidFill>
                <a:latin typeface="Arial" pitchFamily="34" charset="0"/>
                <a:ea typeface="Arial" pitchFamily="34" charset="-122"/>
                <a:cs typeface="Arial" pitchFamily="34" charset="-120"/>
              </a:rPr>
              <a:t>Headroom before inject</a:t>
            </a:r>
            <a:endParaRPr lang="en-US" sz="1200" dirty="0"/>
          </a:p>
        </p:txBody>
      </p:sp>
      <p:sp>
        <p:nvSpPr>
          <p:cNvPr id="29" name="Text 26"/>
          <p:cNvSpPr/>
          <p:nvPr/>
        </p:nvSpPr>
        <p:spPr>
          <a:xfrm>
            <a:off x="927100" y="4177010"/>
            <a:ext cx="3250629"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limit, minus the output reserve, minus what is in use. A recall never gets more than that.</a:t>
            </a:r>
            <a:endParaRPr lang="en-US" sz="1200" dirty="0"/>
          </a:p>
        </p:txBody>
      </p:sp>
      <p:sp>
        <p:nvSpPr>
          <p:cNvPr id="30" name="Shape 27"/>
          <p:cNvSpPr/>
          <p:nvPr/>
        </p:nvSpPr>
        <p:spPr>
          <a:xfrm>
            <a:off x="4403725" y="3851275"/>
            <a:ext cx="3378200" cy="958850"/>
          </a:xfrm>
          <a:prstGeom prst="roundRect">
            <a:avLst>
              <a:gd name="adj" fmla="val 10265"/>
            </a:avLst>
          </a:prstGeom>
          <a:solidFill>
            <a:srgbClr val="FFFFFF"/>
          </a:solidFill>
          <a:ln w="6350">
            <a:solidFill>
              <a:srgbClr val="31535C">
                <a:alpha val="20000"/>
              </a:srgbClr>
            </a:solidFill>
            <a:prstDash val="solid"/>
          </a:ln>
        </p:spPr>
      </p:sp>
      <p:sp>
        <p:nvSpPr>
          <p:cNvPr id="31" name="Text 28"/>
          <p:cNvSpPr/>
          <p:nvPr/>
        </p:nvSpPr>
        <p:spPr>
          <a:xfrm>
            <a:off x="4514850" y="3968750"/>
            <a:ext cx="1635919"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D2D2D"/>
                </a:solidFill>
                <a:latin typeface="Arial" pitchFamily="34" charset="0"/>
                <a:ea typeface="Arial" pitchFamily="34" charset="-122"/>
                <a:cs typeface="Arial" pitchFamily="34" charset="-120"/>
              </a:rPr>
              <a:t>Compact form first</a:t>
            </a:r>
            <a:endParaRPr lang="en-US" sz="1200" dirty="0"/>
          </a:p>
        </p:txBody>
      </p:sp>
      <p:sp>
        <p:nvSpPr>
          <p:cNvPr id="32" name="Text 29"/>
          <p:cNvSpPr/>
          <p:nvPr/>
        </p:nvSpPr>
        <p:spPr>
          <a:xfrm>
            <a:off x="4514850" y="4177010"/>
            <a:ext cx="3250629"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the summary and the id come back first; the payload only when a step asks for a slice.</a:t>
            </a:r>
            <a:endParaRPr lang="en-US" sz="1200" dirty="0"/>
          </a:p>
        </p:txBody>
      </p:sp>
      <p:sp>
        <p:nvSpPr>
          <p:cNvPr id="33" name="Shape 30"/>
          <p:cNvSpPr/>
          <p:nvPr/>
        </p:nvSpPr>
        <p:spPr>
          <a:xfrm>
            <a:off x="7991475" y="3851275"/>
            <a:ext cx="3384550" cy="958850"/>
          </a:xfrm>
          <a:prstGeom prst="roundRect">
            <a:avLst>
              <a:gd name="adj" fmla="val 10265"/>
            </a:avLst>
          </a:prstGeom>
          <a:solidFill>
            <a:srgbClr val="FFFFFF"/>
          </a:solidFill>
          <a:ln w="6350">
            <a:solidFill>
              <a:srgbClr val="31535C">
                <a:alpha val="20000"/>
              </a:srgbClr>
            </a:solidFill>
            <a:prstDash val="solid"/>
          </a:ln>
        </p:spPr>
      </p:sp>
      <p:sp>
        <p:nvSpPr>
          <p:cNvPr id="34" name="Text 31"/>
          <p:cNvSpPr/>
          <p:nvPr/>
        </p:nvSpPr>
        <p:spPr>
          <a:xfrm>
            <a:off x="8102600" y="3968750"/>
            <a:ext cx="188970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D2D2D"/>
                </a:solidFill>
                <a:latin typeface="Arial" pitchFamily="34" charset="0"/>
                <a:ea typeface="Arial" pitchFamily="34" charset="-122"/>
                <a:cs typeface="Arial" pitchFamily="34" charset="-120"/>
              </a:rPr>
              <a:t>Budget and threshold</a:t>
            </a:r>
            <a:endParaRPr lang="en-US" sz="1200" dirty="0"/>
          </a:p>
        </p:txBody>
      </p:sp>
      <p:sp>
        <p:nvSpPr>
          <p:cNvPr id="35" name="Text 32"/>
          <p:cNvSpPr/>
          <p:nvPr/>
        </p:nvSpPr>
        <p:spPr>
          <a:xfrm>
            <a:off x="8102600" y="4177010"/>
            <a:ext cx="3257169"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a token budget per recall, and a rerank threshold instead of a fixed top-k.</a:t>
            </a:r>
            <a:endParaRPr lang="en-US" sz="1200" dirty="0"/>
          </a:p>
        </p:txBody>
      </p:sp>
      <p:sp>
        <p:nvSpPr>
          <p:cNvPr id="36" name="Shape 33"/>
          <p:cNvSpPr/>
          <p:nvPr/>
        </p:nvSpPr>
        <p:spPr>
          <a:xfrm>
            <a:off x="815975" y="4905375"/>
            <a:ext cx="3378200" cy="958850"/>
          </a:xfrm>
          <a:prstGeom prst="roundRect">
            <a:avLst>
              <a:gd name="adj" fmla="val 10265"/>
            </a:avLst>
          </a:prstGeom>
          <a:solidFill>
            <a:srgbClr val="FFFFFF"/>
          </a:solidFill>
          <a:ln w="6350">
            <a:solidFill>
              <a:srgbClr val="31535C">
                <a:alpha val="20000"/>
              </a:srgbClr>
            </a:solidFill>
            <a:prstDash val="solid"/>
          </a:ln>
        </p:spPr>
      </p:sp>
      <p:sp>
        <p:nvSpPr>
          <p:cNvPr id="37" name="Text 34"/>
          <p:cNvSpPr/>
          <p:nvPr/>
        </p:nvSpPr>
        <p:spPr>
          <a:xfrm>
            <a:off x="927100" y="5022850"/>
            <a:ext cx="1737836"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D2D2D"/>
                </a:solidFill>
                <a:latin typeface="Arial" pitchFamily="34" charset="0"/>
                <a:ea typeface="Arial" pitchFamily="34" charset="-122"/>
                <a:cs typeface="Arial" pitchFamily="34" charset="-120"/>
              </a:rPr>
              <a:t>Ephemeral injection</a:t>
            </a:r>
            <a:endParaRPr lang="en-US" sz="1200" dirty="0"/>
          </a:p>
        </p:txBody>
      </p:sp>
      <p:sp>
        <p:nvSpPr>
          <p:cNvPr id="38" name="Text 35"/>
          <p:cNvSpPr/>
          <p:nvPr/>
        </p:nvSpPr>
        <p:spPr>
          <a:xfrm>
            <a:off x="927100" y="5231110"/>
            <a:ext cx="3250629"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the slice lives for the step it was fetched for, then it is compacted back to the stub.</a:t>
            </a:r>
            <a:endParaRPr lang="en-US" sz="1200" dirty="0"/>
          </a:p>
        </p:txBody>
      </p:sp>
      <p:sp>
        <p:nvSpPr>
          <p:cNvPr id="39" name="Shape 36"/>
          <p:cNvSpPr/>
          <p:nvPr/>
        </p:nvSpPr>
        <p:spPr>
          <a:xfrm>
            <a:off x="4403725" y="4905375"/>
            <a:ext cx="3378200" cy="958850"/>
          </a:xfrm>
          <a:prstGeom prst="roundRect">
            <a:avLst>
              <a:gd name="adj" fmla="val 10265"/>
            </a:avLst>
          </a:prstGeom>
          <a:solidFill>
            <a:srgbClr val="FFFFFF"/>
          </a:solidFill>
          <a:ln w="6350">
            <a:solidFill>
              <a:srgbClr val="31535C">
                <a:alpha val="20000"/>
              </a:srgbClr>
            </a:solidFill>
            <a:prstDash val="solid"/>
          </a:ln>
        </p:spPr>
      </p:sp>
      <p:sp>
        <p:nvSpPr>
          <p:cNvPr id="40" name="Text 37"/>
          <p:cNvSpPr/>
          <p:nvPr/>
        </p:nvSpPr>
        <p:spPr>
          <a:xfrm>
            <a:off x="4514850" y="5022850"/>
            <a:ext cx="1544300"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D2D2D"/>
                </a:solidFill>
                <a:latin typeface="Arial" pitchFamily="34" charset="0"/>
                <a:ea typeface="Arial" pitchFamily="34" charset="-122"/>
                <a:cs typeface="Arial" pitchFamily="34" charset="-120"/>
              </a:rPr>
              <a:t>Re-offload on use</a:t>
            </a:r>
            <a:endParaRPr lang="en-US" sz="1200" dirty="0"/>
          </a:p>
        </p:txBody>
      </p:sp>
      <p:sp>
        <p:nvSpPr>
          <p:cNvPr id="41" name="Text 38"/>
          <p:cNvSpPr/>
          <p:nvPr/>
        </p:nvSpPr>
        <p:spPr>
          <a:xfrm>
            <a:off x="4514850" y="5231110"/>
            <a:ext cx="3250629"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a result that grows the window past the threshold is offloaded again, the same policy.</a:t>
            </a:r>
            <a:endParaRPr lang="en-US" sz="1200" dirty="0"/>
          </a:p>
        </p:txBody>
      </p:sp>
      <p:sp>
        <p:nvSpPr>
          <p:cNvPr id="42" name="Text 39"/>
          <p:cNvSpPr/>
          <p:nvPr/>
        </p:nvSpPr>
        <p:spPr>
          <a:xfrm>
            <a:off x="7988300" y="4927600"/>
            <a:ext cx="349262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2D2D"/>
                </a:solidFill>
                <a:latin typeface="Arial" pitchFamily="34" charset="0"/>
                <a:ea typeface="Arial" pitchFamily="34" charset="-122"/>
                <a:cs typeface="Arial" pitchFamily="34" charset="-120"/>
              </a:rPr>
              <a:t>The offload policy and the recall policy read the same fields: tokens, utility, age, and a reference that restores.</a:t>
            </a:r>
            <a:endParaRPr lang="en-US" sz="1200" dirty="0"/>
          </a:p>
        </p:txBody>
      </p:sp>
      <p:sp>
        <p:nvSpPr>
          <p:cNvPr id="43" name="Text 4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FROM THE FRONT LINE</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What Anthropic ships tells you where the harness is going</a:t>
            </a:r>
            <a:endParaRPr lang="en-US" sz="2800" dirty="0"/>
          </a:p>
        </p:txBody>
      </p:sp>
      <p:sp>
        <p:nvSpPr>
          <p:cNvPr id="5" name="Shape 3"/>
          <p:cNvSpPr/>
          <p:nvPr/>
        </p:nvSpPr>
        <p:spPr>
          <a:xfrm>
            <a:off x="815975" y="1590675"/>
            <a:ext cx="5149850" cy="3143250"/>
          </a:xfrm>
          <a:prstGeom prst="roundRect">
            <a:avLst>
              <a:gd name="adj" fmla="val 4343"/>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6" name="Text 4"/>
          <p:cNvSpPr/>
          <p:nvPr/>
        </p:nvSpPr>
        <p:spPr>
          <a:xfrm>
            <a:off x="990600" y="1771650"/>
            <a:ext cx="2682014"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MEMORY TOOL · client-side</a:t>
            </a:r>
            <a:endParaRPr lang="en-US" sz="1200" dirty="0"/>
          </a:p>
        </p:txBody>
      </p:sp>
      <p:sp>
        <p:nvSpPr>
          <p:cNvPr id="7" name="Text 5"/>
          <p:cNvSpPr/>
          <p:nvPr/>
        </p:nvSpPr>
        <p:spPr>
          <a:xfrm>
            <a:off x="990600" y="2061170"/>
            <a:ext cx="49720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D2D2D"/>
                </a:solidFill>
                <a:latin typeface="Arial" pitchFamily="34" charset="0"/>
                <a:ea typeface="Arial" pitchFamily="34" charset="-122"/>
                <a:cs typeface="Arial" pitchFamily="34" charset="-120"/>
              </a:rPr>
              <a:t>The model decides what to keep; you hold the store</a:t>
            </a:r>
            <a:endParaRPr lang="en-US" sz="1500" dirty="0"/>
          </a:p>
        </p:txBody>
      </p:sp>
      <p:sp>
        <p:nvSpPr>
          <p:cNvPr id="8" name="Shape 6"/>
          <p:cNvSpPr/>
          <p:nvPr/>
        </p:nvSpPr>
        <p:spPr>
          <a:xfrm>
            <a:off x="990600" y="2365970"/>
            <a:ext cx="4800600" cy="1081980"/>
          </a:xfrm>
          <a:prstGeom prst="roundRect">
            <a:avLst>
              <a:gd name="adj" fmla="val 8216"/>
            </a:avLst>
          </a:prstGeom>
          <a:solidFill>
            <a:srgbClr val="1E2A2A"/>
          </a:solidFill>
          <a:ln/>
        </p:spPr>
      </p:sp>
      <p:sp>
        <p:nvSpPr>
          <p:cNvPr id="9" name="Text 7"/>
          <p:cNvSpPr/>
          <p:nvPr/>
        </p:nvSpPr>
        <p:spPr>
          <a:xfrm>
            <a:off x="1117600" y="2467570"/>
            <a:ext cx="4682998"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type: memory_20250818, name: memory</a:t>
            </a:r>
            <a:endParaRPr lang="en-US" sz="1000" dirty="0"/>
          </a:p>
        </p:txBody>
      </p:sp>
      <p:sp>
        <p:nvSpPr>
          <p:cNvPr id="10" name="Text 8"/>
          <p:cNvSpPr/>
          <p:nvPr/>
        </p:nvSpPr>
        <p:spPr>
          <a:xfrm>
            <a:off x="1117600" y="2683470"/>
            <a:ext cx="4682998"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7FC4DC"/>
                </a:solidFill>
                <a:latin typeface="Courier New" pitchFamily="49" charset="0"/>
                <a:ea typeface="Courier New" pitchFamily="49" charset="-122"/>
                <a:cs typeface="Courier New" pitchFamily="49" charset="-120"/>
              </a:rPr>
              <a:t>view /memories</a:t>
            </a:r>
            <a:endParaRPr lang="en-US" sz="1100" dirty="0"/>
          </a:p>
        </p:txBody>
      </p:sp>
      <p:sp>
        <p:nvSpPr>
          <p:cNvPr id="11" name="Text 9"/>
          <p:cNvSpPr/>
          <p:nvPr/>
        </p:nvSpPr>
        <p:spPr>
          <a:xfrm>
            <a:off x="1117600" y="2917130"/>
            <a:ext cx="4682998"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7FC4DC"/>
                </a:solidFill>
                <a:latin typeface="Courier New" pitchFamily="49" charset="0"/>
                <a:ea typeface="Courier New" pitchFamily="49" charset="-122"/>
                <a:cs typeface="Courier New" pitchFamily="49" charset="-120"/>
              </a:rPr>
              <a:t>create /memories/user.md</a:t>
            </a:r>
            <a:endParaRPr lang="en-US" sz="1100" dirty="0"/>
          </a:p>
        </p:txBody>
      </p:sp>
      <p:sp>
        <p:nvSpPr>
          <p:cNvPr id="12" name="Text 10"/>
          <p:cNvSpPr/>
          <p:nvPr/>
        </p:nvSpPr>
        <p:spPr>
          <a:xfrm>
            <a:off x="1117600" y="3150791"/>
            <a:ext cx="4682998"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7FC4DC"/>
                </a:solidFill>
                <a:latin typeface="Courier New" pitchFamily="49" charset="0"/>
                <a:ea typeface="Courier New" pitchFamily="49" charset="-122"/>
                <a:cs typeface="Courier New" pitchFamily="49" charset="-120"/>
              </a:rPr>
              <a:t>str_replace insert delete rename</a:t>
            </a:r>
            <a:endParaRPr lang="en-US" sz="1100" dirty="0"/>
          </a:p>
        </p:txBody>
      </p:sp>
      <p:sp>
        <p:nvSpPr>
          <p:cNvPr id="13" name="Text 11"/>
          <p:cNvSpPr/>
          <p:nvPr/>
        </p:nvSpPr>
        <p:spPr>
          <a:xfrm>
            <a:off x="990600" y="3524151"/>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The files live in your harness, not behind the API: inspectable, portable, yours. The moat slide, written into a tool definition.</a:t>
            </a:r>
            <a:endParaRPr lang="en-US" sz="1200" dirty="0"/>
          </a:p>
        </p:txBody>
      </p:sp>
      <p:sp>
        <p:nvSpPr>
          <p:cNvPr id="14" name="Text 12"/>
          <p:cNvSpPr/>
          <p:nvPr/>
        </p:nvSpPr>
        <p:spPr>
          <a:xfrm>
            <a:off x="990600" y="4026991"/>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Pairs with context editing and compaction: memory is written before the window is trimmed, which is the ordering lesson from Codex.</a:t>
            </a:r>
            <a:endParaRPr lang="en-US" sz="1200" dirty="0"/>
          </a:p>
        </p:txBody>
      </p:sp>
      <p:sp>
        <p:nvSpPr>
          <p:cNvPr id="15" name="Shape 13"/>
          <p:cNvSpPr/>
          <p:nvPr/>
        </p:nvSpPr>
        <p:spPr>
          <a:xfrm>
            <a:off x="6226175" y="1590675"/>
            <a:ext cx="5149850" cy="3143250"/>
          </a:xfrm>
          <a:prstGeom prst="roundRect">
            <a:avLst>
              <a:gd name="adj" fmla="val 4343"/>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6" name="Text 14"/>
          <p:cNvSpPr/>
          <p:nvPr/>
        </p:nvSpPr>
        <p:spPr>
          <a:xfrm>
            <a:off x="6400800" y="1771650"/>
            <a:ext cx="3432945"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36677D"/>
                </a:solidFill>
                <a:latin typeface="Courier New" pitchFamily="49" charset="0"/>
                <a:ea typeface="Courier New" pitchFamily="49" charset="-122"/>
                <a:cs typeface="Courier New" pitchFamily="49" charset="-120"/>
              </a:rPr>
              <a:t>TOOL SEARCH TOOL · defer_loading</a:t>
            </a:r>
            <a:endParaRPr lang="en-US" sz="1200" dirty="0"/>
          </a:p>
        </p:txBody>
      </p:sp>
      <p:sp>
        <p:nvSpPr>
          <p:cNvPr id="17" name="Text 15"/>
          <p:cNvSpPr/>
          <p:nvPr/>
        </p:nvSpPr>
        <p:spPr>
          <a:xfrm>
            <a:off x="6400800" y="2061170"/>
            <a:ext cx="49720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D2D2D"/>
                </a:solidFill>
                <a:latin typeface="Arial" pitchFamily="34" charset="0"/>
                <a:ea typeface="Arial" pitchFamily="34" charset="-122"/>
                <a:cs typeface="Arial" pitchFamily="34" charset="-120"/>
              </a:rPr>
              <a:t>Tool definitions loaded just in time, not every call</a:t>
            </a:r>
            <a:endParaRPr lang="en-US" sz="1500" dirty="0"/>
          </a:p>
        </p:txBody>
      </p:sp>
      <p:sp>
        <p:nvSpPr>
          <p:cNvPr id="18" name="Shape 16"/>
          <p:cNvSpPr/>
          <p:nvPr/>
        </p:nvSpPr>
        <p:spPr>
          <a:xfrm>
            <a:off x="6403975" y="2369145"/>
            <a:ext cx="1492250" cy="1019770"/>
          </a:xfrm>
          <a:prstGeom prst="roundRect">
            <a:avLst>
              <a:gd name="adj" fmla="val 8406"/>
            </a:avLst>
          </a:prstGeom>
          <a:solidFill>
            <a:srgbClr val="FFFFFF"/>
          </a:solidFill>
          <a:ln w="6350">
            <a:solidFill>
              <a:srgbClr val="31535C">
                <a:alpha val="20000"/>
              </a:srgbClr>
            </a:solidFill>
            <a:prstDash val="solid"/>
          </a:ln>
        </p:spPr>
      </p:sp>
      <p:sp>
        <p:nvSpPr>
          <p:cNvPr id="19" name="Text 17"/>
          <p:cNvSpPr/>
          <p:nvPr/>
        </p:nvSpPr>
        <p:spPr>
          <a:xfrm>
            <a:off x="6574135" y="2473920"/>
            <a:ext cx="1202730" cy="327620"/>
          </a:xfrm>
          <a:prstGeom prst="rect">
            <a:avLst/>
          </a:prstGeom>
          <a:noFill/>
          <a:ln/>
        </p:spPr>
        <p:txBody>
          <a:bodyPr wrap="none" lIns="0" tIns="0" rIns="0" bIns="0" rtlCol="0" anchor="t">
            <a:normAutofit/>
          </a:bodyPr>
          <a:lstStyle/>
          <a:p>
            <a:pPr algn="l" indent="0" marL="0">
              <a:lnSpc>
                <a:spcPts val="2380"/>
              </a:lnSpc>
              <a:buNone/>
            </a:pPr>
            <a:r>
              <a:rPr lang="en-US" sz="1700" b="1" dirty="0">
                <a:solidFill>
                  <a:srgbClr val="36677D"/>
                </a:solidFill>
                <a:latin typeface="Arial" pitchFamily="34" charset="0"/>
                <a:ea typeface="Arial" pitchFamily="34" charset="-122"/>
                <a:cs typeface="Arial" pitchFamily="34" charset="-120"/>
              </a:rPr>
              <a:t>55K tokens</a:t>
            </a:r>
            <a:endParaRPr lang="en-US" sz="1700" dirty="0"/>
          </a:p>
        </p:txBody>
      </p:sp>
      <p:sp>
        <p:nvSpPr>
          <p:cNvPr id="20" name="Text 18"/>
          <p:cNvSpPr/>
          <p:nvPr/>
        </p:nvSpPr>
        <p:spPr>
          <a:xfrm>
            <a:off x="6457950" y="2788841"/>
            <a:ext cx="1384300" cy="355600"/>
          </a:xfrm>
          <a:prstGeom prst="rect">
            <a:avLst/>
          </a:prstGeom>
          <a:noFill/>
          <a:ln/>
        </p:spPr>
        <p:txBody>
          <a:bodyPr wrap="square" lIns="0" tIns="0" rIns="0" bIns="0" rtlCol="0" anchor="t">
            <a:normAutofit/>
          </a:bodyPr>
          <a:lstStyle/>
          <a:p>
            <a:pPr algn="ctr" indent="0" marL="0">
              <a:lnSpc>
                <a:spcPts val="1300"/>
              </a:lnSpc>
              <a:buNone/>
            </a:pPr>
            <a:r>
              <a:rPr lang="en-US" sz="1000" dirty="0">
                <a:solidFill>
                  <a:srgbClr val="6B6B6B"/>
                </a:solidFill>
                <a:latin typeface="Arial" pitchFamily="34" charset="0"/>
                <a:ea typeface="Arial" pitchFamily="34" charset="-122"/>
                <a:cs typeface="Arial" pitchFamily="34" charset="-120"/>
              </a:rPr>
              <a:t>58 tools, loaded up front</a:t>
            </a:r>
            <a:endParaRPr lang="en-US" sz="1000" dirty="0"/>
          </a:p>
        </p:txBody>
      </p:sp>
      <p:sp>
        <p:nvSpPr>
          <p:cNvPr id="21" name="Shape 19"/>
          <p:cNvSpPr/>
          <p:nvPr/>
        </p:nvSpPr>
        <p:spPr>
          <a:xfrm>
            <a:off x="7978775" y="2369145"/>
            <a:ext cx="1492250" cy="1019770"/>
          </a:xfrm>
          <a:prstGeom prst="roundRect">
            <a:avLst>
              <a:gd name="adj" fmla="val 8406"/>
            </a:avLst>
          </a:prstGeom>
          <a:solidFill>
            <a:srgbClr val="FFFFFF"/>
          </a:solidFill>
          <a:ln w="6350">
            <a:solidFill>
              <a:srgbClr val="31535C">
                <a:alpha val="20000"/>
              </a:srgbClr>
            </a:solidFill>
            <a:prstDash val="solid"/>
          </a:ln>
        </p:spPr>
      </p:sp>
      <p:sp>
        <p:nvSpPr>
          <p:cNvPr id="22" name="Text 20"/>
          <p:cNvSpPr/>
          <p:nvPr/>
        </p:nvSpPr>
        <p:spPr>
          <a:xfrm>
            <a:off x="8196808" y="2473920"/>
            <a:ext cx="1106934" cy="327620"/>
          </a:xfrm>
          <a:prstGeom prst="rect">
            <a:avLst/>
          </a:prstGeom>
          <a:noFill/>
          <a:ln/>
        </p:spPr>
        <p:txBody>
          <a:bodyPr wrap="none" lIns="0" tIns="0" rIns="0" bIns="0" rtlCol="0" anchor="t">
            <a:normAutofit/>
          </a:bodyPr>
          <a:lstStyle/>
          <a:p>
            <a:pPr algn="l" indent="0" marL="0">
              <a:lnSpc>
                <a:spcPts val="2380"/>
              </a:lnSpc>
              <a:buNone/>
            </a:pPr>
            <a:r>
              <a:rPr lang="en-US" sz="1700" b="1" dirty="0">
                <a:solidFill>
                  <a:srgbClr val="36677D"/>
                </a:solidFill>
                <a:latin typeface="Arial" pitchFamily="34" charset="0"/>
                <a:ea typeface="Arial" pitchFamily="34" charset="-122"/>
                <a:cs typeface="Arial" pitchFamily="34" charset="-120"/>
              </a:rPr>
              <a:t>85% fewer</a:t>
            </a:r>
            <a:endParaRPr lang="en-US" sz="1700" dirty="0"/>
          </a:p>
        </p:txBody>
      </p:sp>
      <p:sp>
        <p:nvSpPr>
          <p:cNvPr id="23" name="Text 21"/>
          <p:cNvSpPr/>
          <p:nvPr/>
        </p:nvSpPr>
        <p:spPr>
          <a:xfrm>
            <a:off x="8032750" y="2788841"/>
            <a:ext cx="1384300" cy="355600"/>
          </a:xfrm>
          <a:prstGeom prst="rect">
            <a:avLst/>
          </a:prstGeom>
          <a:noFill/>
          <a:ln/>
        </p:spPr>
        <p:txBody>
          <a:bodyPr wrap="square" lIns="0" tIns="0" rIns="0" bIns="0" rtlCol="0" anchor="t">
            <a:normAutofit/>
          </a:bodyPr>
          <a:lstStyle/>
          <a:p>
            <a:pPr algn="ctr" indent="0" marL="0">
              <a:lnSpc>
                <a:spcPts val="1300"/>
              </a:lnSpc>
              <a:buNone/>
            </a:pPr>
            <a:r>
              <a:rPr lang="en-US" sz="1000" dirty="0">
                <a:solidFill>
                  <a:srgbClr val="6B6B6B"/>
                </a:solidFill>
                <a:latin typeface="Arial" pitchFamily="34" charset="0"/>
                <a:ea typeface="Arial" pitchFamily="34" charset="-122"/>
                <a:cs typeface="Arial" pitchFamily="34" charset="-120"/>
              </a:rPr>
              <a:t>about 77K down to 8.7K</a:t>
            </a:r>
            <a:endParaRPr lang="en-US" sz="1000" dirty="0"/>
          </a:p>
        </p:txBody>
      </p:sp>
      <p:sp>
        <p:nvSpPr>
          <p:cNvPr id="24" name="Shape 22"/>
          <p:cNvSpPr/>
          <p:nvPr/>
        </p:nvSpPr>
        <p:spPr>
          <a:xfrm>
            <a:off x="9553575" y="2369145"/>
            <a:ext cx="1492250" cy="1019770"/>
          </a:xfrm>
          <a:prstGeom prst="roundRect">
            <a:avLst>
              <a:gd name="adj" fmla="val 8406"/>
            </a:avLst>
          </a:prstGeom>
          <a:solidFill>
            <a:srgbClr val="FFFFFF"/>
          </a:solidFill>
          <a:ln w="6350">
            <a:solidFill>
              <a:srgbClr val="31535C">
                <a:alpha val="20000"/>
              </a:srgbClr>
            </a:solidFill>
            <a:prstDash val="solid"/>
          </a:ln>
        </p:spPr>
      </p:sp>
      <p:sp>
        <p:nvSpPr>
          <p:cNvPr id="25" name="Text 23"/>
          <p:cNvSpPr/>
          <p:nvPr/>
        </p:nvSpPr>
        <p:spPr>
          <a:xfrm>
            <a:off x="9705677" y="2473920"/>
            <a:ext cx="1238796" cy="327620"/>
          </a:xfrm>
          <a:prstGeom prst="rect">
            <a:avLst/>
          </a:prstGeom>
          <a:noFill/>
          <a:ln/>
        </p:spPr>
        <p:txBody>
          <a:bodyPr wrap="none" lIns="0" tIns="0" rIns="0" bIns="0" rtlCol="0" anchor="t">
            <a:normAutofit/>
          </a:bodyPr>
          <a:lstStyle/>
          <a:p>
            <a:pPr algn="l" indent="0" marL="0">
              <a:lnSpc>
                <a:spcPts val="2380"/>
              </a:lnSpc>
              <a:buNone/>
            </a:pPr>
            <a:r>
              <a:rPr lang="en-US" sz="1700" b="1" dirty="0">
                <a:solidFill>
                  <a:srgbClr val="36677D"/>
                </a:solidFill>
                <a:latin typeface="Arial" pitchFamily="34" charset="0"/>
                <a:ea typeface="Arial" pitchFamily="34" charset="-122"/>
                <a:cs typeface="Arial" pitchFamily="34" charset="-120"/>
              </a:rPr>
              <a:t>49% to 74%</a:t>
            </a:r>
            <a:endParaRPr lang="en-US" sz="1700" dirty="0"/>
          </a:p>
        </p:txBody>
      </p:sp>
      <p:sp>
        <p:nvSpPr>
          <p:cNvPr id="26" name="Text 24"/>
          <p:cNvSpPr/>
          <p:nvPr/>
        </p:nvSpPr>
        <p:spPr>
          <a:xfrm>
            <a:off x="9607550" y="2788841"/>
            <a:ext cx="1384300" cy="520700"/>
          </a:xfrm>
          <a:prstGeom prst="rect">
            <a:avLst/>
          </a:prstGeom>
          <a:noFill/>
          <a:ln/>
        </p:spPr>
        <p:txBody>
          <a:bodyPr wrap="square" lIns="0" tIns="0" rIns="0" bIns="0" rtlCol="0" anchor="t">
            <a:normAutofit/>
          </a:bodyPr>
          <a:lstStyle/>
          <a:p>
            <a:pPr algn="ctr" indent="0" marL="0">
              <a:lnSpc>
                <a:spcPts val="1300"/>
              </a:lnSpc>
              <a:buNone/>
            </a:pPr>
            <a:r>
              <a:rPr lang="en-US" sz="1000" dirty="0">
                <a:solidFill>
                  <a:srgbClr val="6B6B6B"/>
                </a:solidFill>
                <a:latin typeface="Arial" pitchFamily="34" charset="0"/>
                <a:ea typeface="Arial" pitchFamily="34" charset="-122"/>
                <a:cs typeface="Arial" pitchFamily="34" charset="-120"/>
              </a:rPr>
              <a:t>Opus 4 accuracy, 79.5% to 88.1% on Opus 4.5</a:t>
            </a:r>
            <a:endParaRPr lang="en-US" sz="1000" dirty="0"/>
          </a:p>
        </p:txBody>
      </p:sp>
      <p:sp>
        <p:nvSpPr>
          <p:cNvPr id="27" name="Text 25"/>
          <p:cNvSpPr/>
          <p:nvPr/>
        </p:nvSpPr>
        <p:spPr>
          <a:xfrm>
            <a:off x="6400800" y="3468291"/>
            <a:ext cx="494461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Deferred tools are found by search and loaded into context on demand: the toolbox-in-the-database technique, with the search index inside the API. Fewer definitions in the window also means a more stable prompt cache.</a:t>
            </a:r>
            <a:endParaRPr lang="en-US" sz="1200" dirty="0"/>
          </a:p>
        </p:txBody>
      </p:sp>
      <p:sp>
        <p:nvSpPr>
          <p:cNvPr id="28" name="Shape 26"/>
          <p:cNvSpPr/>
          <p:nvPr/>
        </p:nvSpPr>
        <p:spPr>
          <a:xfrm>
            <a:off x="815975" y="4841875"/>
            <a:ext cx="10560050" cy="819150"/>
          </a:xfrm>
          <a:prstGeom prst="roundRect">
            <a:avLst>
              <a:gd name="adj" fmla="val 15116"/>
            </a:avLst>
          </a:prstGeom>
          <a:solidFill>
            <a:srgbClr val="1E2A2A"/>
          </a:solidFill>
          <a:ln w="6350">
            <a:solidFill>
              <a:srgbClr val="1E2A2A"/>
            </a:solidFill>
            <a:prstDash val="solid"/>
          </a:ln>
        </p:spPr>
      </p:sp>
      <p:sp>
        <p:nvSpPr>
          <p:cNvPr id="29" name="Text 27"/>
          <p:cNvSpPr/>
          <p:nvPr/>
        </p:nvSpPr>
        <p:spPr>
          <a:xfrm>
            <a:off x="1066800" y="5020320"/>
            <a:ext cx="1036015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Arial" pitchFamily="34" charset="0"/>
                <a:ea typeface="Arial" pitchFamily="34" charset="-122"/>
                <a:cs typeface="Arial" pitchFamily="34" charset="-120"/>
              </a:rPr>
              <a:t>Both move state out of the window and into a store the harness owns. The platforms are writing memory engineering into the API; the question for your team is whether the store is yours.</a:t>
            </a:r>
            <a:endParaRPr lang="en-US" sz="1300" dirty="0"/>
          </a:p>
        </p:txBody>
      </p:sp>
      <p:sp>
        <p:nvSpPr>
          <p:cNvPr id="30" name="Text 2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CONTEXT ENGINEERING TECHNIQUE 4</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Window construction and keeping the cache warm</a:t>
            </a:r>
            <a:endParaRPr lang="en-US" sz="2800" dirty="0"/>
          </a:p>
        </p:txBody>
      </p:sp>
      <p:sp>
        <p:nvSpPr>
          <p:cNvPr id="5" name="Shape 3"/>
          <p:cNvSpPr/>
          <p:nvPr/>
        </p:nvSpPr>
        <p:spPr>
          <a:xfrm>
            <a:off x="817563" y="1592263"/>
            <a:ext cx="3546475" cy="434975"/>
          </a:xfrm>
          <a:prstGeom prst="roundRect">
            <a:avLst>
              <a:gd name="adj" fmla="val 22263"/>
            </a:avLst>
          </a:prstGeom>
          <a:solidFill>
            <a:srgbClr val="DEB068">
              <a:alpha val="16000"/>
            </a:srgbClr>
          </a:solidFill>
          <a:ln w="9525">
            <a:solidFill>
              <a:srgbClr val="DEB068"/>
            </a:solidFill>
            <a:prstDash val="solid"/>
          </a:ln>
        </p:spPr>
      </p:sp>
      <p:sp>
        <p:nvSpPr>
          <p:cNvPr id="6" name="Text 4"/>
          <p:cNvSpPr/>
          <p:nvPr/>
        </p:nvSpPr>
        <p:spPr>
          <a:xfrm>
            <a:off x="1964482" y="1694160"/>
            <a:ext cx="1252637" cy="256530"/>
          </a:xfrm>
          <a:prstGeom prst="rect">
            <a:avLst/>
          </a:prstGeom>
          <a:noFill/>
          <a:ln/>
        </p:spPr>
        <p:txBody>
          <a:bodyPr wrap="none" lIns="0" tIns="0" rIns="0" bIns="0" rtlCol="0" anchor="t">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System prompt</a:t>
            </a:r>
            <a:endParaRPr lang="en-US" sz="1300" dirty="0"/>
          </a:p>
        </p:txBody>
      </p:sp>
      <p:sp>
        <p:nvSpPr>
          <p:cNvPr id="7" name="Shape 5"/>
          <p:cNvSpPr/>
          <p:nvPr/>
        </p:nvSpPr>
        <p:spPr>
          <a:xfrm>
            <a:off x="817563" y="2087563"/>
            <a:ext cx="3546475" cy="434975"/>
          </a:xfrm>
          <a:prstGeom prst="roundRect">
            <a:avLst>
              <a:gd name="adj" fmla="val 22263"/>
            </a:avLst>
          </a:prstGeom>
          <a:solidFill>
            <a:srgbClr val="DEB068">
              <a:alpha val="16000"/>
            </a:srgbClr>
          </a:solidFill>
          <a:ln w="9525">
            <a:solidFill>
              <a:srgbClr val="DEB068"/>
            </a:solidFill>
            <a:prstDash val="solid"/>
          </a:ln>
        </p:spPr>
      </p:sp>
      <p:sp>
        <p:nvSpPr>
          <p:cNvPr id="8" name="Text 6"/>
          <p:cNvSpPr/>
          <p:nvPr/>
        </p:nvSpPr>
        <p:spPr>
          <a:xfrm>
            <a:off x="1957040" y="2189460"/>
            <a:ext cx="1267470" cy="256530"/>
          </a:xfrm>
          <a:prstGeom prst="rect">
            <a:avLst/>
          </a:prstGeom>
          <a:noFill/>
          <a:ln/>
        </p:spPr>
        <p:txBody>
          <a:bodyPr wrap="none" lIns="0" tIns="0" rIns="0" bIns="0" rtlCol="0" anchor="t">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Tool definitions</a:t>
            </a:r>
            <a:endParaRPr lang="en-US" sz="1300" dirty="0"/>
          </a:p>
        </p:txBody>
      </p:sp>
      <p:sp>
        <p:nvSpPr>
          <p:cNvPr id="9" name="Shape 7"/>
          <p:cNvSpPr/>
          <p:nvPr/>
        </p:nvSpPr>
        <p:spPr>
          <a:xfrm>
            <a:off x="817563" y="2582863"/>
            <a:ext cx="3546475" cy="371475"/>
          </a:xfrm>
          <a:prstGeom prst="roundRect">
            <a:avLst>
              <a:gd name="adj" fmla="val 26068"/>
            </a:avLst>
          </a:prstGeom>
          <a:solidFill>
            <a:srgbClr val="C74634">
              <a:alpha val="12000"/>
            </a:srgbClr>
          </a:solidFill>
          <a:ln w="9525">
            <a:solidFill>
              <a:srgbClr val="C74634"/>
            </a:solidFill>
            <a:prstDash val="solid"/>
          </a:ln>
        </p:spPr>
      </p:sp>
      <p:sp>
        <p:nvSpPr>
          <p:cNvPr id="10" name="Text 8"/>
          <p:cNvSpPr/>
          <p:nvPr/>
        </p:nvSpPr>
        <p:spPr>
          <a:xfrm>
            <a:off x="1872704" y="2653010"/>
            <a:ext cx="1436191" cy="256530"/>
          </a:xfrm>
          <a:prstGeom prst="rect">
            <a:avLst/>
          </a:prstGeom>
          <a:noFill/>
          <a:ln/>
        </p:spPr>
        <p:txBody>
          <a:bodyPr wrap="none" lIns="0" tIns="0" rIns="0" bIns="0" rtlCol="0" anchor="t">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Cache breakpoint</a:t>
            </a:r>
            <a:endParaRPr lang="en-US" sz="1300" dirty="0"/>
          </a:p>
        </p:txBody>
      </p:sp>
      <p:sp>
        <p:nvSpPr>
          <p:cNvPr id="11" name="Shape 9"/>
          <p:cNvSpPr/>
          <p:nvPr/>
        </p:nvSpPr>
        <p:spPr>
          <a:xfrm>
            <a:off x="817563" y="3014663"/>
            <a:ext cx="3546475" cy="752475"/>
          </a:xfrm>
          <a:prstGeom prst="roundRect">
            <a:avLst>
              <a:gd name="adj" fmla="val 12869"/>
            </a:avLst>
          </a:prstGeom>
          <a:solidFill>
            <a:srgbClr val="36677D">
              <a:alpha val="12000"/>
            </a:srgbClr>
          </a:solidFill>
          <a:ln w="9525">
            <a:solidFill>
              <a:srgbClr val="7FC4DC"/>
            </a:solidFill>
            <a:prstDash val="solid"/>
          </a:ln>
        </p:spPr>
      </p:sp>
      <p:sp>
        <p:nvSpPr>
          <p:cNvPr id="12" name="Text 10"/>
          <p:cNvSpPr/>
          <p:nvPr/>
        </p:nvSpPr>
        <p:spPr>
          <a:xfrm>
            <a:off x="1881733" y="3275310"/>
            <a:ext cx="1418134" cy="256530"/>
          </a:xfrm>
          <a:prstGeom prst="rect">
            <a:avLst/>
          </a:prstGeom>
          <a:noFill/>
          <a:ln/>
        </p:spPr>
        <p:txBody>
          <a:bodyPr wrap="none" lIns="0" tIns="0" rIns="0" bIns="0" rtlCol="0" anchor="t">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Recalled memory</a:t>
            </a:r>
            <a:endParaRPr lang="en-US" sz="1300" dirty="0"/>
          </a:p>
        </p:txBody>
      </p:sp>
      <p:sp>
        <p:nvSpPr>
          <p:cNvPr id="13" name="Shape 11"/>
          <p:cNvSpPr/>
          <p:nvPr/>
        </p:nvSpPr>
        <p:spPr>
          <a:xfrm>
            <a:off x="817563" y="3827463"/>
            <a:ext cx="3546475" cy="561975"/>
          </a:xfrm>
          <a:prstGeom prst="roundRect">
            <a:avLst>
              <a:gd name="adj" fmla="val 17232"/>
            </a:avLst>
          </a:prstGeom>
          <a:solidFill>
            <a:srgbClr val="36677D">
              <a:alpha val="12000"/>
            </a:srgbClr>
          </a:solidFill>
          <a:ln w="9525">
            <a:solidFill>
              <a:srgbClr val="7FC4DC"/>
            </a:solidFill>
            <a:prstDash val="solid"/>
          </a:ln>
        </p:spPr>
      </p:sp>
      <p:sp>
        <p:nvSpPr>
          <p:cNvPr id="14" name="Text 12"/>
          <p:cNvSpPr/>
          <p:nvPr/>
        </p:nvSpPr>
        <p:spPr>
          <a:xfrm>
            <a:off x="1867892" y="3992860"/>
            <a:ext cx="1445766" cy="256530"/>
          </a:xfrm>
          <a:prstGeom prst="rect">
            <a:avLst/>
          </a:prstGeom>
          <a:noFill/>
          <a:ln/>
        </p:spPr>
        <p:txBody>
          <a:bodyPr wrap="none" lIns="0" tIns="0" rIns="0" bIns="0" rtlCol="0" anchor="t">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Recent messages</a:t>
            </a:r>
            <a:endParaRPr lang="en-US" sz="1300" dirty="0"/>
          </a:p>
        </p:txBody>
      </p:sp>
      <p:sp>
        <p:nvSpPr>
          <p:cNvPr id="15" name="Shape 13"/>
          <p:cNvSpPr/>
          <p:nvPr/>
        </p:nvSpPr>
        <p:spPr>
          <a:xfrm>
            <a:off x="817563" y="4449763"/>
            <a:ext cx="3546475" cy="346075"/>
          </a:xfrm>
          <a:prstGeom prst="roundRect">
            <a:avLst>
              <a:gd name="adj" fmla="val 27982"/>
            </a:avLst>
          </a:prstGeom>
          <a:solidFill>
            <a:srgbClr val="36677D">
              <a:alpha val="12000"/>
            </a:srgbClr>
          </a:solidFill>
          <a:ln w="9525">
            <a:solidFill>
              <a:srgbClr val="7FC4DC"/>
            </a:solidFill>
            <a:prstDash val="solid"/>
          </a:ln>
        </p:spPr>
      </p:sp>
      <p:sp>
        <p:nvSpPr>
          <p:cNvPr id="16" name="Text 14"/>
          <p:cNvSpPr/>
          <p:nvPr/>
        </p:nvSpPr>
        <p:spPr>
          <a:xfrm>
            <a:off x="2134096" y="4507210"/>
            <a:ext cx="913408" cy="256530"/>
          </a:xfrm>
          <a:prstGeom prst="rect">
            <a:avLst/>
          </a:prstGeom>
          <a:noFill/>
          <a:ln/>
        </p:spPr>
        <p:txBody>
          <a:bodyPr wrap="none" lIns="0" tIns="0" rIns="0" bIns="0" rtlCol="0" anchor="t">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User query</a:t>
            </a:r>
            <a:endParaRPr lang="en-US" sz="1300" dirty="0"/>
          </a:p>
        </p:txBody>
      </p:sp>
      <p:sp>
        <p:nvSpPr>
          <p:cNvPr id="17" name="Text 15"/>
          <p:cNvSpPr/>
          <p:nvPr/>
        </p:nvSpPr>
        <p:spPr>
          <a:xfrm>
            <a:off x="812800" y="4864100"/>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Cached prefix above the line, fresh suffix below it. Same bytes, same cache.</a:t>
            </a:r>
            <a:endParaRPr lang="en-US" sz="1200" dirty="0"/>
          </a:p>
        </p:txBody>
      </p:sp>
      <p:sp>
        <p:nvSpPr>
          <p:cNvPr id="18" name="Shape 16"/>
          <p:cNvSpPr/>
          <p:nvPr/>
        </p:nvSpPr>
        <p:spPr>
          <a:xfrm>
            <a:off x="4702175" y="1590675"/>
            <a:ext cx="6673850" cy="819150"/>
          </a:xfrm>
          <a:prstGeom prst="roundRect">
            <a:avLst>
              <a:gd name="adj" fmla="val 13566"/>
            </a:avLst>
          </a:prstGeom>
          <a:solidFill>
            <a:srgbClr val="FFFFFF">
              <a:alpha val="70000"/>
            </a:srgbClr>
          </a:solidFill>
          <a:ln w="6350">
            <a:solidFill>
              <a:srgbClr val="31535C">
                <a:alpha val="16000"/>
              </a:srgbClr>
            </a:solidFill>
            <a:prstDash val="solid"/>
          </a:ln>
        </p:spPr>
      </p:sp>
      <p:sp>
        <p:nvSpPr>
          <p:cNvPr id="19" name="Text 17"/>
          <p:cNvSpPr/>
          <p:nvPr/>
        </p:nvSpPr>
        <p:spPr>
          <a:xfrm>
            <a:off x="4838700" y="1733550"/>
            <a:ext cx="221730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Keep the prefix stable</a:t>
            </a:r>
            <a:endParaRPr lang="en-US" sz="1400" dirty="0"/>
          </a:p>
        </p:txBody>
      </p:sp>
      <p:sp>
        <p:nvSpPr>
          <p:cNvPr id="20" name="Text 18"/>
          <p:cNvSpPr/>
          <p:nvPr/>
        </p:nvSpPr>
        <p:spPr>
          <a:xfrm>
            <a:off x="4838700" y="1984970"/>
            <a:ext cx="62413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No timestamps at the top, no reordered tools, no edited instructions mid-task.</a:t>
            </a:r>
            <a:endParaRPr lang="en-US" sz="1200" dirty="0"/>
          </a:p>
        </p:txBody>
      </p:sp>
      <p:sp>
        <p:nvSpPr>
          <p:cNvPr id="21" name="Shape 19"/>
          <p:cNvSpPr/>
          <p:nvPr/>
        </p:nvSpPr>
        <p:spPr>
          <a:xfrm>
            <a:off x="4702175" y="2479675"/>
            <a:ext cx="6673850" cy="819150"/>
          </a:xfrm>
          <a:prstGeom prst="roundRect">
            <a:avLst>
              <a:gd name="adj" fmla="val 13566"/>
            </a:avLst>
          </a:prstGeom>
          <a:solidFill>
            <a:srgbClr val="FFFFFF">
              <a:alpha val="70000"/>
            </a:srgbClr>
          </a:solidFill>
          <a:ln w="6350">
            <a:solidFill>
              <a:srgbClr val="31535C">
                <a:alpha val="16000"/>
              </a:srgbClr>
            </a:solidFill>
            <a:prstDash val="solid"/>
          </a:ln>
        </p:spPr>
      </p:sp>
      <p:sp>
        <p:nvSpPr>
          <p:cNvPr id="22" name="Text 20"/>
          <p:cNvSpPr/>
          <p:nvPr/>
        </p:nvSpPr>
        <p:spPr>
          <a:xfrm>
            <a:off x="4838700" y="2622550"/>
            <a:ext cx="399198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Append only, serialise deterministically</a:t>
            </a:r>
            <a:endParaRPr lang="en-US" sz="1400" dirty="0"/>
          </a:p>
        </p:txBody>
      </p:sp>
      <p:sp>
        <p:nvSpPr>
          <p:cNvPr id="23" name="Text 21"/>
          <p:cNvSpPr/>
          <p:nvPr/>
        </p:nvSpPr>
        <p:spPr>
          <a:xfrm>
            <a:off x="4838700" y="2873970"/>
            <a:ext cx="62001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Never edit earlier turns. Stable JSON key order, or the cache silently misses.</a:t>
            </a:r>
            <a:endParaRPr lang="en-US" sz="1200" dirty="0"/>
          </a:p>
        </p:txBody>
      </p:sp>
      <p:sp>
        <p:nvSpPr>
          <p:cNvPr id="24" name="Shape 22"/>
          <p:cNvSpPr/>
          <p:nvPr/>
        </p:nvSpPr>
        <p:spPr>
          <a:xfrm>
            <a:off x="4702175" y="3368675"/>
            <a:ext cx="6673850" cy="819150"/>
          </a:xfrm>
          <a:prstGeom prst="roundRect">
            <a:avLst>
              <a:gd name="adj" fmla="val 13566"/>
            </a:avLst>
          </a:prstGeom>
          <a:solidFill>
            <a:srgbClr val="FFFFFF">
              <a:alpha val="70000"/>
            </a:srgbClr>
          </a:solidFill>
          <a:ln w="6350">
            <a:solidFill>
              <a:srgbClr val="31535C">
                <a:alpha val="16000"/>
              </a:srgbClr>
            </a:solidFill>
            <a:prstDash val="solid"/>
          </a:ln>
        </p:spPr>
      </p:sp>
      <p:sp>
        <p:nvSpPr>
          <p:cNvPr id="25" name="Text 23"/>
          <p:cNvSpPr/>
          <p:nvPr/>
        </p:nvSpPr>
        <p:spPr>
          <a:xfrm>
            <a:off x="4838700" y="3440906"/>
            <a:ext cx="3119854" cy="237579"/>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2D2D2D"/>
                </a:solidFill>
                <a:latin typeface="Arial" pitchFamily="34" charset="0"/>
                <a:ea typeface="Arial" pitchFamily="34" charset="-122"/>
                <a:cs typeface="Arial" pitchFamily="34" charset="-120"/>
              </a:rPr>
              <a:t>Mask tools, don’t remove them</a:t>
            </a:r>
            <a:endParaRPr lang="en-US" sz="1396" dirty="0"/>
          </a:p>
        </p:txBody>
      </p:sp>
      <p:sp>
        <p:nvSpPr>
          <p:cNvPr id="26" name="Text 24"/>
          <p:cNvSpPr/>
          <p:nvPr/>
        </p:nvSpPr>
        <p:spPr>
          <a:xfrm>
            <a:off x="4838700" y="3691186"/>
            <a:ext cx="6592824" cy="44975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Changing definitions mid-task invalidates the cache and confuses the model about missing tools.</a:t>
            </a:r>
            <a:endParaRPr lang="en-US" sz="1200" dirty="0"/>
          </a:p>
        </p:txBody>
      </p:sp>
      <p:sp>
        <p:nvSpPr>
          <p:cNvPr id="27" name="Shape 25"/>
          <p:cNvSpPr/>
          <p:nvPr/>
        </p:nvSpPr>
        <p:spPr>
          <a:xfrm>
            <a:off x="4702175" y="4257675"/>
            <a:ext cx="6673850" cy="819150"/>
          </a:xfrm>
          <a:prstGeom prst="roundRect">
            <a:avLst>
              <a:gd name="adj" fmla="val 13566"/>
            </a:avLst>
          </a:prstGeom>
          <a:solidFill>
            <a:srgbClr val="FFFFFF">
              <a:alpha val="70000"/>
            </a:srgbClr>
          </a:solidFill>
          <a:ln w="6350">
            <a:solidFill>
              <a:srgbClr val="31535C">
                <a:alpha val="16000"/>
              </a:srgbClr>
            </a:solidFill>
            <a:prstDash val="solid"/>
          </a:ln>
        </p:spPr>
      </p:sp>
      <p:sp>
        <p:nvSpPr>
          <p:cNvPr id="28" name="Text 26"/>
          <p:cNvSpPr/>
          <p:nvPr/>
        </p:nvSpPr>
        <p:spPr>
          <a:xfrm>
            <a:off x="4838700" y="4329906"/>
            <a:ext cx="2387084" cy="237579"/>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2D2D2D"/>
                </a:solidFill>
                <a:latin typeface="Arial" pitchFamily="34" charset="0"/>
                <a:ea typeface="Arial" pitchFamily="34" charset="-122"/>
                <a:cs typeface="Arial" pitchFamily="34" charset="-120"/>
              </a:rPr>
              <a:t>Put volatile content last</a:t>
            </a:r>
            <a:endParaRPr lang="en-US" sz="1396" dirty="0"/>
          </a:p>
        </p:txBody>
      </p:sp>
      <p:sp>
        <p:nvSpPr>
          <p:cNvPr id="29" name="Text 27"/>
          <p:cNvSpPr/>
          <p:nvPr/>
        </p:nvSpPr>
        <p:spPr>
          <a:xfrm>
            <a:off x="4838700" y="4580186"/>
            <a:ext cx="6592824" cy="44975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Recalled memory and the query after the prefix; set an explicit breakpoint when the provider needs one.</a:t>
            </a:r>
            <a:endParaRPr lang="en-US" sz="1200" dirty="0"/>
          </a:p>
        </p:txBody>
      </p:sp>
      <p:sp>
        <p:nvSpPr>
          <p:cNvPr id="30" name="Shape 28"/>
          <p:cNvSpPr/>
          <p:nvPr/>
        </p:nvSpPr>
        <p:spPr>
          <a:xfrm>
            <a:off x="815975" y="5375275"/>
            <a:ext cx="10560050" cy="463550"/>
          </a:xfrm>
          <a:prstGeom prst="roundRect">
            <a:avLst>
              <a:gd name="adj" fmla="val 26712"/>
            </a:avLst>
          </a:prstGeom>
          <a:solidFill>
            <a:srgbClr val="1E2A2A"/>
          </a:solidFill>
          <a:ln w="6350">
            <a:solidFill>
              <a:srgbClr val="1E2A2A"/>
            </a:solidFill>
            <a:prstDash val="solid"/>
          </a:ln>
        </p:spPr>
      </p:sp>
      <p:sp>
        <p:nvSpPr>
          <p:cNvPr id="31" name="Text 29"/>
          <p:cNvSpPr/>
          <p:nvPr/>
        </p:nvSpPr>
        <p:spPr>
          <a:xfrm>
            <a:off x="1016000" y="5408960"/>
            <a:ext cx="104648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FFFFF"/>
                </a:solidFill>
                <a:latin typeface="Arial" pitchFamily="34" charset="0"/>
                <a:ea typeface="Arial" pitchFamily="34" charset="-122"/>
                <a:cs typeface="Arial" pitchFamily="34" charset="-120"/>
              </a:rPr>
              <a:t>Watch one number: the KV-cache hit rate. Cached input tokens cost about a tenth of uncached ones, and agent input to output ratios run near 100 to 1. Source: Manus, Context Engineering for AI Agents.</a:t>
            </a:r>
            <a:endParaRPr lang="en-US" sz="1200" dirty="0"/>
          </a:p>
        </p:txBody>
      </p:sp>
      <p:sp>
        <p:nvSpPr>
          <p:cNvPr id="32" name="Text 3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1066356" y="2794000"/>
            <a:ext cx="10059289" cy="863600"/>
          </a:xfrm>
          <a:prstGeom prst="rect">
            <a:avLst/>
          </a:prstGeom>
          <a:noFill/>
          <a:ln/>
        </p:spPr>
        <p:txBody>
          <a:bodyPr wrap="none" lIns="0" tIns="0" rIns="0" bIns="0" rtlCol="0" anchor="t">
            <a:normAutofit/>
          </a:bodyPr>
          <a:lstStyle/>
          <a:p>
            <a:pPr algn="ctr" indent="0" marL="0">
              <a:lnSpc>
                <a:spcPts val="6600"/>
              </a:lnSpc>
              <a:buNone/>
            </a:pPr>
            <a:r>
              <a:rPr lang="en-US" sz="6000" b="1" spc="-150" kern="0" dirty="0">
                <a:solidFill>
                  <a:srgbClr val="FFFFFF"/>
                </a:solidFill>
                <a:latin typeface="Arial" pitchFamily="34" charset="0"/>
                <a:ea typeface="Arial" pitchFamily="34" charset="-122"/>
                <a:cs typeface="Arial" pitchFamily="34" charset="-120"/>
              </a:rPr>
              <a:t>Oracle AI Agent Memory</a:t>
            </a:r>
            <a:endParaRPr lang="en-US" sz="6000" dirty="0"/>
          </a:p>
        </p:txBody>
      </p:sp>
      <p:sp>
        <p:nvSpPr>
          <p:cNvPr id="4" name="Text 2"/>
          <p:cNvSpPr/>
          <p:nvPr/>
        </p:nvSpPr>
        <p:spPr>
          <a:xfrm>
            <a:off x="4191000" y="4064000"/>
            <a:ext cx="3810000" cy="419100"/>
          </a:xfrm>
          <a:prstGeom prst="roundRect">
            <a:avLst>
              <a:gd name="adj" fmla="val 18182"/>
            </a:avLst>
          </a:prstGeom>
          <a:solidFill>
            <a:srgbClr val="DEB068">
              <a:alpha val="10000"/>
            </a:srgbClr>
          </a:solidFill>
          <a:ln/>
        </p:spPr>
        <p:txBody>
          <a:bodyPr wrap="square" lIns="103666" tIns="53882" rIns="103666" bIns="28482" rtlCol="0" anchor="t">
            <a:normAutofit/>
          </a:bodyPr>
          <a:lstStyle/>
          <a:p>
            <a:pPr algn="ctr" indent="0" marL="0">
              <a:lnSpc>
                <a:spcPts val="2100"/>
              </a:lnSpc>
              <a:buNone/>
            </a:pPr>
            <a:r>
              <a:rPr lang="en-US" sz="1500" dirty="0">
                <a:solidFill>
                  <a:srgbClr val="DEB068"/>
                </a:solidFill>
                <a:latin typeface="Courier New" pitchFamily="49" charset="0"/>
                <a:ea typeface="Courier New" pitchFamily="49" charset="-122"/>
                <a:cs typeface="Courier New" pitchFamily="49" charset="-120"/>
              </a:rPr>
              <a:t>pip install oracleagentmemory</a:t>
            </a:r>
            <a:endParaRPr lang="en-US" sz="1500" dirty="0"/>
          </a:p>
        </p:txBody>
      </p:sp>
      <p:sp>
        <p:nvSpPr>
          <p:cNvPr id="5" name="Text 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4931537"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Oracle AI Agent Memory</a:t>
            </a:r>
            <a:endParaRPr lang="en-US" sz="2800" dirty="0"/>
          </a:p>
        </p:txBody>
      </p:sp>
      <p:sp>
        <p:nvSpPr>
          <p:cNvPr id="4" name="Text 2"/>
          <p:cNvSpPr/>
          <p:nvPr/>
        </p:nvSpPr>
        <p:spPr>
          <a:xfrm>
            <a:off x="812800" y="1905000"/>
            <a:ext cx="10464800" cy="1244600"/>
          </a:xfrm>
          <a:prstGeom prst="rect">
            <a:avLst/>
          </a:prstGeom>
          <a:noFill/>
          <a:ln/>
        </p:spPr>
        <p:txBody>
          <a:bodyPr wrap="square" lIns="0" tIns="0" rIns="0" bIns="0" rtlCol="0" anchor="t">
            <a:normAutofit/>
          </a:bodyPr>
          <a:lstStyle/>
          <a:p>
            <a:pPr algn="l" indent="0" marL="0">
              <a:lnSpc>
                <a:spcPts val="3200"/>
              </a:lnSpc>
              <a:buNone/>
            </a:pPr>
            <a:r>
              <a:rPr lang="en-US" sz="2500" spc="-25" kern="0" dirty="0">
                <a:solidFill>
                  <a:srgbClr val="DEB068"/>
                </a:solidFill>
                <a:latin typeface="Arial" pitchFamily="34" charset="0"/>
                <a:ea typeface="Arial" pitchFamily="34" charset="-122"/>
                <a:cs typeface="Arial" pitchFamily="34" charset="-120"/>
              </a:rPr>
              <a:t>Memory engineering in a box</a:t>
            </a:r>
            <a:r>
              <a:rPr lang="en-US" sz="2500" spc="-25" kern="0" dirty="0">
                <a:solidFill>
                  <a:srgbClr val="FFFFFF"/>
                </a:solidFill>
                <a:latin typeface="Arial" pitchFamily="34" charset="0"/>
                <a:ea typeface="Arial" pitchFamily="34" charset="-122"/>
                <a:cs typeface="Arial" pitchFamily="34" charset="-120"/>
              </a:rPr>
              <a:t>: the extraction, scoping, hybrid retrieval, context cards and retention that teams keep rebuilding, as one package on one governed database.</a:t>
            </a:r>
            <a:endParaRPr lang="en-US" sz="2500" dirty="0"/>
          </a:p>
        </p:txBody>
      </p:sp>
      <p:sp>
        <p:nvSpPr>
          <p:cNvPr id="5" name="Shape 3"/>
          <p:cNvSpPr/>
          <p:nvPr/>
        </p:nvSpPr>
        <p:spPr>
          <a:xfrm>
            <a:off x="817563" y="3433763"/>
            <a:ext cx="5070475" cy="2085975"/>
          </a:xfrm>
          <a:prstGeom prst="roundRect">
            <a:avLst>
              <a:gd name="adj" fmla="val 7078"/>
            </a:avLst>
          </a:prstGeom>
          <a:solidFill>
            <a:srgbClr val="FFFFFF">
              <a:alpha val="6000"/>
            </a:srgbClr>
          </a:solidFill>
          <a:ln w="9525">
            <a:solidFill>
              <a:srgbClr val="FFFFFF">
                <a:alpha val="18000"/>
              </a:srgbClr>
            </a:solidFill>
            <a:prstDash val="solid"/>
          </a:ln>
        </p:spPr>
      </p:sp>
      <p:sp>
        <p:nvSpPr>
          <p:cNvPr id="6" name="Text 4"/>
          <p:cNvSpPr/>
          <p:nvPr/>
        </p:nvSpPr>
        <p:spPr>
          <a:xfrm>
            <a:off x="1016000" y="3553768"/>
            <a:ext cx="1483668" cy="237629"/>
          </a:xfrm>
          <a:prstGeom prst="rect">
            <a:avLst/>
          </a:prstGeom>
          <a:noFill/>
          <a:ln/>
        </p:spPr>
        <p:txBody>
          <a:bodyPr wrap="none" lIns="0" tIns="0" rIns="0" bIns="0" rtlCol="0" anchor="t">
            <a:normAutofit/>
          </a:bodyPr>
          <a:lstStyle/>
          <a:p>
            <a:pPr algn="l" indent="0" marL="0">
              <a:lnSpc>
                <a:spcPts val="1675"/>
              </a:lnSpc>
              <a:buNone/>
            </a:pPr>
            <a:r>
              <a:rPr lang="en-US" sz="1196" spc="150" kern="0" dirty="0">
                <a:solidFill>
                  <a:srgbClr val="AEB9B7"/>
                </a:solidFill>
                <a:latin typeface="Courier New" pitchFamily="49" charset="0"/>
                <a:ea typeface="Courier New" pitchFamily="49" charset="-122"/>
                <a:cs typeface="Courier New" pitchFamily="49" charset="-120"/>
              </a:rPr>
              <a:t>THE PATCHWORK</a:t>
            </a:r>
            <a:endParaRPr lang="en-US" sz="1196" dirty="0"/>
          </a:p>
        </p:txBody>
      </p:sp>
      <p:sp>
        <p:nvSpPr>
          <p:cNvPr id="7" name="Text 5"/>
          <p:cNvSpPr/>
          <p:nvPr/>
        </p:nvSpPr>
        <p:spPr>
          <a:xfrm>
            <a:off x="1016000" y="3854896"/>
            <a:ext cx="4330720" cy="252859"/>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What most production agents run today</a:t>
            </a:r>
            <a:endParaRPr lang="en-US" sz="1500" dirty="0"/>
          </a:p>
        </p:txBody>
      </p:sp>
      <p:sp>
        <p:nvSpPr>
          <p:cNvPr id="8" name="Text 6"/>
          <p:cNvSpPr/>
          <p:nvPr/>
        </p:nvSpPr>
        <p:spPr>
          <a:xfrm>
            <a:off x="1019175" y="4174430"/>
            <a:ext cx="1005731" cy="321270"/>
          </a:xfrm>
          <a:prstGeom prst="roundRect">
            <a:avLst>
              <a:gd name="adj" fmla="val 50000"/>
            </a:avLst>
          </a:prstGeom>
          <a:solidFill>
            <a:srgbClr val="FFFFFF">
              <a:alpha val="8000"/>
            </a:srgbClr>
          </a:solidFill>
          <a:ln w="6350">
            <a:solidFill>
              <a:srgbClr val="FFFFFF">
                <a:alpha val="20000"/>
              </a:srgbClr>
            </a:solidFill>
            <a:prstDash val="solid"/>
          </a:ln>
        </p:spPr>
        <p:txBody>
          <a:bodyPr wrap="none" lIns="0" tIns="0" rIns="0" bIns="0" rtlCol="0" anchor="ctr">
            <a:normAutofit/>
          </a:bodyPr>
          <a:lstStyle/>
          <a:p>
            <a:pPr algn="ctr" indent="0" marL="0">
              <a:lnSpc>
                <a:spcPts val="1680"/>
              </a:lnSpc>
              <a:buNone/>
            </a:pPr>
            <a:r>
              <a:rPr lang="en-US" sz="1200" dirty="0">
                <a:solidFill>
                  <a:srgbClr val="F2EFEA"/>
                </a:solidFill>
                <a:latin typeface="Arial" pitchFamily="34" charset="0"/>
                <a:ea typeface="Arial" pitchFamily="34" charset="-122"/>
                <a:cs typeface="Arial" pitchFamily="34" charset="-120"/>
              </a:rPr>
              <a:t>vector store</a:t>
            </a:r>
            <a:endParaRPr lang="en-US" sz="1200" dirty="0"/>
          </a:p>
        </p:txBody>
      </p:sp>
      <p:sp>
        <p:nvSpPr>
          <p:cNvPr id="9" name="Text 7"/>
          <p:cNvSpPr/>
          <p:nvPr/>
        </p:nvSpPr>
        <p:spPr>
          <a:xfrm>
            <a:off x="2094756" y="4174430"/>
            <a:ext cx="1361629" cy="321270"/>
          </a:xfrm>
          <a:prstGeom prst="roundRect">
            <a:avLst>
              <a:gd name="adj" fmla="val 50000"/>
            </a:avLst>
          </a:prstGeom>
          <a:solidFill>
            <a:srgbClr val="FFFFFF">
              <a:alpha val="8000"/>
            </a:srgbClr>
          </a:solidFill>
          <a:ln w="6350">
            <a:solidFill>
              <a:srgbClr val="FFFFFF">
                <a:alpha val="20000"/>
              </a:srgbClr>
            </a:solidFill>
            <a:prstDash val="solid"/>
          </a:ln>
        </p:spPr>
        <p:txBody>
          <a:bodyPr wrap="none" lIns="0" tIns="0" rIns="0" bIns="0" rtlCol="0" anchor="ctr">
            <a:normAutofit/>
          </a:bodyPr>
          <a:lstStyle/>
          <a:p>
            <a:pPr algn="ctr" indent="0" marL="0">
              <a:lnSpc>
                <a:spcPts val="1680"/>
              </a:lnSpc>
              <a:buNone/>
            </a:pPr>
            <a:r>
              <a:rPr lang="en-US" sz="1200" dirty="0">
                <a:solidFill>
                  <a:srgbClr val="F2EFEA"/>
                </a:solidFill>
                <a:latin typeface="Arial" pitchFamily="34" charset="0"/>
                <a:ea typeface="Arial" pitchFamily="34" charset="-122"/>
                <a:cs typeface="Arial" pitchFamily="34" charset="-120"/>
              </a:rPr>
              <a:t>chat history table</a:t>
            </a:r>
            <a:endParaRPr lang="en-US" sz="1200" dirty="0"/>
          </a:p>
        </p:txBody>
      </p:sp>
      <p:sp>
        <p:nvSpPr>
          <p:cNvPr id="10" name="Text 8"/>
          <p:cNvSpPr/>
          <p:nvPr/>
        </p:nvSpPr>
        <p:spPr>
          <a:xfrm>
            <a:off x="3526234" y="4174430"/>
            <a:ext cx="1776661" cy="321270"/>
          </a:xfrm>
          <a:prstGeom prst="roundRect">
            <a:avLst>
              <a:gd name="adj" fmla="val 50000"/>
            </a:avLst>
          </a:prstGeom>
          <a:solidFill>
            <a:srgbClr val="FFFFFF">
              <a:alpha val="8000"/>
            </a:srgbClr>
          </a:solidFill>
          <a:ln w="6350">
            <a:solidFill>
              <a:srgbClr val="FFFFFF">
                <a:alpha val="20000"/>
              </a:srgbClr>
            </a:solidFill>
            <a:prstDash val="solid"/>
          </a:ln>
        </p:spPr>
        <p:txBody>
          <a:bodyPr wrap="none" lIns="0" tIns="0" rIns="0" bIns="0" rtlCol="0" anchor="ctr">
            <a:normAutofit/>
          </a:bodyPr>
          <a:lstStyle/>
          <a:p>
            <a:pPr algn="ctr" indent="0" marL="0">
              <a:lnSpc>
                <a:spcPts val="1680"/>
              </a:lnSpc>
              <a:buNone/>
            </a:pPr>
            <a:r>
              <a:rPr lang="en-US" sz="1200" dirty="0">
                <a:solidFill>
                  <a:srgbClr val="F2EFEA"/>
                </a:solidFill>
                <a:latin typeface="Arial" pitchFamily="34" charset="0"/>
                <a:ea typeface="Arial" pitchFamily="34" charset="-122"/>
                <a:cs typeface="Arial" pitchFamily="34" charset="-120"/>
              </a:rPr>
              <a:t>custom extraction code</a:t>
            </a:r>
            <a:endParaRPr lang="en-US" sz="1200" dirty="0"/>
          </a:p>
        </p:txBody>
      </p:sp>
      <p:sp>
        <p:nvSpPr>
          <p:cNvPr id="11" name="Text 9"/>
          <p:cNvSpPr/>
          <p:nvPr/>
        </p:nvSpPr>
        <p:spPr>
          <a:xfrm>
            <a:off x="1019175" y="4565551"/>
            <a:ext cx="1429494" cy="321270"/>
          </a:xfrm>
          <a:prstGeom prst="roundRect">
            <a:avLst>
              <a:gd name="adj" fmla="val 50000"/>
            </a:avLst>
          </a:prstGeom>
          <a:solidFill>
            <a:srgbClr val="FFFFFF">
              <a:alpha val="8000"/>
            </a:srgbClr>
          </a:solidFill>
          <a:ln w="6350">
            <a:solidFill>
              <a:srgbClr val="FFFFFF">
                <a:alpha val="20000"/>
              </a:srgbClr>
            </a:solidFill>
            <a:prstDash val="solid"/>
          </a:ln>
        </p:spPr>
        <p:txBody>
          <a:bodyPr wrap="none" lIns="0" tIns="0" rIns="0" bIns="0" rtlCol="0" anchor="ctr">
            <a:normAutofit/>
          </a:bodyPr>
          <a:lstStyle/>
          <a:p>
            <a:pPr algn="ctr" indent="0" marL="0">
              <a:lnSpc>
                <a:spcPts val="1680"/>
              </a:lnSpc>
              <a:buNone/>
            </a:pPr>
            <a:r>
              <a:rPr lang="en-US" sz="1200" dirty="0">
                <a:solidFill>
                  <a:srgbClr val="F2EFEA"/>
                </a:solidFill>
                <a:latin typeface="Arial" pitchFamily="34" charset="0"/>
                <a:ea typeface="Arial" pitchFamily="34" charset="-122"/>
                <a:cs typeface="Arial" pitchFamily="34" charset="-120"/>
              </a:rPr>
              <a:t>a cron for cleanup</a:t>
            </a:r>
            <a:endParaRPr lang="en-US" sz="1200" dirty="0"/>
          </a:p>
        </p:txBody>
      </p:sp>
      <p:sp>
        <p:nvSpPr>
          <p:cNvPr id="12" name="Text 10"/>
          <p:cNvSpPr/>
          <p:nvPr/>
        </p:nvSpPr>
        <p:spPr>
          <a:xfrm>
            <a:off x="1016000" y="4975275"/>
            <a:ext cx="4813808" cy="44985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Ownership, tenant isolation, audit and erasure become afterthoughts, discovered at the first security review.</a:t>
            </a:r>
            <a:endParaRPr lang="en-US" sz="1200" dirty="0"/>
          </a:p>
        </p:txBody>
      </p:sp>
      <p:sp>
        <p:nvSpPr>
          <p:cNvPr id="13" name="Shape 11"/>
          <p:cNvSpPr/>
          <p:nvPr/>
        </p:nvSpPr>
        <p:spPr>
          <a:xfrm>
            <a:off x="6305550" y="3435350"/>
            <a:ext cx="5067300" cy="2082800"/>
          </a:xfrm>
          <a:prstGeom prst="roundRect">
            <a:avLst>
              <a:gd name="adj" fmla="val 7012"/>
            </a:avLst>
          </a:prstGeom>
          <a:solidFill>
            <a:srgbClr val="C74634">
              <a:alpha val="16000"/>
            </a:srgbClr>
          </a:solidFill>
          <a:ln w="12700">
            <a:solidFill>
              <a:srgbClr val="C74634"/>
            </a:solidFill>
            <a:prstDash val="solid"/>
          </a:ln>
        </p:spPr>
      </p:sp>
      <p:sp>
        <p:nvSpPr>
          <p:cNvPr id="14" name="Text 12"/>
          <p:cNvSpPr/>
          <p:nvPr/>
        </p:nvSpPr>
        <p:spPr>
          <a:xfrm>
            <a:off x="6502400" y="3644900"/>
            <a:ext cx="1821120"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E8836F"/>
                </a:solidFill>
                <a:latin typeface="Courier New" pitchFamily="49" charset="0"/>
                <a:ea typeface="Courier New" pitchFamily="49" charset="-122"/>
                <a:cs typeface="Courier New" pitchFamily="49" charset="-120"/>
              </a:rPr>
              <a:t>ONE MEMORY LAYER</a:t>
            </a:r>
            <a:endParaRPr lang="en-US" sz="1200" dirty="0"/>
          </a:p>
        </p:txBody>
      </p:sp>
      <p:sp>
        <p:nvSpPr>
          <p:cNvPr id="15" name="Text 13"/>
          <p:cNvSpPr/>
          <p:nvPr/>
        </p:nvSpPr>
        <p:spPr>
          <a:xfrm>
            <a:off x="6502400" y="3947120"/>
            <a:ext cx="447657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Memories are rows in Oracle AI Database</a:t>
            </a:r>
            <a:endParaRPr lang="en-US" sz="1500" dirty="0"/>
          </a:p>
        </p:txBody>
      </p:sp>
      <p:sp>
        <p:nvSpPr>
          <p:cNvPr id="16" name="Text 14"/>
          <p:cNvSpPr/>
          <p:nvPr/>
        </p:nvSpPr>
        <p:spPr>
          <a:xfrm>
            <a:off x="6502400" y="4264620"/>
            <a:ext cx="481380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Typed and scoped. Extraction, hybrid search, context cards and TTL live in the package. Governance, backup, replication, encryption and auditing come from the database you already run.</a:t>
            </a:r>
            <a:endParaRPr lang="en-US" sz="1200" dirty="0"/>
          </a:p>
        </p:txBody>
      </p:sp>
      <p:sp>
        <p:nvSpPr>
          <p:cNvPr id="17" name="Text 15"/>
          <p:cNvSpPr/>
          <p:nvPr/>
        </p:nvSpPr>
        <p:spPr>
          <a:xfrm>
            <a:off x="812800" y="5626100"/>
            <a:ext cx="1088339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AEB9B7"/>
                </a:solidFill>
                <a:latin typeface="Arial" pitchFamily="34" charset="0"/>
                <a:ea typeface="Arial" pitchFamily="34" charset="-122"/>
                <a:cs typeface="Arial" pitchFamily="34" charset="-120"/>
              </a:rPr>
              <a:t>Memory-augmented agents consult a store. Memory-aware agents read and write their own durable state.</a:t>
            </a:r>
            <a:endParaRPr lang="en-US" sz="13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4931537"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Oracle AI Agent Memory</a:t>
            </a:r>
            <a:endParaRPr lang="en-US" sz="2800" dirty="0"/>
          </a:p>
        </p:txBody>
      </p:sp>
      <p:sp>
        <p:nvSpPr>
          <p:cNvPr id="4" name="Text 2"/>
          <p:cNvSpPr/>
          <p:nvPr/>
        </p:nvSpPr>
        <p:spPr>
          <a:xfrm>
            <a:off x="812800" y="1206500"/>
            <a:ext cx="1088339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DEB068"/>
                </a:solidFill>
                <a:latin typeface="Arial" pitchFamily="34" charset="0"/>
                <a:ea typeface="Arial" pitchFamily="34" charset="-122"/>
                <a:cs typeface="Arial" pitchFamily="34" charset="-120"/>
              </a:rPr>
              <a:t>Memory engineering in a box</a:t>
            </a:r>
            <a:r>
              <a:rPr lang="en-US" sz="1500" dirty="0">
                <a:solidFill>
                  <a:srgbClr val="F2EFEA"/>
                </a:solidFill>
                <a:latin typeface="Arial" pitchFamily="34" charset="0"/>
                <a:ea typeface="Arial" pitchFamily="34" charset="-122"/>
                <a:cs typeface="Arial" pitchFamily="34" charset="-120"/>
              </a:rPr>
              <a:t>: the extraction, scoping, hybrid retrieval, context cards and retention that teams keep rebuilding, as one package on one governed database.</a:t>
            </a:r>
            <a:endParaRPr lang="en-US" sz="1500" dirty="0"/>
          </a:p>
        </p:txBody>
      </p:sp>
      <p:sp>
        <p:nvSpPr>
          <p:cNvPr id="5" name="Shape 3"/>
          <p:cNvSpPr/>
          <p:nvPr/>
        </p:nvSpPr>
        <p:spPr>
          <a:xfrm>
            <a:off x="817563" y="1884363"/>
            <a:ext cx="4283075" cy="508595"/>
          </a:xfrm>
          <a:prstGeom prst="roundRect">
            <a:avLst>
              <a:gd name="adj" fmla="val 19040"/>
            </a:avLst>
          </a:prstGeom>
          <a:solidFill>
            <a:srgbClr val="FFFFFF">
              <a:alpha val="6000"/>
            </a:srgbClr>
          </a:solidFill>
          <a:ln w="9525">
            <a:solidFill>
              <a:srgbClr val="FFFFFF">
                <a:alpha val="18000"/>
              </a:srgbClr>
            </a:solidFill>
            <a:prstDash val="solid"/>
          </a:ln>
        </p:spPr>
      </p:sp>
      <p:sp>
        <p:nvSpPr>
          <p:cNvPr id="6" name="Text 4"/>
          <p:cNvSpPr/>
          <p:nvPr/>
        </p:nvSpPr>
        <p:spPr>
          <a:xfrm>
            <a:off x="876300" y="1952625"/>
            <a:ext cx="1412796"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Arial" pitchFamily="34" charset="0"/>
                <a:ea typeface="Arial" pitchFamily="34" charset="-122"/>
                <a:cs typeface="Arial" pitchFamily="34" charset="-120"/>
              </a:rPr>
              <a:t>Three primitives</a:t>
            </a:r>
            <a:endParaRPr lang="en-US" sz="1200" dirty="0"/>
          </a:p>
        </p:txBody>
      </p:sp>
      <p:sp>
        <p:nvSpPr>
          <p:cNvPr id="7" name="Text 5"/>
          <p:cNvSpPr/>
          <p:nvPr/>
        </p:nvSpPr>
        <p:spPr>
          <a:xfrm>
            <a:off x="876300" y="2143125"/>
            <a:ext cx="2767489" cy="206970"/>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AEB9B7"/>
                </a:solidFill>
                <a:latin typeface="Arial" pitchFamily="34" charset="0"/>
                <a:ea typeface="Arial" pitchFamily="34" charset="-122"/>
                <a:cs typeface="Arial" pitchFamily="34" charset="-120"/>
              </a:rPr>
              <a:t>users and agents, memories, threads</a:t>
            </a:r>
            <a:endParaRPr lang="en-US" sz="1100" dirty="0"/>
          </a:p>
        </p:txBody>
      </p:sp>
      <p:sp>
        <p:nvSpPr>
          <p:cNvPr id="8" name="Shape 6"/>
          <p:cNvSpPr/>
          <p:nvPr/>
        </p:nvSpPr>
        <p:spPr>
          <a:xfrm>
            <a:off x="817563" y="2405063"/>
            <a:ext cx="4283075" cy="508595"/>
          </a:xfrm>
          <a:prstGeom prst="roundRect">
            <a:avLst>
              <a:gd name="adj" fmla="val 19040"/>
            </a:avLst>
          </a:prstGeom>
          <a:solidFill>
            <a:srgbClr val="FFFFFF">
              <a:alpha val="6000"/>
            </a:srgbClr>
          </a:solidFill>
          <a:ln w="9525">
            <a:solidFill>
              <a:srgbClr val="FFFFFF">
                <a:alpha val="18000"/>
              </a:srgbClr>
            </a:solidFill>
            <a:prstDash val="solid"/>
          </a:ln>
        </p:spPr>
      </p:sp>
      <p:sp>
        <p:nvSpPr>
          <p:cNvPr id="9" name="Text 7"/>
          <p:cNvSpPr/>
          <p:nvPr/>
        </p:nvSpPr>
        <p:spPr>
          <a:xfrm>
            <a:off x="876300" y="2473325"/>
            <a:ext cx="89433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Arial" pitchFamily="34" charset="0"/>
                <a:ea typeface="Arial" pitchFamily="34" charset="-122"/>
                <a:cs typeface="Arial" pitchFamily="34" charset="-120"/>
              </a:rPr>
              <a:t>Extraction</a:t>
            </a:r>
            <a:endParaRPr lang="en-US" sz="1200" dirty="0"/>
          </a:p>
        </p:txBody>
      </p:sp>
      <p:sp>
        <p:nvSpPr>
          <p:cNvPr id="10" name="Text 8"/>
          <p:cNvSpPr/>
          <p:nvPr/>
        </p:nvSpPr>
        <p:spPr>
          <a:xfrm>
            <a:off x="876300" y="2663825"/>
            <a:ext cx="3764399" cy="206970"/>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AEB9B7"/>
                </a:solidFill>
                <a:latin typeface="Arial" pitchFamily="34" charset="0"/>
                <a:ea typeface="Arial" pitchFamily="34" charset="-122"/>
                <a:cs typeface="Arial" pitchFamily="34" charset="-120"/>
              </a:rPr>
              <a:t>LLM extraction in the background, or explicit writes</a:t>
            </a:r>
            <a:endParaRPr lang="en-US" sz="1100" dirty="0"/>
          </a:p>
        </p:txBody>
      </p:sp>
      <p:sp>
        <p:nvSpPr>
          <p:cNvPr id="11" name="Shape 9"/>
          <p:cNvSpPr/>
          <p:nvPr/>
        </p:nvSpPr>
        <p:spPr>
          <a:xfrm>
            <a:off x="817563" y="2925763"/>
            <a:ext cx="4283075" cy="508595"/>
          </a:xfrm>
          <a:prstGeom prst="roundRect">
            <a:avLst>
              <a:gd name="adj" fmla="val 19040"/>
            </a:avLst>
          </a:prstGeom>
          <a:solidFill>
            <a:srgbClr val="FFFFFF">
              <a:alpha val="6000"/>
            </a:srgbClr>
          </a:solidFill>
          <a:ln w="9525">
            <a:solidFill>
              <a:srgbClr val="FFFFFF">
                <a:alpha val="18000"/>
              </a:srgbClr>
            </a:solidFill>
            <a:prstDash val="solid"/>
          </a:ln>
        </p:spPr>
      </p:sp>
      <p:sp>
        <p:nvSpPr>
          <p:cNvPr id="12" name="Text 10"/>
          <p:cNvSpPr/>
          <p:nvPr/>
        </p:nvSpPr>
        <p:spPr>
          <a:xfrm>
            <a:off x="876300" y="2994025"/>
            <a:ext cx="121955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Arial" pitchFamily="34" charset="0"/>
                <a:ea typeface="Arial" pitchFamily="34" charset="-122"/>
                <a:cs typeface="Arial" pitchFamily="34" charset="-120"/>
              </a:rPr>
              <a:t>Context cards</a:t>
            </a:r>
            <a:endParaRPr lang="en-US" sz="1200" dirty="0"/>
          </a:p>
        </p:txBody>
      </p:sp>
      <p:sp>
        <p:nvSpPr>
          <p:cNvPr id="13" name="Text 11"/>
          <p:cNvSpPr/>
          <p:nvPr/>
        </p:nvSpPr>
        <p:spPr>
          <a:xfrm>
            <a:off x="876300" y="3184525"/>
            <a:ext cx="2693015" cy="206970"/>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AEB9B7"/>
                </a:solidFill>
                <a:latin typeface="Arial" pitchFamily="34" charset="0"/>
                <a:ea typeface="Arial" pitchFamily="34" charset="-122"/>
                <a:cs typeface="Arial" pitchFamily="34" charset="-120"/>
              </a:rPr>
              <a:t>compact long threads for the prompt</a:t>
            </a:r>
            <a:endParaRPr lang="en-US" sz="1100" dirty="0"/>
          </a:p>
        </p:txBody>
      </p:sp>
      <p:sp>
        <p:nvSpPr>
          <p:cNvPr id="14" name="Shape 12"/>
          <p:cNvSpPr/>
          <p:nvPr/>
        </p:nvSpPr>
        <p:spPr>
          <a:xfrm>
            <a:off x="817563" y="3446463"/>
            <a:ext cx="4283075" cy="508595"/>
          </a:xfrm>
          <a:prstGeom prst="roundRect">
            <a:avLst>
              <a:gd name="adj" fmla="val 19040"/>
            </a:avLst>
          </a:prstGeom>
          <a:solidFill>
            <a:srgbClr val="FFFFFF">
              <a:alpha val="6000"/>
            </a:srgbClr>
          </a:solidFill>
          <a:ln w="9525">
            <a:solidFill>
              <a:srgbClr val="FFFFFF">
                <a:alpha val="18000"/>
              </a:srgbClr>
            </a:solidFill>
            <a:prstDash val="solid"/>
          </a:ln>
        </p:spPr>
      </p:sp>
      <p:sp>
        <p:nvSpPr>
          <p:cNvPr id="15" name="Text 13"/>
          <p:cNvSpPr/>
          <p:nvPr/>
        </p:nvSpPr>
        <p:spPr>
          <a:xfrm>
            <a:off x="876300" y="3514725"/>
            <a:ext cx="196149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Arial" pitchFamily="34" charset="0"/>
                <a:ea typeface="Arial" pitchFamily="34" charset="-122"/>
                <a:cs typeface="Arial" pitchFamily="34" charset="-120"/>
              </a:rPr>
              <a:t>Scoped, hybrid search</a:t>
            </a:r>
            <a:endParaRPr lang="en-US" sz="1200" dirty="0"/>
          </a:p>
        </p:txBody>
      </p:sp>
      <p:sp>
        <p:nvSpPr>
          <p:cNvPr id="16" name="Text 14"/>
          <p:cNvSpPr/>
          <p:nvPr/>
        </p:nvSpPr>
        <p:spPr>
          <a:xfrm>
            <a:off x="876300" y="3705225"/>
            <a:ext cx="3345299" cy="206970"/>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AEB9B7"/>
                </a:solidFill>
                <a:latin typeface="Arial" pitchFamily="34" charset="0"/>
                <a:ea typeface="Arial" pitchFamily="34" charset="-122"/>
                <a:cs typeface="Arial" pitchFamily="34" charset="-120"/>
              </a:rPr>
              <a:t>vector plus keyword, by user, agent or thread</a:t>
            </a:r>
            <a:endParaRPr lang="en-US" sz="1100" dirty="0"/>
          </a:p>
        </p:txBody>
      </p:sp>
      <p:sp>
        <p:nvSpPr>
          <p:cNvPr id="17" name="Shape 15"/>
          <p:cNvSpPr/>
          <p:nvPr/>
        </p:nvSpPr>
        <p:spPr>
          <a:xfrm>
            <a:off x="817563" y="3967163"/>
            <a:ext cx="4283075" cy="508595"/>
          </a:xfrm>
          <a:prstGeom prst="roundRect">
            <a:avLst>
              <a:gd name="adj" fmla="val 19040"/>
            </a:avLst>
          </a:prstGeom>
          <a:solidFill>
            <a:srgbClr val="FFFFFF">
              <a:alpha val="6000"/>
            </a:srgbClr>
          </a:solidFill>
          <a:ln w="9525">
            <a:solidFill>
              <a:srgbClr val="FFFFFF">
                <a:alpha val="18000"/>
              </a:srgbClr>
            </a:solidFill>
            <a:prstDash val="solid"/>
          </a:ln>
        </p:spPr>
      </p:sp>
      <p:sp>
        <p:nvSpPr>
          <p:cNvPr id="18" name="Text 16"/>
          <p:cNvSpPr/>
          <p:nvPr/>
        </p:nvSpPr>
        <p:spPr>
          <a:xfrm>
            <a:off x="876300" y="4035425"/>
            <a:ext cx="84326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Arial" pitchFamily="34" charset="0"/>
                <a:ea typeface="Arial" pitchFamily="34" charset="-122"/>
                <a:cs typeface="Arial" pitchFamily="34" charset="-120"/>
              </a:rPr>
              <a:t>Retention</a:t>
            </a:r>
            <a:endParaRPr lang="en-US" sz="1200" dirty="0"/>
          </a:p>
        </p:txBody>
      </p:sp>
      <p:sp>
        <p:nvSpPr>
          <p:cNvPr id="19" name="Text 17"/>
          <p:cNvSpPr/>
          <p:nvPr/>
        </p:nvSpPr>
        <p:spPr>
          <a:xfrm>
            <a:off x="876300" y="4225925"/>
            <a:ext cx="3683853" cy="206970"/>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AEB9B7"/>
                </a:solidFill>
                <a:latin typeface="Arial" pitchFamily="34" charset="0"/>
                <a:ea typeface="Arial" pitchFamily="34" charset="-122"/>
                <a:cs typeface="Arial" pitchFamily="34" charset="-120"/>
              </a:rPr>
              <a:t>TTL per record, schema defaults, managed purge</a:t>
            </a:r>
            <a:endParaRPr lang="en-US" sz="1100" dirty="0"/>
          </a:p>
        </p:txBody>
      </p:sp>
      <p:sp>
        <p:nvSpPr>
          <p:cNvPr id="20" name="Shape 18"/>
          <p:cNvSpPr/>
          <p:nvPr/>
        </p:nvSpPr>
        <p:spPr>
          <a:xfrm>
            <a:off x="819150" y="4489450"/>
            <a:ext cx="4279900" cy="511770"/>
          </a:xfrm>
          <a:prstGeom prst="roundRect">
            <a:avLst>
              <a:gd name="adj" fmla="val 18612"/>
            </a:avLst>
          </a:prstGeom>
          <a:solidFill>
            <a:srgbClr val="C74634">
              <a:alpha val="16000"/>
            </a:srgbClr>
          </a:solidFill>
          <a:ln w="12700">
            <a:solidFill>
              <a:srgbClr val="C74634"/>
            </a:solidFill>
            <a:prstDash val="solid"/>
          </a:ln>
        </p:spPr>
      </p:sp>
      <p:sp>
        <p:nvSpPr>
          <p:cNvPr id="21" name="Text 19"/>
          <p:cNvSpPr/>
          <p:nvPr/>
        </p:nvSpPr>
        <p:spPr>
          <a:xfrm>
            <a:off x="876300" y="4559300"/>
            <a:ext cx="166693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Arial" pitchFamily="34" charset="0"/>
                <a:ea typeface="Arial" pitchFamily="34" charset="-122"/>
                <a:cs typeface="Arial" pitchFamily="34" charset="-120"/>
              </a:rPr>
              <a:t>Deep Data Security</a:t>
            </a:r>
            <a:endParaRPr lang="en-US" sz="1200" dirty="0"/>
          </a:p>
        </p:txBody>
      </p:sp>
      <p:sp>
        <p:nvSpPr>
          <p:cNvPr id="22" name="Text 20"/>
          <p:cNvSpPr/>
          <p:nvPr/>
        </p:nvSpPr>
        <p:spPr>
          <a:xfrm>
            <a:off x="876300" y="4749800"/>
            <a:ext cx="4216400" cy="206970"/>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AEB9B7"/>
                </a:solidFill>
                <a:latin typeface="Arial" pitchFamily="34" charset="0"/>
                <a:ea typeface="Arial" pitchFamily="34" charset="-122"/>
                <a:cs typeface="Arial" pitchFamily="34" charset="-120"/>
              </a:rPr>
              <a:t>the end user’s identity enforced on every recall, in the engine</a:t>
            </a:r>
            <a:endParaRPr lang="en-US" sz="1100" dirty="0"/>
          </a:p>
        </p:txBody>
      </p:sp>
      <p:sp>
        <p:nvSpPr>
          <p:cNvPr id="23" name="Shape 21"/>
          <p:cNvSpPr/>
          <p:nvPr/>
        </p:nvSpPr>
        <p:spPr>
          <a:xfrm>
            <a:off x="5311775" y="1908175"/>
            <a:ext cx="6064250" cy="2787650"/>
          </a:xfrm>
          <a:prstGeom prst="roundRect">
            <a:avLst>
              <a:gd name="adj" fmla="val 4442"/>
            </a:avLst>
          </a:prstGeom>
          <a:solidFill>
            <a:srgbClr val="1E2A2A"/>
          </a:solidFill>
          <a:ln w="6350">
            <a:solidFill>
              <a:srgbClr val="1E2A2A"/>
            </a:solidFill>
            <a:prstDash val="solid"/>
          </a:ln>
          <a:effectLst>
            <a:outerShdw sx="100000" sy="100000" kx="0" ky="0" algn="bl" rotWithShape="0" blurRad="406400" dist="152400" dir="5400000">
              <a:srgbClr val="1E2A2A">
                <a:alpha val="25000"/>
              </a:srgbClr>
            </a:outerShdw>
          </a:effectLst>
        </p:spPr>
      </p:sp>
      <p:sp>
        <p:nvSpPr>
          <p:cNvPr id="24" name="Text 22"/>
          <p:cNvSpPr/>
          <p:nvPr/>
        </p:nvSpPr>
        <p:spPr>
          <a:xfrm>
            <a:off x="5486400" y="2047627"/>
            <a:ext cx="2920180" cy="25350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pip install oracleagentmemory</a:t>
            </a:r>
            <a:endParaRPr lang="en-US" sz="1200" dirty="0"/>
          </a:p>
        </p:txBody>
      </p:sp>
      <p:sp>
        <p:nvSpPr>
          <p:cNvPr id="25" name="Text 23"/>
          <p:cNvSpPr/>
          <p:nvPr/>
        </p:nvSpPr>
        <p:spPr>
          <a:xfrm>
            <a:off x="5486400" y="2503785"/>
            <a:ext cx="3862165" cy="25350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from oracleagentmemory import AgentMemory</a:t>
            </a:r>
            <a:endParaRPr lang="en-US" sz="1200" dirty="0"/>
          </a:p>
        </p:txBody>
      </p:sp>
      <p:sp>
        <p:nvSpPr>
          <p:cNvPr id="26" name="Text 24"/>
          <p:cNvSpPr/>
          <p:nvPr/>
        </p:nvSpPr>
        <p:spPr>
          <a:xfrm>
            <a:off x="5486400" y="2731889"/>
            <a:ext cx="3485371" cy="25345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memory = AgentMemory.from_connection(</a:t>
            </a:r>
            <a:endParaRPr lang="en-US" sz="1200" dirty="0"/>
          </a:p>
        </p:txBody>
      </p:sp>
      <p:sp>
        <p:nvSpPr>
          <p:cNvPr id="27" name="Text 25"/>
          <p:cNvSpPr/>
          <p:nvPr/>
        </p:nvSpPr>
        <p:spPr>
          <a:xfrm>
            <a:off x="5486400" y="2959943"/>
            <a:ext cx="3862216" cy="25350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connection_string=DSN, user_id=</a:t>
            </a:r>
            <a:r>
              <a:rPr lang="en-US" sz="1200" dirty="0">
                <a:solidFill>
                  <a:srgbClr val="DEB068"/>
                </a:solidFill>
                <a:latin typeface="Courier New" pitchFamily="49" charset="0"/>
                <a:ea typeface="Courier New" pitchFamily="49" charset="-122"/>
                <a:cs typeface="Courier New" pitchFamily="49" charset="-120"/>
              </a:rPr>
              <a:t>"a42"</a:t>
            </a:r>
            <a:r>
              <a:rPr lang="en-US" sz="1200" dirty="0">
                <a:solidFill>
                  <a:srgbClr val="F2EFEA"/>
                </a:solidFill>
                <a:latin typeface="Courier New" pitchFamily="49" charset="0"/>
                <a:ea typeface="Courier New" pitchFamily="49" charset="-122"/>
                <a:cs typeface="Courier New" pitchFamily="49" charset="-120"/>
              </a:rPr>
              <a:t>)</a:t>
            </a:r>
            <a:endParaRPr lang="en-US" sz="1200" dirty="0"/>
          </a:p>
        </p:txBody>
      </p:sp>
      <p:sp>
        <p:nvSpPr>
          <p:cNvPr id="28" name="Text 26"/>
          <p:cNvSpPr/>
          <p:nvPr/>
        </p:nvSpPr>
        <p:spPr>
          <a:xfrm>
            <a:off x="5486400" y="3188047"/>
            <a:ext cx="4144786" cy="25345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thread = memory.create_thread(user_id=</a:t>
            </a:r>
            <a:r>
              <a:rPr lang="en-US" sz="1200" dirty="0">
                <a:solidFill>
                  <a:srgbClr val="DEB068"/>
                </a:solidFill>
                <a:latin typeface="Courier New" pitchFamily="49" charset="0"/>
                <a:ea typeface="Courier New" pitchFamily="49" charset="-122"/>
                <a:cs typeface="Courier New" pitchFamily="49" charset="-120"/>
              </a:rPr>
              <a:t>"a42"</a:t>
            </a:r>
            <a:r>
              <a:rPr lang="en-US" sz="1200" dirty="0">
                <a:solidFill>
                  <a:srgbClr val="F2EFEA"/>
                </a:solidFill>
                <a:latin typeface="Courier New" pitchFamily="49" charset="0"/>
                <a:ea typeface="Courier New" pitchFamily="49" charset="-122"/>
                <a:cs typeface="Courier New" pitchFamily="49" charset="-120"/>
              </a:rPr>
              <a:t>)</a:t>
            </a:r>
            <a:endParaRPr lang="en-US" sz="1200" dirty="0"/>
          </a:p>
        </p:txBody>
      </p:sp>
      <p:sp>
        <p:nvSpPr>
          <p:cNvPr id="29" name="Text 27"/>
          <p:cNvSpPr/>
          <p:nvPr/>
        </p:nvSpPr>
        <p:spPr>
          <a:xfrm>
            <a:off x="5486400" y="3416102"/>
            <a:ext cx="4238959" cy="25345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memory.add_messages(thread.id, messages=msgs)</a:t>
            </a:r>
            <a:endParaRPr lang="en-US" sz="1200" dirty="0"/>
          </a:p>
        </p:txBody>
      </p:sp>
      <p:sp>
        <p:nvSpPr>
          <p:cNvPr id="30" name="Text 28"/>
          <p:cNvSpPr/>
          <p:nvPr/>
        </p:nvSpPr>
        <p:spPr>
          <a:xfrm>
            <a:off x="5486400" y="3644156"/>
            <a:ext cx="5463515" cy="25345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memory.extract_memories(thread.id)  </a:t>
            </a:r>
            <a:r>
              <a:rPr lang="en-US" sz="1200" dirty="0">
                <a:solidFill>
                  <a:srgbClr val="AEB9B7"/>
                </a:solidFill>
                <a:latin typeface="Courier New" pitchFamily="49" charset="0"/>
                <a:ea typeface="Courier New" pitchFamily="49" charset="-122"/>
                <a:cs typeface="Courier New" pitchFamily="49" charset="-120"/>
              </a:rPr>
              <a:t># or in the background</a:t>
            </a:r>
            <a:endParaRPr lang="en-US" sz="1200" dirty="0"/>
          </a:p>
        </p:txBody>
      </p:sp>
      <p:sp>
        <p:nvSpPr>
          <p:cNvPr id="31" name="Text 29"/>
          <p:cNvSpPr/>
          <p:nvPr/>
        </p:nvSpPr>
        <p:spPr>
          <a:xfrm>
            <a:off x="5486400" y="3872210"/>
            <a:ext cx="3297025" cy="25345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hits = memory.search(user_id=</a:t>
            </a:r>
            <a:r>
              <a:rPr lang="en-US" sz="1200" dirty="0">
                <a:solidFill>
                  <a:srgbClr val="DEB068"/>
                </a:solidFill>
                <a:latin typeface="Courier New" pitchFamily="49" charset="0"/>
                <a:ea typeface="Courier New" pitchFamily="49" charset="-122"/>
                <a:cs typeface="Courier New" pitchFamily="49" charset="-120"/>
              </a:rPr>
              <a:t>"a42"</a:t>
            </a:r>
            <a:r>
              <a:rPr lang="en-US" sz="1200" dirty="0">
                <a:solidFill>
                  <a:srgbClr val="F2EFEA"/>
                </a:solidFill>
                <a:latin typeface="Courier New" pitchFamily="49" charset="0"/>
                <a:ea typeface="Courier New" pitchFamily="49" charset="-122"/>
                <a:cs typeface="Courier New" pitchFamily="49" charset="-120"/>
              </a:rPr>
              <a:t>,</a:t>
            </a:r>
            <a:endParaRPr lang="en-US" sz="1200" dirty="0"/>
          </a:p>
        </p:txBody>
      </p:sp>
      <p:sp>
        <p:nvSpPr>
          <p:cNvPr id="32" name="Text 30"/>
          <p:cNvSpPr/>
          <p:nvPr/>
        </p:nvSpPr>
        <p:spPr>
          <a:xfrm>
            <a:off x="5486400" y="4100264"/>
            <a:ext cx="3862165" cy="25345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query=</a:t>
            </a:r>
            <a:r>
              <a:rPr lang="en-US" sz="1200" dirty="0">
                <a:solidFill>
                  <a:srgbClr val="DEB068"/>
                </a:solidFill>
                <a:latin typeface="Courier New" pitchFamily="49" charset="0"/>
                <a:ea typeface="Courier New" pitchFamily="49" charset="-122"/>
                <a:cs typeface="Courier New" pitchFamily="49" charset="-120"/>
              </a:rPr>
              <a:t>"exposure definition"</a:t>
            </a:r>
            <a:r>
              <a:rPr lang="en-US" sz="1200" dirty="0">
                <a:solidFill>
                  <a:srgbClr val="F2EFEA"/>
                </a:solidFill>
                <a:latin typeface="Courier New" pitchFamily="49" charset="0"/>
                <a:ea typeface="Courier New" pitchFamily="49" charset="-122"/>
                <a:cs typeface="Courier New" pitchFamily="49" charset="-120"/>
              </a:rPr>
              <a:t>, limit=5)</a:t>
            </a:r>
            <a:endParaRPr lang="en-US" sz="1200" dirty="0"/>
          </a:p>
        </p:txBody>
      </p:sp>
      <p:sp>
        <p:nvSpPr>
          <p:cNvPr id="33" name="Text 31"/>
          <p:cNvSpPr/>
          <p:nvPr/>
        </p:nvSpPr>
        <p:spPr>
          <a:xfrm>
            <a:off x="5486400" y="4328319"/>
            <a:ext cx="3862165" cy="25345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card = memory.get_context_card(thread.id)</a:t>
            </a:r>
            <a:endParaRPr lang="en-US" sz="1200" dirty="0"/>
          </a:p>
        </p:txBody>
      </p:sp>
      <p:sp>
        <p:nvSpPr>
          <p:cNvPr id="34" name="Shape 32"/>
          <p:cNvSpPr/>
          <p:nvPr/>
        </p:nvSpPr>
        <p:spPr>
          <a:xfrm>
            <a:off x="817563" y="5110163"/>
            <a:ext cx="10556875" cy="650875"/>
          </a:xfrm>
          <a:prstGeom prst="roundRect">
            <a:avLst>
              <a:gd name="adj" fmla="val 18780"/>
            </a:avLst>
          </a:prstGeom>
          <a:solidFill>
            <a:srgbClr val="C74634">
              <a:alpha val="14000"/>
            </a:srgbClr>
          </a:solidFill>
          <a:ln w="9525">
            <a:solidFill>
              <a:srgbClr val="C74634">
                <a:alpha val="60000"/>
              </a:srgbClr>
            </a:solidFill>
            <a:prstDash val="solid"/>
          </a:ln>
        </p:spPr>
      </p:sp>
      <p:sp>
        <p:nvSpPr>
          <p:cNvPr id="35" name="Text 33"/>
          <p:cNvSpPr/>
          <p:nvPr/>
        </p:nvSpPr>
        <p:spPr>
          <a:xfrm>
            <a:off x="927100" y="5257800"/>
            <a:ext cx="118611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8836F"/>
                </a:solidFill>
                <a:latin typeface="Arial" pitchFamily="34" charset="0"/>
                <a:ea typeface="Arial" pitchFamily="34" charset="-122"/>
                <a:cs typeface="Arial" pitchFamily="34" charset="-120"/>
              </a:rPr>
              <a:t>93.8%</a:t>
            </a:r>
            <a:endParaRPr lang="en-US" sz="2800" dirty="0"/>
          </a:p>
        </p:txBody>
      </p:sp>
      <p:sp>
        <p:nvSpPr>
          <p:cNvPr id="36" name="Text 34"/>
          <p:cNvSpPr/>
          <p:nvPr/>
        </p:nvSpPr>
        <p:spPr>
          <a:xfrm>
            <a:off x="2113211" y="5200700"/>
            <a:ext cx="772146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Arial" pitchFamily="34" charset="0"/>
                <a:ea typeface="Arial" pitchFamily="34" charset="-122"/>
                <a:cs typeface="Arial" pitchFamily="34" charset="-120"/>
              </a:rPr>
              <a:t>on LongMemEval, 469 of 500 questions</a:t>
            </a:r>
            <a:endParaRPr lang="en-US" sz="1300" dirty="0"/>
          </a:p>
        </p:txBody>
      </p:sp>
      <p:sp>
        <p:nvSpPr>
          <p:cNvPr id="37" name="Text 35"/>
          <p:cNvSpPr/>
          <p:nvPr/>
        </p:nvSpPr>
        <p:spPr>
          <a:xfrm>
            <a:off x="2113211" y="5457230"/>
            <a:ext cx="89958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gpt-5.5 at xhigh reasoning · nomic-embed-v1.5 · HNSW, top-k 200 · source: Oracle Developers blog, May 2026</a:t>
            </a:r>
            <a:endParaRPr lang="en-US" sz="1200" dirty="0"/>
          </a:p>
        </p:txBody>
      </p:sp>
      <p:sp>
        <p:nvSpPr>
          <p:cNvPr id="38" name="Text 3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The same architecture, on Oracle AI Database</a:t>
            </a:r>
            <a:endParaRPr lang="en-US" sz="2800" dirty="0"/>
          </a:p>
        </p:txBody>
      </p:sp>
      <p:sp>
        <p:nvSpPr>
          <p:cNvPr id="4" name="Shape 2"/>
          <p:cNvSpPr/>
          <p:nvPr/>
        </p:nvSpPr>
        <p:spPr>
          <a:xfrm>
            <a:off x="817563" y="14017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5" name="Text 3"/>
          <p:cNvSpPr/>
          <p:nvPr/>
        </p:nvSpPr>
        <p:spPr>
          <a:xfrm>
            <a:off x="965200" y="140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AEB9B7"/>
                </a:solidFill>
                <a:latin typeface="Courier New" pitchFamily="49" charset="0"/>
                <a:ea typeface="Courier New" pitchFamily="49" charset="-122"/>
                <a:cs typeface="Courier New" pitchFamily="49" charset="-120"/>
              </a:rPr>
              <a:t>APPLICATION LAYER</a:t>
            </a:r>
            <a:endParaRPr lang="en-US" sz="1100" dirty="0"/>
          </a:p>
        </p:txBody>
      </p:sp>
      <p:sp>
        <p:nvSpPr>
          <p:cNvPr id="6" name="Shape 4"/>
          <p:cNvSpPr/>
          <p:nvPr/>
        </p:nvSpPr>
        <p:spPr>
          <a:xfrm>
            <a:off x="817563" y="2671763"/>
            <a:ext cx="7432675" cy="1895475"/>
          </a:xfrm>
          <a:prstGeom prst="roundRect">
            <a:avLst>
              <a:gd name="adj" fmla="val 7119"/>
            </a:avLst>
          </a:prstGeom>
          <a:solidFill>
            <a:srgbClr val="FFFFFF">
              <a:alpha val="2000"/>
            </a:srgbClr>
          </a:solidFill>
          <a:ln w="9525">
            <a:solidFill>
              <a:srgbClr val="FFFFFF">
                <a:alpha val="16000"/>
              </a:srgbClr>
            </a:solidFill>
            <a:prstDash val="dash"/>
          </a:ln>
        </p:spPr>
      </p:sp>
      <p:sp>
        <p:nvSpPr>
          <p:cNvPr id="7" name="Text 5"/>
          <p:cNvSpPr/>
          <p:nvPr/>
        </p:nvSpPr>
        <p:spPr>
          <a:xfrm>
            <a:off x="965200" y="267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E8836F"/>
                </a:solidFill>
                <a:latin typeface="Courier New" pitchFamily="49" charset="0"/>
                <a:ea typeface="Courier New" pitchFamily="49" charset="-122"/>
                <a:cs typeface="Courier New" pitchFamily="49" charset="-120"/>
              </a:rPr>
              <a:t>MEMORY LAYER</a:t>
            </a:r>
            <a:endParaRPr lang="en-US" sz="1100" dirty="0"/>
          </a:p>
        </p:txBody>
      </p:sp>
      <p:sp>
        <p:nvSpPr>
          <p:cNvPr id="8" name="Shape 6"/>
          <p:cNvSpPr/>
          <p:nvPr/>
        </p:nvSpPr>
        <p:spPr>
          <a:xfrm>
            <a:off x="817563" y="48942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9" name="Text 7"/>
          <p:cNvSpPr/>
          <p:nvPr/>
        </p:nvSpPr>
        <p:spPr>
          <a:xfrm>
            <a:off x="965200" y="49022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DEB068"/>
                </a:solidFill>
                <a:latin typeface="Courier New" pitchFamily="49" charset="0"/>
                <a:ea typeface="Courier New" pitchFamily="49" charset="-122"/>
                <a:cs typeface="Courier New" pitchFamily="49" charset="-120"/>
              </a:rPr>
              <a:t>DATA LAYER</a:t>
            </a:r>
            <a:endParaRPr lang="en-US" sz="1100" dirty="0"/>
          </a:p>
        </p:txBody>
      </p:sp>
      <p:sp>
        <p:nvSpPr>
          <p:cNvPr id="10" name="Shape 8"/>
          <p:cNvSpPr/>
          <p:nvPr/>
        </p:nvSpPr>
        <p:spPr>
          <a:xfrm>
            <a:off x="8716963" y="1401763"/>
            <a:ext cx="2657475" cy="4435475"/>
          </a:xfrm>
          <a:prstGeom prst="roundRect">
            <a:avLst>
              <a:gd name="adj" fmla="val 5078"/>
            </a:avLst>
          </a:prstGeom>
          <a:solidFill>
            <a:srgbClr val="FFFFFF">
              <a:alpha val="2000"/>
            </a:srgbClr>
          </a:solidFill>
          <a:ln w="9525">
            <a:solidFill>
              <a:srgbClr val="FFFFFF">
                <a:alpha val="16000"/>
              </a:srgbClr>
            </a:solidFill>
            <a:prstDash val="dash"/>
          </a:ln>
        </p:spPr>
      </p:sp>
      <p:sp>
        <p:nvSpPr>
          <p:cNvPr id="11" name="Text 9"/>
          <p:cNvSpPr/>
          <p:nvPr/>
        </p:nvSpPr>
        <p:spPr>
          <a:xfrm>
            <a:off x="8864600" y="1409700"/>
            <a:ext cx="2433066"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7FC4DC"/>
                </a:solidFill>
                <a:latin typeface="Courier New" pitchFamily="49" charset="0"/>
                <a:ea typeface="Courier New" pitchFamily="49" charset="-122"/>
                <a:cs typeface="Courier New" pitchFamily="49" charset="-120"/>
              </a:rPr>
              <a:t>MODEL LAYER</a:t>
            </a:r>
            <a:endParaRPr lang="en-US" sz="1100" dirty="0"/>
          </a:p>
        </p:txBody>
      </p:sp>
      <p:sp>
        <p:nvSpPr>
          <p:cNvPr id="12" name="Shape 10"/>
          <p:cNvSpPr/>
          <p:nvPr/>
        </p:nvSpPr>
        <p:spPr>
          <a:xfrm>
            <a:off x="969963" y="1668463"/>
            <a:ext cx="1387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3" name="Image 0" descr="Users">    </p:cNvPr>
          <p:cNvPicPr>
            <a:picLocks noChangeAspect="1"/>
          </p:cNvPicPr>
          <p:nvPr/>
        </p:nvPicPr>
        <p:blipFill>
          <a:blip r:embed="rId1"/>
          <a:srcRect l="0" r="0" t="0" b="0"/>
          <a:stretch/>
        </p:blipFill>
        <p:spPr>
          <a:xfrm>
            <a:off x="1054100" y="1841500"/>
            <a:ext cx="254000" cy="254000"/>
          </a:xfrm>
          <a:prstGeom prst="rect">
            <a:avLst/>
          </a:prstGeom>
        </p:spPr>
      </p:pic>
      <p:sp>
        <p:nvSpPr>
          <p:cNvPr id="14" name="Text 11"/>
          <p:cNvSpPr/>
          <p:nvPr/>
        </p:nvSpPr>
        <p:spPr>
          <a:xfrm>
            <a:off x="1397000" y="1748830"/>
            <a:ext cx="88051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Application</a:t>
            </a:r>
            <a:endParaRPr lang="en-US" sz="1200" dirty="0"/>
          </a:p>
        </p:txBody>
      </p:sp>
      <p:sp>
        <p:nvSpPr>
          <p:cNvPr id="15" name="Text 12"/>
          <p:cNvSpPr/>
          <p:nvPr/>
        </p:nvSpPr>
        <p:spPr>
          <a:xfrm>
            <a:off x="1397000" y="1974850"/>
            <a:ext cx="88051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user · tools</a:t>
            </a:r>
            <a:endParaRPr lang="en-US" sz="1200" dirty="0"/>
          </a:p>
        </p:txBody>
      </p:sp>
      <p:sp>
        <p:nvSpPr>
          <p:cNvPr id="16" name="Shape 13"/>
          <p:cNvSpPr/>
          <p:nvPr/>
        </p:nvSpPr>
        <p:spPr>
          <a:xfrm>
            <a:off x="3001963" y="1668463"/>
            <a:ext cx="2022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7" name="Image 1" descr="Settings">    </p:cNvPr>
          <p:cNvPicPr>
            <a:picLocks noChangeAspect="1"/>
          </p:cNvPicPr>
          <p:nvPr/>
        </p:nvPicPr>
        <p:blipFill>
          <a:blip r:embed="rId2"/>
          <a:srcRect l="0" r="0" t="0" b="0"/>
          <a:stretch/>
        </p:blipFill>
        <p:spPr>
          <a:xfrm>
            <a:off x="3086100" y="1841500"/>
            <a:ext cx="254000" cy="254000"/>
          </a:xfrm>
          <a:prstGeom prst="rect">
            <a:avLst/>
          </a:prstGeom>
        </p:spPr>
      </p:pic>
      <p:sp>
        <p:nvSpPr>
          <p:cNvPr id="18" name="Text 14"/>
          <p:cNvSpPr/>
          <p:nvPr/>
        </p:nvSpPr>
        <p:spPr>
          <a:xfrm>
            <a:off x="3429000" y="174883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Agent harness</a:t>
            </a:r>
            <a:endParaRPr lang="en-US" sz="1200" dirty="0"/>
          </a:p>
        </p:txBody>
      </p:sp>
      <p:sp>
        <p:nvSpPr>
          <p:cNvPr id="19" name="Text 15"/>
          <p:cNvSpPr/>
          <p:nvPr/>
        </p:nvSpPr>
        <p:spPr>
          <a:xfrm>
            <a:off x="3429000" y="1974850"/>
            <a:ext cx="110941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the agent loop</a:t>
            </a:r>
            <a:endParaRPr lang="en-US" sz="1200" dirty="0"/>
          </a:p>
        </p:txBody>
      </p:sp>
      <p:sp>
        <p:nvSpPr>
          <p:cNvPr id="20" name="Shape 16"/>
          <p:cNvSpPr/>
          <p:nvPr/>
        </p:nvSpPr>
        <p:spPr>
          <a:xfrm>
            <a:off x="5668963" y="1668463"/>
            <a:ext cx="1895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1" name="Image 2" descr="Book">    </p:cNvPr>
          <p:cNvPicPr>
            <a:picLocks noChangeAspect="1"/>
          </p:cNvPicPr>
          <p:nvPr/>
        </p:nvPicPr>
        <p:blipFill>
          <a:blip r:embed="rId3"/>
          <a:srcRect l="0" r="0" t="0" b="0"/>
          <a:stretch/>
        </p:blipFill>
        <p:spPr>
          <a:xfrm>
            <a:off x="5753100" y="1841500"/>
            <a:ext cx="254000" cy="254000"/>
          </a:xfrm>
          <a:prstGeom prst="rect">
            <a:avLst/>
          </a:prstGeom>
        </p:spPr>
      </p:pic>
      <p:sp>
        <p:nvSpPr>
          <p:cNvPr id="22" name="Text 17"/>
          <p:cNvSpPr/>
          <p:nvPr/>
        </p:nvSpPr>
        <p:spPr>
          <a:xfrm>
            <a:off x="6096000" y="1748830"/>
            <a:ext cx="132144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Context window</a:t>
            </a:r>
            <a:endParaRPr lang="en-US" sz="1200" dirty="0"/>
          </a:p>
        </p:txBody>
      </p:sp>
      <p:sp>
        <p:nvSpPr>
          <p:cNvPr id="23" name="Text 18"/>
          <p:cNvSpPr/>
          <p:nvPr/>
        </p:nvSpPr>
        <p:spPr>
          <a:xfrm>
            <a:off x="6096000" y="1974850"/>
            <a:ext cx="132144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assembled per call</a:t>
            </a:r>
            <a:endParaRPr lang="en-US" sz="1200" dirty="0"/>
          </a:p>
        </p:txBody>
      </p:sp>
      <p:sp>
        <p:nvSpPr>
          <p:cNvPr id="24" name="Shape 19"/>
          <p:cNvSpPr/>
          <p:nvPr/>
        </p:nvSpPr>
        <p:spPr>
          <a:xfrm>
            <a:off x="8869363" y="1668463"/>
            <a:ext cx="23526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5" name="Image 3" descr="Lightbulb">    </p:cNvPr>
          <p:cNvPicPr>
            <a:picLocks noChangeAspect="1"/>
          </p:cNvPicPr>
          <p:nvPr/>
        </p:nvPicPr>
        <p:blipFill>
          <a:blip r:embed="rId4"/>
          <a:srcRect l="0" r="0" t="0" b="0"/>
          <a:stretch/>
        </p:blipFill>
        <p:spPr>
          <a:xfrm>
            <a:off x="8953500" y="1841500"/>
            <a:ext cx="254000" cy="254000"/>
          </a:xfrm>
          <a:prstGeom prst="rect">
            <a:avLst/>
          </a:prstGeom>
        </p:spPr>
      </p:pic>
      <p:sp>
        <p:nvSpPr>
          <p:cNvPr id="26" name="Text 20"/>
          <p:cNvSpPr/>
          <p:nvPr/>
        </p:nvSpPr>
        <p:spPr>
          <a:xfrm>
            <a:off x="9296400" y="1748830"/>
            <a:ext cx="171097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LLM</a:t>
            </a:r>
            <a:endParaRPr lang="en-US" sz="1200" dirty="0"/>
          </a:p>
        </p:txBody>
      </p:sp>
      <p:sp>
        <p:nvSpPr>
          <p:cNvPr id="27" name="Text 21"/>
          <p:cNvSpPr/>
          <p:nvPr/>
        </p:nvSpPr>
        <p:spPr>
          <a:xfrm>
            <a:off x="9296400" y="1974850"/>
            <a:ext cx="171097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stateless · prompt cache</a:t>
            </a:r>
            <a:endParaRPr lang="en-US" sz="1200" dirty="0"/>
          </a:p>
        </p:txBody>
      </p:sp>
      <p:sp>
        <p:nvSpPr>
          <p:cNvPr id="28" name="Shape 22"/>
          <p:cNvSpPr/>
          <p:nvPr/>
        </p:nvSpPr>
        <p:spPr>
          <a:xfrm>
            <a:off x="8869363" y="28749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29" name="Image 4" descr="Lightning">    </p:cNvPr>
          <p:cNvPicPr>
            <a:picLocks noChangeAspect="1"/>
          </p:cNvPicPr>
          <p:nvPr/>
        </p:nvPicPr>
        <p:blipFill>
          <a:blip r:embed="rId5"/>
          <a:srcRect l="0" r="0" t="0" b="0"/>
          <a:stretch/>
        </p:blipFill>
        <p:spPr>
          <a:xfrm>
            <a:off x="8953500" y="2984500"/>
            <a:ext cx="254000" cy="254000"/>
          </a:xfrm>
          <a:prstGeom prst="rect">
            <a:avLst/>
          </a:prstGeom>
        </p:spPr>
      </p:pic>
      <p:sp>
        <p:nvSpPr>
          <p:cNvPr id="30" name="Text 23"/>
          <p:cNvSpPr/>
          <p:nvPr/>
        </p:nvSpPr>
        <p:spPr>
          <a:xfrm>
            <a:off x="9296400" y="2891830"/>
            <a:ext cx="171107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Extraction LLM</a:t>
            </a:r>
            <a:endParaRPr lang="en-US" sz="1200" dirty="0"/>
          </a:p>
        </p:txBody>
      </p:sp>
      <p:sp>
        <p:nvSpPr>
          <p:cNvPr id="31" name="Text 24"/>
          <p:cNvSpPr/>
          <p:nvPr/>
        </p:nvSpPr>
        <p:spPr>
          <a:xfrm>
            <a:off x="9296400" y="3117850"/>
            <a:ext cx="171107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any provider, OCI GenAI</a:t>
            </a:r>
            <a:endParaRPr lang="en-US" sz="1200" dirty="0"/>
          </a:p>
        </p:txBody>
      </p:sp>
      <p:sp>
        <p:nvSpPr>
          <p:cNvPr id="32" name="Shape 25"/>
          <p:cNvSpPr/>
          <p:nvPr/>
        </p:nvSpPr>
        <p:spPr>
          <a:xfrm>
            <a:off x="8869363" y="34845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33" name="Image 5" descr="Link">    </p:cNvPr>
          <p:cNvPicPr>
            <a:picLocks noChangeAspect="1"/>
          </p:cNvPicPr>
          <p:nvPr/>
        </p:nvPicPr>
        <p:blipFill>
          <a:blip r:embed="rId6"/>
          <a:srcRect l="0" r="0" t="0" b="0"/>
          <a:stretch/>
        </p:blipFill>
        <p:spPr>
          <a:xfrm>
            <a:off x="8953500" y="3594100"/>
            <a:ext cx="254000" cy="254000"/>
          </a:xfrm>
          <a:prstGeom prst="rect">
            <a:avLst/>
          </a:prstGeom>
        </p:spPr>
      </p:pic>
      <p:sp>
        <p:nvSpPr>
          <p:cNvPr id="34" name="Text 26"/>
          <p:cNvSpPr/>
          <p:nvPr/>
        </p:nvSpPr>
        <p:spPr>
          <a:xfrm>
            <a:off x="9296400" y="3501430"/>
            <a:ext cx="178862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Embedding model</a:t>
            </a:r>
            <a:endParaRPr lang="en-US" sz="1200" dirty="0"/>
          </a:p>
        </p:txBody>
      </p:sp>
      <p:sp>
        <p:nvSpPr>
          <p:cNvPr id="35" name="Text 27"/>
          <p:cNvSpPr/>
          <p:nvPr/>
        </p:nvSpPr>
        <p:spPr>
          <a:xfrm>
            <a:off x="9296400" y="3727450"/>
            <a:ext cx="17886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in-database ONNX or API</a:t>
            </a:r>
            <a:endParaRPr lang="en-US" sz="1200" dirty="0"/>
          </a:p>
        </p:txBody>
      </p:sp>
      <p:sp>
        <p:nvSpPr>
          <p:cNvPr id="36" name="Shape 28"/>
          <p:cNvSpPr/>
          <p:nvPr/>
        </p:nvSpPr>
        <p:spPr>
          <a:xfrm>
            <a:off x="8869363" y="40941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37" name="Image 6" descr="Star">    </p:cNvPr>
          <p:cNvPicPr>
            <a:picLocks noChangeAspect="1"/>
          </p:cNvPicPr>
          <p:nvPr/>
        </p:nvPicPr>
        <p:blipFill>
          <a:blip r:embed="rId7"/>
          <a:srcRect l="0" r="0" t="0" b="0"/>
          <a:stretch/>
        </p:blipFill>
        <p:spPr>
          <a:xfrm>
            <a:off x="8953500" y="4203700"/>
            <a:ext cx="254000" cy="254000"/>
          </a:xfrm>
          <a:prstGeom prst="rect">
            <a:avLst/>
          </a:prstGeom>
        </p:spPr>
      </p:pic>
      <p:sp>
        <p:nvSpPr>
          <p:cNvPr id="38" name="Text 29"/>
          <p:cNvSpPr/>
          <p:nvPr/>
        </p:nvSpPr>
        <p:spPr>
          <a:xfrm>
            <a:off x="9296400" y="4111030"/>
            <a:ext cx="130467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Reranker</a:t>
            </a:r>
            <a:endParaRPr lang="en-US" sz="1200" dirty="0"/>
          </a:p>
        </p:txBody>
      </p:sp>
      <p:sp>
        <p:nvSpPr>
          <p:cNvPr id="39" name="Text 30"/>
          <p:cNvSpPr/>
          <p:nvPr/>
        </p:nvSpPr>
        <p:spPr>
          <a:xfrm>
            <a:off x="9296400" y="4337050"/>
            <a:ext cx="130467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in-database or API</a:t>
            </a:r>
            <a:endParaRPr lang="en-US" sz="1200" dirty="0"/>
          </a:p>
        </p:txBody>
      </p:sp>
      <p:sp>
        <p:nvSpPr>
          <p:cNvPr id="40" name="Shape 31"/>
          <p:cNvSpPr/>
          <p:nvPr/>
        </p:nvSpPr>
        <p:spPr>
          <a:xfrm>
            <a:off x="8869363" y="5160963"/>
            <a:ext cx="2352675" cy="473075"/>
          </a:xfrm>
          <a:prstGeom prst="roundRect">
            <a:avLst>
              <a:gd name="adj" fmla="val 20470"/>
            </a:avLst>
          </a:prstGeom>
          <a:solidFill>
            <a:srgbClr val="36677D">
              <a:alpha val="10000"/>
            </a:srgbClr>
          </a:solidFill>
          <a:ln w="9525">
            <a:solidFill>
              <a:srgbClr val="7FC4DC">
                <a:alpha val="60000"/>
              </a:srgbClr>
            </a:solidFill>
            <a:prstDash val="dash"/>
          </a:ln>
        </p:spPr>
      </p:sp>
      <p:pic>
        <p:nvPicPr>
          <p:cNvPr id="41" name="Image 7" descr="Check">    </p:cNvPr>
          <p:cNvPicPr>
            <a:picLocks noChangeAspect="1"/>
          </p:cNvPicPr>
          <p:nvPr/>
        </p:nvPicPr>
        <p:blipFill>
          <a:blip r:embed="rId8"/>
          <a:srcRect l="0" r="0" t="0" b="0"/>
          <a:stretch/>
        </p:blipFill>
        <p:spPr>
          <a:xfrm>
            <a:off x="8953500" y="5270500"/>
            <a:ext cx="254000" cy="254000"/>
          </a:xfrm>
          <a:prstGeom prst="rect">
            <a:avLst/>
          </a:prstGeom>
        </p:spPr>
      </p:pic>
      <p:sp>
        <p:nvSpPr>
          <p:cNvPr id="42" name="Text 32"/>
          <p:cNvSpPr/>
          <p:nvPr/>
        </p:nvSpPr>
        <p:spPr>
          <a:xfrm>
            <a:off x="9296400" y="5177830"/>
            <a:ext cx="167749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Decision model</a:t>
            </a:r>
            <a:endParaRPr lang="en-US" sz="1200" dirty="0"/>
          </a:p>
        </p:txBody>
      </p:sp>
      <p:sp>
        <p:nvSpPr>
          <p:cNvPr id="43" name="Text 33"/>
          <p:cNvSpPr/>
          <p:nvPr/>
        </p:nvSpPr>
        <p:spPr>
          <a:xfrm>
            <a:off x="9296400" y="5403850"/>
            <a:ext cx="167749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advanced: routes, gates</a:t>
            </a:r>
            <a:endParaRPr lang="en-US" sz="1200" dirty="0"/>
          </a:p>
        </p:txBody>
      </p:sp>
      <p:sp>
        <p:nvSpPr>
          <p:cNvPr id="44" name="Shape 34"/>
          <p:cNvSpPr/>
          <p:nvPr/>
        </p:nvSpPr>
        <p:spPr>
          <a:xfrm>
            <a:off x="969963" y="2874963"/>
            <a:ext cx="7064375" cy="1654175"/>
          </a:xfrm>
          <a:prstGeom prst="roundRect">
            <a:avLst>
              <a:gd name="adj" fmla="val 6622"/>
            </a:avLst>
          </a:prstGeom>
          <a:solidFill>
            <a:srgbClr val="FFFFFF">
              <a:alpha val="5000"/>
            </a:srgbClr>
          </a:solidFill>
          <a:ln w="9525">
            <a:solidFill>
              <a:srgbClr val="FFFFFF">
                <a:alpha val="22000"/>
              </a:srgbClr>
            </a:solidFill>
            <a:prstDash val="solid"/>
          </a:ln>
        </p:spPr>
      </p:sp>
      <p:pic>
        <p:nvPicPr>
          <p:cNvPr id="45" name="Image 8" descr="Activity">    </p:cNvPr>
          <p:cNvPicPr>
            <a:picLocks noChangeAspect="1"/>
          </p:cNvPicPr>
          <p:nvPr/>
        </p:nvPicPr>
        <p:blipFill>
          <a:blip r:embed="rId9"/>
          <a:srcRect l="0" r="0" t="0" b="0"/>
          <a:stretch/>
        </p:blipFill>
        <p:spPr>
          <a:xfrm>
            <a:off x="1117600" y="2961035"/>
            <a:ext cx="203200" cy="203200"/>
          </a:xfrm>
          <a:prstGeom prst="rect">
            <a:avLst/>
          </a:prstGeom>
        </p:spPr>
      </p:pic>
      <p:sp>
        <p:nvSpPr>
          <p:cNvPr id="46" name="Text 35"/>
          <p:cNvSpPr/>
          <p:nvPr/>
        </p:nvSpPr>
        <p:spPr>
          <a:xfrm>
            <a:off x="1422400" y="2955975"/>
            <a:ext cx="409752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FFFFFF"/>
                </a:solidFill>
                <a:latin typeface="Courier New" pitchFamily="49" charset="0"/>
                <a:ea typeface="Courier New" pitchFamily="49" charset="-122"/>
                <a:cs typeface="Courier New" pitchFamily="49" charset="-120"/>
              </a:rPr>
              <a:t>ORACLE AI AGENT MEMORY · THE PACKAGE</a:t>
            </a:r>
            <a:endParaRPr lang="en-US" sz="1200" dirty="0"/>
          </a:p>
        </p:txBody>
      </p:sp>
      <p:sp>
        <p:nvSpPr>
          <p:cNvPr id="47" name="Text 36"/>
          <p:cNvSpPr/>
          <p:nvPr/>
        </p:nvSpPr>
        <p:spPr>
          <a:xfrm>
            <a:off x="1117600" y="3244900"/>
            <a:ext cx="6854444" cy="237480"/>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E8836F"/>
                </a:solidFill>
                <a:latin typeface="Courier New" pitchFamily="49" charset="0"/>
                <a:ea typeface="Courier New" pitchFamily="49" charset="-122"/>
                <a:cs typeface="Courier New" pitchFamily="49" charset="-120"/>
              </a:rPr>
              <a:t>WRITE PATH · retain, refine</a:t>
            </a:r>
            <a:endParaRPr lang="en-US" sz="1196" dirty="0"/>
          </a:p>
        </p:txBody>
      </p:sp>
      <p:sp>
        <p:nvSpPr>
          <p:cNvPr id="48" name="Text 37"/>
          <p:cNvSpPr/>
          <p:nvPr/>
        </p:nvSpPr>
        <p:spPr>
          <a:xfrm>
            <a:off x="11176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add_messages</a:t>
            </a:r>
            <a:endParaRPr lang="en-US" sz="1200" dirty="0"/>
          </a:p>
        </p:txBody>
      </p:sp>
      <p:sp>
        <p:nvSpPr>
          <p:cNvPr id="49" name="Text 38"/>
          <p:cNvSpPr/>
          <p:nvPr/>
        </p:nvSpPr>
        <p:spPr>
          <a:xfrm>
            <a:off x="24638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extraction</a:t>
            </a:r>
            <a:endParaRPr lang="en-US" sz="1200" dirty="0"/>
          </a:p>
        </p:txBody>
      </p:sp>
      <p:sp>
        <p:nvSpPr>
          <p:cNvPr id="50" name="Text 39"/>
          <p:cNvSpPr/>
          <p:nvPr/>
        </p:nvSpPr>
        <p:spPr>
          <a:xfrm>
            <a:off x="38100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dedupe</a:t>
            </a:r>
            <a:endParaRPr lang="en-US" sz="1200" dirty="0"/>
          </a:p>
        </p:txBody>
      </p:sp>
      <p:sp>
        <p:nvSpPr>
          <p:cNvPr id="51" name="Text 40"/>
          <p:cNvSpPr/>
          <p:nvPr/>
        </p:nvSpPr>
        <p:spPr>
          <a:xfrm>
            <a:off x="51562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update_memory</a:t>
            </a:r>
            <a:endParaRPr lang="en-US" sz="1200" dirty="0"/>
          </a:p>
        </p:txBody>
      </p:sp>
      <p:sp>
        <p:nvSpPr>
          <p:cNvPr id="52" name="Text 41"/>
          <p:cNvSpPr/>
          <p:nvPr/>
        </p:nvSpPr>
        <p:spPr>
          <a:xfrm>
            <a:off x="6502400" y="3495080"/>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ttl_days</a:t>
            </a:r>
            <a:endParaRPr lang="en-US" sz="1200" dirty="0"/>
          </a:p>
        </p:txBody>
      </p:sp>
      <p:sp>
        <p:nvSpPr>
          <p:cNvPr id="53" name="Text 42"/>
          <p:cNvSpPr/>
          <p:nvPr/>
        </p:nvSpPr>
        <p:spPr>
          <a:xfrm>
            <a:off x="1117600" y="3884315"/>
            <a:ext cx="6854444" cy="237480"/>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7FC4DC"/>
                </a:solidFill>
                <a:latin typeface="Courier New" pitchFamily="49" charset="0"/>
                <a:ea typeface="Courier New" pitchFamily="49" charset="-122"/>
                <a:cs typeface="Courier New" pitchFamily="49" charset="-120"/>
              </a:rPr>
              <a:t>READ PATH · recall, reuse</a:t>
            </a:r>
            <a:endParaRPr lang="en-US" sz="1196" dirty="0"/>
          </a:p>
        </p:txBody>
      </p:sp>
      <p:sp>
        <p:nvSpPr>
          <p:cNvPr id="54" name="Text 43"/>
          <p:cNvSpPr/>
          <p:nvPr/>
        </p:nvSpPr>
        <p:spPr>
          <a:xfrm>
            <a:off x="11176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SearchScope</a:t>
            </a:r>
            <a:endParaRPr lang="en-US" sz="1200" dirty="0"/>
          </a:p>
        </p:txBody>
      </p:sp>
      <p:sp>
        <p:nvSpPr>
          <p:cNvPr id="55" name="Text 44"/>
          <p:cNvSpPr/>
          <p:nvPr/>
        </p:nvSpPr>
        <p:spPr>
          <a:xfrm>
            <a:off x="24638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hybrid search</a:t>
            </a:r>
            <a:endParaRPr lang="en-US" sz="1200" dirty="0"/>
          </a:p>
        </p:txBody>
      </p:sp>
      <p:sp>
        <p:nvSpPr>
          <p:cNvPr id="56" name="Text 45"/>
          <p:cNvSpPr/>
          <p:nvPr/>
        </p:nvSpPr>
        <p:spPr>
          <a:xfrm>
            <a:off x="38100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filters</a:t>
            </a:r>
            <a:endParaRPr lang="en-US" sz="1200" dirty="0"/>
          </a:p>
        </p:txBody>
      </p:sp>
      <p:sp>
        <p:nvSpPr>
          <p:cNvPr id="57" name="Text 46"/>
          <p:cNvSpPr/>
          <p:nvPr/>
        </p:nvSpPr>
        <p:spPr>
          <a:xfrm>
            <a:off x="51562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context card</a:t>
            </a:r>
            <a:endParaRPr lang="en-US" sz="1200" dirty="0"/>
          </a:p>
        </p:txBody>
      </p:sp>
      <p:sp>
        <p:nvSpPr>
          <p:cNvPr id="58" name="Text 47"/>
          <p:cNvSpPr/>
          <p:nvPr/>
        </p:nvSpPr>
        <p:spPr>
          <a:xfrm>
            <a:off x="6502400" y="4134495"/>
            <a:ext cx="1270000" cy="313035"/>
          </a:xfrm>
          <a:custGeom>
            <a:avLst/>
            <a:gdLst/>
            <a:ahLst/>
            <a:cxnLst/>
            <a:rect l="l" t="t" r="r" b="b"/>
            <a:pathLst>
              <a:path w="1270000" h="313035">
                <a:moveTo>
                  <a:pt x="156518" y="0"/>
                </a:moveTo>
                <a:lnTo>
                  <a:pt x="1113482" y="0"/>
                </a:lnTo>
                <a:arcTo hR="156518" wR="156518" stAng="16200000" swAng="5400000"/>
                <a:lnTo>
                  <a:pt x="1270000" y="156518"/>
                </a:lnTo>
                <a:arcTo hR="156518" wR="156518" stAng="0" swAng="5400000"/>
                <a:lnTo>
                  <a:pt x="156518" y="313035"/>
                </a:lnTo>
                <a:arcTo hR="156518" wR="156518" stAng="5400000" swAng="5400000"/>
                <a:lnTo>
                  <a:pt x="0" y="156518"/>
                </a:lnTo>
                <a:arcTo hR="156518" wR="156518"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budget</a:t>
            </a:r>
            <a:endParaRPr lang="en-US" sz="1200" dirty="0"/>
          </a:p>
        </p:txBody>
      </p:sp>
      <p:sp>
        <p:nvSpPr>
          <p:cNvPr id="59" name="Shape 48"/>
          <p:cNvSpPr/>
          <p:nvPr/>
        </p:nvSpPr>
        <p:spPr>
          <a:xfrm>
            <a:off x="969963" y="5097463"/>
            <a:ext cx="7064375" cy="688975"/>
          </a:xfrm>
          <a:prstGeom prst="roundRect">
            <a:avLst>
              <a:gd name="adj" fmla="val 15899"/>
            </a:avLst>
          </a:prstGeom>
          <a:solidFill>
            <a:srgbClr val="DEB068">
              <a:alpha val="6000"/>
            </a:srgbClr>
          </a:solidFill>
          <a:ln w="9525">
            <a:solidFill>
              <a:srgbClr val="DEB068">
                <a:alpha val="45000"/>
              </a:srgbClr>
            </a:solidFill>
            <a:prstDash val="solid"/>
          </a:ln>
        </p:spPr>
      </p:sp>
      <p:pic>
        <p:nvPicPr>
          <p:cNvPr id="60" name="Image 9" descr="Database">    </p:cNvPr>
          <p:cNvPicPr>
            <a:picLocks noChangeAspect="1"/>
          </p:cNvPicPr>
          <p:nvPr/>
        </p:nvPicPr>
        <p:blipFill>
          <a:blip r:embed="rId10"/>
          <a:srcRect l="0" r="0" t="0" b="0"/>
          <a:stretch/>
        </p:blipFill>
        <p:spPr>
          <a:xfrm>
            <a:off x="1066800" y="5167015"/>
            <a:ext cx="203200" cy="203200"/>
          </a:xfrm>
          <a:prstGeom prst="rect">
            <a:avLst/>
          </a:prstGeom>
        </p:spPr>
      </p:pic>
      <p:sp>
        <p:nvSpPr>
          <p:cNvPr id="61" name="Text 49"/>
          <p:cNvSpPr/>
          <p:nvPr/>
        </p:nvSpPr>
        <p:spPr>
          <a:xfrm>
            <a:off x="1371600" y="5162004"/>
            <a:ext cx="409752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ORACLE AI DATABASE · THE MEMORY CORE</a:t>
            </a:r>
            <a:endParaRPr lang="en-US" sz="1200" dirty="0"/>
          </a:p>
        </p:txBody>
      </p:sp>
      <p:sp>
        <p:nvSpPr>
          <p:cNvPr id="62" name="Text 50"/>
          <p:cNvSpPr/>
          <p:nvPr/>
        </p:nvSpPr>
        <p:spPr>
          <a:xfrm>
            <a:off x="1066800" y="5425629"/>
            <a:ext cx="753814" cy="295821"/>
          </a:xfrm>
          <a:custGeom>
            <a:avLst/>
            <a:gdLst/>
            <a:ahLst/>
            <a:cxnLst/>
            <a:rect l="l" t="t" r="r" b="b"/>
            <a:pathLst>
              <a:path w="753814" h="295821">
                <a:moveTo>
                  <a:pt x="147910" y="0"/>
                </a:moveTo>
                <a:lnTo>
                  <a:pt x="605904" y="0"/>
                </a:lnTo>
                <a:arcTo hR="147910" wR="147910" stAng="16200000" swAng="5400000"/>
                <a:lnTo>
                  <a:pt x="753814"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Memories</a:t>
            </a:r>
            <a:endParaRPr lang="en-US" sz="1100" dirty="0"/>
          </a:p>
        </p:txBody>
      </p:sp>
      <p:sp>
        <p:nvSpPr>
          <p:cNvPr id="63" name="Text 51"/>
          <p:cNvSpPr/>
          <p:nvPr/>
        </p:nvSpPr>
        <p:spPr>
          <a:xfrm>
            <a:off x="1896814" y="5425629"/>
            <a:ext cx="528439" cy="295821"/>
          </a:xfrm>
          <a:custGeom>
            <a:avLst/>
            <a:gdLst/>
            <a:ahLst/>
            <a:cxnLst/>
            <a:rect l="l" t="t" r="r" b="b"/>
            <a:pathLst>
              <a:path w="528439" h="295821">
                <a:moveTo>
                  <a:pt x="147910" y="0"/>
                </a:moveTo>
                <a:lnTo>
                  <a:pt x="380529" y="0"/>
                </a:lnTo>
                <a:arcTo hR="147910" wR="147910" stAng="16200000" swAng="5400000"/>
                <a:lnTo>
                  <a:pt x="528439"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HNSW</a:t>
            </a:r>
            <a:endParaRPr lang="en-US" sz="1100" dirty="0"/>
          </a:p>
        </p:txBody>
      </p:sp>
      <p:sp>
        <p:nvSpPr>
          <p:cNvPr id="64" name="Text 52"/>
          <p:cNvSpPr/>
          <p:nvPr/>
        </p:nvSpPr>
        <p:spPr>
          <a:xfrm>
            <a:off x="2501454" y="5425629"/>
            <a:ext cx="378520" cy="295821"/>
          </a:xfrm>
          <a:custGeom>
            <a:avLst/>
            <a:gdLst/>
            <a:ahLst/>
            <a:cxnLst/>
            <a:rect l="l" t="t" r="r" b="b"/>
            <a:pathLst>
              <a:path w="378520" h="295821">
                <a:moveTo>
                  <a:pt x="147910" y="0"/>
                </a:moveTo>
                <a:lnTo>
                  <a:pt x="230609" y="0"/>
                </a:lnTo>
                <a:arcTo hR="147910" wR="147910" stAng="16200000" swAng="5400000"/>
                <a:lnTo>
                  <a:pt x="378520"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Text</a:t>
            </a:r>
            <a:endParaRPr lang="en-US" sz="1100" dirty="0"/>
          </a:p>
        </p:txBody>
      </p:sp>
      <p:sp>
        <p:nvSpPr>
          <p:cNvPr id="65" name="Text 53"/>
          <p:cNvSpPr/>
          <p:nvPr/>
        </p:nvSpPr>
        <p:spPr>
          <a:xfrm>
            <a:off x="2956173" y="5425629"/>
            <a:ext cx="1312515" cy="295821"/>
          </a:xfrm>
          <a:custGeom>
            <a:avLst/>
            <a:gdLst/>
            <a:ahLst/>
            <a:cxnLst/>
            <a:rect l="l" t="t" r="r" b="b"/>
            <a:pathLst>
              <a:path w="1312515" h="295821">
                <a:moveTo>
                  <a:pt x="147910" y="0"/>
                </a:moveTo>
                <a:lnTo>
                  <a:pt x="1164605" y="0"/>
                </a:lnTo>
                <a:arcTo hR="147910" wR="147910" stAng="16200000" swAng="5400000"/>
                <a:lnTo>
                  <a:pt x="1312515"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JSON, graph, SQL</a:t>
            </a:r>
            <a:endParaRPr lang="en-US" sz="1100" dirty="0"/>
          </a:p>
        </p:txBody>
      </p:sp>
      <p:sp>
        <p:nvSpPr>
          <p:cNvPr id="66" name="Text 54"/>
          <p:cNvSpPr/>
          <p:nvPr/>
        </p:nvSpPr>
        <p:spPr>
          <a:xfrm>
            <a:off x="4344888" y="5425629"/>
            <a:ext cx="902395" cy="295821"/>
          </a:xfrm>
          <a:custGeom>
            <a:avLst/>
            <a:gdLst/>
            <a:ahLst/>
            <a:cxnLst/>
            <a:rect l="l" t="t" r="r" b="b"/>
            <a:pathLst>
              <a:path w="902395" h="295821">
                <a:moveTo>
                  <a:pt x="147910" y="0"/>
                </a:moveTo>
                <a:lnTo>
                  <a:pt x="754484" y="0"/>
                </a:lnTo>
                <a:arcTo hR="147910" wR="147910" stAng="16200000" swAng="5400000"/>
                <a:lnTo>
                  <a:pt x="902395"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TTL + purge</a:t>
            </a:r>
            <a:endParaRPr lang="en-US" sz="1100" dirty="0"/>
          </a:p>
        </p:txBody>
      </p:sp>
      <p:sp>
        <p:nvSpPr>
          <p:cNvPr id="67" name="Text 55"/>
          <p:cNvSpPr/>
          <p:nvPr/>
        </p:nvSpPr>
        <p:spPr>
          <a:xfrm>
            <a:off x="5323483" y="5425629"/>
            <a:ext cx="667990" cy="295821"/>
          </a:xfrm>
          <a:custGeom>
            <a:avLst/>
            <a:gdLst/>
            <a:ahLst/>
            <a:cxnLst/>
            <a:rect l="l" t="t" r="r" b="b"/>
            <a:pathLst>
              <a:path w="667990" h="295821">
                <a:moveTo>
                  <a:pt x="147910" y="0"/>
                </a:moveTo>
                <a:lnTo>
                  <a:pt x="520080" y="0"/>
                </a:lnTo>
                <a:arcTo hR="147910" wR="147910" stAng="16200000" swAng="5400000"/>
                <a:lnTo>
                  <a:pt x="667990" y="147910"/>
                </a:lnTo>
                <a:arcTo hR="147910" wR="147910" stAng="0" swAng="5400000"/>
                <a:lnTo>
                  <a:pt x="147910" y="295821"/>
                </a:lnTo>
                <a:arcTo hR="147910" wR="147910" stAng="5400000" swAng="5400000"/>
                <a:lnTo>
                  <a:pt x="0" y="147910"/>
                </a:lnTo>
                <a:arcTo hR="147910" wR="14791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Auditing</a:t>
            </a:r>
            <a:endParaRPr lang="en-US" sz="1100" dirty="0"/>
          </a:p>
        </p:txBody>
      </p:sp>
      <p:sp>
        <p:nvSpPr>
          <p:cNvPr id="68" name="Text 56"/>
          <p:cNvSpPr/>
          <p:nvPr/>
        </p:nvSpPr>
        <p:spPr>
          <a:xfrm>
            <a:off x="6067673" y="5425629"/>
            <a:ext cx="1374973" cy="295821"/>
          </a:xfrm>
          <a:custGeom>
            <a:avLst/>
            <a:gdLst/>
            <a:ahLst/>
            <a:cxnLst/>
            <a:rect l="l" t="t" r="r" b="b"/>
            <a:pathLst>
              <a:path w="1374973" h="295821">
                <a:moveTo>
                  <a:pt x="147910" y="0"/>
                </a:moveTo>
                <a:lnTo>
                  <a:pt x="1227063" y="0"/>
                </a:lnTo>
                <a:arcTo hR="147910" wR="147910" stAng="16200000" swAng="5400000"/>
                <a:lnTo>
                  <a:pt x="1374973" y="147910"/>
                </a:lnTo>
                <a:arcTo hR="147910" wR="147910" stAng="0" swAng="5400000"/>
                <a:lnTo>
                  <a:pt x="147910" y="295821"/>
                </a:lnTo>
                <a:arcTo hR="147910" wR="147910" stAng="5400000" swAng="5400000"/>
                <a:lnTo>
                  <a:pt x="0" y="147910"/>
                </a:lnTo>
                <a:arcTo hR="147910" wR="147910" stAng="10800000" swAng="5400000"/>
                <a:close/>
              </a:path>
            </a:pathLst>
          </a:custGeom>
          <a:solidFill>
            <a:srgbClr val="C74634">
              <a:alpha val="30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Deep Data Security</a:t>
            </a:r>
            <a:endParaRPr lang="en-US" sz="1100" dirty="0"/>
          </a:p>
        </p:txBody>
      </p:sp>
      <p:pic>
        <p:nvPicPr>
          <p:cNvPr id="69" name="Image 10" descr="request, build the window, tokens in, response back to the harness">    </p:cNvPr>
          <p:cNvPicPr>
            <a:picLocks noChangeAspect="1"/>
          </p:cNvPicPr>
          <p:nvPr/>
        </p:nvPicPr>
        <p:blipFill>
          <a:blip r:embed="rId11"/>
          <a:srcRect l="0" r="0" t="0" b="0"/>
          <a:stretch/>
        </p:blipFill>
        <p:spPr>
          <a:xfrm>
            <a:off x="0" y="0"/>
            <a:ext cx="12192000" cy="6858000"/>
          </a:xfrm>
          <a:prstGeom prst="rect">
            <a:avLst/>
          </a:prstGeom>
        </p:spPr>
      </p:pic>
      <p:sp>
        <p:nvSpPr>
          <p:cNvPr id="70" name="Text 57"/>
          <p:cNvSpPr/>
          <p:nvPr/>
        </p:nvSpPr>
        <p:spPr>
          <a:xfrm>
            <a:off x="2336800" y="1778000"/>
            <a:ext cx="685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request</a:t>
            </a:r>
            <a:endParaRPr lang="en-US" sz="1200" dirty="0"/>
          </a:p>
        </p:txBody>
      </p:sp>
      <p:sp>
        <p:nvSpPr>
          <p:cNvPr id="71" name="Text 58"/>
          <p:cNvSpPr/>
          <p:nvPr/>
        </p:nvSpPr>
        <p:spPr>
          <a:xfrm>
            <a:off x="5003800" y="17780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builds</a:t>
            </a:r>
            <a:endParaRPr lang="en-US" sz="1200" dirty="0"/>
          </a:p>
        </p:txBody>
      </p:sp>
      <p:sp>
        <p:nvSpPr>
          <p:cNvPr id="72" name="Text 59"/>
          <p:cNvSpPr/>
          <p:nvPr/>
        </p:nvSpPr>
        <p:spPr>
          <a:xfrm>
            <a:off x="7543800" y="1778000"/>
            <a:ext cx="13081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tokens in</a:t>
            </a:r>
            <a:endParaRPr lang="en-US" sz="1200" dirty="0"/>
          </a:p>
        </p:txBody>
      </p:sp>
      <p:sp>
        <p:nvSpPr>
          <p:cNvPr id="73" name="Text 60"/>
          <p:cNvSpPr/>
          <p:nvPr/>
        </p:nvSpPr>
        <p:spPr>
          <a:xfrm>
            <a:off x="10147300" y="1295400"/>
            <a:ext cx="1130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response</a:t>
            </a:r>
            <a:endParaRPr lang="en-US" sz="1200" dirty="0"/>
          </a:p>
        </p:txBody>
      </p:sp>
      <p:pic>
        <p:nvPicPr>
          <p:cNvPr id="74" name="Image 11" descr="messages and traces to the manager, extraction, embedding, write to the core">    </p:cNvPr>
          <p:cNvPicPr>
            <a:picLocks noChangeAspect="1"/>
          </p:cNvPicPr>
          <p:nvPr/>
        </p:nvPicPr>
        <p:blipFill>
          <a:blip r:embed="rId12"/>
          <a:srcRect l="0" r="0" t="0" b="0"/>
          <a:stretch/>
        </p:blipFill>
        <p:spPr>
          <a:xfrm>
            <a:off x="0" y="0"/>
            <a:ext cx="12192000" cy="6858000"/>
          </a:xfrm>
          <a:prstGeom prst="rect">
            <a:avLst/>
          </a:prstGeom>
        </p:spPr>
      </p:pic>
      <p:sp>
        <p:nvSpPr>
          <p:cNvPr id="75" name="Text 61"/>
          <p:cNvSpPr/>
          <p:nvPr/>
        </p:nvSpPr>
        <p:spPr>
          <a:xfrm>
            <a:off x="1483360" y="2432050"/>
            <a:ext cx="176784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messages, traces</a:t>
            </a:r>
            <a:endParaRPr lang="en-US" sz="1200" dirty="0"/>
          </a:p>
        </p:txBody>
      </p:sp>
      <p:sp>
        <p:nvSpPr>
          <p:cNvPr id="76" name="Text 62"/>
          <p:cNvSpPr/>
          <p:nvPr/>
        </p:nvSpPr>
        <p:spPr>
          <a:xfrm>
            <a:off x="8039100" y="2895600"/>
            <a:ext cx="685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extract</a:t>
            </a:r>
            <a:endParaRPr lang="en-US" sz="1200" dirty="0"/>
          </a:p>
        </p:txBody>
      </p:sp>
      <p:sp>
        <p:nvSpPr>
          <p:cNvPr id="77" name="Text 63"/>
          <p:cNvSpPr/>
          <p:nvPr/>
        </p:nvSpPr>
        <p:spPr>
          <a:xfrm>
            <a:off x="8039100" y="35052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embed</a:t>
            </a:r>
            <a:endParaRPr lang="en-US" sz="1200" dirty="0"/>
          </a:p>
        </p:txBody>
      </p:sp>
      <p:sp>
        <p:nvSpPr>
          <p:cNvPr id="78" name="Text 64"/>
          <p:cNvSpPr/>
          <p:nvPr/>
        </p:nvSpPr>
        <p:spPr>
          <a:xfrm>
            <a:off x="2768600" y="4699000"/>
            <a:ext cx="685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write</a:t>
            </a:r>
            <a:endParaRPr lang="en-US" sz="1200" dirty="0"/>
          </a:p>
        </p:txBody>
      </p:sp>
      <p:pic>
        <p:nvPicPr>
          <p:cNvPr id="79" name="Image 12" descr="query with scope, scoped search, candidates back, rerank, context card into the window">    </p:cNvPr>
          <p:cNvPicPr>
            <a:picLocks noChangeAspect="1"/>
          </p:cNvPicPr>
          <p:nvPr/>
        </p:nvPicPr>
        <p:blipFill>
          <a:blip r:embed="rId13"/>
          <a:srcRect l="0" r="0" t="0" b="0"/>
          <a:stretch/>
        </p:blipFill>
        <p:spPr>
          <a:xfrm>
            <a:off x="0" y="0"/>
            <a:ext cx="12192000" cy="6858000"/>
          </a:xfrm>
          <a:prstGeom prst="rect">
            <a:avLst/>
          </a:prstGeom>
        </p:spPr>
      </p:pic>
      <p:sp>
        <p:nvSpPr>
          <p:cNvPr id="80" name="Text 65"/>
          <p:cNvSpPr/>
          <p:nvPr/>
        </p:nvSpPr>
        <p:spPr>
          <a:xfrm>
            <a:off x="4546600" y="2432050"/>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query + scope</a:t>
            </a:r>
            <a:endParaRPr lang="en-US" sz="1200" dirty="0"/>
          </a:p>
        </p:txBody>
      </p:sp>
      <p:sp>
        <p:nvSpPr>
          <p:cNvPr id="81" name="Text 66"/>
          <p:cNvSpPr/>
          <p:nvPr/>
        </p:nvSpPr>
        <p:spPr>
          <a:xfrm>
            <a:off x="4927600" y="4699000"/>
            <a:ext cx="685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search</a:t>
            </a:r>
            <a:endParaRPr lang="en-US" sz="1200" dirty="0"/>
          </a:p>
        </p:txBody>
      </p:sp>
      <p:sp>
        <p:nvSpPr>
          <p:cNvPr id="82" name="Text 67"/>
          <p:cNvSpPr/>
          <p:nvPr/>
        </p:nvSpPr>
        <p:spPr>
          <a:xfrm>
            <a:off x="5702300" y="4699000"/>
            <a:ext cx="9779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candidates</a:t>
            </a:r>
            <a:endParaRPr lang="en-US" sz="1200" dirty="0"/>
          </a:p>
        </p:txBody>
      </p:sp>
      <p:sp>
        <p:nvSpPr>
          <p:cNvPr id="83" name="Text 68"/>
          <p:cNvSpPr/>
          <p:nvPr/>
        </p:nvSpPr>
        <p:spPr>
          <a:xfrm>
            <a:off x="8039100" y="41148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rerank</a:t>
            </a:r>
            <a:endParaRPr lang="en-US" sz="1200" dirty="0"/>
          </a:p>
        </p:txBody>
      </p:sp>
      <p:sp>
        <p:nvSpPr>
          <p:cNvPr id="84" name="Text 69"/>
          <p:cNvSpPr/>
          <p:nvPr/>
        </p:nvSpPr>
        <p:spPr>
          <a:xfrm>
            <a:off x="7086600" y="2432050"/>
            <a:ext cx="1257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context card</a:t>
            </a:r>
            <a:endParaRPr lang="en-US" sz="1200" dirty="0"/>
          </a:p>
        </p:txBody>
      </p:sp>
      <p:sp>
        <p:nvSpPr>
          <p:cNvPr id="85" name="Text 70"/>
          <p:cNvSpPr/>
          <p:nvPr/>
        </p:nvSpPr>
        <p:spPr>
          <a:xfrm>
            <a:off x="8864600" y="4622800"/>
            <a:ext cx="2433066" cy="402530"/>
          </a:xfrm>
          <a:prstGeom prst="rect">
            <a:avLst/>
          </a:prstGeom>
          <a:noFill/>
          <a:ln/>
        </p:spPr>
        <p:txBody>
          <a:bodyPr wrap="square" lIns="0" tIns="0" rIns="0" bIns="0" rtlCol="0" anchor="t">
            <a:normAutofit/>
          </a:bodyPr>
          <a:lstStyle/>
          <a:p>
            <a:pPr algn="l" indent="0" marL="0">
              <a:lnSpc>
                <a:spcPts val="1485"/>
              </a:lnSpc>
              <a:buNone/>
            </a:pPr>
            <a:r>
              <a:rPr lang="en-US" sz="1100" i="1" dirty="0">
                <a:solidFill>
                  <a:srgbClr val="F2EFEA"/>
                </a:solidFill>
                <a:latin typeface="Arial" pitchFamily="34" charset="0"/>
                <a:ea typeface="Arial" pitchFamily="34" charset="-122"/>
                <a:cs typeface="Arial" pitchFamily="34" charset="-120"/>
              </a:rPr>
              <a:t>Entitled recall: access enforced in the engine before ranking.</a:t>
            </a:r>
            <a:endParaRPr lang="en-US" sz="1100" dirty="0"/>
          </a:p>
        </p:txBody>
      </p:sp>
      <p:sp>
        <p:nvSpPr>
          <p:cNvPr id="86" name="Text 7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The Oracle AI Database advantage</a:t>
            </a:r>
            <a:endParaRPr lang="en-US" sz="2800" dirty="0"/>
          </a:p>
        </p:txBody>
      </p:sp>
      <p:sp>
        <p:nvSpPr>
          <p:cNvPr id="4" name="Shape 2"/>
          <p:cNvSpPr/>
          <p:nvPr/>
        </p:nvSpPr>
        <p:spPr>
          <a:xfrm>
            <a:off x="817563" y="14017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5" name="Text 3"/>
          <p:cNvSpPr/>
          <p:nvPr/>
        </p:nvSpPr>
        <p:spPr>
          <a:xfrm>
            <a:off x="965200" y="140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AEB9B7"/>
                </a:solidFill>
                <a:latin typeface="Courier New" pitchFamily="49" charset="0"/>
                <a:ea typeface="Courier New" pitchFamily="49" charset="-122"/>
                <a:cs typeface="Courier New" pitchFamily="49" charset="-120"/>
              </a:rPr>
              <a:t>APPLICATION LAYER</a:t>
            </a:r>
            <a:endParaRPr lang="en-US" sz="1100" dirty="0"/>
          </a:p>
        </p:txBody>
      </p:sp>
      <p:sp>
        <p:nvSpPr>
          <p:cNvPr id="6" name="Shape 4"/>
          <p:cNvSpPr/>
          <p:nvPr/>
        </p:nvSpPr>
        <p:spPr>
          <a:xfrm>
            <a:off x="817563" y="2671763"/>
            <a:ext cx="7432675" cy="1641475"/>
          </a:xfrm>
          <a:prstGeom prst="roundRect">
            <a:avLst>
              <a:gd name="adj" fmla="val 8221"/>
            </a:avLst>
          </a:prstGeom>
          <a:solidFill>
            <a:srgbClr val="FFFFFF">
              <a:alpha val="2000"/>
            </a:srgbClr>
          </a:solidFill>
          <a:ln w="9525">
            <a:solidFill>
              <a:srgbClr val="FFFFFF">
                <a:alpha val="16000"/>
              </a:srgbClr>
            </a:solidFill>
            <a:prstDash val="dash"/>
          </a:ln>
        </p:spPr>
      </p:sp>
      <p:sp>
        <p:nvSpPr>
          <p:cNvPr id="7" name="Text 5"/>
          <p:cNvSpPr/>
          <p:nvPr/>
        </p:nvSpPr>
        <p:spPr>
          <a:xfrm>
            <a:off x="965200" y="267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E8836F"/>
                </a:solidFill>
                <a:latin typeface="Courier New" pitchFamily="49" charset="0"/>
                <a:ea typeface="Courier New" pitchFamily="49" charset="-122"/>
                <a:cs typeface="Courier New" pitchFamily="49" charset="-120"/>
              </a:rPr>
              <a:t>MEMORY LAYER</a:t>
            </a:r>
            <a:endParaRPr lang="en-US" sz="1100" dirty="0"/>
          </a:p>
        </p:txBody>
      </p:sp>
      <p:sp>
        <p:nvSpPr>
          <p:cNvPr id="8" name="Shape 6"/>
          <p:cNvSpPr/>
          <p:nvPr/>
        </p:nvSpPr>
        <p:spPr>
          <a:xfrm>
            <a:off x="817563" y="4386263"/>
            <a:ext cx="7432675" cy="1450975"/>
          </a:xfrm>
          <a:prstGeom prst="roundRect">
            <a:avLst>
              <a:gd name="adj" fmla="val 9300"/>
            </a:avLst>
          </a:prstGeom>
          <a:solidFill>
            <a:srgbClr val="FFFFFF">
              <a:alpha val="2000"/>
            </a:srgbClr>
          </a:solidFill>
          <a:ln w="9525">
            <a:solidFill>
              <a:srgbClr val="FFFFFF">
                <a:alpha val="16000"/>
              </a:srgbClr>
            </a:solidFill>
            <a:prstDash val="dash"/>
          </a:ln>
        </p:spPr>
      </p:sp>
      <p:sp>
        <p:nvSpPr>
          <p:cNvPr id="9" name="Text 7"/>
          <p:cNvSpPr/>
          <p:nvPr/>
        </p:nvSpPr>
        <p:spPr>
          <a:xfrm>
            <a:off x="965200" y="43942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DEB068"/>
                </a:solidFill>
                <a:latin typeface="Courier New" pitchFamily="49" charset="0"/>
                <a:ea typeface="Courier New" pitchFamily="49" charset="-122"/>
                <a:cs typeface="Courier New" pitchFamily="49" charset="-120"/>
              </a:rPr>
              <a:t>DATA LAYER</a:t>
            </a:r>
            <a:endParaRPr lang="en-US" sz="1100" dirty="0"/>
          </a:p>
        </p:txBody>
      </p:sp>
      <p:sp>
        <p:nvSpPr>
          <p:cNvPr id="10" name="Shape 8"/>
          <p:cNvSpPr/>
          <p:nvPr/>
        </p:nvSpPr>
        <p:spPr>
          <a:xfrm>
            <a:off x="8716963" y="1401763"/>
            <a:ext cx="2657475" cy="4435475"/>
          </a:xfrm>
          <a:prstGeom prst="roundRect">
            <a:avLst>
              <a:gd name="adj" fmla="val 5078"/>
            </a:avLst>
          </a:prstGeom>
          <a:solidFill>
            <a:srgbClr val="FFFFFF">
              <a:alpha val="2000"/>
            </a:srgbClr>
          </a:solidFill>
          <a:ln w="9525">
            <a:solidFill>
              <a:srgbClr val="FFFFFF">
                <a:alpha val="16000"/>
              </a:srgbClr>
            </a:solidFill>
            <a:prstDash val="dash"/>
          </a:ln>
        </p:spPr>
      </p:sp>
      <p:sp>
        <p:nvSpPr>
          <p:cNvPr id="11" name="Text 9"/>
          <p:cNvSpPr/>
          <p:nvPr/>
        </p:nvSpPr>
        <p:spPr>
          <a:xfrm>
            <a:off x="8864600" y="1409700"/>
            <a:ext cx="2433066"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7FC4DC"/>
                </a:solidFill>
                <a:latin typeface="Courier New" pitchFamily="49" charset="0"/>
                <a:ea typeface="Courier New" pitchFamily="49" charset="-122"/>
                <a:cs typeface="Courier New" pitchFamily="49" charset="-120"/>
              </a:rPr>
              <a:t>MODEL LAYER</a:t>
            </a:r>
            <a:endParaRPr lang="en-US" sz="1100" dirty="0"/>
          </a:p>
        </p:txBody>
      </p:sp>
      <p:sp>
        <p:nvSpPr>
          <p:cNvPr id="12" name="Shape 10"/>
          <p:cNvSpPr/>
          <p:nvPr/>
        </p:nvSpPr>
        <p:spPr>
          <a:xfrm>
            <a:off x="969963" y="1668463"/>
            <a:ext cx="1387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3" name="Image 0" descr="Users">    </p:cNvPr>
          <p:cNvPicPr>
            <a:picLocks noChangeAspect="1"/>
          </p:cNvPicPr>
          <p:nvPr/>
        </p:nvPicPr>
        <p:blipFill>
          <a:blip r:embed="rId1"/>
          <a:srcRect l="0" r="0" t="0" b="0"/>
          <a:stretch/>
        </p:blipFill>
        <p:spPr>
          <a:xfrm>
            <a:off x="1054100" y="1841500"/>
            <a:ext cx="254000" cy="254000"/>
          </a:xfrm>
          <a:prstGeom prst="rect">
            <a:avLst/>
          </a:prstGeom>
        </p:spPr>
      </p:pic>
      <p:sp>
        <p:nvSpPr>
          <p:cNvPr id="14" name="Text 11"/>
          <p:cNvSpPr/>
          <p:nvPr/>
        </p:nvSpPr>
        <p:spPr>
          <a:xfrm>
            <a:off x="1397000" y="1748830"/>
            <a:ext cx="88051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Application</a:t>
            </a:r>
            <a:endParaRPr lang="en-US" sz="1200" dirty="0"/>
          </a:p>
        </p:txBody>
      </p:sp>
      <p:sp>
        <p:nvSpPr>
          <p:cNvPr id="15" name="Text 12"/>
          <p:cNvSpPr/>
          <p:nvPr/>
        </p:nvSpPr>
        <p:spPr>
          <a:xfrm>
            <a:off x="1397000" y="1974850"/>
            <a:ext cx="88051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user · tools</a:t>
            </a:r>
            <a:endParaRPr lang="en-US" sz="1200" dirty="0"/>
          </a:p>
        </p:txBody>
      </p:sp>
      <p:sp>
        <p:nvSpPr>
          <p:cNvPr id="16" name="Shape 13"/>
          <p:cNvSpPr/>
          <p:nvPr/>
        </p:nvSpPr>
        <p:spPr>
          <a:xfrm>
            <a:off x="3001963" y="1668463"/>
            <a:ext cx="2022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7" name="Image 1" descr="Settings">    </p:cNvPr>
          <p:cNvPicPr>
            <a:picLocks noChangeAspect="1"/>
          </p:cNvPicPr>
          <p:nvPr/>
        </p:nvPicPr>
        <p:blipFill>
          <a:blip r:embed="rId2"/>
          <a:srcRect l="0" r="0" t="0" b="0"/>
          <a:stretch/>
        </p:blipFill>
        <p:spPr>
          <a:xfrm>
            <a:off x="3086100" y="1841500"/>
            <a:ext cx="254000" cy="254000"/>
          </a:xfrm>
          <a:prstGeom prst="rect">
            <a:avLst/>
          </a:prstGeom>
        </p:spPr>
      </p:pic>
      <p:sp>
        <p:nvSpPr>
          <p:cNvPr id="18" name="Text 14"/>
          <p:cNvSpPr/>
          <p:nvPr/>
        </p:nvSpPr>
        <p:spPr>
          <a:xfrm>
            <a:off x="3429000" y="1748830"/>
            <a:ext cx="110941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Agent harness</a:t>
            </a:r>
            <a:endParaRPr lang="en-US" sz="1200" dirty="0"/>
          </a:p>
        </p:txBody>
      </p:sp>
      <p:sp>
        <p:nvSpPr>
          <p:cNvPr id="19" name="Text 15"/>
          <p:cNvSpPr/>
          <p:nvPr/>
        </p:nvSpPr>
        <p:spPr>
          <a:xfrm>
            <a:off x="3429000" y="1974850"/>
            <a:ext cx="110941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the agent loop</a:t>
            </a:r>
            <a:endParaRPr lang="en-US" sz="1200" dirty="0"/>
          </a:p>
        </p:txBody>
      </p:sp>
      <p:sp>
        <p:nvSpPr>
          <p:cNvPr id="20" name="Shape 16"/>
          <p:cNvSpPr/>
          <p:nvPr/>
        </p:nvSpPr>
        <p:spPr>
          <a:xfrm>
            <a:off x="5668963" y="1668463"/>
            <a:ext cx="1895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1" name="Image 2" descr="Book">    </p:cNvPr>
          <p:cNvPicPr>
            <a:picLocks noChangeAspect="1"/>
          </p:cNvPicPr>
          <p:nvPr/>
        </p:nvPicPr>
        <p:blipFill>
          <a:blip r:embed="rId3"/>
          <a:srcRect l="0" r="0" t="0" b="0"/>
          <a:stretch/>
        </p:blipFill>
        <p:spPr>
          <a:xfrm>
            <a:off x="5753100" y="1841500"/>
            <a:ext cx="254000" cy="254000"/>
          </a:xfrm>
          <a:prstGeom prst="rect">
            <a:avLst/>
          </a:prstGeom>
        </p:spPr>
      </p:pic>
      <p:sp>
        <p:nvSpPr>
          <p:cNvPr id="22" name="Text 17"/>
          <p:cNvSpPr/>
          <p:nvPr/>
        </p:nvSpPr>
        <p:spPr>
          <a:xfrm>
            <a:off x="6096000" y="1748830"/>
            <a:ext cx="132144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Context window</a:t>
            </a:r>
            <a:endParaRPr lang="en-US" sz="1200" dirty="0"/>
          </a:p>
        </p:txBody>
      </p:sp>
      <p:sp>
        <p:nvSpPr>
          <p:cNvPr id="23" name="Text 18"/>
          <p:cNvSpPr/>
          <p:nvPr/>
        </p:nvSpPr>
        <p:spPr>
          <a:xfrm>
            <a:off x="6096000" y="1974850"/>
            <a:ext cx="132144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assembled per call</a:t>
            </a:r>
            <a:endParaRPr lang="en-US" sz="1200" dirty="0"/>
          </a:p>
        </p:txBody>
      </p:sp>
      <p:sp>
        <p:nvSpPr>
          <p:cNvPr id="24" name="Shape 19"/>
          <p:cNvSpPr/>
          <p:nvPr/>
        </p:nvSpPr>
        <p:spPr>
          <a:xfrm>
            <a:off x="8869363" y="1668463"/>
            <a:ext cx="23526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5" name="Image 3" descr="Lightbulb">    </p:cNvPr>
          <p:cNvPicPr>
            <a:picLocks noChangeAspect="1"/>
          </p:cNvPicPr>
          <p:nvPr/>
        </p:nvPicPr>
        <p:blipFill>
          <a:blip r:embed="rId4"/>
          <a:srcRect l="0" r="0" t="0" b="0"/>
          <a:stretch/>
        </p:blipFill>
        <p:spPr>
          <a:xfrm>
            <a:off x="8953500" y="1841500"/>
            <a:ext cx="254000" cy="254000"/>
          </a:xfrm>
          <a:prstGeom prst="rect">
            <a:avLst/>
          </a:prstGeom>
        </p:spPr>
      </p:pic>
      <p:sp>
        <p:nvSpPr>
          <p:cNvPr id="26" name="Text 20"/>
          <p:cNvSpPr/>
          <p:nvPr/>
        </p:nvSpPr>
        <p:spPr>
          <a:xfrm>
            <a:off x="9296400" y="1748830"/>
            <a:ext cx="171097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LLM</a:t>
            </a:r>
            <a:endParaRPr lang="en-US" sz="1200" dirty="0"/>
          </a:p>
        </p:txBody>
      </p:sp>
      <p:sp>
        <p:nvSpPr>
          <p:cNvPr id="27" name="Text 21"/>
          <p:cNvSpPr/>
          <p:nvPr/>
        </p:nvSpPr>
        <p:spPr>
          <a:xfrm>
            <a:off x="9296400" y="1974850"/>
            <a:ext cx="171097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stateless · prompt cache</a:t>
            </a:r>
            <a:endParaRPr lang="en-US" sz="1200" dirty="0"/>
          </a:p>
        </p:txBody>
      </p:sp>
      <p:sp>
        <p:nvSpPr>
          <p:cNvPr id="28" name="Shape 22"/>
          <p:cNvSpPr/>
          <p:nvPr/>
        </p:nvSpPr>
        <p:spPr>
          <a:xfrm>
            <a:off x="8869363" y="28749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29" name="Image 4" descr="Lightning">    </p:cNvPr>
          <p:cNvPicPr>
            <a:picLocks noChangeAspect="1"/>
          </p:cNvPicPr>
          <p:nvPr/>
        </p:nvPicPr>
        <p:blipFill>
          <a:blip r:embed="rId5"/>
          <a:srcRect l="0" r="0" t="0" b="0"/>
          <a:stretch/>
        </p:blipFill>
        <p:spPr>
          <a:xfrm>
            <a:off x="8953500" y="2984500"/>
            <a:ext cx="254000" cy="254000"/>
          </a:xfrm>
          <a:prstGeom prst="rect">
            <a:avLst/>
          </a:prstGeom>
        </p:spPr>
      </p:pic>
      <p:sp>
        <p:nvSpPr>
          <p:cNvPr id="30" name="Text 23"/>
          <p:cNvSpPr/>
          <p:nvPr/>
        </p:nvSpPr>
        <p:spPr>
          <a:xfrm>
            <a:off x="9296400" y="2891830"/>
            <a:ext cx="171107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Extraction LLM</a:t>
            </a:r>
            <a:endParaRPr lang="en-US" sz="1200" dirty="0"/>
          </a:p>
        </p:txBody>
      </p:sp>
      <p:sp>
        <p:nvSpPr>
          <p:cNvPr id="31" name="Text 24"/>
          <p:cNvSpPr/>
          <p:nvPr/>
        </p:nvSpPr>
        <p:spPr>
          <a:xfrm>
            <a:off x="9296400" y="3117850"/>
            <a:ext cx="171107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any provider, OCI GenAI</a:t>
            </a:r>
            <a:endParaRPr lang="en-US" sz="1200" dirty="0"/>
          </a:p>
        </p:txBody>
      </p:sp>
      <p:sp>
        <p:nvSpPr>
          <p:cNvPr id="32" name="Shape 25"/>
          <p:cNvSpPr/>
          <p:nvPr/>
        </p:nvSpPr>
        <p:spPr>
          <a:xfrm>
            <a:off x="8869363" y="5160963"/>
            <a:ext cx="2352675" cy="473075"/>
          </a:xfrm>
          <a:prstGeom prst="roundRect">
            <a:avLst>
              <a:gd name="adj" fmla="val 20470"/>
            </a:avLst>
          </a:prstGeom>
          <a:solidFill>
            <a:srgbClr val="36677D">
              <a:alpha val="10000"/>
            </a:srgbClr>
          </a:solidFill>
          <a:ln w="9525">
            <a:solidFill>
              <a:srgbClr val="7FC4DC">
                <a:alpha val="60000"/>
              </a:srgbClr>
            </a:solidFill>
            <a:prstDash val="dash"/>
          </a:ln>
        </p:spPr>
      </p:sp>
      <p:pic>
        <p:nvPicPr>
          <p:cNvPr id="33" name="Image 5" descr="Check">    </p:cNvPr>
          <p:cNvPicPr>
            <a:picLocks noChangeAspect="1"/>
          </p:cNvPicPr>
          <p:nvPr/>
        </p:nvPicPr>
        <p:blipFill>
          <a:blip r:embed="rId6"/>
          <a:srcRect l="0" r="0" t="0" b="0"/>
          <a:stretch/>
        </p:blipFill>
        <p:spPr>
          <a:xfrm>
            <a:off x="8953500" y="5270500"/>
            <a:ext cx="254000" cy="254000"/>
          </a:xfrm>
          <a:prstGeom prst="rect">
            <a:avLst/>
          </a:prstGeom>
        </p:spPr>
      </p:pic>
      <p:sp>
        <p:nvSpPr>
          <p:cNvPr id="34" name="Text 26"/>
          <p:cNvSpPr/>
          <p:nvPr/>
        </p:nvSpPr>
        <p:spPr>
          <a:xfrm>
            <a:off x="9296400" y="5177830"/>
            <a:ext cx="167749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Decision model</a:t>
            </a:r>
            <a:endParaRPr lang="en-US" sz="1200" dirty="0"/>
          </a:p>
        </p:txBody>
      </p:sp>
      <p:sp>
        <p:nvSpPr>
          <p:cNvPr id="35" name="Text 27"/>
          <p:cNvSpPr/>
          <p:nvPr/>
        </p:nvSpPr>
        <p:spPr>
          <a:xfrm>
            <a:off x="9296400" y="5403850"/>
            <a:ext cx="167749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advanced: routes, gates</a:t>
            </a:r>
            <a:endParaRPr lang="en-US" sz="1200" dirty="0"/>
          </a:p>
        </p:txBody>
      </p:sp>
      <p:sp>
        <p:nvSpPr>
          <p:cNvPr id="36" name="Shape 28"/>
          <p:cNvSpPr/>
          <p:nvPr/>
        </p:nvSpPr>
        <p:spPr>
          <a:xfrm>
            <a:off x="969963" y="2836863"/>
            <a:ext cx="7064375" cy="1501775"/>
          </a:xfrm>
          <a:prstGeom prst="roundRect">
            <a:avLst>
              <a:gd name="adj" fmla="val 7294"/>
            </a:avLst>
          </a:prstGeom>
          <a:solidFill>
            <a:srgbClr val="FFFFFF">
              <a:alpha val="5000"/>
            </a:srgbClr>
          </a:solidFill>
          <a:ln w="9525">
            <a:solidFill>
              <a:srgbClr val="FFFFFF">
                <a:alpha val="22000"/>
              </a:srgbClr>
            </a:solidFill>
            <a:prstDash val="solid"/>
          </a:ln>
        </p:spPr>
      </p:sp>
      <p:pic>
        <p:nvPicPr>
          <p:cNvPr id="37" name="Image 6" descr="Activity">    </p:cNvPr>
          <p:cNvPicPr>
            <a:picLocks noChangeAspect="1"/>
          </p:cNvPicPr>
          <p:nvPr/>
        </p:nvPicPr>
        <p:blipFill>
          <a:blip r:embed="rId7"/>
          <a:srcRect l="0" r="0" t="0" b="0"/>
          <a:stretch/>
        </p:blipFill>
        <p:spPr>
          <a:xfrm>
            <a:off x="1041400" y="2884636"/>
            <a:ext cx="203200" cy="203200"/>
          </a:xfrm>
          <a:prstGeom prst="rect">
            <a:avLst/>
          </a:prstGeom>
        </p:spPr>
      </p:pic>
      <p:sp>
        <p:nvSpPr>
          <p:cNvPr id="38" name="Text 29"/>
          <p:cNvSpPr/>
          <p:nvPr/>
        </p:nvSpPr>
        <p:spPr>
          <a:xfrm>
            <a:off x="1346200" y="2879626"/>
            <a:ext cx="409752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FFFFFF"/>
                </a:solidFill>
                <a:latin typeface="Courier New" pitchFamily="49" charset="0"/>
                <a:ea typeface="Courier New" pitchFamily="49" charset="-122"/>
                <a:cs typeface="Courier New" pitchFamily="49" charset="-120"/>
              </a:rPr>
              <a:t>ORACLE AI AGENT MEMORY · THE PACKAGE</a:t>
            </a:r>
            <a:endParaRPr lang="en-US" sz="1200" dirty="0"/>
          </a:p>
        </p:txBody>
      </p:sp>
      <p:sp>
        <p:nvSpPr>
          <p:cNvPr id="39" name="Text 30"/>
          <p:cNvSpPr/>
          <p:nvPr/>
        </p:nvSpPr>
        <p:spPr>
          <a:xfrm>
            <a:off x="1041400" y="3143151"/>
            <a:ext cx="6854444" cy="237530"/>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E8836F"/>
                </a:solidFill>
                <a:latin typeface="Courier New" pitchFamily="49" charset="0"/>
                <a:ea typeface="Courier New" pitchFamily="49" charset="-122"/>
                <a:cs typeface="Courier New" pitchFamily="49" charset="-120"/>
              </a:rPr>
              <a:t>WRITE PATH · retain, refine</a:t>
            </a:r>
            <a:endParaRPr lang="en-US" sz="1196" dirty="0"/>
          </a:p>
        </p:txBody>
      </p:sp>
      <p:sp>
        <p:nvSpPr>
          <p:cNvPr id="40" name="Text 31"/>
          <p:cNvSpPr/>
          <p:nvPr/>
        </p:nvSpPr>
        <p:spPr>
          <a:xfrm>
            <a:off x="1041400" y="3380680"/>
            <a:ext cx="1270000" cy="313184"/>
          </a:xfrm>
          <a:custGeom>
            <a:avLst/>
            <a:gdLst/>
            <a:ahLst/>
            <a:cxnLst/>
            <a:rect l="l" t="t" r="r" b="b"/>
            <a:pathLst>
              <a:path w="1270000" h="313184">
                <a:moveTo>
                  <a:pt x="156592" y="0"/>
                </a:moveTo>
                <a:lnTo>
                  <a:pt x="1113408" y="0"/>
                </a:lnTo>
                <a:arcTo hR="156592" wR="156592" stAng="16200000" swAng="5400000"/>
                <a:lnTo>
                  <a:pt x="1270000" y="156592"/>
                </a:lnTo>
                <a:arcTo hR="156592" wR="156592" stAng="0" swAng="5400000"/>
                <a:lnTo>
                  <a:pt x="156592" y="313184"/>
                </a:lnTo>
                <a:arcTo hR="156592" wR="156592" stAng="5400000" swAng="5400000"/>
                <a:lnTo>
                  <a:pt x="0" y="156592"/>
                </a:lnTo>
                <a:arcTo hR="156592" wR="156592"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add_messages</a:t>
            </a:r>
            <a:endParaRPr lang="en-US" sz="1200" dirty="0"/>
          </a:p>
        </p:txBody>
      </p:sp>
      <p:sp>
        <p:nvSpPr>
          <p:cNvPr id="41" name="Text 32"/>
          <p:cNvSpPr/>
          <p:nvPr/>
        </p:nvSpPr>
        <p:spPr>
          <a:xfrm>
            <a:off x="2387600" y="3380680"/>
            <a:ext cx="1270000" cy="313184"/>
          </a:xfrm>
          <a:custGeom>
            <a:avLst/>
            <a:gdLst/>
            <a:ahLst/>
            <a:cxnLst/>
            <a:rect l="l" t="t" r="r" b="b"/>
            <a:pathLst>
              <a:path w="1270000" h="313184">
                <a:moveTo>
                  <a:pt x="156592" y="0"/>
                </a:moveTo>
                <a:lnTo>
                  <a:pt x="1113408" y="0"/>
                </a:lnTo>
                <a:arcTo hR="156592" wR="156592" stAng="16200000" swAng="5400000"/>
                <a:lnTo>
                  <a:pt x="1270000" y="156592"/>
                </a:lnTo>
                <a:arcTo hR="156592" wR="156592" stAng="0" swAng="5400000"/>
                <a:lnTo>
                  <a:pt x="156592" y="313184"/>
                </a:lnTo>
                <a:arcTo hR="156592" wR="156592" stAng="5400000" swAng="5400000"/>
                <a:lnTo>
                  <a:pt x="0" y="156592"/>
                </a:lnTo>
                <a:arcTo hR="156592" wR="156592"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extraction</a:t>
            </a:r>
            <a:endParaRPr lang="en-US" sz="1200" dirty="0"/>
          </a:p>
        </p:txBody>
      </p:sp>
      <p:sp>
        <p:nvSpPr>
          <p:cNvPr id="42" name="Text 33"/>
          <p:cNvSpPr/>
          <p:nvPr/>
        </p:nvSpPr>
        <p:spPr>
          <a:xfrm>
            <a:off x="3733800" y="3380680"/>
            <a:ext cx="1270000" cy="313184"/>
          </a:xfrm>
          <a:custGeom>
            <a:avLst/>
            <a:gdLst/>
            <a:ahLst/>
            <a:cxnLst/>
            <a:rect l="l" t="t" r="r" b="b"/>
            <a:pathLst>
              <a:path w="1270000" h="313184">
                <a:moveTo>
                  <a:pt x="156592" y="0"/>
                </a:moveTo>
                <a:lnTo>
                  <a:pt x="1113408" y="0"/>
                </a:lnTo>
                <a:arcTo hR="156592" wR="156592" stAng="16200000" swAng="5400000"/>
                <a:lnTo>
                  <a:pt x="1270000" y="156592"/>
                </a:lnTo>
                <a:arcTo hR="156592" wR="156592" stAng="0" swAng="5400000"/>
                <a:lnTo>
                  <a:pt x="156592" y="313184"/>
                </a:lnTo>
                <a:arcTo hR="156592" wR="156592" stAng="5400000" swAng="5400000"/>
                <a:lnTo>
                  <a:pt x="0" y="156592"/>
                </a:lnTo>
                <a:arcTo hR="156592" wR="156592"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dedupe</a:t>
            </a:r>
            <a:endParaRPr lang="en-US" sz="1200" dirty="0"/>
          </a:p>
        </p:txBody>
      </p:sp>
      <p:sp>
        <p:nvSpPr>
          <p:cNvPr id="43" name="Text 34"/>
          <p:cNvSpPr/>
          <p:nvPr/>
        </p:nvSpPr>
        <p:spPr>
          <a:xfrm>
            <a:off x="5080000" y="3380680"/>
            <a:ext cx="1270000" cy="313184"/>
          </a:xfrm>
          <a:custGeom>
            <a:avLst/>
            <a:gdLst/>
            <a:ahLst/>
            <a:cxnLst/>
            <a:rect l="l" t="t" r="r" b="b"/>
            <a:pathLst>
              <a:path w="1270000" h="313184">
                <a:moveTo>
                  <a:pt x="156592" y="0"/>
                </a:moveTo>
                <a:lnTo>
                  <a:pt x="1113408" y="0"/>
                </a:lnTo>
                <a:arcTo hR="156592" wR="156592" stAng="16200000" swAng="5400000"/>
                <a:lnTo>
                  <a:pt x="1270000" y="156592"/>
                </a:lnTo>
                <a:arcTo hR="156592" wR="156592" stAng="0" swAng="5400000"/>
                <a:lnTo>
                  <a:pt x="156592" y="313184"/>
                </a:lnTo>
                <a:arcTo hR="156592" wR="156592" stAng="5400000" swAng="5400000"/>
                <a:lnTo>
                  <a:pt x="0" y="156592"/>
                </a:lnTo>
                <a:arcTo hR="156592" wR="156592"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update_memory</a:t>
            </a:r>
            <a:endParaRPr lang="en-US" sz="1200" dirty="0"/>
          </a:p>
        </p:txBody>
      </p:sp>
      <p:sp>
        <p:nvSpPr>
          <p:cNvPr id="44" name="Text 35"/>
          <p:cNvSpPr/>
          <p:nvPr/>
        </p:nvSpPr>
        <p:spPr>
          <a:xfrm>
            <a:off x="6426200" y="3380680"/>
            <a:ext cx="1270000" cy="313184"/>
          </a:xfrm>
          <a:custGeom>
            <a:avLst/>
            <a:gdLst/>
            <a:ahLst/>
            <a:cxnLst/>
            <a:rect l="l" t="t" r="r" b="b"/>
            <a:pathLst>
              <a:path w="1270000" h="313184">
                <a:moveTo>
                  <a:pt x="156592" y="0"/>
                </a:moveTo>
                <a:lnTo>
                  <a:pt x="1113408" y="0"/>
                </a:lnTo>
                <a:arcTo hR="156592" wR="156592" stAng="16200000" swAng="5400000"/>
                <a:lnTo>
                  <a:pt x="1270000" y="156592"/>
                </a:lnTo>
                <a:arcTo hR="156592" wR="156592" stAng="0" swAng="5400000"/>
                <a:lnTo>
                  <a:pt x="156592" y="313184"/>
                </a:lnTo>
                <a:arcTo hR="156592" wR="156592" stAng="5400000" swAng="5400000"/>
                <a:lnTo>
                  <a:pt x="0" y="156592"/>
                </a:lnTo>
                <a:arcTo hR="156592" wR="156592" stAng="10800000" swAng="5400000"/>
                <a:close/>
              </a:path>
            </a:pathLst>
          </a:custGeom>
          <a:solidFill>
            <a:srgbClr val="C74634">
              <a:alpha val="3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ttl_days</a:t>
            </a:r>
            <a:endParaRPr lang="en-US" sz="1200" dirty="0"/>
          </a:p>
        </p:txBody>
      </p:sp>
      <p:sp>
        <p:nvSpPr>
          <p:cNvPr id="45" name="Text 36"/>
          <p:cNvSpPr/>
          <p:nvPr/>
        </p:nvSpPr>
        <p:spPr>
          <a:xfrm>
            <a:off x="1041400" y="3744664"/>
            <a:ext cx="6854444" cy="237530"/>
          </a:xfrm>
          <a:prstGeom prst="rect">
            <a:avLst/>
          </a:prstGeom>
          <a:noFill/>
          <a:ln/>
        </p:spPr>
        <p:txBody>
          <a:bodyPr wrap="none" lIns="0" tIns="0" rIns="0" bIns="0" rtlCol="0" anchor="t">
            <a:normAutofit/>
          </a:bodyPr>
          <a:lstStyle/>
          <a:p>
            <a:pPr algn="l" indent="0" marL="0">
              <a:lnSpc>
                <a:spcPts val="1675"/>
              </a:lnSpc>
              <a:buNone/>
            </a:pPr>
            <a:r>
              <a:rPr lang="en-US" sz="1196" spc="100" kern="0" dirty="0">
                <a:solidFill>
                  <a:srgbClr val="7FC4DC"/>
                </a:solidFill>
                <a:latin typeface="Courier New" pitchFamily="49" charset="0"/>
                <a:ea typeface="Courier New" pitchFamily="49" charset="-122"/>
                <a:cs typeface="Courier New" pitchFamily="49" charset="-120"/>
              </a:rPr>
              <a:t>READ PATH · recall, reuse</a:t>
            </a:r>
            <a:endParaRPr lang="en-US" sz="1196" dirty="0"/>
          </a:p>
        </p:txBody>
      </p:sp>
      <p:sp>
        <p:nvSpPr>
          <p:cNvPr id="46" name="Text 37"/>
          <p:cNvSpPr/>
          <p:nvPr/>
        </p:nvSpPr>
        <p:spPr>
          <a:xfrm>
            <a:off x="1041400" y="3982194"/>
            <a:ext cx="1270000" cy="313134"/>
          </a:xfrm>
          <a:custGeom>
            <a:avLst/>
            <a:gdLst/>
            <a:ahLst/>
            <a:cxnLst/>
            <a:rect l="l" t="t" r="r" b="b"/>
            <a:pathLst>
              <a:path w="1270000" h="313134">
                <a:moveTo>
                  <a:pt x="156567" y="0"/>
                </a:moveTo>
                <a:lnTo>
                  <a:pt x="1113433" y="0"/>
                </a:lnTo>
                <a:arcTo hR="156567" wR="156567" stAng="16200000" swAng="5400000"/>
                <a:lnTo>
                  <a:pt x="1270000" y="156567"/>
                </a:lnTo>
                <a:arcTo hR="156567" wR="156567" stAng="0" swAng="5400000"/>
                <a:lnTo>
                  <a:pt x="156567" y="313134"/>
                </a:lnTo>
                <a:arcTo hR="156567" wR="156567" stAng="5400000" swAng="5400000"/>
                <a:lnTo>
                  <a:pt x="0" y="156567"/>
                </a:lnTo>
                <a:arcTo hR="156567" wR="156567"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SearchScope</a:t>
            </a:r>
            <a:endParaRPr lang="en-US" sz="1200" dirty="0"/>
          </a:p>
        </p:txBody>
      </p:sp>
      <p:sp>
        <p:nvSpPr>
          <p:cNvPr id="47" name="Text 38"/>
          <p:cNvSpPr/>
          <p:nvPr/>
        </p:nvSpPr>
        <p:spPr>
          <a:xfrm>
            <a:off x="2387600" y="3982194"/>
            <a:ext cx="1270000" cy="313134"/>
          </a:xfrm>
          <a:custGeom>
            <a:avLst/>
            <a:gdLst/>
            <a:ahLst/>
            <a:cxnLst/>
            <a:rect l="l" t="t" r="r" b="b"/>
            <a:pathLst>
              <a:path w="1270000" h="313134">
                <a:moveTo>
                  <a:pt x="156567" y="0"/>
                </a:moveTo>
                <a:lnTo>
                  <a:pt x="1113433" y="0"/>
                </a:lnTo>
                <a:arcTo hR="156567" wR="156567" stAng="16200000" swAng="5400000"/>
                <a:lnTo>
                  <a:pt x="1270000" y="156567"/>
                </a:lnTo>
                <a:arcTo hR="156567" wR="156567" stAng="0" swAng="5400000"/>
                <a:lnTo>
                  <a:pt x="156567" y="313134"/>
                </a:lnTo>
                <a:arcTo hR="156567" wR="156567" stAng="5400000" swAng="5400000"/>
                <a:lnTo>
                  <a:pt x="0" y="156567"/>
                </a:lnTo>
                <a:arcTo hR="156567" wR="156567"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hybrid search</a:t>
            </a:r>
            <a:endParaRPr lang="en-US" sz="1200" dirty="0"/>
          </a:p>
        </p:txBody>
      </p:sp>
      <p:sp>
        <p:nvSpPr>
          <p:cNvPr id="48" name="Text 39"/>
          <p:cNvSpPr/>
          <p:nvPr/>
        </p:nvSpPr>
        <p:spPr>
          <a:xfrm>
            <a:off x="3733800" y="3982194"/>
            <a:ext cx="1270000" cy="313134"/>
          </a:xfrm>
          <a:custGeom>
            <a:avLst/>
            <a:gdLst/>
            <a:ahLst/>
            <a:cxnLst/>
            <a:rect l="l" t="t" r="r" b="b"/>
            <a:pathLst>
              <a:path w="1270000" h="313134">
                <a:moveTo>
                  <a:pt x="156567" y="0"/>
                </a:moveTo>
                <a:lnTo>
                  <a:pt x="1113433" y="0"/>
                </a:lnTo>
                <a:arcTo hR="156567" wR="156567" stAng="16200000" swAng="5400000"/>
                <a:lnTo>
                  <a:pt x="1270000" y="156567"/>
                </a:lnTo>
                <a:arcTo hR="156567" wR="156567" stAng="0" swAng="5400000"/>
                <a:lnTo>
                  <a:pt x="156567" y="313134"/>
                </a:lnTo>
                <a:arcTo hR="156567" wR="156567" stAng="5400000" swAng="5400000"/>
                <a:lnTo>
                  <a:pt x="0" y="156567"/>
                </a:lnTo>
                <a:arcTo hR="156567" wR="156567"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filters</a:t>
            </a:r>
            <a:endParaRPr lang="en-US" sz="1200" dirty="0"/>
          </a:p>
        </p:txBody>
      </p:sp>
      <p:sp>
        <p:nvSpPr>
          <p:cNvPr id="49" name="Text 40"/>
          <p:cNvSpPr/>
          <p:nvPr/>
        </p:nvSpPr>
        <p:spPr>
          <a:xfrm>
            <a:off x="5080000" y="3982194"/>
            <a:ext cx="1270000" cy="313134"/>
          </a:xfrm>
          <a:custGeom>
            <a:avLst/>
            <a:gdLst/>
            <a:ahLst/>
            <a:cxnLst/>
            <a:rect l="l" t="t" r="r" b="b"/>
            <a:pathLst>
              <a:path w="1270000" h="313134">
                <a:moveTo>
                  <a:pt x="156567" y="0"/>
                </a:moveTo>
                <a:lnTo>
                  <a:pt x="1113433" y="0"/>
                </a:lnTo>
                <a:arcTo hR="156567" wR="156567" stAng="16200000" swAng="5400000"/>
                <a:lnTo>
                  <a:pt x="1270000" y="156567"/>
                </a:lnTo>
                <a:arcTo hR="156567" wR="156567" stAng="0" swAng="5400000"/>
                <a:lnTo>
                  <a:pt x="156567" y="313134"/>
                </a:lnTo>
                <a:arcTo hR="156567" wR="156567" stAng="5400000" swAng="5400000"/>
                <a:lnTo>
                  <a:pt x="0" y="156567"/>
                </a:lnTo>
                <a:arcTo hR="156567" wR="156567"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context card</a:t>
            </a:r>
            <a:endParaRPr lang="en-US" sz="1200" dirty="0"/>
          </a:p>
        </p:txBody>
      </p:sp>
      <p:sp>
        <p:nvSpPr>
          <p:cNvPr id="50" name="Text 41"/>
          <p:cNvSpPr/>
          <p:nvPr/>
        </p:nvSpPr>
        <p:spPr>
          <a:xfrm>
            <a:off x="6426200" y="3982194"/>
            <a:ext cx="1270000" cy="313134"/>
          </a:xfrm>
          <a:custGeom>
            <a:avLst/>
            <a:gdLst/>
            <a:ahLst/>
            <a:cxnLst/>
            <a:rect l="l" t="t" r="r" b="b"/>
            <a:pathLst>
              <a:path w="1270000" h="313134">
                <a:moveTo>
                  <a:pt x="156567" y="0"/>
                </a:moveTo>
                <a:lnTo>
                  <a:pt x="1113433" y="0"/>
                </a:lnTo>
                <a:arcTo hR="156567" wR="156567" stAng="16200000" swAng="5400000"/>
                <a:lnTo>
                  <a:pt x="1270000" y="156567"/>
                </a:lnTo>
                <a:arcTo hR="156567" wR="156567" stAng="0" swAng="5400000"/>
                <a:lnTo>
                  <a:pt x="156567" y="313134"/>
                </a:lnTo>
                <a:arcTo hR="156567" wR="156567" stAng="5400000" swAng="5400000"/>
                <a:lnTo>
                  <a:pt x="0" y="156567"/>
                </a:lnTo>
                <a:arcTo hR="156567" wR="156567" stAng="10800000" swAng="5400000"/>
                <a:close/>
              </a:path>
            </a:pathLst>
          </a:custGeom>
          <a:solidFill>
            <a:srgbClr val="36677D">
              <a:alpha val="50000"/>
            </a:srgbClr>
          </a:solidFill>
          <a:ln/>
        </p:spPr>
        <p:txBody>
          <a:bodyPr wrap="none" lIns="0" tIns="50800" rIns="0" bIns="25400" rtlCol="0" anchor="t">
            <a:normAutofit/>
          </a:bodyPr>
          <a:lstStyle/>
          <a:p>
            <a:pPr algn="ctr"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budget</a:t>
            </a:r>
            <a:endParaRPr lang="en-US" sz="1200" dirty="0"/>
          </a:p>
        </p:txBody>
      </p:sp>
      <p:sp>
        <p:nvSpPr>
          <p:cNvPr id="51" name="Shape 42"/>
          <p:cNvSpPr/>
          <p:nvPr/>
        </p:nvSpPr>
        <p:spPr>
          <a:xfrm>
            <a:off x="969963" y="4589463"/>
            <a:ext cx="7064375" cy="1196975"/>
          </a:xfrm>
          <a:prstGeom prst="roundRect">
            <a:avLst>
              <a:gd name="adj" fmla="val 9151"/>
            </a:avLst>
          </a:prstGeom>
          <a:solidFill>
            <a:srgbClr val="DEB068">
              <a:alpha val="6000"/>
            </a:srgbClr>
          </a:solidFill>
          <a:ln w="9525">
            <a:solidFill>
              <a:srgbClr val="DEB068">
                <a:alpha val="45000"/>
              </a:srgbClr>
            </a:solidFill>
            <a:prstDash val="solid"/>
          </a:ln>
        </p:spPr>
      </p:sp>
      <p:pic>
        <p:nvPicPr>
          <p:cNvPr id="52" name="Image 7" descr="Database">    </p:cNvPr>
          <p:cNvPicPr>
            <a:picLocks noChangeAspect="1"/>
          </p:cNvPicPr>
          <p:nvPr/>
        </p:nvPicPr>
        <p:blipFill>
          <a:blip r:embed="rId8"/>
          <a:srcRect l="0" r="0" t="0" b="0"/>
          <a:stretch/>
        </p:blipFill>
        <p:spPr>
          <a:xfrm>
            <a:off x="1066800" y="4700885"/>
            <a:ext cx="203200" cy="203200"/>
          </a:xfrm>
          <a:prstGeom prst="rect">
            <a:avLst/>
          </a:prstGeom>
        </p:spPr>
      </p:pic>
      <p:sp>
        <p:nvSpPr>
          <p:cNvPr id="53" name="Text 43"/>
          <p:cNvSpPr/>
          <p:nvPr/>
        </p:nvSpPr>
        <p:spPr>
          <a:xfrm>
            <a:off x="1371600" y="4695825"/>
            <a:ext cx="409752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ORACLE AI DATABASE · THE MEMORY CORE</a:t>
            </a:r>
            <a:endParaRPr lang="en-US" sz="1200" dirty="0"/>
          </a:p>
        </p:txBody>
      </p:sp>
      <p:sp>
        <p:nvSpPr>
          <p:cNvPr id="54" name="Text 44"/>
          <p:cNvSpPr/>
          <p:nvPr/>
        </p:nvSpPr>
        <p:spPr>
          <a:xfrm>
            <a:off x="1066800" y="4959945"/>
            <a:ext cx="753814" cy="297160"/>
          </a:xfrm>
          <a:custGeom>
            <a:avLst/>
            <a:gdLst/>
            <a:ahLst/>
            <a:cxnLst/>
            <a:rect l="l" t="t" r="r" b="b"/>
            <a:pathLst>
              <a:path w="753814" h="297160">
                <a:moveTo>
                  <a:pt x="148580" y="0"/>
                </a:moveTo>
                <a:lnTo>
                  <a:pt x="605234" y="0"/>
                </a:lnTo>
                <a:arcTo hR="148580" wR="148580" stAng="16200000" swAng="5400000"/>
                <a:lnTo>
                  <a:pt x="753814" y="148580"/>
                </a:lnTo>
                <a:arcTo hR="148580" wR="148580" stAng="0" swAng="5400000"/>
                <a:lnTo>
                  <a:pt x="148580" y="297160"/>
                </a:lnTo>
                <a:arcTo hR="148580" wR="148580" stAng="5400000" swAng="5400000"/>
                <a:lnTo>
                  <a:pt x="0" y="148580"/>
                </a:lnTo>
                <a:arcTo hR="148580" wR="14858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Memories</a:t>
            </a:r>
            <a:endParaRPr lang="en-US" sz="1100" dirty="0"/>
          </a:p>
        </p:txBody>
      </p:sp>
      <p:sp>
        <p:nvSpPr>
          <p:cNvPr id="55" name="Text 45"/>
          <p:cNvSpPr/>
          <p:nvPr/>
        </p:nvSpPr>
        <p:spPr>
          <a:xfrm>
            <a:off x="1896814" y="4959945"/>
            <a:ext cx="528439" cy="297160"/>
          </a:xfrm>
          <a:custGeom>
            <a:avLst/>
            <a:gdLst/>
            <a:ahLst/>
            <a:cxnLst/>
            <a:rect l="l" t="t" r="r" b="b"/>
            <a:pathLst>
              <a:path w="528439" h="297160">
                <a:moveTo>
                  <a:pt x="148580" y="0"/>
                </a:moveTo>
                <a:lnTo>
                  <a:pt x="379859" y="0"/>
                </a:lnTo>
                <a:arcTo hR="148580" wR="148580" stAng="16200000" swAng="5400000"/>
                <a:lnTo>
                  <a:pt x="528439" y="148580"/>
                </a:lnTo>
                <a:arcTo hR="148580" wR="148580" stAng="0" swAng="5400000"/>
                <a:lnTo>
                  <a:pt x="148580" y="297160"/>
                </a:lnTo>
                <a:arcTo hR="148580" wR="148580" stAng="5400000" swAng="5400000"/>
                <a:lnTo>
                  <a:pt x="0" y="148580"/>
                </a:lnTo>
                <a:arcTo hR="148580" wR="14858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HNSW</a:t>
            </a:r>
            <a:endParaRPr lang="en-US" sz="1100" dirty="0"/>
          </a:p>
        </p:txBody>
      </p:sp>
      <p:sp>
        <p:nvSpPr>
          <p:cNvPr id="56" name="Text 46"/>
          <p:cNvSpPr/>
          <p:nvPr/>
        </p:nvSpPr>
        <p:spPr>
          <a:xfrm>
            <a:off x="2501454" y="4959945"/>
            <a:ext cx="378520" cy="297160"/>
          </a:xfrm>
          <a:custGeom>
            <a:avLst/>
            <a:gdLst/>
            <a:ahLst/>
            <a:cxnLst/>
            <a:rect l="l" t="t" r="r" b="b"/>
            <a:pathLst>
              <a:path w="378520" h="297160">
                <a:moveTo>
                  <a:pt x="148580" y="0"/>
                </a:moveTo>
                <a:lnTo>
                  <a:pt x="229939" y="0"/>
                </a:lnTo>
                <a:arcTo hR="148580" wR="148580" stAng="16200000" swAng="5400000"/>
                <a:lnTo>
                  <a:pt x="378520" y="148580"/>
                </a:lnTo>
                <a:arcTo hR="148580" wR="148580" stAng="0" swAng="5400000"/>
                <a:lnTo>
                  <a:pt x="148580" y="297160"/>
                </a:lnTo>
                <a:arcTo hR="148580" wR="148580" stAng="5400000" swAng="5400000"/>
                <a:lnTo>
                  <a:pt x="0" y="148580"/>
                </a:lnTo>
                <a:arcTo hR="148580" wR="14858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Text</a:t>
            </a:r>
            <a:endParaRPr lang="en-US" sz="1100" dirty="0"/>
          </a:p>
        </p:txBody>
      </p:sp>
      <p:sp>
        <p:nvSpPr>
          <p:cNvPr id="57" name="Text 47"/>
          <p:cNvSpPr/>
          <p:nvPr/>
        </p:nvSpPr>
        <p:spPr>
          <a:xfrm>
            <a:off x="2956173" y="4959945"/>
            <a:ext cx="1312515" cy="297160"/>
          </a:xfrm>
          <a:custGeom>
            <a:avLst/>
            <a:gdLst/>
            <a:ahLst/>
            <a:cxnLst/>
            <a:rect l="l" t="t" r="r" b="b"/>
            <a:pathLst>
              <a:path w="1312515" h="297160">
                <a:moveTo>
                  <a:pt x="148580" y="0"/>
                </a:moveTo>
                <a:lnTo>
                  <a:pt x="1163935" y="0"/>
                </a:lnTo>
                <a:arcTo hR="148580" wR="148580" stAng="16200000" swAng="5400000"/>
                <a:lnTo>
                  <a:pt x="1312515" y="148580"/>
                </a:lnTo>
                <a:arcTo hR="148580" wR="148580" stAng="0" swAng="5400000"/>
                <a:lnTo>
                  <a:pt x="148580" y="297160"/>
                </a:lnTo>
                <a:arcTo hR="148580" wR="148580" stAng="5400000" swAng="5400000"/>
                <a:lnTo>
                  <a:pt x="0" y="148580"/>
                </a:lnTo>
                <a:arcTo hR="148580" wR="14858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JSON, graph, SQL</a:t>
            </a:r>
            <a:endParaRPr lang="en-US" sz="1100" dirty="0"/>
          </a:p>
        </p:txBody>
      </p:sp>
      <p:sp>
        <p:nvSpPr>
          <p:cNvPr id="58" name="Text 48"/>
          <p:cNvSpPr/>
          <p:nvPr/>
        </p:nvSpPr>
        <p:spPr>
          <a:xfrm>
            <a:off x="4344888" y="4959945"/>
            <a:ext cx="902395" cy="297160"/>
          </a:xfrm>
          <a:custGeom>
            <a:avLst/>
            <a:gdLst/>
            <a:ahLst/>
            <a:cxnLst/>
            <a:rect l="l" t="t" r="r" b="b"/>
            <a:pathLst>
              <a:path w="902395" h="297160">
                <a:moveTo>
                  <a:pt x="148580" y="0"/>
                </a:moveTo>
                <a:lnTo>
                  <a:pt x="753814" y="0"/>
                </a:lnTo>
                <a:arcTo hR="148580" wR="148580" stAng="16200000" swAng="5400000"/>
                <a:lnTo>
                  <a:pt x="902395" y="148580"/>
                </a:lnTo>
                <a:arcTo hR="148580" wR="148580" stAng="0" swAng="5400000"/>
                <a:lnTo>
                  <a:pt x="148580" y="297160"/>
                </a:lnTo>
                <a:arcTo hR="148580" wR="148580" stAng="5400000" swAng="5400000"/>
                <a:lnTo>
                  <a:pt x="0" y="148580"/>
                </a:lnTo>
                <a:arcTo hR="148580" wR="14858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TTL + purge</a:t>
            </a:r>
            <a:endParaRPr lang="en-US" sz="1100" dirty="0"/>
          </a:p>
        </p:txBody>
      </p:sp>
      <p:sp>
        <p:nvSpPr>
          <p:cNvPr id="59" name="Text 49"/>
          <p:cNvSpPr/>
          <p:nvPr/>
        </p:nvSpPr>
        <p:spPr>
          <a:xfrm>
            <a:off x="5323483" y="4959945"/>
            <a:ext cx="667990" cy="297160"/>
          </a:xfrm>
          <a:custGeom>
            <a:avLst/>
            <a:gdLst/>
            <a:ahLst/>
            <a:cxnLst/>
            <a:rect l="l" t="t" r="r" b="b"/>
            <a:pathLst>
              <a:path w="667990" h="297160">
                <a:moveTo>
                  <a:pt x="148580" y="0"/>
                </a:moveTo>
                <a:lnTo>
                  <a:pt x="519410" y="0"/>
                </a:lnTo>
                <a:arcTo hR="148580" wR="148580" stAng="16200000" swAng="5400000"/>
                <a:lnTo>
                  <a:pt x="667990" y="148580"/>
                </a:lnTo>
                <a:arcTo hR="148580" wR="148580" stAng="0" swAng="5400000"/>
                <a:lnTo>
                  <a:pt x="148580" y="297160"/>
                </a:lnTo>
                <a:arcTo hR="148580" wR="148580" stAng="5400000" swAng="5400000"/>
                <a:lnTo>
                  <a:pt x="0" y="148580"/>
                </a:lnTo>
                <a:arcTo hR="148580" wR="148580"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Auditing</a:t>
            </a:r>
            <a:endParaRPr lang="en-US" sz="1100" dirty="0"/>
          </a:p>
        </p:txBody>
      </p:sp>
      <p:sp>
        <p:nvSpPr>
          <p:cNvPr id="60" name="Text 50"/>
          <p:cNvSpPr/>
          <p:nvPr/>
        </p:nvSpPr>
        <p:spPr>
          <a:xfrm>
            <a:off x="6067673" y="4959945"/>
            <a:ext cx="1374973" cy="297160"/>
          </a:xfrm>
          <a:custGeom>
            <a:avLst/>
            <a:gdLst/>
            <a:ahLst/>
            <a:cxnLst/>
            <a:rect l="l" t="t" r="r" b="b"/>
            <a:pathLst>
              <a:path w="1374973" h="297160">
                <a:moveTo>
                  <a:pt x="148580" y="0"/>
                </a:moveTo>
                <a:lnTo>
                  <a:pt x="1226393" y="0"/>
                </a:lnTo>
                <a:arcTo hR="148580" wR="148580" stAng="16200000" swAng="5400000"/>
                <a:lnTo>
                  <a:pt x="1374973" y="148580"/>
                </a:lnTo>
                <a:arcTo hR="148580" wR="148580" stAng="0" swAng="5400000"/>
                <a:lnTo>
                  <a:pt x="148580" y="297160"/>
                </a:lnTo>
                <a:arcTo hR="148580" wR="148580" stAng="5400000" swAng="5400000"/>
                <a:lnTo>
                  <a:pt x="0" y="148580"/>
                </a:lnTo>
                <a:arcTo hR="148580" wR="148580" stAng="10800000" swAng="5400000"/>
                <a:close/>
              </a:path>
            </a:pathLst>
          </a:custGeom>
          <a:solidFill>
            <a:srgbClr val="C74634">
              <a:alpha val="30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Arial" pitchFamily="34" charset="0"/>
                <a:ea typeface="Arial" pitchFamily="34" charset="-122"/>
                <a:cs typeface="Arial" pitchFamily="34" charset="-120"/>
              </a:rPr>
              <a:t>Deep Data Security</a:t>
            </a:r>
            <a:endParaRPr lang="en-US" sz="1100" dirty="0"/>
          </a:p>
        </p:txBody>
      </p:sp>
      <p:sp>
        <p:nvSpPr>
          <p:cNvPr id="61" name="Shape 51"/>
          <p:cNvSpPr/>
          <p:nvPr/>
        </p:nvSpPr>
        <p:spPr>
          <a:xfrm>
            <a:off x="1122363" y="5275263"/>
            <a:ext cx="2352675" cy="473075"/>
          </a:xfrm>
          <a:prstGeom prst="roundRect">
            <a:avLst>
              <a:gd name="adj" fmla="val 20470"/>
            </a:avLst>
          </a:prstGeom>
          <a:solidFill>
            <a:srgbClr val="DEB068">
              <a:alpha val="14000"/>
            </a:srgbClr>
          </a:solidFill>
          <a:ln w="9525">
            <a:solidFill>
              <a:srgbClr val="DEB068">
                <a:alpha val="70000"/>
              </a:srgbClr>
            </a:solidFill>
            <a:prstDash val="solid"/>
          </a:ln>
        </p:spPr>
      </p:sp>
      <p:pic>
        <p:nvPicPr>
          <p:cNvPr id="62" name="Image 8" descr="Link">    </p:cNvPr>
          <p:cNvPicPr>
            <a:picLocks noChangeAspect="1"/>
          </p:cNvPicPr>
          <p:nvPr/>
        </p:nvPicPr>
        <p:blipFill>
          <a:blip r:embed="rId9"/>
          <a:srcRect l="0" r="0" t="0" b="0"/>
          <a:stretch/>
        </p:blipFill>
        <p:spPr>
          <a:xfrm>
            <a:off x="1206500" y="5384800"/>
            <a:ext cx="254000" cy="254000"/>
          </a:xfrm>
          <a:prstGeom prst="rect">
            <a:avLst/>
          </a:prstGeom>
        </p:spPr>
      </p:pic>
      <p:sp>
        <p:nvSpPr>
          <p:cNvPr id="63" name="Text 52"/>
          <p:cNvSpPr/>
          <p:nvPr/>
        </p:nvSpPr>
        <p:spPr>
          <a:xfrm>
            <a:off x="1549400" y="5292130"/>
            <a:ext cx="172819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Embedding model</a:t>
            </a:r>
            <a:endParaRPr lang="en-US" sz="1200" dirty="0"/>
          </a:p>
        </p:txBody>
      </p:sp>
      <p:sp>
        <p:nvSpPr>
          <p:cNvPr id="64" name="Text 53"/>
          <p:cNvSpPr/>
          <p:nvPr/>
        </p:nvSpPr>
        <p:spPr>
          <a:xfrm>
            <a:off x="1549400" y="5518150"/>
            <a:ext cx="172819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ONNX, inside the engine</a:t>
            </a:r>
            <a:endParaRPr lang="en-US" sz="1200" dirty="0"/>
          </a:p>
        </p:txBody>
      </p:sp>
      <p:sp>
        <p:nvSpPr>
          <p:cNvPr id="65" name="Shape 54"/>
          <p:cNvSpPr/>
          <p:nvPr/>
        </p:nvSpPr>
        <p:spPr>
          <a:xfrm>
            <a:off x="3636963" y="5275263"/>
            <a:ext cx="2352675" cy="473075"/>
          </a:xfrm>
          <a:prstGeom prst="roundRect">
            <a:avLst>
              <a:gd name="adj" fmla="val 20470"/>
            </a:avLst>
          </a:prstGeom>
          <a:solidFill>
            <a:srgbClr val="DEB068">
              <a:alpha val="14000"/>
            </a:srgbClr>
          </a:solidFill>
          <a:ln w="9525">
            <a:solidFill>
              <a:srgbClr val="DEB068">
                <a:alpha val="70000"/>
              </a:srgbClr>
            </a:solidFill>
            <a:prstDash val="solid"/>
          </a:ln>
        </p:spPr>
      </p:sp>
      <p:pic>
        <p:nvPicPr>
          <p:cNvPr id="66" name="Image 9" descr="Star">    </p:cNvPr>
          <p:cNvPicPr>
            <a:picLocks noChangeAspect="1"/>
          </p:cNvPicPr>
          <p:nvPr/>
        </p:nvPicPr>
        <p:blipFill>
          <a:blip r:embed="rId10"/>
          <a:srcRect l="0" r="0" t="0" b="0"/>
          <a:stretch/>
        </p:blipFill>
        <p:spPr>
          <a:xfrm>
            <a:off x="3721100" y="5384800"/>
            <a:ext cx="254000" cy="254000"/>
          </a:xfrm>
          <a:prstGeom prst="rect">
            <a:avLst/>
          </a:prstGeom>
        </p:spPr>
      </p:pic>
      <p:sp>
        <p:nvSpPr>
          <p:cNvPr id="67" name="Text 55"/>
          <p:cNvSpPr/>
          <p:nvPr/>
        </p:nvSpPr>
        <p:spPr>
          <a:xfrm>
            <a:off x="4064000" y="5292130"/>
            <a:ext cx="120317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Reranker</a:t>
            </a:r>
            <a:endParaRPr lang="en-US" sz="1200" dirty="0"/>
          </a:p>
        </p:txBody>
      </p:sp>
      <p:sp>
        <p:nvSpPr>
          <p:cNvPr id="68" name="Text 56"/>
          <p:cNvSpPr/>
          <p:nvPr/>
        </p:nvSpPr>
        <p:spPr>
          <a:xfrm>
            <a:off x="4064000" y="5518150"/>
            <a:ext cx="120317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inside the engine</a:t>
            </a:r>
            <a:endParaRPr lang="en-US" sz="1200" dirty="0"/>
          </a:p>
        </p:txBody>
      </p:sp>
      <p:sp>
        <p:nvSpPr>
          <p:cNvPr id="69" name="Shape 57"/>
          <p:cNvSpPr/>
          <p:nvPr/>
        </p:nvSpPr>
        <p:spPr>
          <a:xfrm>
            <a:off x="8869363" y="3484563"/>
            <a:ext cx="2352675" cy="473075"/>
          </a:xfrm>
          <a:prstGeom prst="roundRect">
            <a:avLst>
              <a:gd name="adj" fmla="val 20470"/>
            </a:avLst>
          </a:prstGeom>
          <a:noFill/>
          <a:ln w="9525">
            <a:solidFill>
              <a:srgbClr val="FFFFFF">
                <a:alpha val="18000"/>
              </a:srgbClr>
            </a:solidFill>
            <a:prstDash val="dash"/>
          </a:ln>
        </p:spPr>
      </p:sp>
      <p:sp>
        <p:nvSpPr>
          <p:cNvPr id="70" name="Text 58"/>
          <p:cNvSpPr/>
          <p:nvPr/>
        </p:nvSpPr>
        <p:spPr>
          <a:xfrm>
            <a:off x="8991600" y="3632200"/>
            <a:ext cx="2171446" cy="452041"/>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AEB9B7"/>
                </a:solidFill>
                <a:latin typeface="Arial" pitchFamily="34" charset="0"/>
                <a:ea typeface="Arial" pitchFamily="34" charset="-122"/>
                <a:cs typeface="Arial" pitchFamily="34" charset="-120"/>
              </a:rPr>
              <a:t>embedding: moved into the data layer</a:t>
            </a:r>
            <a:endParaRPr lang="en-US" sz="1200" dirty="0"/>
          </a:p>
        </p:txBody>
      </p:sp>
      <p:sp>
        <p:nvSpPr>
          <p:cNvPr id="71" name="Shape 59"/>
          <p:cNvSpPr/>
          <p:nvPr/>
        </p:nvSpPr>
        <p:spPr>
          <a:xfrm>
            <a:off x="8869363" y="4094163"/>
            <a:ext cx="2352675" cy="473075"/>
          </a:xfrm>
          <a:prstGeom prst="roundRect">
            <a:avLst>
              <a:gd name="adj" fmla="val 20470"/>
            </a:avLst>
          </a:prstGeom>
          <a:noFill/>
          <a:ln w="9525">
            <a:solidFill>
              <a:srgbClr val="FFFFFF">
                <a:alpha val="18000"/>
              </a:srgbClr>
            </a:solidFill>
            <a:prstDash val="dash"/>
          </a:ln>
        </p:spPr>
      </p:sp>
      <p:sp>
        <p:nvSpPr>
          <p:cNvPr id="72" name="Text 60"/>
          <p:cNvSpPr/>
          <p:nvPr/>
        </p:nvSpPr>
        <p:spPr>
          <a:xfrm>
            <a:off x="8991600" y="4241800"/>
            <a:ext cx="2171446" cy="452041"/>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AEB9B7"/>
                </a:solidFill>
                <a:latin typeface="Arial" pitchFamily="34" charset="0"/>
                <a:ea typeface="Arial" pitchFamily="34" charset="-122"/>
                <a:cs typeface="Arial" pitchFamily="34" charset="-120"/>
              </a:rPr>
              <a:t>reranking: moved into the data layer</a:t>
            </a:r>
            <a:endParaRPr lang="en-US" sz="1200" dirty="0"/>
          </a:p>
        </p:txBody>
      </p:sp>
      <p:pic>
        <p:nvPicPr>
          <p:cNvPr id="73" name="Image 10" descr="the inference loop">    </p:cNvPr>
          <p:cNvPicPr>
            <a:picLocks noChangeAspect="1"/>
          </p:cNvPicPr>
          <p:nvPr/>
        </p:nvPicPr>
        <p:blipFill>
          <a:blip r:embed="rId11"/>
          <a:srcRect l="0" r="0" t="0" b="0"/>
          <a:stretch/>
        </p:blipFill>
        <p:spPr>
          <a:xfrm>
            <a:off x="0" y="0"/>
            <a:ext cx="12192000" cy="6858000"/>
          </a:xfrm>
          <a:prstGeom prst="rect">
            <a:avLst/>
          </a:prstGeom>
        </p:spPr>
      </p:pic>
      <p:sp>
        <p:nvSpPr>
          <p:cNvPr id="74" name="Text 61"/>
          <p:cNvSpPr/>
          <p:nvPr/>
        </p:nvSpPr>
        <p:spPr>
          <a:xfrm>
            <a:off x="2336800" y="1778000"/>
            <a:ext cx="685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request</a:t>
            </a:r>
            <a:endParaRPr lang="en-US" sz="1200" dirty="0"/>
          </a:p>
        </p:txBody>
      </p:sp>
      <p:sp>
        <p:nvSpPr>
          <p:cNvPr id="75" name="Text 62"/>
          <p:cNvSpPr/>
          <p:nvPr/>
        </p:nvSpPr>
        <p:spPr>
          <a:xfrm>
            <a:off x="5003800" y="177800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builds</a:t>
            </a:r>
            <a:endParaRPr lang="en-US" sz="1200" dirty="0"/>
          </a:p>
        </p:txBody>
      </p:sp>
      <p:sp>
        <p:nvSpPr>
          <p:cNvPr id="76" name="Text 63"/>
          <p:cNvSpPr/>
          <p:nvPr/>
        </p:nvSpPr>
        <p:spPr>
          <a:xfrm>
            <a:off x="7543800" y="1778000"/>
            <a:ext cx="13081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tokens in</a:t>
            </a:r>
            <a:endParaRPr lang="en-US" sz="1200" dirty="0"/>
          </a:p>
        </p:txBody>
      </p:sp>
      <p:sp>
        <p:nvSpPr>
          <p:cNvPr id="77" name="Text 64"/>
          <p:cNvSpPr/>
          <p:nvPr/>
        </p:nvSpPr>
        <p:spPr>
          <a:xfrm>
            <a:off x="10147300" y="1295400"/>
            <a:ext cx="1130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response</a:t>
            </a:r>
            <a:endParaRPr lang="en-US" sz="1200" dirty="0"/>
          </a:p>
        </p:txBody>
      </p:sp>
      <p:pic>
        <p:nvPicPr>
          <p:cNvPr id="78" name="Image 11" descr="write path">    </p:cNvPr>
          <p:cNvPicPr>
            <a:picLocks noChangeAspect="1"/>
          </p:cNvPicPr>
          <p:nvPr/>
        </p:nvPicPr>
        <p:blipFill>
          <a:blip r:embed="rId12"/>
          <a:srcRect l="0" r="0" t="0" b="0"/>
          <a:stretch/>
        </p:blipFill>
        <p:spPr>
          <a:xfrm>
            <a:off x="0" y="0"/>
            <a:ext cx="12192000" cy="6858000"/>
          </a:xfrm>
          <a:prstGeom prst="rect">
            <a:avLst/>
          </a:prstGeom>
        </p:spPr>
      </p:pic>
      <p:sp>
        <p:nvSpPr>
          <p:cNvPr id="79" name="Text 65"/>
          <p:cNvSpPr/>
          <p:nvPr/>
        </p:nvSpPr>
        <p:spPr>
          <a:xfrm>
            <a:off x="1483360" y="2432050"/>
            <a:ext cx="176784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messages, traces</a:t>
            </a:r>
            <a:endParaRPr lang="en-US" sz="1200" dirty="0"/>
          </a:p>
        </p:txBody>
      </p:sp>
      <p:sp>
        <p:nvSpPr>
          <p:cNvPr id="80" name="Text 66"/>
          <p:cNvSpPr/>
          <p:nvPr/>
        </p:nvSpPr>
        <p:spPr>
          <a:xfrm>
            <a:off x="8039100" y="2895600"/>
            <a:ext cx="685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extract</a:t>
            </a:r>
            <a:endParaRPr lang="en-US" sz="1200" dirty="0"/>
          </a:p>
        </p:txBody>
      </p:sp>
      <p:sp>
        <p:nvSpPr>
          <p:cNvPr id="81" name="Text 67"/>
          <p:cNvSpPr/>
          <p:nvPr/>
        </p:nvSpPr>
        <p:spPr>
          <a:xfrm>
            <a:off x="2768600" y="4343400"/>
            <a:ext cx="685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6F"/>
                </a:solidFill>
                <a:latin typeface="Courier New" pitchFamily="49" charset="0"/>
                <a:ea typeface="Courier New" pitchFamily="49" charset="-122"/>
                <a:cs typeface="Courier New" pitchFamily="49" charset="-120"/>
              </a:rPr>
              <a:t>write</a:t>
            </a:r>
            <a:endParaRPr lang="en-US" sz="1200" dirty="0"/>
          </a:p>
        </p:txBody>
      </p:sp>
      <p:pic>
        <p:nvPicPr>
          <p:cNvPr id="82" name="Image 12" descr="read path">    </p:cNvPr>
          <p:cNvPicPr>
            <a:picLocks noChangeAspect="1"/>
          </p:cNvPicPr>
          <p:nvPr/>
        </p:nvPicPr>
        <p:blipFill>
          <a:blip r:embed="rId13"/>
          <a:srcRect l="0" r="0" t="0" b="0"/>
          <a:stretch/>
        </p:blipFill>
        <p:spPr>
          <a:xfrm>
            <a:off x="0" y="0"/>
            <a:ext cx="12192000" cy="6858000"/>
          </a:xfrm>
          <a:prstGeom prst="rect">
            <a:avLst/>
          </a:prstGeom>
        </p:spPr>
      </p:pic>
      <p:sp>
        <p:nvSpPr>
          <p:cNvPr id="83" name="Text 68"/>
          <p:cNvSpPr/>
          <p:nvPr/>
        </p:nvSpPr>
        <p:spPr>
          <a:xfrm>
            <a:off x="4546600" y="2432050"/>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query + scope</a:t>
            </a:r>
            <a:endParaRPr lang="en-US" sz="1200" dirty="0"/>
          </a:p>
        </p:txBody>
      </p:sp>
      <p:sp>
        <p:nvSpPr>
          <p:cNvPr id="84" name="Text 69"/>
          <p:cNvSpPr/>
          <p:nvPr/>
        </p:nvSpPr>
        <p:spPr>
          <a:xfrm>
            <a:off x="4927600" y="4343400"/>
            <a:ext cx="685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search</a:t>
            </a:r>
            <a:endParaRPr lang="en-US" sz="1200" dirty="0"/>
          </a:p>
        </p:txBody>
      </p:sp>
      <p:sp>
        <p:nvSpPr>
          <p:cNvPr id="85" name="Text 70"/>
          <p:cNvSpPr/>
          <p:nvPr/>
        </p:nvSpPr>
        <p:spPr>
          <a:xfrm>
            <a:off x="5702300" y="4343400"/>
            <a:ext cx="9779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candidates</a:t>
            </a:r>
            <a:endParaRPr lang="en-US" sz="1200" dirty="0"/>
          </a:p>
        </p:txBody>
      </p:sp>
      <p:sp>
        <p:nvSpPr>
          <p:cNvPr id="86" name="Text 71"/>
          <p:cNvSpPr/>
          <p:nvPr/>
        </p:nvSpPr>
        <p:spPr>
          <a:xfrm>
            <a:off x="7086600" y="2432050"/>
            <a:ext cx="1257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Courier New" pitchFamily="49" charset="0"/>
                <a:ea typeface="Courier New" pitchFamily="49" charset="-122"/>
                <a:cs typeface="Courier New" pitchFamily="49" charset="-120"/>
              </a:rPr>
              <a:t>context card</a:t>
            </a:r>
            <a:endParaRPr lang="en-US" sz="1200" dirty="0"/>
          </a:p>
        </p:txBody>
      </p:sp>
      <p:sp>
        <p:nvSpPr>
          <p:cNvPr id="87" name="Shape 72"/>
          <p:cNvSpPr/>
          <p:nvPr/>
        </p:nvSpPr>
        <p:spPr>
          <a:xfrm>
            <a:off x="8869363" y="3484563"/>
            <a:ext cx="2352675" cy="1146175"/>
          </a:xfrm>
          <a:prstGeom prst="roundRect">
            <a:avLst>
              <a:gd name="adj" fmla="val 8449"/>
            </a:avLst>
          </a:prstGeom>
          <a:solidFill>
            <a:srgbClr val="223437"/>
          </a:solidFill>
          <a:ln w="9525">
            <a:solidFill>
              <a:srgbClr val="DEB068">
                <a:alpha val="50000"/>
              </a:srgbClr>
            </a:solidFill>
            <a:prstDash val="solid"/>
          </a:ln>
        </p:spPr>
      </p:sp>
      <p:sp>
        <p:nvSpPr>
          <p:cNvPr id="88" name="Text 73"/>
          <p:cNvSpPr/>
          <p:nvPr/>
        </p:nvSpPr>
        <p:spPr>
          <a:xfrm>
            <a:off x="8978900" y="3603625"/>
            <a:ext cx="130065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DEB068"/>
                </a:solidFill>
                <a:latin typeface="Courier New" pitchFamily="49" charset="0"/>
                <a:ea typeface="Courier New" pitchFamily="49" charset="-122"/>
                <a:cs typeface="Courier New" pitchFamily="49" charset="-120"/>
              </a:rPr>
              <a:t>01 · ONE HOP</a:t>
            </a:r>
            <a:endParaRPr lang="en-US" sz="1200" dirty="0"/>
          </a:p>
        </p:txBody>
      </p:sp>
      <p:sp>
        <p:nvSpPr>
          <p:cNvPr id="89" name="Text 74"/>
          <p:cNvSpPr/>
          <p:nvPr/>
        </p:nvSpPr>
        <p:spPr>
          <a:xfrm>
            <a:off x="8978900" y="3867745"/>
            <a:ext cx="2197608"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EFEA"/>
                </a:solidFill>
                <a:latin typeface="Arial" pitchFamily="34" charset="0"/>
                <a:ea typeface="Arial" pitchFamily="34" charset="-122"/>
                <a:cs typeface="Arial" pitchFamily="34" charset="-120"/>
              </a:rPr>
              <a:t>One SQL plan: embed, search, rerank. No round trip, no second vendor.</a:t>
            </a:r>
            <a:endParaRPr lang="en-US" sz="1200" dirty="0"/>
          </a:p>
        </p:txBody>
      </p:sp>
      <p:sp>
        <p:nvSpPr>
          <p:cNvPr id="90" name="Shape 75"/>
          <p:cNvSpPr/>
          <p:nvPr/>
        </p:nvSpPr>
        <p:spPr>
          <a:xfrm>
            <a:off x="1063625" y="5229225"/>
            <a:ext cx="4997450" cy="565150"/>
          </a:xfrm>
          <a:prstGeom prst="roundRect">
            <a:avLst>
              <a:gd name="adj" fmla="val 18539"/>
            </a:avLst>
          </a:prstGeom>
          <a:noFill/>
          <a:ln w="19050">
            <a:solidFill>
              <a:srgbClr val="DEB068"/>
            </a:solidFill>
            <a:prstDash val="solid"/>
          </a:ln>
        </p:spPr>
      </p:sp>
      <p:sp>
        <p:nvSpPr>
          <p:cNvPr id="91" name="Shape 76"/>
          <p:cNvSpPr/>
          <p:nvPr/>
        </p:nvSpPr>
        <p:spPr>
          <a:xfrm>
            <a:off x="8869363" y="4640263"/>
            <a:ext cx="2352675" cy="434975"/>
          </a:xfrm>
          <a:prstGeom prst="roundRect">
            <a:avLst>
              <a:gd name="adj" fmla="val 22263"/>
            </a:avLst>
          </a:prstGeom>
          <a:solidFill>
            <a:srgbClr val="2A3234"/>
          </a:solidFill>
          <a:ln w="9525">
            <a:solidFill>
              <a:srgbClr val="C74634">
                <a:alpha val="50000"/>
              </a:srgbClr>
            </a:solidFill>
            <a:prstDash val="solid"/>
          </a:ln>
        </p:spPr>
      </p:sp>
      <p:sp>
        <p:nvSpPr>
          <p:cNvPr id="92" name="Text 77"/>
          <p:cNvSpPr/>
          <p:nvPr/>
        </p:nvSpPr>
        <p:spPr>
          <a:xfrm>
            <a:off x="8953500" y="4733925"/>
            <a:ext cx="1823778"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E8836F"/>
                </a:solidFill>
                <a:latin typeface="Courier New" pitchFamily="49" charset="0"/>
                <a:ea typeface="Courier New" pitchFamily="49" charset="-122"/>
                <a:cs typeface="Courier New" pitchFamily="49" charset="-120"/>
              </a:rPr>
              <a:t>02 · ONE BOUNDARY</a:t>
            </a:r>
            <a:endParaRPr lang="en-US" sz="1200" dirty="0"/>
          </a:p>
        </p:txBody>
      </p:sp>
      <p:sp>
        <p:nvSpPr>
          <p:cNvPr id="93" name="Text 78"/>
          <p:cNvSpPr/>
          <p:nvPr/>
        </p:nvSpPr>
        <p:spPr>
          <a:xfrm>
            <a:off x="6146800" y="5321300"/>
            <a:ext cx="1896745"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F2EFEA"/>
                </a:solidFill>
                <a:latin typeface="Arial" pitchFamily="34" charset="0"/>
                <a:ea typeface="Arial" pitchFamily="34" charset="-122"/>
                <a:cs typeface="Arial" pitchFamily="34" charset="-120"/>
              </a:rPr>
              <a:t>Entitled recall: identity enforced before ranking.</a:t>
            </a:r>
            <a:endParaRPr lang="en-US" sz="1100" dirty="0"/>
          </a:p>
        </p:txBody>
      </p:sp>
      <p:sp>
        <p:nvSpPr>
          <p:cNvPr id="94" name="Text 7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Install it, then connect it to any harness</a:t>
            </a:r>
            <a:endParaRPr lang="en-US" sz="2800" dirty="0"/>
          </a:p>
        </p:txBody>
      </p:sp>
      <p:sp>
        <p:nvSpPr>
          <p:cNvPr id="4" name="Shape 2"/>
          <p:cNvSpPr/>
          <p:nvPr/>
        </p:nvSpPr>
        <p:spPr>
          <a:xfrm>
            <a:off x="815975" y="1501775"/>
            <a:ext cx="5200650" cy="1898650"/>
          </a:xfrm>
          <a:prstGeom prst="roundRect">
            <a:avLst>
              <a:gd name="adj" fmla="val 6522"/>
            </a:avLst>
          </a:prstGeom>
          <a:solidFill>
            <a:srgbClr val="1E2A2A"/>
          </a:solidFill>
          <a:ln w="6350">
            <a:solidFill>
              <a:srgbClr val="1E2A2A"/>
            </a:solidFill>
            <a:prstDash val="solid"/>
          </a:ln>
          <a:effectLst>
            <a:outerShdw sx="100000" sy="100000" kx="0" ky="0" algn="bl" rotWithShape="0" blurRad="406400" dist="152400" dir="5400000">
              <a:srgbClr val="1E2A2A">
                <a:alpha val="25000"/>
              </a:srgbClr>
            </a:outerShdw>
          </a:effectLst>
        </p:spPr>
      </p:sp>
      <p:sp>
        <p:nvSpPr>
          <p:cNvPr id="5" name="Text 3"/>
          <p:cNvSpPr/>
          <p:nvPr/>
        </p:nvSpPr>
        <p:spPr>
          <a:xfrm>
            <a:off x="990600" y="1682750"/>
            <a:ext cx="2920180"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 pip install oracleagentmemory</a:t>
            </a:r>
            <a:endParaRPr lang="en-US" sz="1200" dirty="0"/>
          </a:p>
        </p:txBody>
      </p:sp>
      <p:sp>
        <p:nvSpPr>
          <p:cNvPr id="6" name="Text 4"/>
          <p:cNvSpPr/>
          <p:nvPr/>
        </p:nvSpPr>
        <p:spPr>
          <a:xfrm>
            <a:off x="990600" y="1911350"/>
            <a:ext cx="1978195"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AEB9B7"/>
                </a:solidFill>
                <a:latin typeface="Courier New" pitchFamily="49" charset="0"/>
                <a:ea typeface="Courier New" pitchFamily="49" charset="-122"/>
                <a:cs typeface="Courier New" pitchFamily="49" charset="-120"/>
              </a:rPr>
              <a:t># Python 3.10 to 3.13</a:t>
            </a:r>
            <a:endParaRPr lang="en-US" sz="1200" dirty="0"/>
          </a:p>
        </p:txBody>
      </p:sp>
      <p:sp>
        <p:nvSpPr>
          <p:cNvPr id="7" name="Text 5"/>
          <p:cNvSpPr/>
          <p:nvPr/>
        </p:nvSpPr>
        <p:spPr>
          <a:xfrm>
            <a:off x="990600" y="2368550"/>
            <a:ext cx="2920180"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export DB_CONNECTION_STRING=</a:t>
            </a:r>
            <a:r>
              <a:rPr lang="en-US" sz="1200" dirty="0">
                <a:solidFill>
                  <a:srgbClr val="DEB068"/>
                </a:solidFill>
                <a:latin typeface="Courier New" pitchFamily="49" charset="0"/>
                <a:ea typeface="Courier New" pitchFamily="49" charset="-122"/>
                <a:cs typeface="Courier New" pitchFamily="49" charset="-120"/>
              </a:rPr>
              <a:t>...</a:t>
            </a:r>
            <a:endParaRPr lang="en-US" sz="1200" dirty="0"/>
          </a:p>
        </p:txBody>
      </p:sp>
      <p:sp>
        <p:nvSpPr>
          <p:cNvPr id="8" name="Text 6"/>
          <p:cNvSpPr/>
          <p:nvPr/>
        </p:nvSpPr>
        <p:spPr>
          <a:xfrm>
            <a:off x="990600" y="2597150"/>
            <a:ext cx="3297025"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export DB_USER=</a:t>
            </a:r>
            <a:r>
              <a:rPr lang="en-US" sz="1200" dirty="0">
                <a:solidFill>
                  <a:srgbClr val="DEB068"/>
                </a:solidFill>
                <a:latin typeface="Courier New" pitchFamily="49" charset="0"/>
                <a:ea typeface="Courier New" pitchFamily="49" charset="-122"/>
                <a:cs typeface="Courier New" pitchFamily="49" charset="-120"/>
              </a:rPr>
              <a:t>...</a:t>
            </a:r>
            <a:r>
              <a:rPr lang="en-US" sz="1200" dirty="0">
                <a:solidFill>
                  <a:srgbClr val="F2EFEA"/>
                </a:solidFill>
                <a:latin typeface="Courier New" pitchFamily="49" charset="0"/>
                <a:ea typeface="Courier New" pitchFamily="49" charset="-122"/>
                <a:cs typeface="Courier New" pitchFamily="49" charset="-120"/>
              </a:rPr>
              <a:t>  DB_PASSWORD=</a:t>
            </a:r>
            <a:r>
              <a:rPr lang="en-US" sz="1200" dirty="0">
                <a:solidFill>
                  <a:srgbClr val="DEB068"/>
                </a:solidFill>
                <a:latin typeface="Courier New" pitchFamily="49" charset="0"/>
                <a:ea typeface="Courier New" pitchFamily="49" charset="-122"/>
                <a:cs typeface="Courier New" pitchFamily="49" charset="-120"/>
              </a:rPr>
              <a:t>...</a:t>
            </a:r>
            <a:endParaRPr lang="en-US" sz="1200" dirty="0"/>
          </a:p>
        </p:txBody>
      </p:sp>
      <p:sp>
        <p:nvSpPr>
          <p:cNvPr id="9" name="Text 7"/>
          <p:cNvSpPr/>
          <p:nvPr/>
        </p:nvSpPr>
        <p:spPr>
          <a:xfrm>
            <a:off x="990600" y="2825750"/>
            <a:ext cx="2072419"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EFEA"/>
                </a:solidFill>
                <a:latin typeface="Courier New" pitchFamily="49" charset="0"/>
                <a:ea typeface="Courier New" pitchFamily="49" charset="-122"/>
                <a:cs typeface="Courier New" pitchFamily="49" charset="-120"/>
              </a:rPr>
              <a:t>export LLM_API_KEY=</a:t>
            </a:r>
            <a:r>
              <a:rPr lang="en-US" sz="1200" dirty="0">
                <a:solidFill>
                  <a:srgbClr val="DEB068"/>
                </a:solidFill>
                <a:latin typeface="Courier New" pitchFamily="49" charset="0"/>
                <a:ea typeface="Courier New" pitchFamily="49" charset="-122"/>
                <a:cs typeface="Courier New" pitchFamily="49" charset="-120"/>
              </a:rPr>
              <a:t>...</a:t>
            </a:r>
            <a:endParaRPr lang="en-US" sz="1200" dirty="0"/>
          </a:p>
        </p:txBody>
      </p:sp>
      <p:sp>
        <p:nvSpPr>
          <p:cNvPr id="10" name="Shape 8"/>
          <p:cNvSpPr/>
          <p:nvPr/>
        </p:nvSpPr>
        <p:spPr>
          <a:xfrm>
            <a:off x="6276975" y="1501775"/>
            <a:ext cx="5099050" cy="892721"/>
          </a:xfrm>
          <a:prstGeom prst="roundRect">
            <a:avLst>
              <a:gd name="adj" fmla="val 12448"/>
            </a:avLst>
          </a:prstGeom>
          <a:solidFill>
            <a:srgbClr val="FFFFFF">
              <a:alpha val="70000"/>
            </a:srgbClr>
          </a:solidFill>
          <a:ln w="6350">
            <a:solidFill>
              <a:srgbClr val="31535C">
                <a:alpha val="16000"/>
              </a:srgbClr>
            </a:solidFill>
            <a:prstDash val="solid"/>
          </a:ln>
        </p:spPr>
      </p:sp>
      <p:sp>
        <p:nvSpPr>
          <p:cNvPr id="11" name="Text 9"/>
          <p:cNvSpPr/>
          <p:nvPr/>
        </p:nvSpPr>
        <p:spPr>
          <a:xfrm>
            <a:off x="6375400" y="1606550"/>
            <a:ext cx="492820"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PYPI</a:t>
            </a:r>
            <a:endParaRPr lang="en-US" sz="1200" dirty="0"/>
          </a:p>
        </p:txBody>
      </p:sp>
      <p:sp>
        <p:nvSpPr>
          <p:cNvPr id="12" name="Text 10"/>
          <p:cNvSpPr/>
          <p:nvPr/>
        </p:nvSpPr>
        <p:spPr>
          <a:xfrm>
            <a:off x="6375400" y="1845270"/>
            <a:ext cx="320275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Courier New" pitchFamily="49" charset="0"/>
                <a:ea typeface="Courier New" pitchFamily="49" charset="-122"/>
                <a:cs typeface="Courier New" pitchFamily="49" charset="-120"/>
              </a:rPr>
              <a:t>pypi.org/project/oracleagentmemory</a:t>
            </a:r>
            <a:endParaRPr lang="en-US" sz="1200" dirty="0"/>
          </a:p>
        </p:txBody>
      </p:sp>
      <p:sp>
        <p:nvSpPr>
          <p:cNvPr id="13" name="Text 11"/>
          <p:cNvSpPr/>
          <p:nvPr/>
        </p:nvSpPr>
        <p:spPr>
          <a:xfrm>
            <a:off x="6375400" y="2083991"/>
            <a:ext cx="3232904"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the package and the current benchmark</a:t>
            </a:r>
            <a:endParaRPr lang="en-US" sz="1200" dirty="0"/>
          </a:p>
        </p:txBody>
      </p:sp>
      <p:sp>
        <p:nvSpPr>
          <p:cNvPr id="14" name="Shape 12"/>
          <p:cNvSpPr/>
          <p:nvPr/>
        </p:nvSpPr>
        <p:spPr>
          <a:xfrm>
            <a:off x="6276975" y="2276475"/>
            <a:ext cx="5099050" cy="892721"/>
          </a:xfrm>
          <a:prstGeom prst="roundRect">
            <a:avLst>
              <a:gd name="adj" fmla="val 12448"/>
            </a:avLst>
          </a:prstGeom>
          <a:solidFill>
            <a:srgbClr val="FFFFFF">
              <a:alpha val="70000"/>
            </a:srgbClr>
          </a:solidFill>
          <a:ln w="6350">
            <a:solidFill>
              <a:srgbClr val="31535C">
                <a:alpha val="16000"/>
              </a:srgbClr>
            </a:solidFill>
            <a:prstDash val="solid"/>
          </a:ln>
        </p:spPr>
      </p:sp>
      <p:sp>
        <p:nvSpPr>
          <p:cNvPr id="15" name="Text 13"/>
          <p:cNvSpPr/>
          <p:nvPr/>
        </p:nvSpPr>
        <p:spPr>
          <a:xfrm>
            <a:off x="6375400" y="2381250"/>
            <a:ext cx="492820"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DOCS</a:t>
            </a:r>
            <a:endParaRPr lang="en-US" sz="1200" dirty="0"/>
          </a:p>
        </p:txBody>
      </p:sp>
      <p:sp>
        <p:nvSpPr>
          <p:cNvPr id="16" name="Text 14"/>
          <p:cNvSpPr/>
          <p:nvPr/>
        </p:nvSpPr>
        <p:spPr>
          <a:xfrm>
            <a:off x="6375400" y="2619970"/>
            <a:ext cx="489832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Courier New" pitchFamily="49" charset="0"/>
                <a:ea typeface="Courier New" pitchFamily="49" charset="-122"/>
                <a:cs typeface="Courier New" pitchFamily="49" charset="-120"/>
              </a:rPr>
              <a:t>docs.oracle.com/en/database/oracle/agent-memory/26.6</a:t>
            </a:r>
            <a:endParaRPr lang="en-US" sz="1200" dirty="0"/>
          </a:p>
        </p:txBody>
      </p:sp>
      <p:sp>
        <p:nvSpPr>
          <p:cNvPr id="17" name="Text 15"/>
          <p:cNvSpPr/>
          <p:nvPr/>
        </p:nvSpPr>
        <p:spPr>
          <a:xfrm>
            <a:off x="6375400" y="2858691"/>
            <a:ext cx="380815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API reference: threads, memories, search, TTL</a:t>
            </a:r>
            <a:endParaRPr lang="en-US" sz="1200" dirty="0"/>
          </a:p>
        </p:txBody>
      </p:sp>
      <p:sp>
        <p:nvSpPr>
          <p:cNvPr id="18" name="Shape 16"/>
          <p:cNvSpPr/>
          <p:nvPr/>
        </p:nvSpPr>
        <p:spPr>
          <a:xfrm>
            <a:off x="6276975" y="3051175"/>
            <a:ext cx="5099050" cy="892721"/>
          </a:xfrm>
          <a:prstGeom prst="roundRect">
            <a:avLst>
              <a:gd name="adj" fmla="val 12448"/>
            </a:avLst>
          </a:prstGeom>
          <a:solidFill>
            <a:srgbClr val="FFFFFF">
              <a:alpha val="70000"/>
            </a:srgbClr>
          </a:solidFill>
          <a:ln w="6350">
            <a:solidFill>
              <a:srgbClr val="31535C">
                <a:alpha val="16000"/>
              </a:srgbClr>
            </a:solidFill>
            <a:prstDash val="solid"/>
          </a:ln>
        </p:spPr>
      </p:sp>
      <p:sp>
        <p:nvSpPr>
          <p:cNvPr id="19" name="Text 17"/>
          <p:cNvSpPr/>
          <p:nvPr/>
        </p:nvSpPr>
        <p:spPr>
          <a:xfrm>
            <a:off x="6375400" y="3155950"/>
            <a:ext cx="104536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NOTEBOOKS</a:t>
            </a:r>
            <a:endParaRPr lang="en-US" sz="1200" dirty="0"/>
          </a:p>
        </p:txBody>
      </p:sp>
      <p:sp>
        <p:nvSpPr>
          <p:cNvPr id="20" name="Text 18"/>
          <p:cNvSpPr/>
          <p:nvPr/>
        </p:nvSpPr>
        <p:spPr>
          <a:xfrm>
            <a:off x="6375400" y="3394670"/>
            <a:ext cx="452152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Courier New" pitchFamily="49" charset="0"/>
                <a:ea typeface="Courier New" pitchFamily="49" charset="-122"/>
                <a:cs typeface="Courier New" pitchFamily="49" charset="-120"/>
              </a:rPr>
              <a:t>github.com/oracle-devrel/oracle-ai-developer-hub</a:t>
            </a:r>
            <a:endParaRPr lang="en-US" sz="1200" dirty="0"/>
          </a:p>
        </p:txBody>
      </p:sp>
      <p:sp>
        <p:nvSpPr>
          <p:cNvPr id="21" name="Text 19"/>
          <p:cNvSpPr/>
          <p:nvPr/>
        </p:nvSpPr>
        <p:spPr>
          <a:xfrm>
            <a:off x="6375400" y="3633391"/>
            <a:ext cx="39379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B6B"/>
                </a:solidFill>
                <a:latin typeface="Arial" pitchFamily="34" charset="0"/>
                <a:ea typeface="Arial" pitchFamily="34" charset="-122"/>
                <a:cs typeface="Arial" pitchFamily="34" charset="-120"/>
              </a:rPr>
              <a:t>notebooks/agent_memory, and today’s notebook</a:t>
            </a:r>
            <a:endParaRPr lang="en-US" sz="1200" dirty="0"/>
          </a:p>
        </p:txBody>
      </p:sp>
      <p:sp>
        <p:nvSpPr>
          <p:cNvPr id="22" name="Text 20"/>
          <p:cNvSpPr/>
          <p:nvPr/>
        </p:nvSpPr>
        <p:spPr>
          <a:xfrm>
            <a:off x="812800" y="3937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6B6B6B"/>
                </a:solidFill>
                <a:latin typeface="Courier New" pitchFamily="49" charset="0"/>
                <a:ea typeface="Courier New" pitchFamily="49" charset="-122"/>
                <a:cs typeface="Courier New" pitchFamily="49" charset="-120"/>
              </a:rPr>
              <a:t>WORKS WITH</a:t>
            </a:r>
            <a:endParaRPr lang="en-US" sz="1200" dirty="0"/>
          </a:p>
        </p:txBody>
      </p:sp>
      <p:sp>
        <p:nvSpPr>
          <p:cNvPr id="23" name="Text 21"/>
          <p:cNvSpPr/>
          <p:nvPr/>
        </p:nvSpPr>
        <p:spPr>
          <a:xfrm>
            <a:off x="812800" y="4203700"/>
            <a:ext cx="1159966" cy="358130"/>
          </a:xfrm>
          <a:prstGeom prst="roundRect">
            <a:avLst>
              <a:gd name="adj" fmla="val 50000"/>
            </a:avLst>
          </a:prstGeom>
          <a:solidFill>
            <a:srgbClr val="F2EFEA"/>
          </a:solidFill>
          <a:ln/>
        </p:spPr>
        <p:txBody>
          <a:bodyPr wrap="none" lIns="0" tIns="0" rIns="0" bIns="0" rtlCol="0" anchor="ctr">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LangGraph</a:t>
            </a:r>
            <a:endParaRPr lang="en-US" sz="1300" dirty="0"/>
          </a:p>
        </p:txBody>
      </p:sp>
      <p:sp>
        <p:nvSpPr>
          <p:cNvPr id="24" name="Text 22"/>
          <p:cNvSpPr/>
          <p:nvPr/>
        </p:nvSpPr>
        <p:spPr>
          <a:xfrm>
            <a:off x="2061666" y="4203700"/>
            <a:ext cx="1132433" cy="358130"/>
          </a:xfrm>
          <a:prstGeom prst="roundRect">
            <a:avLst>
              <a:gd name="adj" fmla="val 50000"/>
            </a:avLst>
          </a:prstGeom>
          <a:solidFill>
            <a:srgbClr val="F2EFEA"/>
          </a:solidFill>
          <a:ln/>
        </p:spPr>
        <p:txBody>
          <a:bodyPr wrap="none" lIns="0" tIns="0" rIns="0" bIns="0" rtlCol="0" anchor="ctr">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LangChain</a:t>
            </a:r>
            <a:endParaRPr lang="en-US" sz="1300" dirty="0"/>
          </a:p>
        </p:txBody>
      </p:sp>
      <p:sp>
        <p:nvSpPr>
          <p:cNvPr id="25" name="Text 23"/>
          <p:cNvSpPr/>
          <p:nvPr/>
        </p:nvSpPr>
        <p:spPr>
          <a:xfrm>
            <a:off x="3283000" y="4203700"/>
            <a:ext cx="1731764" cy="358130"/>
          </a:xfrm>
          <a:prstGeom prst="roundRect">
            <a:avLst>
              <a:gd name="adj" fmla="val 50000"/>
            </a:avLst>
          </a:prstGeom>
          <a:solidFill>
            <a:srgbClr val="F2EFEA"/>
          </a:solidFill>
          <a:ln/>
        </p:spPr>
        <p:txBody>
          <a:bodyPr wrap="none" lIns="0" tIns="0" rIns="0" bIns="0" rtlCol="0" anchor="ctr">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Claude Agent SDK</a:t>
            </a:r>
            <a:endParaRPr lang="en-US" sz="1300" dirty="0"/>
          </a:p>
        </p:txBody>
      </p:sp>
      <p:sp>
        <p:nvSpPr>
          <p:cNvPr id="26" name="Text 24"/>
          <p:cNvSpPr/>
          <p:nvPr/>
        </p:nvSpPr>
        <p:spPr>
          <a:xfrm>
            <a:off x="5103664" y="4203700"/>
            <a:ext cx="1860203" cy="358130"/>
          </a:xfrm>
          <a:prstGeom prst="roundRect">
            <a:avLst>
              <a:gd name="adj" fmla="val 50000"/>
            </a:avLst>
          </a:prstGeom>
          <a:solidFill>
            <a:srgbClr val="F2EFEA"/>
          </a:solidFill>
          <a:ln/>
        </p:spPr>
        <p:txBody>
          <a:bodyPr wrap="none" lIns="0" tIns="0" rIns="0" bIns="0" rtlCol="0" anchor="ctr">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OpenAI Agents SDK</a:t>
            </a:r>
            <a:endParaRPr lang="en-US" sz="1300" dirty="0"/>
          </a:p>
        </p:txBody>
      </p:sp>
      <p:sp>
        <p:nvSpPr>
          <p:cNvPr id="27" name="Text 25"/>
          <p:cNvSpPr/>
          <p:nvPr/>
        </p:nvSpPr>
        <p:spPr>
          <a:xfrm>
            <a:off x="7052766" y="4203700"/>
            <a:ext cx="988764" cy="358130"/>
          </a:xfrm>
          <a:prstGeom prst="roundRect">
            <a:avLst>
              <a:gd name="adj" fmla="val 50000"/>
            </a:avLst>
          </a:prstGeom>
          <a:solidFill>
            <a:srgbClr val="F2EFEA"/>
          </a:solidFill>
          <a:ln/>
        </p:spPr>
        <p:txBody>
          <a:bodyPr wrap="none" lIns="0" tIns="0" rIns="0" bIns="0" rtlCol="0" anchor="ctr">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WayFlow</a:t>
            </a:r>
            <a:endParaRPr lang="en-US" sz="1300" dirty="0"/>
          </a:p>
        </p:txBody>
      </p:sp>
      <p:sp>
        <p:nvSpPr>
          <p:cNvPr id="28" name="Text 26"/>
          <p:cNvSpPr/>
          <p:nvPr/>
        </p:nvSpPr>
        <p:spPr>
          <a:xfrm>
            <a:off x="8130431" y="4203700"/>
            <a:ext cx="1067991" cy="358130"/>
          </a:xfrm>
          <a:prstGeom prst="roundRect">
            <a:avLst>
              <a:gd name="adj" fmla="val 50000"/>
            </a:avLst>
          </a:prstGeom>
          <a:solidFill>
            <a:srgbClr val="F2EFEA"/>
          </a:solidFill>
          <a:ln/>
        </p:spPr>
        <p:txBody>
          <a:bodyPr wrap="none" lIns="0" tIns="0" rIns="0" bIns="0" rtlCol="0" anchor="ctr">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CopilotKit</a:t>
            </a:r>
            <a:endParaRPr lang="en-US" sz="1300" dirty="0"/>
          </a:p>
        </p:txBody>
      </p:sp>
      <p:sp>
        <p:nvSpPr>
          <p:cNvPr id="29" name="Text 27"/>
          <p:cNvSpPr/>
          <p:nvPr/>
        </p:nvSpPr>
        <p:spPr>
          <a:xfrm>
            <a:off x="9287321" y="4203700"/>
            <a:ext cx="1848346" cy="358130"/>
          </a:xfrm>
          <a:prstGeom prst="roundRect">
            <a:avLst>
              <a:gd name="adj" fmla="val 50000"/>
            </a:avLst>
          </a:prstGeom>
          <a:solidFill>
            <a:srgbClr val="F2EFEA"/>
          </a:solidFill>
          <a:ln/>
        </p:spPr>
        <p:txBody>
          <a:bodyPr wrap="none" lIns="0" tIns="0" rIns="0" bIns="0" rtlCol="0" anchor="ctr">
            <a:normAutofit/>
          </a:bodyPr>
          <a:lstStyle/>
          <a:p>
            <a:pPr algn="ctr" indent="0" marL="0">
              <a:lnSpc>
                <a:spcPts val="1820"/>
              </a:lnSpc>
              <a:buNone/>
            </a:pPr>
            <a:r>
              <a:rPr lang="en-US" sz="1300" b="1" dirty="0">
                <a:solidFill>
                  <a:srgbClr val="2D2D2D"/>
                </a:solidFill>
                <a:latin typeface="Arial" pitchFamily="34" charset="0"/>
                <a:ea typeface="Arial" pitchFamily="34" charset="-122"/>
                <a:cs typeface="Arial" pitchFamily="34" charset="-120"/>
              </a:rPr>
              <a:t>any Python harness</a:t>
            </a:r>
            <a:endParaRPr lang="en-US" sz="1300" dirty="0"/>
          </a:p>
        </p:txBody>
      </p:sp>
      <p:sp>
        <p:nvSpPr>
          <p:cNvPr id="30" name="Shape 28"/>
          <p:cNvSpPr/>
          <p:nvPr/>
        </p:nvSpPr>
        <p:spPr>
          <a:xfrm>
            <a:off x="815975" y="4956175"/>
            <a:ext cx="10560050" cy="692150"/>
          </a:xfrm>
          <a:prstGeom prst="roundRect">
            <a:avLst>
              <a:gd name="adj" fmla="val 17890"/>
            </a:avLst>
          </a:prstGeom>
          <a:solidFill>
            <a:srgbClr val="1E2A2A"/>
          </a:solidFill>
          <a:ln w="6350">
            <a:solidFill>
              <a:srgbClr val="1E2A2A"/>
            </a:solidFill>
            <a:prstDash val="solid"/>
          </a:ln>
        </p:spPr>
      </p:sp>
      <p:sp>
        <p:nvSpPr>
          <p:cNvPr id="31" name="Text 29"/>
          <p:cNvSpPr/>
          <p:nvPr/>
        </p:nvSpPr>
        <p:spPr>
          <a:xfrm>
            <a:off x="1066800" y="5168900"/>
            <a:ext cx="87244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Same client, same store, whatever the framework. </a:t>
            </a:r>
            <a:r>
              <a:rPr lang="en-US" sz="1500" dirty="0">
                <a:solidFill>
                  <a:srgbClr val="DEB068"/>
                </a:solidFill>
                <a:latin typeface="Arial" pitchFamily="34" charset="0"/>
                <a:ea typeface="Arial" pitchFamily="34" charset="-122"/>
                <a:cs typeface="Arial" pitchFamily="34" charset="-120"/>
              </a:rPr>
              <a:t>Swap the model, keep the memory.</a:t>
            </a:r>
            <a:endParaRPr lang="en-US" sz="1500" dirty="0"/>
          </a:p>
        </p:txBody>
      </p:sp>
      <p:sp>
        <p:nvSpPr>
          <p:cNvPr id="32" name="Text 3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WHERE IT GOES NEXT</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Build memory once. It shows up everywhere.</a:t>
            </a:r>
            <a:endParaRPr lang="en-US" sz="2800" dirty="0"/>
          </a:p>
        </p:txBody>
      </p:sp>
      <p:sp>
        <p:nvSpPr>
          <p:cNvPr id="5" name="Shape 3"/>
          <p:cNvSpPr/>
          <p:nvPr/>
        </p:nvSpPr>
        <p:spPr>
          <a:xfrm>
            <a:off x="822325" y="2663825"/>
            <a:ext cx="3282950" cy="2012950"/>
          </a:xfrm>
          <a:prstGeom prst="roundRect">
            <a:avLst>
              <a:gd name="adj" fmla="val 7729"/>
            </a:avLst>
          </a:prstGeom>
          <a:solidFill>
            <a:srgbClr val="1E2A2A"/>
          </a:solidFill>
          <a:ln w="19050">
            <a:solidFill>
              <a:srgbClr val="C74634"/>
            </a:solidFill>
            <a:prstDash val="solid"/>
          </a:ln>
          <a:effectLst>
            <a:outerShdw sx="100000" sy="100000" kx="0" ky="0" algn="bl" rotWithShape="0" blurRad="406400" dist="152400" dir="5400000">
              <a:srgbClr val="1E2A2A">
                <a:alpha val="25000"/>
              </a:srgbClr>
            </a:outerShdw>
          </a:effectLst>
        </p:spPr>
      </p:sp>
      <p:sp>
        <p:nvSpPr>
          <p:cNvPr id="6" name="Text 4"/>
          <p:cNvSpPr/>
          <p:nvPr/>
        </p:nvSpPr>
        <p:spPr>
          <a:xfrm>
            <a:off x="1041400" y="2954089"/>
            <a:ext cx="126637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ONE PACKAGE</a:t>
            </a:r>
            <a:endParaRPr lang="en-US" sz="1200" dirty="0"/>
          </a:p>
        </p:txBody>
      </p:sp>
      <p:sp>
        <p:nvSpPr>
          <p:cNvPr id="7" name="Text 5"/>
          <p:cNvSpPr/>
          <p:nvPr/>
        </p:nvSpPr>
        <p:spPr>
          <a:xfrm>
            <a:off x="1041400" y="3256310"/>
            <a:ext cx="1998736" cy="64006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FFFF"/>
                </a:solidFill>
                <a:latin typeface="Arial" pitchFamily="34" charset="0"/>
                <a:ea typeface="Arial" pitchFamily="34" charset="-122"/>
                <a:cs typeface="Arial" pitchFamily="34" charset="-120"/>
              </a:rPr>
              <a:t>Oracle AI</a:t>
            </a:r>
            <a:endParaRPr lang="en-US" sz="2200" dirty="0"/>
          </a:p>
          <a:p>
            <a:pPr algn="l" indent="0" marL="0">
              <a:lnSpc>
                <a:spcPts val="2420"/>
              </a:lnSpc>
              <a:buNone/>
            </a:pPr>
            <a:r>
              <a:rPr lang="en-US" sz="2200" b="1" dirty="0">
                <a:solidFill>
                  <a:srgbClr val="FFFFFF"/>
                </a:solidFill>
                <a:latin typeface="Arial" pitchFamily="34" charset="0"/>
                <a:ea typeface="Arial" pitchFamily="34" charset="-122"/>
                <a:cs typeface="Arial" pitchFamily="34" charset="-120"/>
              </a:rPr>
              <a:t>Agent Memory</a:t>
            </a:r>
            <a:endParaRPr lang="en-US" sz="2200" dirty="0"/>
          </a:p>
        </p:txBody>
      </p:sp>
      <p:sp>
        <p:nvSpPr>
          <p:cNvPr id="8" name="Text 6"/>
          <p:cNvSpPr/>
          <p:nvPr/>
        </p:nvSpPr>
        <p:spPr>
          <a:xfrm>
            <a:off x="1041400" y="3959870"/>
            <a:ext cx="293014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Extraction · context cards · scoped recall · retention</a:t>
            </a:r>
            <a:endParaRPr lang="en-US" sz="1200" dirty="0"/>
          </a:p>
        </p:txBody>
      </p:sp>
      <p:sp>
        <p:nvSpPr>
          <p:cNvPr id="9" name="Text 7"/>
          <p:cNvSpPr/>
          <p:nvPr/>
        </p:nvSpPr>
        <p:spPr>
          <a:xfrm>
            <a:off x="763270" y="4838700"/>
            <a:ext cx="3401060"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C74634"/>
                </a:solidFill>
                <a:latin typeface="Courier New" pitchFamily="49" charset="0"/>
                <a:ea typeface="Courier New" pitchFamily="49" charset="-122"/>
                <a:cs typeface="Courier New" pitchFamily="49" charset="-120"/>
              </a:rPr>
              <a:t>propagates to</a:t>
            </a:r>
            <a:endParaRPr lang="en-US" sz="1200" dirty="0"/>
          </a:p>
        </p:txBody>
      </p:sp>
      <p:pic>
        <p:nvPicPr>
          <p:cNvPr id="10" name="Image 0" descr="to Private Agent Factory">    </p:cNvPr>
          <p:cNvPicPr>
            <a:picLocks noChangeAspect="1"/>
          </p:cNvPicPr>
          <p:nvPr/>
        </p:nvPicPr>
        <p:blipFill>
          <a:blip r:embed="rId1"/>
          <a:srcRect l="0" r="0" t="0" b="0"/>
          <a:stretch/>
        </p:blipFill>
        <p:spPr>
          <a:xfrm>
            <a:off x="0" y="0"/>
            <a:ext cx="12192000" cy="6858000"/>
          </a:xfrm>
          <a:prstGeom prst="rect">
            <a:avLst/>
          </a:prstGeom>
        </p:spPr>
      </p:pic>
      <p:sp>
        <p:nvSpPr>
          <p:cNvPr id="11" name="Shape 8"/>
          <p:cNvSpPr/>
          <p:nvPr/>
        </p:nvSpPr>
        <p:spPr>
          <a:xfrm>
            <a:off x="7473950" y="1504950"/>
            <a:ext cx="3898900" cy="596900"/>
          </a:xfrm>
          <a:prstGeom prst="roundRect">
            <a:avLst>
              <a:gd name="adj" fmla="val 20213"/>
            </a:avLst>
          </a:prstGeom>
          <a:solidFill>
            <a:srgbClr val="FFF4F1"/>
          </a:solidFill>
          <a:ln w="12700">
            <a:solidFill>
              <a:srgbClr val="C74634">
                <a:alpha val="50000"/>
              </a:srgbClr>
            </a:solidFill>
            <a:prstDash val="solid"/>
          </a:ln>
        </p:spPr>
      </p:sp>
      <p:sp>
        <p:nvSpPr>
          <p:cNvPr id="12" name="Text 9"/>
          <p:cNvSpPr/>
          <p:nvPr/>
        </p:nvSpPr>
        <p:spPr>
          <a:xfrm>
            <a:off x="7556500" y="1558230"/>
            <a:ext cx="2354461" cy="29081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D2D2D"/>
                </a:solidFill>
                <a:latin typeface="Arial" pitchFamily="34" charset="0"/>
                <a:ea typeface="Arial" pitchFamily="34" charset="-122"/>
                <a:cs typeface="Arial" pitchFamily="34" charset="-120"/>
              </a:rPr>
              <a:t>Private Agent Factory</a:t>
            </a:r>
            <a:endParaRPr lang="en-US" sz="1500" dirty="0"/>
          </a:p>
        </p:txBody>
      </p:sp>
      <p:sp>
        <p:nvSpPr>
          <p:cNvPr id="13" name="Text 10"/>
          <p:cNvSpPr/>
          <p:nvPr/>
        </p:nvSpPr>
        <p:spPr>
          <a:xfrm>
            <a:off x="7556500" y="1836341"/>
            <a:ext cx="3769638" cy="23767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Agents built in the factory remember by default</a:t>
            </a:r>
            <a:endParaRPr lang="en-US" sz="1196" dirty="0"/>
          </a:p>
        </p:txBody>
      </p:sp>
      <p:pic>
        <p:nvPicPr>
          <p:cNvPr id="14" name="Image 1" descr="to AI Data Platform">    </p:cNvPr>
          <p:cNvPicPr>
            <a:picLocks noChangeAspect="1"/>
          </p:cNvPicPr>
          <p:nvPr/>
        </p:nvPicPr>
        <p:blipFill>
          <a:blip r:embed="rId2"/>
          <a:srcRect l="0" r="0" t="0" b="0"/>
          <a:stretch/>
        </p:blipFill>
        <p:spPr>
          <a:xfrm>
            <a:off x="0" y="0"/>
            <a:ext cx="12192000" cy="6858000"/>
          </a:xfrm>
          <a:prstGeom prst="rect">
            <a:avLst/>
          </a:prstGeom>
        </p:spPr>
      </p:pic>
      <p:sp>
        <p:nvSpPr>
          <p:cNvPr id="15" name="Shape 11"/>
          <p:cNvSpPr/>
          <p:nvPr/>
        </p:nvSpPr>
        <p:spPr>
          <a:xfrm>
            <a:off x="7473950" y="2228850"/>
            <a:ext cx="3898900" cy="596900"/>
          </a:xfrm>
          <a:prstGeom prst="roundRect">
            <a:avLst>
              <a:gd name="adj" fmla="val 20213"/>
            </a:avLst>
          </a:prstGeom>
          <a:solidFill>
            <a:srgbClr val="FFF4F1"/>
          </a:solidFill>
          <a:ln w="12700">
            <a:solidFill>
              <a:srgbClr val="C74634">
                <a:alpha val="50000"/>
              </a:srgbClr>
            </a:solidFill>
            <a:prstDash val="solid"/>
          </a:ln>
        </p:spPr>
      </p:sp>
      <p:sp>
        <p:nvSpPr>
          <p:cNvPr id="16" name="Text 12"/>
          <p:cNvSpPr/>
          <p:nvPr/>
        </p:nvSpPr>
        <p:spPr>
          <a:xfrm>
            <a:off x="7556500" y="2282130"/>
            <a:ext cx="1778377" cy="29081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D2D2D"/>
                </a:solidFill>
                <a:latin typeface="Arial" pitchFamily="34" charset="0"/>
                <a:ea typeface="Arial" pitchFamily="34" charset="-122"/>
                <a:cs typeface="Arial" pitchFamily="34" charset="-120"/>
              </a:rPr>
              <a:t>AI Data Platform</a:t>
            </a:r>
            <a:endParaRPr lang="en-US" sz="1500" dirty="0"/>
          </a:p>
        </p:txBody>
      </p:sp>
      <p:sp>
        <p:nvSpPr>
          <p:cNvPr id="17" name="Text 13"/>
          <p:cNvSpPr/>
          <p:nvPr/>
        </p:nvSpPr>
        <p:spPr>
          <a:xfrm>
            <a:off x="7556500" y="2560241"/>
            <a:ext cx="3708618" cy="23767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Shared memory across data and AI workflows</a:t>
            </a:r>
            <a:endParaRPr lang="en-US" sz="1196" dirty="0"/>
          </a:p>
        </p:txBody>
      </p:sp>
      <p:pic>
        <p:nvPicPr>
          <p:cNvPr id="18" name="Image 2" descr="to AI Database">    </p:cNvPr>
          <p:cNvPicPr>
            <a:picLocks noChangeAspect="1"/>
          </p:cNvPicPr>
          <p:nvPr/>
        </p:nvPicPr>
        <p:blipFill>
          <a:blip r:embed="rId3"/>
          <a:srcRect l="0" r="0" t="0" b="0"/>
          <a:stretch/>
        </p:blipFill>
        <p:spPr>
          <a:xfrm>
            <a:off x="0" y="0"/>
            <a:ext cx="12192000" cy="6858000"/>
          </a:xfrm>
          <a:prstGeom prst="rect">
            <a:avLst/>
          </a:prstGeom>
        </p:spPr>
      </p:pic>
      <p:sp>
        <p:nvSpPr>
          <p:cNvPr id="19" name="Shape 14"/>
          <p:cNvSpPr/>
          <p:nvPr/>
        </p:nvSpPr>
        <p:spPr>
          <a:xfrm>
            <a:off x="7470775" y="2949575"/>
            <a:ext cx="3905250" cy="603250"/>
          </a:xfrm>
          <a:prstGeom prst="roundRect">
            <a:avLst>
              <a:gd name="adj" fmla="val 20526"/>
            </a:avLst>
          </a:prstGeom>
          <a:solidFill>
            <a:srgbClr val="FFFFFF">
              <a:alpha val="70000"/>
            </a:srgbClr>
          </a:solidFill>
          <a:ln w="6350">
            <a:solidFill>
              <a:srgbClr val="31535C">
                <a:alpha val="16000"/>
              </a:srgbClr>
            </a:solidFill>
            <a:prstDash val="solid"/>
          </a:ln>
        </p:spPr>
      </p:sp>
      <p:sp>
        <p:nvSpPr>
          <p:cNvPr id="20" name="Text 15"/>
          <p:cNvSpPr/>
          <p:nvPr/>
        </p:nvSpPr>
        <p:spPr>
          <a:xfrm>
            <a:off x="7556500" y="3005832"/>
            <a:ext cx="1308675" cy="29100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D2D2D"/>
                </a:solidFill>
                <a:latin typeface="Arial" pitchFamily="34" charset="0"/>
                <a:ea typeface="Arial" pitchFamily="34" charset="-122"/>
                <a:cs typeface="Arial" pitchFamily="34" charset="-120"/>
              </a:rPr>
              <a:t>AI Database</a:t>
            </a:r>
            <a:endParaRPr lang="en-US" sz="1500" dirty="0"/>
          </a:p>
        </p:txBody>
      </p:sp>
      <p:sp>
        <p:nvSpPr>
          <p:cNvPr id="21" name="Text 16"/>
          <p:cNvSpPr/>
          <p:nvPr/>
        </p:nvSpPr>
        <p:spPr>
          <a:xfrm>
            <a:off x="7556500" y="3284141"/>
            <a:ext cx="3121164" cy="237827"/>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The memory core, native to the engine</a:t>
            </a:r>
            <a:endParaRPr lang="en-US" sz="1196" dirty="0"/>
          </a:p>
        </p:txBody>
      </p:sp>
      <p:pic>
        <p:nvPicPr>
          <p:cNvPr id="22" name="Image 3" descr="to Select AI">    </p:cNvPr>
          <p:cNvPicPr>
            <a:picLocks noChangeAspect="1"/>
          </p:cNvPicPr>
          <p:nvPr/>
        </p:nvPicPr>
        <p:blipFill>
          <a:blip r:embed="rId4"/>
          <a:srcRect l="0" r="0" t="0" b="0"/>
          <a:stretch/>
        </p:blipFill>
        <p:spPr>
          <a:xfrm>
            <a:off x="0" y="0"/>
            <a:ext cx="12192000" cy="6858000"/>
          </a:xfrm>
          <a:prstGeom prst="rect">
            <a:avLst/>
          </a:prstGeom>
        </p:spPr>
      </p:pic>
      <p:sp>
        <p:nvSpPr>
          <p:cNvPr id="23" name="Shape 17"/>
          <p:cNvSpPr/>
          <p:nvPr/>
        </p:nvSpPr>
        <p:spPr>
          <a:xfrm>
            <a:off x="7470775" y="3673475"/>
            <a:ext cx="3905250" cy="603250"/>
          </a:xfrm>
          <a:prstGeom prst="roundRect">
            <a:avLst>
              <a:gd name="adj" fmla="val 20526"/>
            </a:avLst>
          </a:prstGeom>
          <a:solidFill>
            <a:srgbClr val="FFFFFF">
              <a:alpha val="70000"/>
            </a:srgbClr>
          </a:solidFill>
          <a:ln w="6350">
            <a:solidFill>
              <a:srgbClr val="31535C">
                <a:alpha val="16000"/>
              </a:srgbClr>
            </a:solidFill>
            <a:prstDash val="solid"/>
          </a:ln>
        </p:spPr>
      </p:sp>
      <p:sp>
        <p:nvSpPr>
          <p:cNvPr id="24" name="Text 18"/>
          <p:cNvSpPr/>
          <p:nvPr/>
        </p:nvSpPr>
        <p:spPr>
          <a:xfrm>
            <a:off x="7556500" y="3729732"/>
            <a:ext cx="957203" cy="29100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D2D2D"/>
                </a:solidFill>
                <a:latin typeface="Arial" pitchFamily="34" charset="0"/>
                <a:ea typeface="Arial" pitchFamily="34" charset="-122"/>
                <a:cs typeface="Arial" pitchFamily="34" charset="-120"/>
              </a:rPr>
              <a:t>Select AI</a:t>
            </a:r>
            <a:endParaRPr lang="en-US" sz="1500" dirty="0"/>
          </a:p>
        </p:txBody>
      </p:sp>
      <p:sp>
        <p:nvSpPr>
          <p:cNvPr id="25" name="Text 19"/>
          <p:cNvSpPr/>
          <p:nvPr/>
        </p:nvSpPr>
        <p:spPr>
          <a:xfrm>
            <a:off x="7556500" y="4008041"/>
            <a:ext cx="3428524" cy="237827"/>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Agents that remember each user’s context</a:t>
            </a:r>
            <a:endParaRPr lang="en-US" sz="1196" dirty="0"/>
          </a:p>
        </p:txBody>
      </p:sp>
      <p:pic>
        <p:nvPicPr>
          <p:cNvPr id="26" name="Image 4" descr="to AI Lakehouse">    </p:cNvPr>
          <p:cNvPicPr>
            <a:picLocks noChangeAspect="1"/>
          </p:cNvPicPr>
          <p:nvPr/>
        </p:nvPicPr>
        <p:blipFill>
          <a:blip r:embed="rId5"/>
          <a:srcRect l="0" r="0" t="0" b="0"/>
          <a:stretch/>
        </p:blipFill>
        <p:spPr>
          <a:xfrm>
            <a:off x="0" y="0"/>
            <a:ext cx="12192000" cy="6858000"/>
          </a:xfrm>
          <a:prstGeom prst="rect">
            <a:avLst/>
          </a:prstGeom>
        </p:spPr>
      </p:pic>
      <p:sp>
        <p:nvSpPr>
          <p:cNvPr id="27" name="Shape 20"/>
          <p:cNvSpPr/>
          <p:nvPr/>
        </p:nvSpPr>
        <p:spPr>
          <a:xfrm>
            <a:off x="7470775" y="4397375"/>
            <a:ext cx="3905250" cy="603250"/>
          </a:xfrm>
          <a:prstGeom prst="roundRect">
            <a:avLst>
              <a:gd name="adj" fmla="val 20526"/>
            </a:avLst>
          </a:prstGeom>
          <a:solidFill>
            <a:srgbClr val="FFFFFF">
              <a:alpha val="70000"/>
            </a:srgbClr>
          </a:solidFill>
          <a:ln w="6350">
            <a:solidFill>
              <a:srgbClr val="31535C">
                <a:alpha val="16000"/>
              </a:srgbClr>
            </a:solidFill>
            <a:prstDash val="solid"/>
          </a:ln>
        </p:spPr>
      </p:sp>
      <p:sp>
        <p:nvSpPr>
          <p:cNvPr id="28" name="Text 21"/>
          <p:cNvSpPr/>
          <p:nvPr/>
        </p:nvSpPr>
        <p:spPr>
          <a:xfrm>
            <a:off x="7556500" y="4453632"/>
            <a:ext cx="1486376" cy="29100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D2D2D"/>
                </a:solidFill>
                <a:latin typeface="Arial" pitchFamily="34" charset="0"/>
                <a:ea typeface="Arial" pitchFamily="34" charset="-122"/>
                <a:cs typeface="Arial" pitchFamily="34" charset="-120"/>
              </a:rPr>
              <a:t>AI Lakehouse</a:t>
            </a:r>
            <a:endParaRPr lang="en-US" sz="1500" dirty="0"/>
          </a:p>
        </p:txBody>
      </p:sp>
      <p:sp>
        <p:nvSpPr>
          <p:cNvPr id="29" name="Text 22"/>
          <p:cNvSpPr/>
          <p:nvPr/>
        </p:nvSpPr>
        <p:spPr>
          <a:xfrm>
            <a:off x="7556500" y="4731941"/>
            <a:ext cx="3465671" cy="237827"/>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Memory for agents working over open data</a:t>
            </a:r>
            <a:endParaRPr lang="en-US" sz="1196" dirty="0"/>
          </a:p>
        </p:txBody>
      </p:sp>
      <p:pic>
        <p:nvPicPr>
          <p:cNvPr id="30" name="Image 5" descr="to OCI">    </p:cNvPr>
          <p:cNvPicPr>
            <a:picLocks noChangeAspect="1"/>
          </p:cNvPicPr>
          <p:nvPr/>
        </p:nvPicPr>
        <p:blipFill>
          <a:blip r:embed="rId6"/>
          <a:srcRect l="0" r="0" t="0" b="0"/>
          <a:stretch/>
        </p:blipFill>
        <p:spPr>
          <a:xfrm>
            <a:off x="0" y="0"/>
            <a:ext cx="12192000" cy="6858000"/>
          </a:xfrm>
          <a:prstGeom prst="rect">
            <a:avLst/>
          </a:prstGeom>
        </p:spPr>
      </p:pic>
      <p:sp>
        <p:nvSpPr>
          <p:cNvPr id="31" name="Shape 23"/>
          <p:cNvSpPr/>
          <p:nvPr/>
        </p:nvSpPr>
        <p:spPr>
          <a:xfrm>
            <a:off x="7470775" y="5121275"/>
            <a:ext cx="3905250" cy="603250"/>
          </a:xfrm>
          <a:prstGeom prst="roundRect">
            <a:avLst>
              <a:gd name="adj" fmla="val 20526"/>
            </a:avLst>
          </a:prstGeom>
          <a:solidFill>
            <a:srgbClr val="FFFFFF">
              <a:alpha val="70000"/>
            </a:srgbClr>
          </a:solidFill>
          <a:ln w="6350">
            <a:solidFill>
              <a:srgbClr val="31535C">
                <a:alpha val="16000"/>
              </a:srgbClr>
            </a:solidFill>
            <a:prstDash val="solid"/>
          </a:ln>
        </p:spPr>
      </p:sp>
      <p:sp>
        <p:nvSpPr>
          <p:cNvPr id="32" name="Text 24"/>
          <p:cNvSpPr/>
          <p:nvPr/>
        </p:nvSpPr>
        <p:spPr>
          <a:xfrm>
            <a:off x="7556500" y="5177532"/>
            <a:ext cx="406420" cy="291009"/>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D2D2D"/>
                </a:solidFill>
                <a:latin typeface="Arial" pitchFamily="34" charset="0"/>
                <a:ea typeface="Arial" pitchFamily="34" charset="-122"/>
                <a:cs typeface="Arial" pitchFamily="34" charset="-120"/>
              </a:rPr>
              <a:t>OCI</a:t>
            </a:r>
            <a:endParaRPr lang="en-US" sz="1500" dirty="0"/>
          </a:p>
        </p:txBody>
      </p:sp>
      <p:sp>
        <p:nvSpPr>
          <p:cNvPr id="33" name="Text 25"/>
          <p:cNvSpPr/>
          <p:nvPr/>
        </p:nvSpPr>
        <p:spPr>
          <a:xfrm>
            <a:off x="7556500" y="5455841"/>
            <a:ext cx="3678138" cy="237827"/>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Managed memory for agents on OCI services</a:t>
            </a:r>
            <a:endParaRPr lang="en-US" sz="1196" dirty="0"/>
          </a:p>
        </p:txBody>
      </p:sp>
      <p:sp>
        <p:nvSpPr>
          <p:cNvPr id="34" name="Text 26"/>
          <p:cNvSpPr/>
          <p:nvPr/>
        </p:nvSpPr>
        <p:spPr>
          <a:xfrm>
            <a:off x="812800" y="55880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Product direction, not a dated roadmap. Subject to change.</a:t>
            </a:r>
            <a:endParaRPr lang="en-US" sz="1200" dirty="0"/>
          </a:p>
        </p:txBody>
      </p:sp>
      <p:sp>
        <p:nvSpPr>
          <p:cNvPr id="35" name="Text 2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2603373" y="2794000"/>
            <a:ext cx="6985254" cy="1073150"/>
          </a:xfrm>
          <a:prstGeom prst="rect">
            <a:avLst/>
          </a:prstGeom>
          <a:noFill/>
          <a:ln/>
        </p:spPr>
        <p:txBody>
          <a:bodyPr wrap="none" lIns="0" tIns="0" rIns="0" bIns="0" rtlCol="0" anchor="t">
            <a:normAutofit/>
          </a:bodyPr>
          <a:lstStyle/>
          <a:p>
            <a:pPr algn="ctr" indent="0" marL="0">
              <a:lnSpc>
                <a:spcPts val="8250"/>
              </a:lnSpc>
              <a:buNone/>
            </a:pPr>
            <a:r>
              <a:rPr lang="en-US" sz="7500" b="1" spc="-150" kern="0" dirty="0">
                <a:solidFill>
                  <a:srgbClr val="FFFFFF"/>
                </a:solidFill>
                <a:latin typeface="Arial" pitchFamily="34" charset="0"/>
                <a:ea typeface="Arial" pitchFamily="34" charset="-122"/>
                <a:cs typeface="Arial" pitchFamily="34" charset="-120"/>
              </a:rPr>
              <a:t>Now we build</a:t>
            </a:r>
            <a:endParaRPr lang="en-US" sz="7500" dirty="0"/>
          </a:p>
        </p:txBody>
      </p:sp>
      <p:sp>
        <p:nvSpPr>
          <p:cNvPr id="4" name="Text 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2805875"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Now we build</a:t>
            </a:r>
            <a:endParaRPr lang="en-US" sz="2800" dirty="0"/>
          </a:p>
        </p:txBody>
      </p:sp>
      <p:sp>
        <p:nvSpPr>
          <p:cNvPr id="4" name="Text 2"/>
          <p:cNvSpPr/>
          <p:nvPr/>
        </p:nvSpPr>
        <p:spPr>
          <a:xfrm>
            <a:off x="812800" y="1905000"/>
            <a:ext cx="10464800" cy="838200"/>
          </a:xfrm>
          <a:prstGeom prst="rect">
            <a:avLst/>
          </a:prstGeom>
          <a:noFill/>
          <a:ln/>
        </p:spPr>
        <p:txBody>
          <a:bodyPr wrap="square" lIns="0" tIns="0" rIns="0" bIns="0" rtlCol="0" anchor="t">
            <a:normAutofit/>
          </a:bodyPr>
          <a:lstStyle/>
          <a:p>
            <a:pPr algn="l" indent="0" marL="0">
              <a:lnSpc>
                <a:spcPts val="3200"/>
              </a:lnSpc>
              <a:buNone/>
            </a:pPr>
            <a:r>
              <a:rPr lang="en-US" sz="2500" spc="-25" kern="0" dirty="0">
                <a:solidFill>
                  <a:srgbClr val="DEB068"/>
                </a:solidFill>
                <a:latin typeface="Arial" pitchFamily="34" charset="0"/>
                <a:ea typeface="Arial" pitchFamily="34" charset="-122"/>
                <a:cs typeface="Arial" pitchFamily="34" charset="-120"/>
              </a:rPr>
              <a:t>CityOps Copilot</a:t>
            </a:r>
            <a:r>
              <a:rPr lang="en-US" sz="2500" spc="-25" kern="0" dirty="0">
                <a:solidFill>
                  <a:srgbClr val="FFFFFF"/>
                </a:solidFill>
                <a:latin typeface="Arial" pitchFamily="34" charset="0"/>
                <a:ea typeface="Arial" pitchFamily="34" charset="-122"/>
                <a:cs typeface="Arial" pitchFamily="34" charset="-120"/>
              </a:rPr>
              <a:t>: a field assistant for the inspectors who keep a city’s infrastructure safe. It reads the asset’s full record, not just today’s visit.</a:t>
            </a:r>
            <a:endParaRPr lang="en-US" sz="2500" dirty="0"/>
          </a:p>
        </p:txBody>
      </p:sp>
      <p:sp>
        <p:nvSpPr>
          <p:cNvPr id="5" name="Shape 3"/>
          <p:cNvSpPr/>
          <p:nvPr/>
        </p:nvSpPr>
        <p:spPr>
          <a:xfrm>
            <a:off x="817563" y="3535363"/>
            <a:ext cx="3375025" cy="1616075"/>
          </a:xfrm>
          <a:prstGeom prst="roundRect">
            <a:avLst>
              <a:gd name="adj" fmla="val 8350"/>
            </a:avLst>
          </a:prstGeom>
          <a:solidFill>
            <a:srgbClr val="FFFFFF">
              <a:alpha val="6000"/>
            </a:srgbClr>
          </a:solidFill>
          <a:ln w="9525">
            <a:solidFill>
              <a:srgbClr val="FFFFFF">
                <a:alpha val="18000"/>
              </a:srgbClr>
            </a:solidFill>
            <a:prstDash val="solid"/>
          </a:ln>
        </p:spPr>
      </p:sp>
      <p:sp>
        <p:nvSpPr>
          <p:cNvPr id="6" name="Text 4"/>
          <p:cNvSpPr/>
          <p:nvPr/>
        </p:nvSpPr>
        <p:spPr>
          <a:xfrm>
            <a:off x="977900" y="3705225"/>
            <a:ext cx="93483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THE USER</a:t>
            </a:r>
            <a:endParaRPr lang="en-US" sz="1200" dirty="0"/>
          </a:p>
        </p:txBody>
      </p:sp>
      <p:sp>
        <p:nvSpPr>
          <p:cNvPr id="7" name="Text 5"/>
          <p:cNvSpPr/>
          <p:nvPr/>
        </p:nvSpPr>
        <p:spPr>
          <a:xfrm>
            <a:off x="977900" y="3969345"/>
            <a:ext cx="21974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An inspector on site</a:t>
            </a:r>
            <a:endParaRPr lang="en-US" sz="1500" dirty="0"/>
          </a:p>
        </p:txBody>
      </p:sp>
      <p:sp>
        <p:nvSpPr>
          <p:cNvPr id="8" name="Text 6"/>
          <p:cNvSpPr/>
          <p:nvPr/>
        </p:nvSpPr>
        <p:spPr>
          <a:xfrm>
            <a:off x="977900" y="4248745"/>
            <a:ext cx="314598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Bridges, substations, pipelines, water treatment, seawalls. They write up what they see, in plain language.</a:t>
            </a:r>
            <a:endParaRPr lang="en-US" sz="1200" dirty="0"/>
          </a:p>
        </p:txBody>
      </p:sp>
      <p:sp>
        <p:nvSpPr>
          <p:cNvPr id="9" name="Shape 7"/>
          <p:cNvSpPr/>
          <p:nvPr/>
        </p:nvSpPr>
        <p:spPr>
          <a:xfrm>
            <a:off x="4405313" y="3535363"/>
            <a:ext cx="3375025" cy="1616075"/>
          </a:xfrm>
          <a:prstGeom prst="roundRect">
            <a:avLst>
              <a:gd name="adj" fmla="val 8350"/>
            </a:avLst>
          </a:prstGeom>
          <a:solidFill>
            <a:srgbClr val="FFFFFF">
              <a:alpha val="6000"/>
            </a:srgbClr>
          </a:solidFill>
          <a:ln w="9525">
            <a:solidFill>
              <a:srgbClr val="FFFFFF">
                <a:alpha val="18000"/>
              </a:srgbClr>
            </a:solidFill>
            <a:prstDash val="solid"/>
          </a:ln>
        </p:spPr>
      </p:sp>
      <p:sp>
        <p:nvSpPr>
          <p:cNvPr id="10" name="Text 8"/>
          <p:cNvSpPr/>
          <p:nvPr/>
        </p:nvSpPr>
        <p:spPr>
          <a:xfrm>
            <a:off x="4565650" y="3640138"/>
            <a:ext cx="822375" cy="237827"/>
          </a:xfrm>
          <a:prstGeom prst="rect">
            <a:avLst/>
          </a:prstGeom>
          <a:noFill/>
          <a:ln/>
        </p:spPr>
        <p:txBody>
          <a:bodyPr wrap="none" lIns="0" tIns="0" rIns="0" bIns="0" rtlCol="0" anchor="t">
            <a:normAutofit/>
          </a:bodyPr>
          <a:lstStyle/>
          <a:p>
            <a:pPr algn="l" indent="0" marL="0">
              <a:lnSpc>
                <a:spcPts val="1675"/>
              </a:lnSpc>
              <a:buNone/>
            </a:pPr>
            <a:r>
              <a:rPr lang="en-US" sz="1196" spc="150" kern="0" dirty="0">
                <a:solidFill>
                  <a:srgbClr val="DEB068"/>
                </a:solidFill>
                <a:latin typeface="Courier New" pitchFamily="49" charset="0"/>
                <a:ea typeface="Courier New" pitchFamily="49" charset="-122"/>
                <a:cs typeface="Courier New" pitchFamily="49" charset="-120"/>
              </a:rPr>
              <a:t>THE JOB</a:t>
            </a:r>
            <a:endParaRPr lang="en-US" sz="1196" dirty="0"/>
          </a:p>
        </p:txBody>
      </p:sp>
      <p:sp>
        <p:nvSpPr>
          <p:cNvPr id="11" name="Text 9"/>
          <p:cNvSpPr/>
          <p:nvPr/>
        </p:nvSpPr>
        <p:spPr>
          <a:xfrm>
            <a:off x="4565650" y="3903365"/>
            <a:ext cx="3145981" cy="48066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Interpret, diagnose, point at history</a:t>
            </a:r>
            <a:endParaRPr lang="en-US" sz="1500" dirty="0"/>
          </a:p>
        </p:txBody>
      </p:sp>
      <p:sp>
        <p:nvSpPr>
          <p:cNvPr id="12" name="Text 10"/>
          <p:cNvSpPr/>
          <p:nvPr/>
        </p:nvSpPr>
        <p:spPr>
          <a:xfrm>
            <a:off x="4565650" y="4409430"/>
            <a:ext cx="3145981" cy="662583"/>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F2EFEA"/>
                </a:solidFill>
                <a:latin typeface="Arial" pitchFamily="34" charset="0"/>
                <a:ea typeface="Arial" pitchFamily="34" charset="-122"/>
                <a:cs typeface="Arial" pitchFamily="34" charset="-120"/>
              </a:rPr>
              <a:t>Suggest a likely diagnosis and cite what earlier inspectors observed, recommended and graded.</a:t>
            </a:r>
            <a:endParaRPr lang="en-US" sz="1196" dirty="0"/>
          </a:p>
        </p:txBody>
      </p:sp>
      <p:sp>
        <p:nvSpPr>
          <p:cNvPr id="13" name="Shape 11"/>
          <p:cNvSpPr/>
          <p:nvPr/>
        </p:nvSpPr>
        <p:spPr>
          <a:xfrm>
            <a:off x="7993063" y="3535363"/>
            <a:ext cx="3381375" cy="1616075"/>
          </a:xfrm>
          <a:prstGeom prst="roundRect">
            <a:avLst>
              <a:gd name="adj" fmla="val 8350"/>
            </a:avLst>
          </a:prstGeom>
          <a:solidFill>
            <a:srgbClr val="C74634">
              <a:alpha val="18000"/>
            </a:srgbClr>
          </a:solidFill>
          <a:ln w="9525">
            <a:solidFill>
              <a:srgbClr val="E8836F">
                <a:alpha val="80000"/>
              </a:srgbClr>
            </a:solidFill>
            <a:prstDash val="solid"/>
          </a:ln>
        </p:spPr>
      </p:sp>
      <p:sp>
        <p:nvSpPr>
          <p:cNvPr id="14" name="Text 12"/>
          <p:cNvSpPr/>
          <p:nvPr/>
        </p:nvSpPr>
        <p:spPr>
          <a:xfrm>
            <a:off x="8153400" y="3640138"/>
            <a:ext cx="1042789" cy="237827"/>
          </a:xfrm>
          <a:prstGeom prst="rect">
            <a:avLst/>
          </a:prstGeom>
          <a:noFill/>
          <a:ln/>
        </p:spPr>
        <p:txBody>
          <a:bodyPr wrap="none" lIns="0" tIns="0" rIns="0" bIns="0" rtlCol="0" anchor="t">
            <a:normAutofit/>
          </a:bodyPr>
          <a:lstStyle/>
          <a:p>
            <a:pPr algn="l" indent="0" marL="0">
              <a:lnSpc>
                <a:spcPts val="1675"/>
              </a:lnSpc>
              <a:buNone/>
            </a:pPr>
            <a:r>
              <a:rPr lang="en-US" sz="1196" spc="150" kern="0" dirty="0">
                <a:solidFill>
                  <a:srgbClr val="E8836F"/>
                </a:solidFill>
                <a:latin typeface="Courier New" pitchFamily="49" charset="0"/>
                <a:ea typeface="Courier New" pitchFamily="49" charset="-122"/>
                <a:cs typeface="Courier New" pitchFamily="49" charset="-120"/>
              </a:rPr>
              <a:t>THE TWIST</a:t>
            </a:r>
            <a:endParaRPr lang="en-US" sz="1196" dirty="0"/>
          </a:p>
        </p:txBody>
      </p:sp>
      <p:sp>
        <p:nvSpPr>
          <p:cNvPr id="15" name="Text 13"/>
          <p:cNvSpPr/>
          <p:nvPr/>
        </p:nvSpPr>
        <p:spPr>
          <a:xfrm>
            <a:off x="8153400" y="3903365"/>
            <a:ext cx="3152521" cy="48066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Memory across inspectors and visits</a:t>
            </a:r>
            <a:endParaRPr lang="en-US" sz="1500" dirty="0"/>
          </a:p>
        </p:txBody>
      </p:sp>
      <p:sp>
        <p:nvSpPr>
          <p:cNvPr id="16" name="Text 14"/>
          <p:cNvSpPr/>
          <p:nvPr/>
        </p:nvSpPr>
        <p:spPr>
          <a:xfrm>
            <a:off x="8153400" y="4409430"/>
            <a:ext cx="3152521" cy="662583"/>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F2EFEA"/>
                </a:solidFill>
                <a:latin typeface="Arial" pitchFamily="34" charset="0"/>
                <a:ea typeface="Arial" pitchFamily="34" charset="-122"/>
                <a:cs typeface="Arial" pitchFamily="34" charset="-120"/>
              </a:rPr>
              <a:t>26 assets, about 220 inspection findings, and real maintenance narratives distilled into memory by the SDK.</a:t>
            </a:r>
            <a:endParaRPr lang="en-US" sz="1196" dirty="0"/>
          </a:p>
        </p:txBody>
      </p:sp>
      <p:sp>
        <p:nvSpPr>
          <p:cNvPr id="17" name="Text 15"/>
          <p:cNvSpPr/>
          <p:nvPr/>
        </p:nvSpPr>
        <p:spPr>
          <a:xfrm>
            <a:off x="812800" y="5372100"/>
            <a:ext cx="113792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A new inspector on Harbor Bridge already knows what the last one found, without anyone telling them. That is the whole point of the notebook.</a:t>
            </a:r>
            <a:endParaRPr lang="en-US" sz="13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2805875"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Now we build</a:t>
            </a:r>
            <a:endParaRPr lang="en-US" sz="2800" dirty="0"/>
          </a:p>
        </p:txBody>
      </p:sp>
      <p:sp>
        <p:nvSpPr>
          <p:cNvPr id="4" name="Text 2"/>
          <p:cNvSpPr/>
          <p:nvPr/>
        </p:nvSpPr>
        <p:spPr>
          <a:xfrm>
            <a:off x="812800" y="1206500"/>
            <a:ext cx="1088339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DEB068"/>
                </a:solidFill>
                <a:latin typeface="Arial" pitchFamily="34" charset="0"/>
                <a:ea typeface="Arial" pitchFamily="34" charset="-122"/>
                <a:cs typeface="Arial" pitchFamily="34" charset="-120"/>
              </a:rPr>
              <a:t>CityOps Copilot</a:t>
            </a:r>
            <a:r>
              <a:rPr lang="en-US" sz="1500" dirty="0">
                <a:solidFill>
                  <a:srgbClr val="F2EFEA"/>
                </a:solidFill>
                <a:latin typeface="Arial" pitchFamily="34" charset="0"/>
                <a:ea typeface="Arial" pitchFamily="34" charset="-122"/>
                <a:cs typeface="Arial" pitchFamily="34" charset="-120"/>
              </a:rPr>
              <a:t>: a field assistant for the inspectors who keep a city’s infrastructure safe. It reads the asset’s full record, not just today’s visit.</a:t>
            </a:r>
            <a:endParaRPr lang="en-US" sz="1500" dirty="0"/>
          </a:p>
        </p:txBody>
      </p:sp>
      <p:sp>
        <p:nvSpPr>
          <p:cNvPr id="5" name="Text 3"/>
          <p:cNvSpPr/>
          <p:nvPr/>
        </p:nvSpPr>
        <p:spPr>
          <a:xfrm>
            <a:off x="812800" y="18161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EB9B7"/>
                </a:solidFill>
                <a:latin typeface="Courier New" pitchFamily="49" charset="0"/>
                <a:ea typeface="Courier New" pitchFamily="49" charset="-122"/>
                <a:cs typeface="Courier New" pitchFamily="49" charset="-120"/>
              </a:rPr>
              <a:t>ONE INSPECTION, FROM NARRATIVE TO DIAGNOSIS</a:t>
            </a:r>
            <a:endParaRPr lang="en-US" sz="1200" dirty="0"/>
          </a:p>
        </p:txBody>
      </p:sp>
      <p:sp>
        <p:nvSpPr>
          <p:cNvPr id="6" name="Shape 4"/>
          <p:cNvSpPr/>
          <p:nvPr/>
        </p:nvSpPr>
        <p:spPr>
          <a:xfrm>
            <a:off x="817563" y="2265363"/>
            <a:ext cx="1768475" cy="625475"/>
          </a:xfrm>
          <a:prstGeom prst="roundRect">
            <a:avLst>
              <a:gd name="adj" fmla="val 15482"/>
            </a:avLst>
          </a:prstGeom>
          <a:solidFill>
            <a:srgbClr val="FFFFFF">
              <a:alpha val="6000"/>
            </a:srgbClr>
          </a:solidFill>
          <a:ln w="9525">
            <a:solidFill>
              <a:srgbClr val="FFFFFF">
                <a:alpha val="18000"/>
              </a:srgbClr>
            </a:solidFill>
            <a:prstDash val="solid"/>
          </a:ln>
        </p:spPr>
      </p:sp>
      <p:pic>
        <p:nvPicPr>
          <p:cNvPr id="7" name="Image 0" descr="Users">    </p:cNvPr>
          <p:cNvPicPr>
            <a:picLocks noChangeAspect="1"/>
          </p:cNvPicPr>
          <p:nvPr/>
        </p:nvPicPr>
        <p:blipFill>
          <a:blip r:embed="rId1"/>
          <a:srcRect l="0" r="0" t="0" b="0"/>
          <a:stretch/>
        </p:blipFill>
        <p:spPr>
          <a:xfrm>
            <a:off x="901700" y="2451100"/>
            <a:ext cx="254000" cy="254000"/>
          </a:xfrm>
          <a:prstGeom prst="rect">
            <a:avLst/>
          </a:prstGeom>
        </p:spPr>
      </p:pic>
      <p:sp>
        <p:nvSpPr>
          <p:cNvPr id="8" name="Text 5"/>
          <p:cNvSpPr/>
          <p:nvPr/>
        </p:nvSpPr>
        <p:spPr>
          <a:xfrm>
            <a:off x="1244600" y="2367310"/>
            <a:ext cx="73674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Inspector</a:t>
            </a:r>
            <a:endParaRPr lang="en-US" sz="1200" dirty="0"/>
          </a:p>
        </p:txBody>
      </p:sp>
      <p:sp>
        <p:nvSpPr>
          <p:cNvPr id="9" name="Text 6"/>
          <p:cNvSpPr/>
          <p:nvPr/>
        </p:nvSpPr>
        <p:spPr>
          <a:xfrm>
            <a:off x="1244600" y="2593330"/>
            <a:ext cx="736749"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writes it up</a:t>
            </a:r>
            <a:endParaRPr lang="en-US" sz="1100" dirty="0"/>
          </a:p>
        </p:txBody>
      </p:sp>
      <p:pic>
        <p:nvPicPr>
          <p:cNvPr id="10" name="Image 1" descr="the narrative goes to the copilot">    </p:cNvPr>
          <p:cNvPicPr>
            <a:picLocks noChangeAspect="1"/>
          </p:cNvPicPr>
          <p:nvPr/>
        </p:nvPicPr>
        <p:blipFill>
          <a:blip r:embed="rId2"/>
          <a:srcRect l="0" r="0" t="0" b="0"/>
          <a:stretch/>
        </p:blipFill>
        <p:spPr>
          <a:xfrm>
            <a:off x="0" y="0"/>
            <a:ext cx="12192000" cy="6858000"/>
          </a:xfrm>
          <a:prstGeom prst="rect">
            <a:avLst/>
          </a:prstGeom>
        </p:spPr>
      </p:pic>
      <p:sp>
        <p:nvSpPr>
          <p:cNvPr id="11" name="Text 7"/>
          <p:cNvSpPr/>
          <p:nvPr/>
        </p:nvSpPr>
        <p:spPr>
          <a:xfrm>
            <a:off x="2260600" y="2057400"/>
            <a:ext cx="10033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E8836F"/>
                </a:solidFill>
                <a:latin typeface="Courier New" pitchFamily="49" charset="0"/>
                <a:ea typeface="Courier New" pitchFamily="49" charset="-122"/>
                <a:cs typeface="Courier New" pitchFamily="49" charset="-120"/>
              </a:rPr>
              <a:t>narrative</a:t>
            </a:r>
            <a:endParaRPr lang="en-US" sz="1000" dirty="0"/>
          </a:p>
        </p:txBody>
      </p:sp>
      <p:sp>
        <p:nvSpPr>
          <p:cNvPr id="12" name="Shape 8"/>
          <p:cNvSpPr/>
          <p:nvPr/>
        </p:nvSpPr>
        <p:spPr>
          <a:xfrm>
            <a:off x="2976563" y="2265363"/>
            <a:ext cx="2276475" cy="625475"/>
          </a:xfrm>
          <a:prstGeom prst="roundRect">
            <a:avLst>
              <a:gd name="adj" fmla="val 15482"/>
            </a:avLst>
          </a:prstGeom>
          <a:solidFill>
            <a:srgbClr val="36677D">
              <a:alpha val="35000"/>
            </a:srgbClr>
          </a:solidFill>
          <a:ln w="9525">
            <a:solidFill>
              <a:srgbClr val="7FC4DC"/>
            </a:solidFill>
            <a:prstDash val="solid"/>
          </a:ln>
        </p:spPr>
      </p:sp>
      <p:pic>
        <p:nvPicPr>
          <p:cNvPr id="13" name="Image 2" descr="Settings">    </p:cNvPr>
          <p:cNvPicPr>
            <a:picLocks noChangeAspect="1"/>
          </p:cNvPicPr>
          <p:nvPr/>
        </p:nvPicPr>
        <p:blipFill>
          <a:blip r:embed="rId3"/>
          <a:srcRect l="0" r="0" t="0" b="0"/>
          <a:stretch/>
        </p:blipFill>
        <p:spPr>
          <a:xfrm>
            <a:off x="3060700" y="2451100"/>
            <a:ext cx="254000" cy="254000"/>
          </a:xfrm>
          <a:prstGeom prst="rect">
            <a:avLst/>
          </a:prstGeom>
        </p:spPr>
      </p:pic>
      <p:sp>
        <p:nvSpPr>
          <p:cNvPr id="14" name="Text 9"/>
          <p:cNvSpPr/>
          <p:nvPr/>
        </p:nvSpPr>
        <p:spPr>
          <a:xfrm>
            <a:off x="3403600" y="2367310"/>
            <a:ext cx="99804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call_copilot</a:t>
            </a:r>
            <a:endParaRPr lang="en-US" sz="1200" dirty="0"/>
          </a:p>
        </p:txBody>
      </p:sp>
      <p:sp>
        <p:nvSpPr>
          <p:cNvPr id="15" name="Text 10"/>
          <p:cNvSpPr/>
          <p:nvPr/>
        </p:nvSpPr>
        <p:spPr>
          <a:xfrm>
            <a:off x="3403600" y="2593330"/>
            <a:ext cx="998041"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read, ask, write</a:t>
            </a:r>
            <a:endParaRPr lang="en-US" sz="1100" dirty="0"/>
          </a:p>
        </p:txBody>
      </p:sp>
      <p:sp>
        <p:nvSpPr>
          <p:cNvPr id="16" name="Shape 11"/>
          <p:cNvSpPr/>
          <p:nvPr/>
        </p:nvSpPr>
        <p:spPr>
          <a:xfrm>
            <a:off x="2976563" y="3344863"/>
            <a:ext cx="2530475" cy="536575"/>
          </a:xfrm>
          <a:prstGeom prst="roundRect">
            <a:avLst>
              <a:gd name="adj" fmla="val 18047"/>
            </a:avLst>
          </a:prstGeom>
          <a:solidFill>
            <a:srgbClr val="DEB068">
              <a:alpha val="14000"/>
            </a:srgbClr>
          </a:solidFill>
          <a:ln w="9525">
            <a:solidFill>
              <a:srgbClr val="DEB068">
                <a:alpha val="70000"/>
              </a:srgbClr>
            </a:solidFill>
            <a:prstDash val="solid"/>
          </a:ln>
        </p:spPr>
      </p:sp>
      <p:pic>
        <p:nvPicPr>
          <p:cNvPr id="17" name="Image 3" descr="Database">    </p:cNvPr>
          <p:cNvPicPr>
            <a:picLocks noChangeAspect="1"/>
          </p:cNvPicPr>
          <p:nvPr/>
        </p:nvPicPr>
        <p:blipFill>
          <a:blip r:embed="rId4"/>
          <a:srcRect l="0" r="0" t="0" b="0"/>
          <a:stretch/>
        </p:blipFill>
        <p:spPr>
          <a:xfrm>
            <a:off x="3060700" y="3486150"/>
            <a:ext cx="254000" cy="254000"/>
          </a:xfrm>
          <a:prstGeom prst="rect">
            <a:avLst/>
          </a:prstGeom>
        </p:spPr>
      </p:pic>
      <p:sp>
        <p:nvSpPr>
          <p:cNvPr id="18" name="Text 12"/>
          <p:cNvSpPr/>
          <p:nvPr/>
        </p:nvSpPr>
        <p:spPr>
          <a:xfrm>
            <a:off x="3403600" y="3411240"/>
            <a:ext cx="119181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Asset record</a:t>
            </a:r>
            <a:endParaRPr lang="en-US" sz="1200" dirty="0"/>
          </a:p>
        </p:txBody>
      </p:sp>
      <p:sp>
        <p:nvSpPr>
          <p:cNvPr id="19" name="Text 13"/>
          <p:cNvSpPr/>
          <p:nvPr/>
        </p:nvSpPr>
        <p:spPr>
          <a:xfrm>
            <a:off x="3403600" y="3637260"/>
            <a:ext cx="1191816"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CITY_ASSET · SQL</a:t>
            </a:r>
            <a:endParaRPr lang="en-US" sz="1000" dirty="0"/>
          </a:p>
        </p:txBody>
      </p:sp>
      <p:sp>
        <p:nvSpPr>
          <p:cNvPr id="20" name="Shape 14"/>
          <p:cNvSpPr/>
          <p:nvPr/>
        </p:nvSpPr>
        <p:spPr>
          <a:xfrm>
            <a:off x="2976563" y="4017963"/>
            <a:ext cx="2530475" cy="536575"/>
          </a:xfrm>
          <a:prstGeom prst="roundRect">
            <a:avLst>
              <a:gd name="adj" fmla="val 18047"/>
            </a:avLst>
          </a:prstGeom>
          <a:solidFill>
            <a:srgbClr val="DEB068">
              <a:alpha val="14000"/>
            </a:srgbClr>
          </a:solidFill>
          <a:ln w="9525">
            <a:solidFill>
              <a:srgbClr val="DEB068">
                <a:alpha val="70000"/>
              </a:srgbClr>
            </a:solidFill>
            <a:prstDash val="solid"/>
          </a:ln>
        </p:spPr>
      </p:sp>
      <p:pic>
        <p:nvPicPr>
          <p:cNvPr id="21" name="Image 4" descr="Book">    </p:cNvPr>
          <p:cNvPicPr>
            <a:picLocks noChangeAspect="1"/>
          </p:cNvPicPr>
          <p:nvPr/>
        </p:nvPicPr>
        <p:blipFill>
          <a:blip r:embed="rId5"/>
          <a:srcRect l="0" r="0" t="0" b="0"/>
          <a:stretch/>
        </p:blipFill>
        <p:spPr>
          <a:xfrm>
            <a:off x="3060700" y="4159250"/>
            <a:ext cx="254000" cy="254000"/>
          </a:xfrm>
          <a:prstGeom prst="rect">
            <a:avLst/>
          </a:prstGeom>
        </p:spPr>
      </p:pic>
      <p:sp>
        <p:nvSpPr>
          <p:cNvPr id="22" name="Text 15"/>
          <p:cNvSpPr/>
          <p:nvPr/>
        </p:nvSpPr>
        <p:spPr>
          <a:xfrm>
            <a:off x="3403600" y="4084340"/>
            <a:ext cx="189051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Own thread</a:t>
            </a:r>
            <a:endParaRPr lang="en-US" sz="1200" dirty="0"/>
          </a:p>
        </p:txBody>
      </p:sp>
      <p:sp>
        <p:nvSpPr>
          <p:cNvPr id="23" name="Text 16"/>
          <p:cNvSpPr/>
          <p:nvPr/>
        </p:nvSpPr>
        <p:spPr>
          <a:xfrm>
            <a:off x="3403600" y="4310360"/>
            <a:ext cx="1890511"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get_context_card · this inspector</a:t>
            </a:r>
            <a:endParaRPr lang="en-US" sz="1000" dirty="0"/>
          </a:p>
        </p:txBody>
      </p:sp>
      <p:sp>
        <p:nvSpPr>
          <p:cNvPr id="24" name="Shape 17"/>
          <p:cNvSpPr/>
          <p:nvPr/>
        </p:nvSpPr>
        <p:spPr>
          <a:xfrm>
            <a:off x="5592763" y="3344863"/>
            <a:ext cx="2530475" cy="536575"/>
          </a:xfrm>
          <a:prstGeom prst="roundRect">
            <a:avLst>
              <a:gd name="adj" fmla="val 18047"/>
            </a:avLst>
          </a:prstGeom>
          <a:solidFill>
            <a:srgbClr val="DEB068">
              <a:alpha val="14000"/>
            </a:srgbClr>
          </a:solidFill>
          <a:ln w="9525">
            <a:solidFill>
              <a:srgbClr val="DEB068">
                <a:alpha val="70000"/>
              </a:srgbClr>
            </a:solidFill>
            <a:prstDash val="solid"/>
          </a:ln>
        </p:spPr>
      </p:sp>
      <p:pic>
        <p:nvPicPr>
          <p:cNvPr id="25" name="Image 5" descr="Activity">    </p:cNvPr>
          <p:cNvPicPr>
            <a:picLocks noChangeAspect="1"/>
          </p:cNvPicPr>
          <p:nvPr/>
        </p:nvPicPr>
        <p:blipFill>
          <a:blip r:embed="rId6"/>
          <a:srcRect l="0" r="0" t="0" b="0"/>
          <a:stretch/>
        </p:blipFill>
        <p:spPr>
          <a:xfrm>
            <a:off x="5676900" y="3486150"/>
            <a:ext cx="254000" cy="254000"/>
          </a:xfrm>
          <a:prstGeom prst="rect">
            <a:avLst/>
          </a:prstGeom>
        </p:spPr>
      </p:pic>
      <p:sp>
        <p:nvSpPr>
          <p:cNvPr id="26" name="Text 18"/>
          <p:cNvSpPr/>
          <p:nvPr/>
        </p:nvSpPr>
        <p:spPr>
          <a:xfrm>
            <a:off x="6019800" y="3411240"/>
            <a:ext cx="186138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Pooled memory</a:t>
            </a:r>
            <a:endParaRPr lang="en-US" sz="1200" dirty="0"/>
          </a:p>
        </p:txBody>
      </p:sp>
      <p:sp>
        <p:nvSpPr>
          <p:cNvPr id="27" name="Text 19"/>
          <p:cNvSpPr/>
          <p:nvPr/>
        </p:nvSpPr>
        <p:spPr>
          <a:xfrm>
            <a:off x="6019800" y="3637260"/>
            <a:ext cx="1861385"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search_async · facts, guidelines</a:t>
            </a:r>
            <a:endParaRPr lang="en-US" sz="1000" dirty="0"/>
          </a:p>
        </p:txBody>
      </p:sp>
      <p:sp>
        <p:nvSpPr>
          <p:cNvPr id="28" name="Shape 20"/>
          <p:cNvSpPr/>
          <p:nvPr/>
        </p:nvSpPr>
        <p:spPr>
          <a:xfrm>
            <a:off x="5592763" y="4017963"/>
            <a:ext cx="2530475" cy="536575"/>
          </a:xfrm>
          <a:prstGeom prst="roundRect">
            <a:avLst>
              <a:gd name="adj" fmla="val 18047"/>
            </a:avLst>
          </a:prstGeom>
          <a:solidFill>
            <a:srgbClr val="DEB068">
              <a:alpha val="14000"/>
            </a:srgbClr>
          </a:solidFill>
          <a:ln w="9525">
            <a:solidFill>
              <a:srgbClr val="DEB068">
                <a:alpha val="70000"/>
              </a:srgbClr>
            </a:solidFill>
            <a:prstDash val="solid"/>
          </a:ln>
        </p:spPr>
      </p:sp>
      <p:pic>
        <p:nvPicPr>
          <p:cNvPr id="29" name="Image 6" descr="Star">    </p:cNvPr>
          <p:cNvPicPr>
            <a:picLocks noChangeAspect="1"/>
          </p:cNvPicPr>
          <p:nvPr/>
        </p:nvPicPr>
        <p:blipFill>
          <a:blip r:embed="rId7"/>
          <a:srcRect l="0" r="0" t="0" b="0"/>
          <a:stretch/>
        </p:blipFill>
        <p:spPr>
          <a:xfrm>
            <a:off x="5676900" y="4159250"/>
            <a:ext cx="254000" cy="254000"/>
          </a:xfrm>
          <a:prstGeom prst="rect">
            <a:avLst/>
          </a:prstGeom>
        </p:spPr>
      </p:pic>
      <p:sp>
        <p:nvSpPr>
          <p:cNvPr id="30" name="Text 21"/>
          <p:cNvSpPr/>
          <p:nvPr/>
        </p:nvSpPr>
        <p:spPr>
          <a:xfrm>
            <a:off x="6019800" y="4084340"/>
            <a:ext cx="156850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Similar findings</a:t>
            </a:r>
            <a:endParaRPr lang="en-US" sz="1200" dirty="0"/>
          </a:p>
        </p:txBody>
      </p:sp>
      <p:sp>
        <p:nvSpPr>
          <p:cNvPr id="31" name="Text 22"/>
          <p:cNvSpPr/>
          <p:nvPr/>
        </p:nvSpPr>
        <p:spPr>
          <a:xfrm>
            <a:off x="6019800" y="4310360"/>
            <a:ext cx="1568500"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vector search over findings</a:t>
            </a:r>
            <a:endParaRPr lang="en-US" sz="1000" dirty="0"/>
          </a:p>
        </p:txBody>
      </p:sp>
      <p:pic>
        <p:nvPicPr>
          <p:cNvPr id="32" name="Image 7" descr="four reads into the harness">    </p:cNvPr>
          <p:cNvPicPr>
            <a:picLocks noChangeAspect="1"/>
          </p:cNvPicPr>
          <p:nvPr/>
        </p:nvPicPr>
        <p:blipFill>
          <a:blip r:embed="rId8"/>
          <a:srcRect l="0" r="0" t="0" b="0"/>
          <a:stretch/>
        </p:blipFill>
        <p:spPr>
          <a:xfrm>
            <a:off x="0" y="0"/>
            <a:ext cx="12192000" cy="6858000"/>
          </a:xfrm>
          <a:prstGeom prst="rect">
            <a:avLst/>
          </a:prstGeom>
        </p:spPr>
      </p:pic>
      <p:pic>
        <p:nvPicPr>
          <p:cNvPr id="33" name="Image 8" descr="the second row feeds the first">    </p:cNvPr>
          <p:cNvPicPr>
            <a:picLocks noChangeAspect="1"/>
          </p:cNvPicPr>
          <p:nvPr/>
        </p:nvPicPr>
        <p:blipFill>
          <a:blip r:embed="rId9"/>
          <a:srcRect l="0" r="0" t="0" b="0"/>
          <a:stretch/>
        </p:blipFill>
        <p:spPr>
          <a:xfrm>
            <a:off x="0" y="0"/>
            <a:ext cx="12192000" cy="6858000"/>
          </a:xfrm>
          <a:prstGeom prst="rect">
            <a:avLst/>
          </a:prstGeom>
        </p:spPr>
      </p:pic>
      <p:sp>
        <p:nvSpPr>
          <p:cNvPr id="34" name="Text 23"/>
          <p:cNvSpPr/>
          <p:nvPr/>
        </p:nvSpPr>
        <p:spPr>
          <a:xfrm>
            <a:off x="3632200" y="2959100"/>
            <a:ext cx="196215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DEB068"/>
                </a:solidFill>
                <a:latin typeface="Courier New" pitchFamily="49" charset="0"/>
                <a:ea typeface="Courier New" pitchFamily="49" charset="-122"/>
                <a:cs typeface="Courier New" pitchFamily="49" charset="-120"/>
              </a:rPr>
              <a:t>reads · the context</a:t>
            </a:r>
            <a:endParaRPr lang="en-US" sz="1000" dirty="0"/>
          </a:p>
        </p:txBody>
      </p:sp>
      <p:pic>
        <p:nvPicPr>
          <p:cNvPr id="35" name="Image 9" descr="prompt to the model">    </p:cNvPr>
          <p:cNvPicPr>
            <a:picLocks noChangeAspect="1"/>
          </p:cNvPicPr>
          <p:nvPr/>
        </p:nvPicPr>
        <p:blipFill>
          <a:blip r:embed="rId10"/>
          <a:srcRect l="0" r="0" t="0" b="0"/>
          <a:stretch/>
        </p:blipFill>
        <p:spPr>
          <a:xfrm>
            <a:off x="0" y="0"/>
            <a:ext cx="12192000" cy="6858000"/>
          </a:xfrm>
          <a:prstGeom prst="rect">
            <a:avLst/>
          </a:prstGeom>
        </p:spPr>
      </p:pic>
      <p:sp>
        <p:nvSpPr>
          <p:cNvPr id="36" name="Text 24"/>
          <p:cNvSpPr/>
          <p:nvPr/>
        </p:nvSpPr>
        <p:spPr>
          <a:xfrm>
            <a:off x="5305425" y="2324100"/>
            <a:ext cx="196215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7FC4DC"/>
                </a:solidFill>
                <a:latin typeface="Courier New" pitchFamily="49" charset="0"/>
                <a:ea typeface="Courier New" pitchFamily="49" charset="-122"/>
                <a:cs typeface="Courier New" pitchFamily="49" charset="-120"/>
              </a:rPr>
              <a:t>prompt + context</a:t>
            </a:r>
            <a:endParaRPr lang="en-US" sz="1000" dirty="0"/>
          </a:p>
        </p:txBody>
      </p:sp>
      <p:sp>
        <p:nvSpPr>
          <p:cNvPr id="37" name="Shape 25"/>
          <p:cNvSpPr/>
          <p:nvPr/>
        </p:nvSpPr>
        <p:spPr>
          <a:xfrm>
            <a:off x="7370763" y="2265363"/>
            <a:ext cx="1641475" cy="625475"/>
          </a:xfrm>
          <a:prstGeom prst="roundRect">
            <a:avLst>
              <a:gd name="adj" fmla="val 15482"/>
            </a:avLst>
          </a:prstGeom>
          <a:solidFill>
            <a:srgbClr val="FFFFFF">
              <a:alpha val="6000"/>
            </a:srgbClr>
          </a:solidFill>
          <a:ln w="9525">
            <a:solidFill>
              <a:srgbClr val="FFFFFF">
                <a:alpha val="18000"/>
              </a:srgbClr>
            </a:solidFill>
            <a:prstDash val="solid"/>
          </a:ln>
        </p:spPr>
      </p:sp>
      <p:pic>
        <p:nvPicPr>
          <p:cNvPr id="38" name="Image 10" descr="Lightbulb">    </p:cNvPr>
          <p:cNvPicPr>
            <a:picLocks noChangeAspect="1"/>
          </p:cNvPicPr>
          <p:nvPr/>
        </p:nvPicPr>
        <p:blipFill>
          <a:blip r:embed="rId11"/>
          <a:srcRect l="0" r="0" t="0" b="0"/>
          <a:stretch/>
        </p:blipFill>
        <p:spPr>
          <a:xfrm>
            <a:off x="7454900" y="2451100"/>
            <a:ext cx="254000" cy="254000"/>
          </a:xfrm>
          <a:prstGeom prst="rect">
            <a:avLst/>
          </a:prstGeom>
        </p:spPr>
      </p:pic>
      <p:sp>
        <p:nvSpPr>
          <p:cNvPr id="39" name="Text 26"/>
          <p:cNvSpPr/>
          <p:nvPr/>
        </p:nvSpPr>
        <p:spPr>
          <a:xfrm>
            <a:off x="7797800" y="2358430"/>
            <a:ext cx="102497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LLM</a:t>
            </a:r>
            <a:endParaRPr lang="en-US" sz="1200" dirty="0"/>
          </a:p>
        </p:txBody>
      </p:sp>
      <p:sp>
        <p:nvSpPr>
          <p:cNvPr id="40" name="Text 27"/>
          <p:cNvSpPr/>
          <p:nvPr/>
        </p:nvSpPr>
        <p:spPr>
          <a:xfrm>
            <a:off x="7797800" y="2584450"/>
            <a:ext cx="102497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llama3.2, local</a:t>
            </a:r>
            <a:endParaRPr lang="en-US" sz="1200" dirty="0"/>
          </a:p>
        </p:txBody>
      </p:sp>
      <p:pic>
        <p:nvPicPr>
          <p:cNvPr id="41" name="Image 11" descr="the answer">    </p:cNvPr>
          <p:cNvPicPr>
            <a:picLocks noChangeAspect="1"/>
          </p:cNvPicPr>
          <p:nvPr/>
        </p:nvPicPr>
        <p:blipFill>
          <a:blip r:embed="rId12"/>
          <a:srcRect l="0" r="0" t="0" b="0"/>
          <a:stretch/>
        </p:blipFill>
        <p:spPr>
          <a:xfrm>
            <a:off x="0" y="0"/>
            <a:ext cx="12192000" cy="6858000"/>
          </a:xfrm>
          <a:prstGeom prst="rect">
            <a:avLst/>
          </a:prstGeom>
        </p:spPr>
      </p:pic>
      <p:sp>
        <p:nvSpPr>
          <p:cNvPr id="42" name="Shape 28"/>
          <p:cNvSpPr/>
          <p:nvPr/>
        </p:nvSpPr>
        <p:spPr>
          <a:xfrm>
            <a:off x="9402763" y="2265363"/>
            <a:ext cx="1971675" cy="625475"/>
          </a:xfrm>
          <a:prstGeom prst="roundRect">
            <a:avLst>
              <a:gd name="adj" fmla="val 15482"/>
            </a:avLst>
          </a:prstGeom>
          <a:solidFill>
            <a:srgbClr val="36677D">
              <a:alpha val="35000"/>
            </a:srgbClr>
          </a:solidFill>
          <a:ln w="9525">
            <a:solidFill>
              <a:srgbClr val="7FC4DC"/>
            </a:solidFill>
            <a:prstDash val="solid"/>
          </a:ln>
        </p:spPr>
      </p:sp>
      <p:pic>
        <p:nvPicPr>
          <p:cNvPr id="43" name="Image 12" descr="Check">    </p:cNvPr>
          <p:cNvPicPr>
            <a:picLocks noChangeAspect="1"/>
          </p:cNvPicPr>
          <p:nvPr/>
        </p:nvPicPr>
        <p:blipFill>
          <a:blip r:embed="rId13"/>
          <a:srcRect l="0" r="0" t="0" b="0"/>
          <a:stretch/>
        </p:blipFill>
        <p:spPr>
          <a:xfrm>
            <a:off x="9486900" y="2451100"/>
            <a:ext cx="254000" cy="254000"/>
          </a:xfrm>
          <a:prstGeom prst="rect">
            <a:avLst/>
          </a:prstGeom>
        </p:spPr>
      </p:pic>
      <p:sp>
        <p:nvSpPr>
          <p:cNvPr id="44" name="Text 29"/>
          <p:cNvSpPr/>
          <p:nvPr/>
        </p:nvSpPr>
        <p:spPr>
          <a:xfrm>
            <a:off x="9829800" y="2376190"/>
            <a:ext cx="108153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Diagnosis</a:t>
            </a:r>
            <a:endParaRPr lang="en-US" sz="1200" dirty="0"/>
          </a:p>
        </p:txBody>
      </p:sp>
      <p:sp>
        <p:nvSpPr>
          <p:cNvPr id="45" name="Text 30"/>
          <p:cNvSpPr/>
          <p:nvPr/>
        </p:nvSpPr>
        <p:spPr>
          <a:xfrm>
            <a:off x="9829800" y="2602210"/>
            <a:ext cx="1081534"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cites grade and fix</a:t>
            </a:r>
            <a:endParaRPr lang="en-US" sz="1000" dirty="0"/>
          </a:p>
        </p:txBody>
      </p:sp>
      <p:pic>
        <p:nvPicPr>
          <p:cNvPr id="46" name="Image 13" descr="the turn is written back">    </p:cNvPr>
          <p:cNvPicPr>
            <a:picLocks noChangeAspect="1"/>
          </p:cNvPicPr>
          <p:nvPr/>
        </p:nvPicPr>
        <p:blipFill>
          <a:blip r:embed="rId14"/>
          <a:srcRect l="0" r="0" t="0" b="0"/>
          <a:stretch/>
        </p:blipFill>
        <p:spPr>
          <a:xfrm>
            <a:off x="0" y="0"/>
            <a:ext cx="12192000" cy="6858000"/>
          </a:xfrm>
          <a:prstGeom prst="rect">
            <a:avLst/>
          </a:prstGeom>
        </p:spPr>
      </p:pic>
      <p:sp>
        <p:nvSpPr>
          <p:cNvPr id="47" name="Text 31"/>
          <p:cNvSpPr/>
          <p:nvPr/>
        </p:nvSpPr>
        <p:spPr>
          <a:xfrm>
            <a:off x="10464800" y="2959100"/>
            <a:ext cx="100330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E8836F"/>
                </a:solidFill>
                <a:latin typeface="Courier New" pitchFamily="49" charset="0"/>
                <a:ea typeface="Courier New" pitchFamily="49" charset="-122"/>
                <a:cs typeface="Courier New" pitchFamily="49" charset="-120"/>
              </a:rPr>
              <a:t>add_messages</a:t>
            </a:r>
            <a:endParaRPr lang="en-US" sz="1000" dirty="0"/>
          </a:p>
        </p:txBody>
      </p:sp>
      <p:sp>
        <p:nvSpPr>
          <p:cNvPr id="48" name="Shape 32"/>
          <p:cNvSpPr/>
          <p:nvPr/>
        </p:nvSpPr>
        <p:spPr>
          <a:xfrm>
            <a:off x="8259763" y="3344863"/>
            <a:ext cx="3114675" cy="536575"/>
          </a:xfrm>
          <a:prstGeom prst="roundRect">
            <a:avLst>
              <a:gd name="adj" fmla="val 18047"/>
            </a:avLst>
          </a:prstGeom>
          <a:solidFill>
            <a:srgbClr val="C74634">
              <a:alpha val="18000"/>
            </a:srgbClr>
          </a:solidFill>
          <a:ln w="9525">
            <a:solidFill>
              <a:srgbClr val="E8836F">
                <a:alpha val="80000"/>
              </a:srgbClr>
            </a:solidFill>
            <a:prstDash val="solid"/>
          </a:ln>
        </p:spPr>
      </p:sp>
      <p:pic>
        <p:nvPicPr>
          <p:cNvPr id="49" name="Image 14" descr="Database">    </p:cNvPr>
          <p:cNvPicPr>
            <a:picLocks noChangeAspect="1"/>
          </p:cNvPicPr>
          <p:nvPr/>
        </p:nvPicPr>
        <p:blipFill>
          <a:blip r:embed="rId15"/>
          <a:srcRect l="0" r="0" t="0" b="0"/>
          <a:stretch/>
        </p:blipFill>
        <p:spPr>
          <a:xfrm>
            <a:off x="8343900" y="3486150"/>
            <a:ext cx="254000" cy="254000"/>
          </a:xfrm>
          <a:prstGeom prst="rect">
            <a:avLst/>
          </a:prstGeom>
        </p:spPr>
      </p:pic>
      <p:sp>
        <p:nvSpPr>
          <p:cNvPr id="50" name="Text 33"/>
          <p:cNvSpPr/>
          <p:nvPr/>
        </p:nvSpPr>
        <p:spPr>
          <a:xfrm>
            <a:off x="8686800" y="3402360"/>
            <a:ext cx="255912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Write back</a:t>
            </a:r>
            <a:endParaRPr lang="en-US" sz="1200" dirty="0"/>
          </a:p>
        </p:txBody>
      </p:sp>
      <p:sp>
        <p:nvSpPr>
          <p:cNvPr id="51" name="Text 34"/>
          <p:cNvSpPr/>
          <p:nvPr/>
        </p:nvSpPr>
        <p:spPr>
          <a:xfrm>
            <a:off x="8686800" y="3628380"/>
            <a:ext cx="2559124"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CITY_MESSAGE, then the SDK derives</a:t>
            </a:r>
            <a:endParaRPr lang="en-US" sz="1100" dirty="0"/>
          </a:p>
        </p:txBody>
      </p:sp>
      <p:sp>
        <p:nvSpPr>
          <p:cNvPr id="52" name="Shape 35"/>
          <p:cNvSpPr/>
          <p:nvPr/>
        </p:nvSpPr>
        <p:spPr>
          <a:xfrm>
            <a:off x="8259763" y="4017963"/>
            <a:ext cx="3114675" cy="536575"/>
          </a:xfrm>
          <a:prstGeom prst="roundRect">
            <a:avLst>
              <a:gd name="adj" fmla="val 18047"/>
            </a:avLst>
          </a:prstGeom>
          <a:solidFill>
            <a:srgbClr val="C74634">
              <a:alpha val="18000"/>
            </a:srgbClr>
          </a:solidFill>
          <a:ln w="9525">
            <a:solidFill>
              <a:srgbClr val="E8836F">
                <a:alpha val="80000"/>
              </a:srgbClr>
            </a:solidFill>
            <a:prstDash val="solid"/>
          </a:ln>
        </p:spPr>
      </p:sp>
      <p:pic>
        <p:nvPicPr>
          <p:cNvPr id="53" name="Image 15" descr="Database">    </p:cNvPr>
          <p:cNvPicPr>
            <a:picLocks noChangeAspect="1"/>
          </p:cNvPicPr>
          <p:nvPr/>
        </p:nvPicPr>
        <p:blipFill>
          <a:blip r:embed="rId16"/>
          <a:srcRect l="0" r="0" t="0" b="0"/>
          <a:stretch/>
        </p:blipFill>
        <p:spPr>
          <a:xfrm>
            <a:off x="8343900" y="4159250"/>
            <a:ext cx="254000" cy="254000"/>
          </a:xfrm>
          <a:prstGeom prst="rect">
            <a:avLst/>
          </a:prstGeom>
        </p:spPr>
      </p:pic>
      <p:sp>
        <p:nvSpPr>
          <p:cNvPr id="54" name="Text 36"/>
          <p:cNvSpPr/>
          <p:nvPr/>
        </p:nvSpPr>
        <p:spPr>
          <a:xfrm>
            <a:off x="8686800" y="4075460"/>
            <a:ext cx="2420343"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CITY_MEMORY + CITY_THREAD</a:t>
            </a:r>
            <a:endParaRPr lang="en-US" sz="1200" dirty="0"/>
          </a:p>
        </p:txBody>
      </p:sp>
      <p:sp>
        <p:nvSpPr>
          <p:cNvPr id="55" name="Text 37"/>
          <p:cNvSpPr/>
          <p:nvPr/>
        </p:nvSpPr>
        <p:spPr>
          <a:xfrm>
            <a:off x="8686800" y="4301480"/>
            <a:ext cx="2420343"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extractor distils; summary refreshes</a:t>
            </a:r>
            <a:endParaRPr lang="en-US" sz="1100" dirty="0"/>
          </a:p>
        </p:txBody>
      </p:sp>
      <p:pic>
        <p:nvPicPr>
          <p:cNvPr id="56" name="Image 16" descr="extracted records">    </p:cNvPr>
          <p:cNvPicPr>
            <a:picLocks noChangeAspect="1"/>
          </p:cNvPicPr>
          <p:nvPr/>
        </p:nvPicPr>
        <p:blipFill>
          <a:blip r:embed="rId17"/>
          <a:srcRect l="0" r="0" t="0" b="0"/>
          <a:stretch/>
        </p:blipFill>
        <p:spPr>
          <a:xfrm>
            <a:off x="0" y="0"/>
            <a:ext cx="12192000" cy="6858000"/>
          </a:xfrm>
          <a:prstGeom prst="rect">
            <a:avLst/>
          </a:prstGeom>
        </p:spPr>
      </p:pic>
      <p:pic>
        <p:nvPicPr>
          <p:cNvPr id="57" name="Image 17" descr="memory written today is pooled memory for the next inspector">    </p:cNvPr>
          <p:cNvPicPr>
            <a:picLocks noChangeAspect="1"/>
          </p:cNvPicPr>
          <p:nvPr/>
        </p:nvPicPr>
        <p:blipFill>
          <a:blip r:embed="rId18"/>
          <a:srcRect l="0" r="0" t="0" b="0"/>
          <a:stretch/>
        </p:blipFill>
        <p:spPr>
          <a:xfrm>
            <a:off x="0" y="0"/>
            <a:ext cx="12192000" cy="6858000"/>
          </a:xfrm>
          <a:prstGeom prst="rect">
            <a:avLst/>
          </a:prstGeom>
        </p:spPr>
      </p:pic>
      <p:sp>
        <p:nvSpPr>
          <p:cNvPr id="58" name="Text 38"/>
          <p:cNvSpPr/>
          <p:nvPr/>
        </p:nvSpPr>
        <p:spPr>
          <a:xfrm>
            <a:off x="7785100" y="4597400"/>
            <a:ext cx="93980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E8836F"/>
                </a:solidFill>
                <a:latin typeface="Courier New" pitchFamily="49" charset="0"/>
                <a:ea typeface="Courier New" pitchFamily="49" charset="-122"/>
                <a:cs typeface="Courier New" pitchFamily="49" charset="-120"/>
              </a:rPr>
              <a:t>next visit</a:t>
            </a:r>
            <a:endParaRPr lang="en-US" sz="1000" dirty="0"/>
          </a:p>
        </p:txBody>
      </p:sp>
      <p:sp>
        <p:nvSpPr>
          <p:cNvPr id="59" name="Text 39"/>
          <p:cNvSpPr/>
          <p:nvPr/>
        </p:nvSpPr>
        <p:spPr>
          <a:xfrm>
            <a:off x="812800" y="5334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Day 1: Mercer. Day N: Vance, who has never met her. What her turn wrote on day 1 is what his turn reads on day N, with no human handoff.</a:t>
            </a:r>
            <a:endParaRPr lang="en-US" sz="1300" dirty="0"/>
          </a:p>
        </p:txBody>
      </p:sp>
      <p:sp>
        <p:nvSpPr>
          <p:cNvPr id="60" name="Text 4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The stack in the notebook, layer by layer</a:t>
            </a:r>
            <a:endParaRPr lang="en-US" sz="2800" dirty="0"/>
          </a:p>
        </p:txBody>
      </p:sp>
      <p:sp>
        <p:nvSpPr>
          <p:cNvPr id="4" name="Shape 2"/>
          <p:cNvSpPr/>
          <p:nvPr/>
        </p:nvSpPr>
        <p:spPr>
          <a:xfrm>
            <a:off x="817563" y="14017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5" name="Text 3"/>
          <p:cNvSpPr/>
          <p:nvPr/>
        </p:nvSpPr>
        <p:spPr>
          <a:xfrm>
            <a:off x="965200" y="140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AEB9B7"/>
                </a:solidFill>
                <a:latin typeface="Courier New" pitchFamily="49" charset="0"/>
                <a:ea typeface="Courier New" pitchFamily="49" charset="-122"/>
                <a:cs typeface="Courier New" pitchFamily="49" charset="-120"/>
              </a:rPr>
              <a:t>APPLICATION LAYER</a:t>
            </a:r>
            <a:endParaRPr lang="en-US" sz="1100" dirty="0"/>
          </a:p>
        </p:txBody>
      </p:sp>
      <p:sp>
        <p:nvSpPr>
          <p:cNvPr id="6" name="Shape 4"/>
          <p:cNvSpPr/>
          <p:nvPr/>
        </p:nvSpPr>
        <p:spPr>
          <a:xfrm>
            <a:off x="817563" y="2671763"/>
            <a:ext cx="7432675" cy="1895475"/>
          </a:xfrm>
          <a:prstGeom prst="roundRect">
            <a:avLst>
              <a:gd name="adj" fmla="val 7119"/>
            </a:avLst>
          </a:prstGeom>
          <a:solidFill>
            <a:srgbClr val="FFFFFF">
              <a:alpha val="2000"/>
            </a:srgbClr>
          </a:solidFill>
          <a:ln w="9525">
            <a:solidFill>
              <a:srgbClr val="FFFFFF">
                <a:alpha val="16000"/>
              </a:srgbClr>
            </a:solidFill>
            <a:prstDash val="dash"/>
          </a:ln>
        </p:spPr>
      </p:sp>
      <p:sp>
        <p:nvSpPr>
          <p:cNvPr id="7" name="Text 5"/>
          <p:cNvSpPr/>
          <p:nvPr/>
        </p:nvSpPr>
        <p:spPr>
          <a:xfrm>
            <a:off x="965200" y="267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E8836F"/>
                </a:solidFill>
                <a:latin typeface="Courier New" pitchFamily="49" charset="0"/>
                <a:ea typeface="Courier New" pitchFamily="49" charset="-122"/>
                <a:cs typeface="Courier New" pitchFamily="49" charset="-120"/>
              </a:rPr>
              <a:t>MEMORY LAYER</a:t>
            </a:r>
            <a:endParaRPr lang="en-US" sz="1100" dirty="0"/>
          </a:p>
        </p:txBody>
      </p:sp>
      <p:sp>
        <p:nvSpPr>
          <p:cNvPr id="8" name="Shape 6"/>
          <p:cNvSpPr/>
          <p:nvPr/>
        </p:nvSpPr>
        <p:spPr>
          <a:xfrm>
            <a:off x="817563" y="48942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9" name="Text 7"/>
          <p:cNvSpPr/>
          <p:nvPr/>
        </p:nvSpPr>
        <p:spPr>
          <a:xfrm>
            <a:off x="965200" y="49022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DEB068"/>
                </a:solidFill>
                <a:latin typeface="Courier New" pitchFamily="49" charset="0"/>
                <a:ea typeface="Courier New" pitchFamily="49" charset="-122"/>
                <a:cs typeface="Courier New" pitchFamily="49" charset="-120"/>
              </a:rPr>
              <a:t>DATA LAYER</a:t>
            </a:r>
            <a:endParaRPr lang="en-US" sz="1100" dirty="0"/>
          </a:p>
        </p:txBody>
      </p:sp>
      <p:sp>
        <p:nvSpPr>
          <p:cNvPr id="10" name="Shape 8"/>
          <p:cNvSpPr/>
          <p:nvPr/>
        </p:nvSpPr>
        <p:spPr>
          <a:xfrm>
            <a:off x="8716963" y="1401763"/>
            <a:ext cx="2657475" cy="4435475"/>
          </a:xfrm>
          <a:prstGeom prst="roundRect">
            <a:avLst>
              <a:gd name="adj" fmla="val 5078"/>
            </a:avLst>
          </a:prstGeom>
          <a:solidFill>
            <a:srgbClr val="FFFFFF">
              <a:alpha val="2000"/>
            </a:srgbClr>
          </a:solidFill>
          <a:ln w="9525">
            <a:solidFill>
              <a:srgbClr val="FFFFFF">
                <a:alpha val="16000"/>
              </a:srgbClr>
            </a:solidFill>
            <a:prstDash val="dash"/>
          </a:ln>
        </p:spPr>
      </p:sp>
      <p:sp>
        <p:nvSpPr>
          <p:cNvPr id="11" name="Text 9"/>
          <p:cNvSpPr/>
          <p:nvPr/>
        </p:nvSpPr>
        <p:spPr>
          <a:xfrm>
            <a:off x="8864600" y="1409700"/>
            <a:ext cx="2433066"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7FC4DC"/>
                </a:solidFill>
                <a:latin typeface="Courier New" pitchFamily="49" charset="0"/>
                <a:ea typeface="Courier New" pitchFamily="49" charset="-122"/>
                <a:cs typeface="Courier New" pitchFamily="49" charset="-120"/>
              </a:rPr>
              <a:t>MODEL LAYER</a:t>
            </a:r>
            <a:endParaRPr lang="en-US" sz="1100" dirty="0"/>
          </a:p>
        </p:txBody>
      </p:sp>
      <p:sp>
        <p:nvSpPr>
          <p:cNvPr id="12" name="Shape 10"/>
          <p:cNvSpPr/>
          <p:nvPr/>
        </p:nvSpPr>
        <p:spPr>
          <a:xfrm>
            <a:off x="969963" y="1668463"/>
            <a:ext cx="2149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3" name="Image 0" descr="Book">    </p:cNvPr>
          <p:cNvPicPr>
            <a:picLocks noChangeAspect="1"/>
          </p:cNvPicPr>
          <p:nvPr/>
        </p:nvPicPr>
        <p:blipFill>
          <a:blip r:embed="rId1"/>
          <a:srcRect l="0" r="0" t="0" b="0"/>
          <a:stretch/>
        </p:blipFill>
        <p:spPr>
          <a:xfrm>
            <a:off x="1054100" y="1841500"/>
            <a:ext cx="254000" cy="254000"/>
          </a:xfrm>
          <a:prstGeom prst="rect">
            <a:avLst/>
          </a:prstGeom>
        </p:spPr>
      </p:pic>
      <p:sp>
        <p:nvSpPr>
          <p:cNvPr id="14" name="Text 11"/>
          <p:cNvSpPr/>
          <p:nvPr/>
        </p:nvSpPr>
        <p:spPr>
          <a:xfrm>
            <a:off x="1397000" y="1766590"/>
            <a:ext cx="160034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JupyterLab notebook</a:t>
            </a:r>
            <a:endParaRPr lang="en-US" sz="1200" dirty="0"/>
          </a:p>
        </p:txBody>
      </p:sp>
      <p:sp>
        <p:nvSpPr>
          <p:cNvPr id="15" name="Text 12"/>
          <p:cNvSpPr/>
          <p:nvPr/>
        </p:nvSpPr>
        <p:spPr>
          <a:xfrm>
            <a:off x="1397000" y="1992610"/>
            <a:ext cx="1600349"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in the LiveLabs sandbox</a:t>
            </a:r>
            <a:endParaRPr lang="en-US" sz="1000" dirty="0"/>
          </a:p>
        </p:txBody>
      </p:sp>
      <p:sp>
        <p:nvSpPr>
          <p:cNvPr id="16" name="Shape 13"/>
          <p:cNvSpPr/>
          <p:nvPr/>
        </p:nvSpPr>
        <p:spPr>
          <a:xfrm>
            <a:off x="3230563" y="1668463"/>
            <a:ext cx="22891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7" name="Image 1" descr="Link">    </p:cNvPr>
          <p:cNvPicPr>
            <a:picLocks noChangeAspect="1"/>
          </p:cNvPicPr>
          <p:nvPr/>
        </p:nvPicPr>
        <p:blipFill>
          <a:blip r:embed="rId2"/>
          <a:srcRect l="0" r="0" t="0" b="0"/>
          <a:stretch/>
        </p:blipFill>
        <p:spPr>
          <a:xfrm>
            <a:off x="3314700" y="1841500"/>
            <a:ext cx="254000" cy="254000"/>
          </a:xfrm>
          <a:prstGeom prst="rect">
            <a:avLst/>
          </a:prstGeom>
        </p:spPr>
      </p:pic>
      <p:sp>
        <p:nvSpPr>
          <p:cNvPr id="18" name="Text 14"/>
          <p:cNvSpPr/>
          <p:nvPr/>
        </p:nvSpPr>
        <p:spPr>
          <a:xfrm>
            <a:off x="3657600" y="1766590"/>
            <a:ext cx="164608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LangChain</a:t>
            </a:r>
            <a:endParaRPr lang="en-US" sz="1200" dirty="0"/>
          </a:p>
        </p:txBody>
      </p:sp>
      <p:sp>
        <p:nvSpPr>
          <p:cNvPr id="19" name="Text 15"/>
          <p:cNvSpPr/>
          <p:nvPr/>
        </p:nvSpPr>
        <p:spPr>
          <a:xfrm>
            <a:off x="3657600" y="1992610"/>
            <a:ext cx="1646089"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ChatOllama, message types</a:t>
            </a:r>
            <a:endParaRPr lang="en-US" sz="1000" dirty="0"/>
          </a:p>
        </p:txBody>
      </p:sp>
      <p:sp>
        <p:nvSpPr>
          <p:cNvPr id="20" name="Shape 16"/>
          <p:cNvSpPr/>
          <p:nvPr/>
        </p:nvSpPr>
        <p:spPr>
          <a:xfrm>
            <a:off x="5630863" y="1668463"/>
            <a:ext cx="2403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1" name="Image 2" descr="Settings">    </p:cNvPr>
          <p:cNvPicPr>
            <a:picLocks noChangeAspect="1"/>
          </p:cNvPicPr>
          <p:nvPr/>
        </p:nvPicPr>
        <p:blipFill>
          <a:blip r:embed="rId3"/>
          <a:srcRect l="0" r="0" t="0" b="0"/>
          <a:stretch/>
        </p:blipFill>
        <p:spPr>
          <a:xfrm>
            <a:off x="5715000" y="1841500"/>
            <a:ext cx="254000" cy="254000"/>
          </a:xfrm>
          <a:prstGeom prst="rect">
            <a:avLst/>
          </a:prstGeom>
        </p:spPr>
      </p:pic>
      <p:sp>
        <p:nvSpPr>
          <p:cNvPr id="22" name="Text 17"/>
          <p:cNvSpPr/>
          <p:nvPr/>
        </p:nvSpPr>
        <p:spPr>
          <a:xfrm>
            <a:off x="6057900" y="1766590"/>
            <a:ext cx="154746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call_copilot</a:t>
            </a:r>
            <a:endParaRPr lang="en-US" sz="1200" dirty="0"/>
          </a:p>
        </p:txBody>
      </p:sp>
      <p:sp>
        <p:nvSpPr>
          <p:cNvPr id="23" name="Text 18"/>
          <p:cNvSpPr/>
          <p:nvPr/>
        </p:nvSpPr>
        <p:spPr>
          <a:xfrm>
            <a:off x="6057900" y="1992610"/>
            <a:ext cx="1547465"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the harness, async Python</a:t>
            </a:r>
            <a:endParaRPr lang="en-US" sz="1000" dirty="0"/>
          </a:p>
        </p:txBody>
      </p:sp>
      <p:sp>
        <p:nvSpPr>
          <p:cNvPr id="24" name="Shape 19"/>
          <p:cNvSpPr/>
          <p:nvPr/>
        </p:nvSpPr>
        <p:spPr>
          <a:xfrm>
            <a:off x="8869363" y="1668463"/>
            <a:ext cx="23526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5" name="Image 3" descr="Lightbulb">    </p:cNvPr>
          <p:cNvPicPr>
            <a:picLocks noChangeAspect="1"/>
          </p:cNvPicPr>
          <p:nvPr/>
        </p:nvPicPr>
        <p:blipFill>
          <a:blip r:embed="rId4"/>
          <a:srcRect l="0" r="0" t="0" b="0"/>
          <a:stretch/>
        </p:blipFill>
        <p:spPr>
          <a:xfrm>
            <a:off x="8953500" y="1841500"/>
            <a:ext cx="254000" cy="254000"/>
          </a:xfrm>
          <a:prstGeom prst="rect">
            <a:avLst/>
          </a:prstGeom>
        </p:spPr>
      </p:pic>
      <p:sp>
        <p:nvSpPr>
          <p:cNvPr id="26" name="Text 20"/>
          <p:cNvSpPr/>
          <p:nvPr/>
        </p:nvSpPr>
        <p:spPr>
          <a:xfrm>
            <a:off x="9296400" y="1766590"/>
            <a:ext cx="145717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llama3.2 via Ollama</a:t>
            </a:r>
            <a:endParaRPr lang="en-US" sz="1200" dirty="0"/>
          </a:p>
        </p:txBody>
      </p:sp>
      <p:sp>
        <p:nvSpPr>
          <p:cNvPr id="27" name="Text 21"/>
          <p:cNvSpPr/>
          <p:nvPr/>
        </p:nvSpPr>
        <p:spPr>
          <a:xfrm>
            <a:off x="9296400" y="1992610"/>
            <a:ext cx="1457176"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the copilot LLM, local</a:t>
            </a:r>
            <a:endParaRPr lang="en-US" sz="1000" dirty="0"/>
          </a:p>
        </p:txBody>
      </p:sp>
      <p:sp>
        <p:nvSpPr>
          <p:cNvPr id="28" name="Shape 22"/>
          <p:cNvSpPr/>
          <p:nvPr/>
        </p:nvSpPr>
        <p:spPr>
          <a:xfrm>
            <a:off x="8869363" y="2874963"/>
            <a:ext cx="23526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9" name="Image 4" descr="Lightning">    </p:cNvPr>
          <p:cNvPicPr>
            <a:picLocks noChangeAspect="1"/>
          </p:cNvPicPr>
          <p:nvPr/>
        </p:nvPicPr>
        <p:blipFill>
          <a:blip r:embed="rId5"/>
          <a:srcRect l="0" r="0" t="0" b="0"/>
          <a:stretch/>
        </p:blipFill>
        <p:spPr>
          <a:xfrm>
            <a:off x="8953500" y="3048000"/>
            <a:ext cx="254000" cy="254000"/>
          </a:xfrm>
          <a:prstGeom prst="rect">
            <a:avLst/>
          </a:prstGeom>
        </p:spPr>
      </p:pic>
      <p:sp>
        <p:nvSpPr>
          <p:cNvPr id="30" name="Text 23"/>
          <p:cNvSpPr/>
          <p:nvPr/>
        </p:nvSpPr>
        <p:spPr>
          <a:xfrm>
            <a:off x="9296400" y="2973090"/>
            <a:ext cx="156850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llama3.2 via Ollama</a:t>
            </a:r>
            <a:endParaRPr lang="en-US" sz="1200" dirty="0"/>
          </a:p>
        </p:txBody>
      </p:sp>
      <p:sp>
        <p:nvSpPr>
          <p:cNvPr id="31" name="Text 24"/>
          <p:cNvSpPr/>
          <p:nvPr/>
        </p:nvSpPr>
        <p:spPr>
          <a:xfrm>
            <a:off x="9296400" y="3199110"/>
            <a:ext cx="1568500"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the SDK extractor, LiteLLM</a:t>
            </a:r>
            <a:endParaRPr lang="en-US" sz="1000" dirty="0"/>
          </a:p>
        </p:txBody>
      </p:sp>
      <p:sp>
        <p:nvSpPr>
          <p:cNvPr id="32" name="Shape 25"/>
          <p:cNvSpPr/>
          <p:nvPr/>
        </p:nvSpPr>
        <p:spPr>
          <a:xfrm>
            <a:off x="8869363" y="4094163"/>
            <a:ext cx="23526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33" name="Image 5" descr="Activity">    </p:cNvPr>
          <p:cNvPicPr>
            <a:picLocks noChangeAspect="1"/>
          </p:cNvPicPr>
          <p:nvPr/>
        </p:nvPicPr>
        <p:blipFill>
          <a:blip r:embed="rId6"/>
          <a:srcRect l="0" r="0" t="0" b="0"/>
          <a:stretch/>
        </p:blipFill>
        <p:spPr>
          <a:xfrm>
            <a:off x="8953500" y="4267200"/>
            <a:ext cx="254000" cy="254000"/>
          </a:xfrm>
          <a:prstGeom prst="rect">
            <a:avLst/>
          </a:prstGeom>
        </p:spPr>
      </p:pic>
      <p:sp>
        <p:nvSpPr>
          <p:cNvPr id="34" name="Text 26"/>
          <p:cNvSpPr/>
          <p:nvPr/>
        </p:nvSpPr>
        <p:spPr>
          <a:xfrm>
            <a:off x="9296400" y="4192290"/>
            <a:ext cx="171693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ALL_MINILM_L12_V2</a:t>
            </a:r>
            <a:endParaRPr lang="en-US" sz="1200" dirty="0"/>
          </a:p>
        </p:txBody>
      </p:sp>
      <p:sp>
        <p:nvSpPr>
          <p:cNvPr id="35" name="Text 27"/>
          <p:cNvSpPr/>
          <p:nvPr/>
        </p:nvSpPr>
        <p:spPr>
          <a:xfrm>
            <a:off x="9296400" y="4418310"/>
            <a:ext cx="1716931"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ONNX in the database, 384-d</a:t>
            </a:r>
            <a:endParaRPr lang="en-US" sz="1000" dirty="0"/>
          </a:p>
        </p:txBody>
      </p:sp>
      <p:sp>
        <p:nvSpPr>
          <p:cNvPr id="36" name="Text 28"/>
          <p:cNvSpPr/>
          <p:nvPr/>
        </p:nvSpPr>
        <p:spPr>
          <a:xfrm>
            <a:off x="8864600" y="4775200"/>
            <a:ext cx="2433066" cy="368300"/>
          </a:xfrm>
          <a:prstGeom prst="rect">
            <a:avLst/>
          </a:prstGeom>
          <a:noFill/>
          <a:ln/>
        </p:spPr>
        <p:txBody>
          <a:bodyPr wrap="square" lIns="0" tIns="0" rIns="0" bIns="0" rtlCol="0" anchor="t">
            <a:normAutofit/>
          </a:bodyPr>
          <a:lstStyle/>
          <a:p>
            <a:pPr algn="l" indent="0" marL="0">
              <a:lnSpc>
                <a:spcPts val="1350"/>
              </a:lnSpc>
              <a:buNone/>
            </a:pPr>
            <a:r>
              <a:rPr lang="en-US" sz="1000" i="1" dirty="0">
                <a:solidFill>
                  <a:srgbClr val="AEB9B7"/>
                </a:solidFill>
                <a:latin typeface="Arial" pitchFamily="34" charset="0"/>
                <a:ea typeface="Arial" pitchFamily="34" charset="-122"/>
                <a:cs typeface="Arial" pitchFamily="34" charset="-120"/>
              </a:rPr>
              <a:t>No reranker here: VECTOR_DISTANCE orders, SQL filters.</a:t>
            </a:r>
            <a:endParaRPr lang="en-US" sz="1000" dirty="0"/>
          </a:p>
        </p:txBody>
      </p:sp>
      <p:sp>
        <p:nvSpPr>
          <p:cNvPr id="37" name="Shape 29"/>
          <p:cNvSpPr/>
          <p:nvPr/>
        </p:nvSpPr>
        <p:spPr>
          <a:xfrm>
            <a:off x="969963" y="2874963"/>
            <a:ext cx="7064375" cy="1654175"/>
          </a:xfrm>
          <a:prstGeom prst="roundRect">
            <a:avLst>
              <a:gd name="adj" fmla="val 6622"/>
            </a:avLst>
          </a:prstGeom>
          <a:solidFill>
            <a:srgbClr val="FFFFFF">
              <a:alpha val="5000"/>
            </a:srgbClr>
          </a:solidFill>
          <a:ln w="9525">
            <a:solidFill>
              <a:srgbClr val="FFFFFF">
                <a:alpha val="22000"/>
              </a:srgbClr>
            </a:solidFill>
            <a:prstDash val="solid"/>
          </a:ln>
        </p:spPr>
      </p:sp>
      <p:pic>
        <p:nvPicPr>
          <p:cNvPr id="38" name="Image 6" descr="Activity">    </p:cNvPr>
          <p:cNvPicPr>
            <a:picLocks noChangeAspect="1"/>
          </p:cNvPicPr>
          <p:nvPr/>
        </p:nvPicPr>
        <p:blipFill>
          <a:blip r:embed="rId7"/>
          <a:srcRect l="0" r="0" t="0" b="0"/>
          <a:stretch/>
        </p:blipFill>
        <p:spPr>
          <a:xfrm>
            <a:off x="1092200" y="3006378"/>
            <a:ext cx="203200" cy="203200"/>
          </a:xfrm>
          <a:prstGeom prst="rect">
            <a:avLst/>
          </a:prstGeom>
        </p:spPr>
      </p:pic>
      <p:sp>
        <p:nvSpPr>
          <p:cNvPr id="39" name="Text 30"/>
          <p:cNvSpPr/>
          <p:nvPr/>
        </p:nvSpPr>
        <p:spPr>
          <a:xfrm>
            <a:off x="1397000" y="3001318"/>
            <a:ext cx="3073166"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FFFFFF"/>
                </a:solidFill>
                <a:latin typeface="Courier New" pitchFamily="49" charset="0"/>
                <a:ea typeface="Courier New" pitchFamily="49" charset="-122"/>
                <a:cs typeface="Courier New" pitchFamily="49" charset="-120"/>
              </a:rPr>
              <a:t>ORACLEAGENTMEMORY · THE SDK</a:t>
            </a:r>
            <a:endParaRPr lang="en-US" sz="1200" dirty="0"/>
          </a:p>
        </p:txBody>
      </p:sp>
      <p:sp>
        <p:nvSpPr>
          <p:cNvPr id="40" name="Text 31"/>
          <p:cNvSpPr/>
          <p:nvPr/>
        </p:nvSpPr>
        <p:spPr>
          <a:xfrm>
            <a:off x="1092200" y="3278088"/>
            <a:ext cx="1404838" cy="238621"/>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E8836F"/>
                </a:solidFill>
                <a:latin typeface="Courier New" pitchFamily="49" charset="0"/>
                <a:ea typeface="Courier New" pitchFamily="49" charset="-122"/>
                <a:cs typeface="Courier New" pitchFamily="49" charset="-120"/>
              </a:rPr>
              <a:t>WHAT YOU CALL</a:t>
            </a:r>
            <a:endParaRPr lang="en-US" sz="1200" dirty="0"/>
          </a:p>
        </p:txBody>
      </p:sp>
      <p:sp>
        <p:nvSpPr>
          <p:cNvPr id="41" name="Text 32"/>
          <p:cNvSpPr/>
          <p:nvPr/>
        </p:nvSpPr>
        <p:spPr>
          <a:xfrm>
            <a:off x="1092200" y="3554809"/>
            <a:ext cx="1143198"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create_thread</a:t>
            </a:r>
            <a:endParaRPr lang="en-US" sz="1000" dirty="0"/>
          </a:p>
        </p:txBody>
      </p:sp>
      <p:sp>
        <p:nvSpPr>
          <p:cNvPr id="42" name="Text 33"/>
          <p:cNvSpPr/>
          <p:nvPr/>
        </p:nvSpPr>
        <p:spPr>
          <a:xfrm>
            <a:off x="2311598" y="3554809"/>
            <a:ext cx="1524248"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add_messages_async</a:t>
            </a:r>
            <a:endParaRPr lang="en-US" sz="1000" dirty="0"/>
          </a:p>
        </p:txBody>
      </p:sp>
      <p:sp>
        <p:nvSpPr>
          <p:cNvPr id="43" name="Text 34"/>
          <p:cNvSpPr/>
          <p:nvPr/>
        </p:nvSpPr>
        <p:spPr>
          <a:xfrm>
            <a:off x="3912046" y="3554809"/>
            <a:ext cx="838349"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extractor</a:t>
            </a:r>
            <a:endParaRPr lang="en-US" sz="1000" dirty="0"/>
          </a:p>
        </p:txBody>
      </p:sp>
      <p:sp>
        <p:nvSpPr>
          <p:cNvPr id="44" name="Text 35"/>
          <p:cNvSpPr/>
          <p:nvPr/>
        </p:nvSpPr>
        <p:spPr>
          <a:xfrm>
            <a:off x="4826595" y="3554809"/>
            <a:ext cx="1829098"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get_context_card_async</a:t>
            </a:r>
            <a:endParaRPr lang="en-US" sz="1000" dirty="0"/>
          </a:p>
        </p:txBody>
      </p:sp>
      <p:sp>
        <p:nvSpPr>
          <p:cNvPr id="45" name="Text 36"/>
          <p:cNvSpPr/>
          <p:nvPr/>
        </p:nvSpPr>
        <p:spPr>
          <a:xfrm>
            <a:off x="6731893" y="3554809"/>
            <a:ext cx="1066949"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search_async</a:t>
            </a:r>
            <a:endParaRPr lang="en-US" sz="1000" dirty="0"/>
          </a:p>
        </p:txBody>
      </p:sp>
      <p:sp>
        <p:nvSpPr>
          <p:cNvPr id="46" name="Text 37"/>
          <p:cNvSpPr/>
          <p:nvPr/>
        </p:nvSpPr>
        <p:spPr>
          <a:xfrm>
            <a:off x="1092200" y="3872161"/>
            <a:ext cx="2145591" cy="238621"/>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7FC4DC"/>
                </a:solidFill>
                <a:latin typeface="Courier New" pitchFamily="49" charset="0"/>
                <a:ea typeface="Courier New" pitchFamily="49" charset="-122"/>
                <a:cs typeface="Courier New" pitchFamily="49" charset="-120"/>
              </a:rPr>
              <a:t>HOW IT IS CONFIGURED</a:t>
            </a:r>
            <a:endParaRPr lang="en-US" sz="1200" dirty="0"/>
          </a:p>
        </p:txBody>
      </p:sp>
      <p:sp>
        <p:nvSpPr>
          <p:cNvPr id="47" name="Text 38"/>
          <p:cNvSpPr/>
          <p:nvPr/>
        </p:nvSpPr>
        <p:spPr>
          <a:xfrm>
            <a:off x="1092200" y="4148882"/>
            <a:ext cx="1752898"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user · agent · thread</a:t>
            </a:r>
            <a:endParaRPr lang="en-US" sz="1000" dirty="0"/>
          </a:p>
        </p:txBody>
      </p:sp>
      <p:sp>
        <p:nvSpPr>
          <p:cNvPr id="48" name="Text 39"/>
          <p:cNvSpPr/>
          <p:nvPr/>
        </p:nvSpPr>
        <p:spPr>
          <a:xfrm>
            <a:off x="2921298" y="4148882"/>
            <a:ext cx="1752898"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extract_memories=True</a:t>
            </a:r>
            <a:endParaRPr lang="en-US" sz="1000" dirty="0"/>
          </a:p>
        </p:txBody>
      </p:sp>
      <p:sp>
        <p:nvSpPr>
          <p:cNvPr id="49" name="Text 40"/>
          <p:cNvSpPr/>
          <p:nvPr/>
        </p:nvSpPr>
        <p:spPr>
          <a:xfrm>
            <a:off x="4750395" y="4148882"/>
            <a:ext cx="1600448"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CREATE_IF_NECESSARY</a:t>
            </a:r>
            <a:endParaRPr lang="en-US" sz="1000" dirty="0"/>
          </a:p>
        </p:txBody>
      </p:sp>
      <p:sp>
        <p:nvSpPr>
          <p:cNvPr id="50" name="Text 41"/>
          <p:cNvSpPr/>
          <p:nvPr/>
        </p:nvSpPr>
        <p:spPr>
          <a:xfrm>
            <a:off x="6427043" y="4148882"/>
            <a:ext cx="1066949"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prefix CITY_</a:t>
            </a:r>
            <a:endParaRPr lang="en-US" sz="1000" dirty="0"/>
          </a:p>
        </p:txBody>
      </p:sp>
      <p:sp>
        <p:nvSpPr>
          <p:cNvPr id="51" name="Shape 42"/>
          <p:cNvSpPr/>
          <p:nvPr/>
        </p:nvSpPr>
        <p:spPr>
          <a:xfrm>
            <a:off x="969963" y="5097463"/>
            <a:ext cx="7064375" cy="688975"/>
          </a:xfrm>
          <a:prstGeom prst="roundRect">
            <a:avLst>
              <a:gd name="adj" fmla="val 15899"/>
            </a:avLst>
          </a:prstGeom>
          <a:solidFill>
            <a:srgbClr val="DEB068">
              <a:alpha val="6000"/>
            </a:srgbClr>
          </a:solidFill>
          <a:ln w="9525">
            <a:solidFill>
              <a:srgbClr val="DEB068">
                <a:alpha val="45000"/>
              </a:srgbClr>
            </a:solidFill>
            <a:prstDash val="solid"/>
          </a:ln>
        </p:spPr>
      </p:sp>
      <p:pic>
        <p:nvPicPr>
          <p:cNvPr id="52" name="Image 7" descr="Database">    </p:cNvPr>
          <p:cNvPicPr>
            <a:picLocks noChangeAspect="1"/>
          </p:cNvPicPr>
          <p:nvPr/>
        </p:nvPicPr>
        <p:blipFill>
          <a:blip r:embed="rId8"/>
          <a:srcRect l="0" r="0" t="0" b="0"/>
          <a:stretch/>
        </p:blipFill>
        <p:spPr>
          <a:xfrm>
            <a:off x="1066800" y="5192613"/>
            <a:ext cx="203200" cy="203200"/>
          </a:xfrm>
          <a:prstGeom prst="rect">
            <a:avLst/>
          </a:prstGeom>
        </p:spPr>
      </p:pic>
      <p:sp>
        <p:nvSpPr>
          <p:cNvPr id="53" name="Text 43"/>
          <p:cNvSpPr/>
          <p:nvPr/>
        </p:nvSpPr>
        <p:spPr>
          <a:xfrm>
            <a:off x="1371600" y="5187603"/>
            <a:ext cx="523572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ORACLE AI DATABASE 26AI · FREE, IN THE SANDBOX</a:t>
            </a:r>
            <a:endParaRPr lang="en-US" sz="1200" dirty="0"/>
          </a:p>
        </p:txBody>
      </p:sp>
      <p:sp>
        <p:nvSpPr>
          <p:cNvPr id="54" name="Text 44"/>
          <p:cNvSpPr/>
          <p:nvPr/>
        </p:nvSpPr>
        <p:spPr>
          <a:xfrm>
            <a:off x="1066800" y="5451525"/>
            <a:ext cx="845790" cy="244624"/>
          </a:xfrm>
          <a:custGeom>
            <a:avLst/>
            <a:gdLst/>
            <a:ahLst/>
            <a:cxnLst/>
            <a:rect l="l" t="t" r="r" b="b"/>
            <a:pathLst>
              <a:path w="845790" h="244624">
                <a:moveTo>
                  <a:pt x="122312" y="0"/>
                </a:moveTo>
                <a:lnTo>
                  <a:pt x="723478" y="0"/>
                </a:lnTo>
                <a:arcTo hR="122312" wR="122312" stAng="16200000" swAng="5400000"/>
                <a:lnTo>
                  <a:pt x="845790" y="122312"/>
                </a:lnTo>
                <a:arcTo hR="122312" wR="122312" stAng="0" swAng="5400000"/>
                <a:lnTo>
                  <a:pt x="122312" y="244624"/>
                </a:lnTo>
                <a:arcTo hR="122312" wR="122312" stAng="5400000" swAng="5400000"/>
                <a:lnTo>
                  <a:pt x="0" y="122312"/>
                </a:lnTo>
                <a:arcTo hR="122312" wR="122312" stAng="10800000" swAng="5400000"/>
                <a:close/>
              </a:path>
            </a:pathLst>
          </a:custGeom>
          <a:solidFill>
            <a:srgbClr val="DEB068">
              <a:alpha val="2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CITY_ASSET</a:t>
            </a:r>
            <a:endParaRPr lang="en-US" sz="950" dirty="0"/>
          </a:p>
        </p:txBody>
      </p:sp>
      <p:sp>
        <p:nvSpPr>
          <p:cNvPr id="55" name="Text 45"/>
          <p:cNvSpPr/>
          <p:nvPr/>
        </p:nvSpPr>
        <p:spPr>
          <a:xfrm>
            <a:off x="1976090" y="5451525"/>
            <a:ext cx="2663726" cy="244624"/>
          </a:xfrm>
          <a:custGeom>
            <a:avLst/>
            <a:gdLst/>
            <a:ahLst/>
            <a:cxnLst/>
            <a:rect l="l" t="t" r="r" b="b"/>
            <a:pathLst>
              <a:path w="2663726" h="244624">
                <a:moveTo>
                  <a:pt x="122312" y="0"/>
                </a:moveTo>
                <a:lnTo>
                  <a:pt x="2541414" y="0"/>
                </a:lnTo>
                <a:arcTo hR="122312" wR="122312" stAng="16200000" swAng="5400000"/>
                <a:lnTo>
                  <a:pt x="2663726" y="122312"/>
                </a:lnTo>
                <a:arcTo hR="122312" wR="122312" stAng="0" swAng="5400000"/>
                <a:lnTo>
                  <a:pt x="122312" y="244624"/>
                </a:lnTo>
                <a:arcTo hR="122312" wR="122312" stAng="5400000" swAng="5400000"/>
                <a:lnTo>
                  <a:pt x="0" y="122312"/>
                </a:lnTo>
                <a:arcTo hR="122312" wR="122312" stAng="10800000" swAng="5400000"/>
                <a:close/>
              </a:path>
            </a:pathLst>
          </a:custGeom>
          <a:solidFill>
            <a:srgbClr val="DEB068">
              <a:alpha val="2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CITY_INSPECTION_FINDING + VECTOR(384)</a:t>
            </a:r>
            <a:endParaRPr lang="en-US" sz="950" dirty="0"/>
          </a:p>
        </p:txBody>
      </p:sp>
      <p:sp>
        <p:nvSpPr>
          <p:cNvPr id="56" name="Text 46"/>
          <p:cNvSpPr/>
          <p:nvPr/>
        </p:nvSpPr>
        <p:spPr>
          <a:xfrm>
            <a:off x="4703316" y="5451525"/>
            <a:ext cx="1046907" cy="244624"/>
          </a:xfrm>
          <a:custGeom>
            <a:avLst/>
            <a:gdLst/>
            <a:ahLst/>
            <a:cxnLst/>
            <a:rect l="l" t="t" r="r" b="b"/>
            <a:pathLst>
              <a:path w="1046907" h="244624">
                <a:moveTo>
                  <a:pt x="122312" y="0"/>
                </a:moveTo>
                <a:lnTo>
                  <a:pt x="924595" y="0"/>
                </a:lnTo>
                <a:arcTo hR="122312" wR="122312" stAng="16200000" swAng="5400000"/>
                <a:lnTo>
                  <a:pt x="1046907" y="122312"/>
                </a:lnTo>
                <a:arcTo hR="122312" wR="122312" stAng="0" swAng="5400000"/>
                <a:lnTo>
                  <a:pt x="122312" y="244624"/>
                </a:lnTo>
                <a:arcTo hR="122312" wR="122312" stAng="5400000" swAng="5400000"/>
                <a:lnTo>
                  <a:pt x="0" y="122312"/>
                </a:lnTo>
                <a:arcTo hR="122312" wR="122312"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CITY_MESSAGE</a:t>
            </a:r>
            <a:endParaRPr lang="en-US" sz="950" dirty="0"/>
          </a:p>
        </p:txBody>
      </p:sp>
      <p:sp>
        <p:nvSpPr>
          <p:cNvPr id="57" name="Text 47"/>
          <p:cNvSpPr/>
          <p:nvPr/>
        </p:nvSpPr>
        <p:spPr>
          <a:xfrm>
            <a:off x="5813723" y="5451525"/>
            <a:ext cx="981968" cy="244624"/>
          </a:xfrm>
          <a:custGeom>
            <a:avLst/>
            <a:gdLst/>
            <a:ahLst/>
            <a:cxnLst/>
            <a:rect l="l" t="t" r="r" b="b"/>
            <a:pathLst>
              <a:path w="981968" h="244624">
                <a:moveTo>
                  <a:pt x="122312" y="0"/>
                </a:moveTo>
                <a:lnTo>
                  <a:pt x="859656" y="0"/>
                </a:lnTo>
                <a:arcTo hR="122312" wR="122312" stAng="16200000" swAng="5400000"/>
                <a:lnTo>
                  <a:pt x="981968" y="122312"/>
                </a:lnTo>
                <a:arcTo hR="122312" wR="122312" stAng="0" swAng="5400000"/>
                <a:lnTo>
                  <a:pt x="122312" y="244624"/>
                </a:lnTo>
                <a:arcTo hR="122312" wR="122312" stAng="5400000" swAng="5400000"/>
                <a:lnTo>
                  <a:pt x="0" y="122312"/>
                </a:lnTo>
                <a:arcTo hR="122312" wR="122312"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CITY_MEMORY</a:t>
            </a:r>
            <a:endParaRPr lang="en-US" sz="950" dirty="0"/>
          </a:p>
        </p:txBody>
      </p:sp>
      <p:sp>
        <p:nvSpPr>
          <p:cNvPr id="58" name="Text 48"/>
          <p:cNvSpPr/>
          <p:nvPr/>
        </p:nvSpPr>
        <p:spPr>
          <a:xfrm>
            <a:off x="6859191" y="5451525"/>
            <a:ext cx="946249" cy="244624"/>
          </a:xfrm>
          <a:custGeom>
            <a:avLst/>
            <a:gdLst/>
            <a:ahLst/>
            <a:cxnLst/>
            <a:rect l="l" t="t" r="r" b="b"/>
            <a:pathLst>
              <a:path w="946249" h="244624">
                <a:moveTo>
                  <a:pt x="122312" y="0"/>
                </a:moveTo>
                <a:lnTo>
                  <a:pt x="823937" y="0"/>
                </a:lnTo>
                <a:arcTo hR="122312" wR="122312" stAng="16200000" swAng="5400000"/>
                <a:lnTo>
                  <a:pt x="946249" y="122312"/>
                </a:lnTo>
                <a:arcTo hR="122312" wR="122312" stAng="0" swAng="5400000"/>
                <a:lnTo>
                  <a:pt x="122312" y="244624"/>
                </a:lnTo>
                <a:arcTo hR="122312" wR="122312" stAng="5400000" swAng="5400000"/>
                <a:lnTo>
                  <a:pt x="0" y="122312"/>
                </a:lnTo>
                <a:arcTo hR="122312" wR="122312"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CITY_THREAD</a:t>
            </a:r>
            <a:endParaRPr lang="en-US" sz="950" dirty="0"/>
          </a:p>
        </p:txBody>
      </p:sp>
      <p:sp>
        <p:nvSpPr>
          <p:cNvPr id="59" name="Text 49"/>
          <p:cNvSpPr/>
          <p:nvPr/>
        </p:nvSpPr>
        <p:spPr>
          <a:xfrm>
            <a:off x="8864600" y="5435600"/>
            <a:ext cx="2433066"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AEB9B7"/>
                </a:solidFill>
                <a:latin typeface="Arial" pitchFamily="34" charset="0"/>
                <a:ea typeface="Arial" pitchFamily="34" charset="-122"/>
                <a:cs typeface="Arial" pitchFamily="34" charset="-120"/>
              </a:rPr>
              <a:t>Two tables are yours (sand); the SDK owns three.</a:t>
            </a:r>
            <a:endParaRPr lang="en-US" sz="1100" dirty="0"/>
          </a:p>
        </p:txBody>
      </p:sp>
      <p:sp>
        <p:nvSpPr>
          <p:cNvPr id="60" name="Text 5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690563" y="1465263"/>
            <a:ext cx="5324475" cy="3800475"/>
          </a:xfrm>
          <a:prstGeom prst="roundRect">
            <a:avLst>
              <a:gd name="adj" fmla="val 4219"/>
            </a:avLst>
          </a:prstGeom>
          <a:solidFill>
            <a:srgbClr val="DEB068">
              <a:alpha val="10000"/>
            </a:srgbClr>
          </a:solidFill>
          <a:ln w="9525">
            <a:solidFill>
              <a:srgbClr val="A87A2A">
                <a:alpha val="40000"/>
              </a:srgbClr>
            </a:solidFill>
            <a:prstDash val="solid"/>
          </a:ln>
        </p:spPr>
      </p:sp>
      <p:sp>
        <p:nvSpPr>
          <p:cNvPr id="3" name="Shape 1"/>
          <p:cNvSpPr/>
          <p:nvPr/>
        </p:nvSpPr>
        <p:spPr>
          <a:xfrm>
            <a:off x="6176963" y="1465263"/>
            <a:ext cx="5324475" cy="3800475"/>
          </a:xfrm>
          <a:prstGeom prst="roundRect">
            <a:avLst>
              <a:gd name="adj" fmla="val 4219"/>
            </a:avLst>
          </a:prstGeom>
          <a:solidFill>
            <a:srgbClr val="36677D">
              <a:alpha val="8000"/>
            </a:srgbClr>
          </a:solidFill>
          <a:ln w="9525">
            <a:solidFill>
              <a:srgbClr val="36677D">
                <a:alpha val="40000"/>
              </a:srgbClr>
            </a:solidFill>
            <a:prstDash val="solid"/>
          </a:ln>
        </p:spPr>
      </p:sp>
      <p:sp>
        <p:nvSpPr>
          <p:cNvPr id="4" name="Shape 2"/>
          <p:cNvSpPr/>
          <p:nvPr/>
        </p:nvSpPr>
        <p:spPr>
          <a:xfrm>
            <a:off x="812800" y="457200"/>
            <a:ext cx="355600" cy="38100"/>
          </a:xfrm>
          <a:prstGeom prst="roundRect">
            <a:avLst>
              <a:gd name="adj" fmla="val 50000"/>
            </a:avLst>
          </a:prstGeom>
          <a:solidFill>
            <a:srgbClr val="C74634"/>
          </a:solidFill>
          <a:ln/>
        </p:spPr>
      </p:sp>
      <p:sp>
        <p:nvSpPr>
          <p:cNvPr id="5" name="Text 3"/>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Two kinds of state, and both are memory</a:t>
            </a:r>
            <a:endParaRPr lang="en-US" sz="2800" dirty="0"/>
          </a:p>
        </p:txBody>
      </p:sp>
      <p:sp>
        <p:nvSpPr>
          <p:cNvPr id="6" name="Text 4"/>
          <p:cNvSpPr/>
          <p:nvPr/>
        </p:nvSpPr>
        <p:spPr>
          <a:xfrm>
            <a:off x="838200" y="1562100"/>
            <a:ext cx="5166995" cy="203200"/>
          </a:xfrm>
          <a:prstGeom prst="rect">
            <a:avLst/>
          </a:prstGeom>
          <a:noFill/>
          <a:ln/>
        </p:spPr>
        <p:txBody>
          <a:bodyPr wrap="square" lIns="0" tIns="0" rIns="0" bIns="0" rtlCol="0" anchor="t">
            <a:normAutofit/>
          </a:bodyPr>
          <a:lstStyle/>
          <a:p>
            <a:pPr algn="l" indent="0" marL="0">
              <a:lnSpc>
                <a:spcPts val="1400"/>
              </a:lnSpc>
              <a:buNone/>
            </a:pPr>
            <a:r>
              <a:rPr lang="en-US" sz="1000" spc="100" kern="0" dirty="0">
                <a:solidFill>
                  <a:srgbClr val="A87A2A"/>
                </a:solidFill>
                <a:latin typeface="Courier New" pitchFamily="49" charset="0"/>
                <a:ea typeface="Courier New" pitchFamily="49" charset="-122"/>
                <a:cs typeface="Courier New" pitchFamily="49" charset="-120"/>
              </a:rPr>
              <a:t>DOMAIN DATA · the system of record</a:t>
            </a:r>
            <a:endParaRPr lang="en-US" sz="1000" dirty="0"/>
          </a:p>
        </p:txBody>
      </p:sp>
      <p:sp>
        <p:nvSpPr>
          <p:cNvPr id="7" name="Text 5"/>
          <p:cNvSpPr/>
          <p:nvPr/>
        </p:nvSpPr>
        <p:spPr>
          <a:xfrm>
            <a:off x="6324600" y="1562100"/>
            <a:ext cx="5166995" cy="203200"/>
          </a:xfrm>
          <a:prstGeom prst="rect">
            <a:avLst/>
          </a:prstGeom>
          <a:noFill/>
          <a:ln/>
        </p:spPr>
        <p:txBody>
          <a:bodyPr wrap="square" lIns="0" tIns="0" rIns="0" bIns="0" rtlCol="0" anchor="t">
            <a:normAutofit/>
          </a:bodyPr>
          <a:lstStyle/>
          <a:p>
            <a:pPr algn="l" indent="0" marL="0">
              <a:lnSpc>
                <a:spcPts val="1400"/>
              </a:lnSpc>
              <a:buNone/>
            </a:pPr>
            <a:r>
              <a:rPr lang="en-US" sz="1000" spc="100" kern="0" dirty="0">
                <a:solidFill>
                  <a:srgbClr val="36677D"/>
                </a:solidFill>
                <a:latin typeface="Courier New" pitchFamily="49" charset="0"/>
                <a:ea typeface="Courier New" pitchFamily="49" charset="-122"/>
                <a:cs typeface="Courier New" pitchFamily="49" charset="-120"/>
              </a:rPr>
              <a:t>FORMED MEMORY · what the agent learned</a:t>
            </a:r>
            <a:endParaRPr lang="en-US" sz="1000" dirty="0"/>
          </a:p>
        </p:txBody>
      </p:sp>
      <p:sp>
        <p:nvSpPr>
          <p:cNvPr id="8" name="Shape 6"/>
          <p:cNvSpPr/>
          <p:nvPr/>
        </p:nvSpPr>
        <p:spPr>
          <a:xfrm>
            <a:off x="841375" y="1844675"/>
            <a:ext cx="5022850" cy="946150"/>
          </a:xfrm>
          <a:prstGeom prst="roundRect">
            <a:avLst>
              <a:gd name="adj" fmla="val 10403"/>
            </a:avLst>
          </a:prstGeom>
          <a:solidFill>
            <a:srgbClr val="FFFFFF"/>
          </a:solidFill>
          <a:ln w="6350">
            <a:solidFill>
              <a:srgbClr val="A87A2A">
                <a:alpha val="40000"/>
              </a:srgbClr>
            </a:solidFill>
            <a:prstDash val="solid"/>
          </a:ln>
        </p:spPr>
      </p:sp>
      <p:sp>
        <p:nvSpPr>
          <p:cNvPr id="9" name="Text 7"/>
          <p:cNvSpPr/>
          <p:nvPr/>
        </p:nvSpPr>
        <p:spPr>
          <a:xfrm>
            <a:off x="965200" y="1950492"/>
            <a:ext cx="4487447" cy="202754"/>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A87A2A"/>
                </a:solidFill>
                <a:latin typeface="Courier New" pitchFamily="49" charset="0"/>
                <a:ea typeface="Courier New" pitchFamily="49" charset="-122"/>
                <a:cs typeface="Courier New" pitchFamily="49" charset="-120"/>
              </a:rPr>
              <a:t>CITY_INSPECTION_FINDING · ~220 rows · VECTOR(384)</a:t>
            </a:r>
            <a:endParaRPr lang="en-US" sz="1000" dirty="0"/>
          </a:p>
        </p:txBody>
      </p:sp>
      <p:sp>
        <p:nvSpPr>
          <p:cNvPr id="10" name="Text 8"/>
          <p:cNvSpPr/>
          <p:nvPr/>
        </p:nvSpPr>
        <p:spPr>
          <a:xfrm>
            <a:off x="965200" y="2178645"/>
            <a:ext cx="660400" cy="288875"/>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A87A2A"/>
                </a:solidFill>
                <a:latin typeface="Courier New" pitchFamily="49" charset="0"/>
                <a:ea typeface="Courier New" pitchFamily="49" charset="-122"/>
                <a:cs typeface="Courier New" pitchFamily="49" charset="-120"/>
              </a:rPr>
              <a:t>finding_id</a:t>
            </a:r>
            <a:endParaRPr lang="en-US" sz="800" dirty="0"/>
          </a:p>
        </p:txBody>
      </p:sp>
      <p:sp>
        <p:nvSpPr>
          <p:cNvPr id="11" name="Text 9"/>
          <p:cNvSpPr/>
          <p:nvPr/>
        </p:nvSpPr>
        <p:spPr>
          <a:xfrm>
            <a:off x="1612900" y="2178645"/>
            <a:ext cx="850900" cy="288875"/>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A87A2A"/>
                </a:solidFill>
                <a:latin typeface="Courier New" pitchFamily="49" charset="0"/>
                <a:ea typeface="Courier New" pitchFamily="49" charset="-122"/>
                <a:cs typeface="Courier New" pitchFamily="49" charset="-120"/>
              </a:rPr>
              <a:t>asset_id</a:t>
            </a:r>
            <a:endParaRPr lang="en-US" sz="800" dirty="0"/>
          </a:p>
        </p:txBody>
      </p:sp>
      <p:sp>
        <p:nvSpPr>
          <p:cNvPr id="12" name="Text 10"/>
          <p:cNvSpPr/>
          <p:nvPr/>
        </p:nvSpPr>
        <p:spPr>
          <a:xfrm>
            <a:off x="2451100" y="2178645"/>
            <a:ext cx="406400" cy="288875"/>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A87A2A"/>
                </a:solidFill>
                <a:latin typeface="Courier New" pitchFamily="49" charset="0"/>
                <a:ea typeface="Courier New" pitchFamily="49" charset="-122"/>
                <a:cs typeface="Courier New" pitchFamily="49" charset="-120"/>
              </a:rPr>
              <a:t>grade</a:t>
            </a:r>
            <a:endParaRPr lang="en-US" sz="800" dirty="0"/>
          </a:p>
        </p:txBody>
      </p:sp>
      <p:sp>
        <p:nvSpPr>
          <p:cNvPr id="13" name="Text 11"/>
          <p:cNvSpPr/>
          <p:nvPr/>
        </p:nvSpPr>
        <p:spPr>
          <a:xfrm>
            <a:off x="2844800" y="2178645"/>
            <a:ext cx="711200" cy="288875"/>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A87A2A"/>
                </a:solidFill>
                <a:latin typeface="Courier New" pitchFamily="49" charset="0"/>
                <a:ea typeface="Courier New" pitchFamily="49" charset="-122"/>
                <a:cs typeface="Courier New" pitchFamily="49" charset="-120"/>
              </a:rPr>
              <a:t>category</a:t>
            </a:r>
            <a:endParaRPr lang="en-US" sz="800" dirty="0"/>
          </a:p>
        </p:txBody>
      </p:sp>
      <p:sp>
        <p:nvSpPr>
          <p:cNvPr id="14" name="Text 12"/>
          <p:cNvSpPr/>
          <p:nvPr/>
        </p:nvSpPr>
        <p:spPr>
          <a:xfrm>
            <a:off x="3543300" y="2178645"/>
            <a:ext cx="1447800" cy="288875"/>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A87A2A"/>
                </a:solidFill>
                <a:latin typeface="Courier New" pitchFamily="49" charset="0"/>
                <a:ea typeface="Courier New" pitchFamily="49" charset="-122"/>
                <a:cs typeface="Courier New" pitchFamily="49" charset="-120"/>
              </a:rPr>
              <a:t>description</a:t>
            </a:r>
            <a:endParaRPr lang="en-US" sz="800" dirty="0"/>
          </a:p>
        </p:txBody>
      </p:sp>
      <p:sp>
        <p:nvSpPr>
          <p:cNvPr id="15" name="Text 13"/>
          <p:cNvSpPr/>
          <p:nvPr/>
        </p:nvSpPr>
        <p:spPr>
          <a:xfrm>
            <a:off x="4978400" y="2178645"/>
            <a:ext cx="812800" cy="288875"/>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A87A2A"/>
                </a:solidFill>
                <a:latin typeface="Courier New" pitchFamily="49" charset="0"/>
                <a:ea typeface="Courier New" pitchFamily="49" charset="-122"/>
                <a:cs typeface="Courier New" pitchFamily="49" charset="-120"/>
              </a:rPr>
              <a:t>embedding</a:t>
            </a:r>
            <a:endParaRPr lang="en-US" sz="800" dirty="0"/>
          </a:p>
        </p:txBody>
      </p:sp>
      <p:sp>
        <p:nvSpPr>
          <p:cNvPr id="16" name="Shape 14"/>
          <p:cNvSpPr/>
          <p:nvPr/>
        </p:nvSpPr>
        <p:spPr>
          <a:xfrm>
            <a:off x="965200" y="2492921"/>
            <a:ext cx="4775200" cy="9525"/>
          </a:xfrm>
          <a:prstGeom prst="rect">
            <a:avLst/>
          </a:prstGeom>
          <a:solidFill>
            <a:srgbClr val="A87A2A">
              <a:alpha val="40000"/>
            </a:srgbClr>
          </a:solidFill>
          <a:ln/>
        </p:spPr>
      </p:sp>
      <p:sp>
        <p:nvSpPr>
          <p:cNvPr id="17" name="Text 15"/>
          <p:cNvSpPr/>
          <p:nvPr/>
        </p:nvSpPr>
        <p:spPr>
          <a:xfrm>
            <a:off x="965200" y="2553246"/>
            <a:ext cx="660400" cy="157163"/>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2D2D2D"/>
                </a:solidFill>
                <a:latin typeface="Courier New" pitchFamily="49" charset="0"/>
                <a:ea typeface="Courier New" pitchFamily="49" charset="-122"/>
                <a:cs typeface="Courier New" pitchFamily="49" charset="-120"/>
              </a:rPr>
              <a:t>a1b2c3d4</a:t>
            </a:r>
            <a:endParaRPr lang="en-US" sz="800" dirty="0"/>
          </a:p>
        </p:txBody>
      </p:sp>
      <p:sp>
        <p:nvSpPr>
          <p:cNvPr id="18" name="Text 16"/>
          <p:cNvSpPr/>
          <p:nvPr/>
        </p:nvSpPr>
        <p:spPr>
          <a:xfrm>
            <a:off x="1612900" y="2553246"/>
            <a:ext cx="850900" cy="157163"/>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2D2D2D"/>
                </a:solidFill>
                <a:latin typeface="Courier New" pitchFamily="49" charset="0"/>
                <a:ea typeface="Courier New" pitchFamily="49" charset="-122"/>
                <a:cs typeface="Courier New" pitchFamily="49" charset="-120"/>
              </a:rPr>
              <a:t>Harbor Bridge</a:t>
            </a:r>
            <a:endParaRPr lang="en-US" sz="800" dirty="0"/>
          </a:p>
        </p:txBody>
      </p:sp>
      <p:sp>
        <p:nvSpPr>
          <p:cNvPr id="19" name="Text 17"/>
          <p:cNvSpPr/>
          <p:nvPr/>
        </p:nvSpPr>
        <p:spPr>
          <a:xfrm>
            <a:off x="2451100" y="2553246"/>
            <a:ext cx="406400" cy="157163"/>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2D2D2D"/>
                </a:solidFill>
                <a:latin typeface="Courier New" pitchFamily="49" charset="0"/>
                <a:ea typeface="Courier New" pitchFamily="49" charset="-122"/>
                <a:cs typeface="Courier New" pitchFamily="49" charset="-120"/>
              </a:rPr>
              <a:t>C</a:t>
            </a:r>
            <a:endParaRPr lang="en-US" sz="800" dirty="0"/>
          </a:p>
        </p:txBody>
      </p:sp>
      <p:sp>
        <p:nvSpPr>
          <p:cNvPr id="20" name="Text 18"/>
          <p:cNvSpPr/>
          <p:nvPr/>
        </p:nvSpPr>
        <p:spPr>
          <a:xfrm>
            <a:off x="2844800" y="2553246"/>
            <a:ext cx="711200" cy="157163"/>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2D2D2D"/>
                </a:solidFill>
                <a:latin typeface="Courier New" pitchFamily="49" charset="0"/>
                <a:ea typeface="Courier New" pitchFamily="49" charset="-122"/>
                <a:cs typeface="Courier New" pitchFamily="49" charset="-120"/>
              </a:rPr>
              <a:t>corrosion</a:t>
            </a:r>
            <a:endParaRPr lang="en-US" sz="800" dirty="0"/>
          </a:p>
        </p:txBody>
      </p:sp>
      <p:sp>
        <p:nvSpPr>
          <p:cNvPr id="21" name="Text 19"/>
          <p:cNvSpPr/>
          <p:nvPr/>
        </p:nvSpPr>
        <p:spPr>
          <a:xfrm>
            <a:off x="3543300" y="2553246"/>
            <a:ext cx="1447800" cy="157163"/>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2D2D2D"/>
                </a:solidFill>
                <a:latin typeface="Courier New" pitchFamily="49" charset="0"/>
                <a:ea typeface="Courier New" pitchFamily="49" charset="-122"/>
                <a:cs typeface="Courier New" pitchFamily="49" charset="-120"/>
              </a:rPr>
              <a:t>Pier 2 bearings, 25%</a:t>
            </a:r>
            <a:endParaRPr lang="en-US" sz="800" dirty="0"/>
          </a:p>
        </p:txBody>
      </p:sp>
      <p:sp>
        <p:nvSpPr>
          <p:cNvPr id="22" name="Text 20"/>
          <p:cNvSpPr/>
          <p:nvPr/>
        </p:nvSpPr>
        <p:spPr>
          <a:xfrm>
            <a:off x="4978400" y="2553246"/>
            <a:ext cx="812800" cy="157163"/>
          </a:xfrm>
          <a:prstGeom prst="rect">
            <a:avLst/>
          </a:prstGeom>
          <a:noFill/>
          <a:ln/>
        </p:spPr>
        <p:txBody>
          <a:bodyPr wrap="square" lIns="0" tIns="0" rIns="0" bIns="0" rtlCol="0" anchor="t">
            <a:normAutofit/>
          </a:bodyPr>
          <a:lstStyle/>
          <a:p>
            <a:pPr algn="l" indent="0" marL="0">
              <a:lnSpc>
                <a:spcPts val="1040"/>
              </a:lnSpc>
              <a:buNone/>
            </a:pPr>
            <a:r>
              <a:rPr lang="en-US" sz="800" dirty="0">
                <a:solidFill>
                  <a:srgbClr val="2D2D2D"/>
                </a:solidFill>
                <a:latin typeface="Courier New" pitchFamily="49" charset="0"/>
                <a:ea typeface="Courier New" pitchFamily="49" charset="-122"/>
                <a:cs typeface="Courier New" pitchFamily="49" charset="-120"/>
              </a:rPr>
              <a:t>[0.021, ...]</a:t>
            </a:r>
            <a:endParaRPr lang="en-US" sz="800" dirty="0"/>
          </a:p>
        </p:txBody>
      </p:sp>
      <p:sp>
        <p:nvSpPr>
          <p:cNvPr id="23" name="Shape 21"/>
          <p:cNvSpPr/>
          <p:nvPr/>
        </p:nvSpPr>
        <p:spPr>
          <a:xfrm>
            <a:off x="841375" y="2898775"/>
            <a:ext cx="5022850" cy="603250"/>
          </a:xfrm>
          <a:prstGeom prst="roundRect">
            <a:avLst>
              <a:gd name="adj" fmla="val 16316"/>
            </a:avLst>
          </a:prstGeom>
          <a:solidFill>
            <a:srgbClr val="FFFFFF"/>
          </a:solidFill>
          <a:ln w="6350">
            <a:solidFill>
              <a:srgbClr val="A87A2A">
                <a:alpha val="40000"/>
              </a:srgbClr>
            </a:solidFill>
            <a:prstDash val="solid"/>
          </a:ln>
        </p:spPr>
      </p:sp>
      <p:sp>
        <p:nvSpPr>
          <p:cNvPr id="24" name="Text 22"/>
          <p:cNvSpPr/>
          <p:nvPr/>
        </p:nvSpPr>
        <p:spPr>
          <a:xfrm>
            <a:off x="952500" y="3001318"/>
            <a:ext cx="1831595" cy="202952"/>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A87A2A"/>
                </a:solidFill>
                <a:latin typeface="Courier New" pitchFamily="49" charset="0"/>
                <a:ea typeface="Courier New" pitchFamily="49" charset="-122"/>
                <a:cs typeface="Courier New" pitchFamily="49" charset="-120"/>
              </a:rPr>
              <a:t>CITY_ASSET · 26 rows</a:t>
            </a:r>
            <a:endParaRPr lang="en-US" sz="1000" dirty="0"/>
          </a:p>
        </p:txBody>
      </p:sp>
      <p:sp>
        <p:nvSpPr>
          <p:cNvPr id="25" name="Text 23"/>
          <p:cNvSpPr/>
          <p:nvPr/>
        </p:nvSpPr>
        <p:spPr>
          <a:xfrm>
            <a:off x="952500" y="3204270"/>
            <a:ext cx="4323398" cy="220663"/>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2D2D2D"/>
                </a:solidFill>
                <a:latin typeface="Arial" pitchFamily="34" charset="0"/>
                <a:ea typeface="Arial" pitchFamily="34" charset="-122"/>
                <a:cs typeface="Arial" pitchFamily="34" charset="-120"/>
              </a:rPr>
              <a:t>asset_id · asset_class, for example Harbor Bridge · bridge</a:t>
            </a:r>
            <a:endParaRPr lang="en-US" sz="1100" dirty="0"/>
          </a:p>
        </p:txBody>
      </p:sp>
      <p:sp>
        <p:nvSpPr>
          <p:cNvPr id="26" name="Shape 24"/>
          <p:cNvSpPr/>
          <p:nvPr/>
        </p:nvSpPr>
        <p:spPr>
          <a:xfrm>
            <a:off x="842963" y="3713163"/>
            <a:ext cx="5019675" cy="600075"/>
          </a:xfrm>
          <a:prstGeom prst="roundRect">
            <a:avLst>
              <a:gd name="adj" fmla="val 16138"/>
            </a:avLst>
          </a:prstGeom>
          <a:solidFill>
            <a:srgbClr val="DEB068">
              <a:alpha val="14000"/>
            </a:srgbClr>
          </a:solidFill>
          <a:ln w="9525">
            <a:solidFill>
              <a:srgbClr val="A87A2A">
                <a:alpha val="60000"/>
              </a:srgbClr>
            </a:solidFill>
            <a:prstDash val="solid"/>
          </a:ln>
        </p:spPr>
      </p:sp>
      <p:pic>
        <p:nvPicPr>
          <p:cNvPr id="27" name="Image 0" descr="Check">    </p:cNvPr>
          <p:cNvPicPr>
            <a:picLocks noChangeAspect="1"/>
          </p:cNvPicPr>
          <p:nvPr/>
        </p:nvPicPr>
        <p:blipFill>
          <a:blip r:embed="rId1"/>
          <a:srcRect l="0" r="0" t="0" b="0"/>
          <a:stretch/>
        </p:blipFill>
        <p:spPr>
          <a:xfrm>
            <a:off x="927100" y="3886200"/>
            <a:ext cx="254000" cy="254000"/>
          </a:xfrm>
          <a:prstGeom prst="rect">
            <a:avLst/>
          </a:prstGeom>
        </p:spPr>
      </p:pic>
      <p:sp>
        <p:nvSpPr>
          <p:cNvPr id="28" name="Text 25"/>
          <p:cNvSpPr/>
          <p:nvPr/>
        </p:nvSpPr>
        <p:spPr>
          <a:xfrm>
            <a:off x="1270000" y="3802410"/>
            <a:ext cx="320469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Written deliberately: log_finding</a:t>
            </a:r>
            <a:endParaRPr lang="en-US" sz="1200" dirty="0"/>
          </a:p>
        </p:txBody>
      </p:sp>
      <p:sp>
        <p:nvSpPr>
          <p:cNvPr id="29" name="Text 26"/>
          <p:cNvSpPr/>
          <p:nvPr/>
        </p:nvSpPr>
        <p:spPr>
          <a:xfrm>
            <a:off x="1270000" y="4028430"/>
            <a:ext cx="3204692"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one INSERT, one local embedding, zero LLM calls</a:t>
            </a:r>
            <a:endParaRPr lang="en-US" sz="1100" dirty="0"/>
          </a:p>
        </p:txBody>
      </p:sp>
      <p:sp>
        <p:nvSpPr>
          <p:cNvPr id="30" name="Text 27"/>
          <p:cNvSpPr/>
          <p:nvPr/>
        </p:nvSpPr>
        <p:spPr>
          <a:xfrm>
            <a:off x="838200" y="4445000"/>
            <a:ext cx="5166995" cy="6120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2D2D2D"/>
                </a:solidFill>
                <a:latin typeface="Arial" pitchFamily="34" charset="0"/>
                <a:ea typeface="Arial" pitchFamily="34" charset="-122"/>
                <a:cs typeface="Arial" pitchFamily="34" charset="-120"/>
              </a:rPr>
              <a:t>The agent reads these and never invents their contents. In taxonomy terms this is the organisation’s semantic memory: entity memory for the assets, a knowledge base of structured findings.</a:t>
            </a:r>
            <a:endParaRPr lang="en-US" sz="1100" dirty="0"/>
          </a:p>
        </p:txBody>
      </p:sp>
      <p:sp>
        <p:nvSpPr>
          <p:cNvPr id="31" name="Shape 28"/>
          <p:cNvSpPr/>
          <p:nvPr/>
        </p:nvSpPr>
        <p:spPr>
          <a:xfrm>
            <a:off x="6329363" y="1846263"/>
            <a:ext cx="5019675" cy="536575"/>
          </a:xfrm>
          <a:prstGeom prst="roundRect">
            <a:avLst>
              <a:gd name="adj" fmla="val 18047"/>
            </a:avLst>
          </a:prstGeom>
          <a:solidFill>
            <a:srgbClr val="E0F2F8">
              <a:alpha val="70000"/>
            </a:srgbClr>
          </a:solidFill>
          <a:ln w="9525">
            <a:solidFill>
              <a:srgbClr val="36677D">
                <a:alpha val="50000"/>
              </a:srgbClr>
            </a:solidFill>
            <a:prstDash val="solid"/>
          </a:ln>
        </p:spPr>
      </p:sp>
      <p:pic>
        <p:nvPicPr>
          <p:cNvPr id="32" name="Image 1" descr="Activity">    </p:cNvPr>
          <p:cNvPicPr>
            <a:picLocks noChangeAspect="1"/>
          </p:cNvPicPr>
          <p:nvPr/>
        </p:nvPicPr>
        <p:blipFill>
          <a:blip r:embed="rId2"/>
          <a:srcRect l="0" r="0" t="0" b="0"/>
          <a:stretch/>
        </p:blipFill>
        <p:spPr>
          <a:xfrm>
            <a:off x="6413500" y="1987550"/>
            <a:ext cx="254000" cy="254000"/>
          </a:xfrm>
          <a:prstGeom prst="rect">
            <a:avLst/>
          </a:prstGeom>
        </p:spPr>
      </p:pic>
      <p:sp>
        <p:nvSpPr>
          <p:cNvPr id="33" name="Text 29"/>
          <p:cNvSpPr/>
          <p:nvPr/>
        </p:nvSpPr>
        <p:spPr>
          <a:xfrm>
            <a:off x="6756400" y="1903760"/>
            <a:ext cx="211937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CITY_MESSAGE</a:t>
            </a:r>
            <a:endParaRPr lang="en-US" sz="1200" dirty="0"/>
          </a:p>
        </p:txBody>
      </p:sp>
      <p:sp>
        <p:nvSpPr>
          <p:cNvPr id="34" name="Text 30"/>
          <p:cNvSpPr/>
          <p:nvPr/>
        </p:nvSpPr>
        <p:spPr>
          <a:xfrm>
            <a:off x="6756400" y="2129780"/>
            <a:ext cx="2119377"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verbatim turns, per private thread</a:t>
            </a:r>
            <a:endParaRPr lang="en-US" sz="1100" dirty="0"/>
          </a:p>
        </p:txBody>
      </p:sp>
      <p:sp>
        <p:nvSpPr>
          <p:cNvPr id="35" name="Shape 31"/>
          <p:cNvSpPr/>
          <p:nvPr/>
        </p:nvSpPr>
        <p:spPr>
          <a:xfrm>
            <a:off x="6329363" y="2481263"/>
            <a:ext cx="5019675" cy="536575"/>
          </a:xfrm>
          <a:prstGeom prst="roundRect">
            <a:avLst>
              <a:gd name="adj" fmla="val 18047"/>
            </a:avLst>
          </a:prstGeom>
          <a:solidFill>
            <a:srgbClr val="E0F2F8">
              <a:alpha val="70000"/>
            </a:srgbClr>
          </a:solidFill>
          <a:ln w="9525">
            <a:solidFill>
              <a:srgbClr val="36677D">
                <a:alpha val="50000"/>
              </a:srgbClr>
            </a:solidFill>
            <a:prstDash val="solid"/>
          </a:ln>
        </p:spPr>
      </p:sp>
      <p:pic>
        <p:nvPicPr>
          <p:cNvPr id="36" name="Image 2" descr="Database">    </p:cNvPr>
          <p:cNvPicPr>
            <a:picLocks noChangeAspect="1"/>
          </p:cNvPicPr>
          <p:nvPr/>
        </p:nvPicPr>
        <p:blipFill>
          <a:blip r:embed="rId3"/>
          <a:srcRect l="0" r="0" t="0" b="0"/>
          <a:stretch/>
        </p:blipFill>
        <p:spPr>
          <a:xfrm>
            <a:off x="6413500" y="2622550"/>
            <a:ext cx="254000" cy="254000"/>
          </a:xfrm>
          <a:prstGeom prst="rect">
            <a:avLst/>
          </a:prstGeom>
        </p:spPr>
      </p:pic>
      <p:sp>
        <p:nvSpPr>
          <p:cNvPr id="37" name="Text 32"/>
          <p:cNvSpPr/>
          <p:nvPr/>
        </p:nvSpPr>
        <p:spPr>
          <a:xfrm>
            <a:off x="6756400" y="2538760"/>
            <a:ext cx="353238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CITY_MEMORY</a:t>
            </a:r>
            <a:endParaRPr lang="en-US" sz="1200" dirty="0"/>
          </a:p>
        </p:txBody>
      </p:sp>
      <p:sp>
        <p:nvSpPr>
          <p:cNvPr id="38" name="Text 33"/>
          <p:cNvSpPr/>
          <p:nvPr/>
        </p:nvSpPr>
        <p:spPr>
          <a:xfrm>
            <a:off x="6756400" y="2764780"/>
            <a:ext cx="3532381"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fact · preference · guideline · memory, pooled per asset</a:t>
            </a:r>
            <a:endParaRPr lang="en-US" sz="1100" dirty="0"/>
          </a:p>
        </p:txBody>
      </p:sp>
      <p:sp>
        <p:nvSpPr>
          <p:cNvPr id="39" name="Shape 34"/>
          <p:cNvSpPr/>
          <p:nvPr/>
        </p:nvSpPr>
        <p:spPr>
          <a:xfrm>
            <a:off x="6329363" y="3116263"/>
            <a:ext cx="5019675" cy="536575"/>
          </a:xfrm>
          <a:prstGeom prst="roundRect">
            <a:avLst>
              <a:gd name="adj" fmla="val 18047"/>
            </a:avLst>
          </a:prstGeom>
          <a:solidFill>
            <a:srgbClr val="E0F2F8">
              <a:alpha val="70000"/>
            </a:srgbClr>
          </a:solidFill>
          <a:ln w="9525">
            <a:solidFill>
              <a:srgbClr val="36677D">
                <a:alpha val="50000"/>
              </a:srgbClr>
            </a:solidFill>
            <a:prstDash val="solid"/>
          </a:ln>
        </p:spPr>
      </p:sp>
      <p:pic>
        <p:nvPicPr>
          <p:cNvPr id="40" name="Image 3" descr="Book">    </p:cNvPr>
          <p:cNvPicPr>
            <a:picLocks noChangeAspect="1"/>
          </p:cNvPicPr>
          <p:nvPr/>
        </p:nvPicPr>
        <p:blipFill>
          <a:blip r:embed="rId4"/>
          <a:srcRect l="0" r="0" t="0" b="0"/>
          <a:stretch/>
        </p:blipFill>
        <p:spPr>
          <a:xfrm>
            <a:off x="6413500" y="3257550"/>
            <a:ext cx="254000" cy="254000"/>
          </a:xfrm>
          <a:prstGeom prst="rect">
            <a:avLst/>
          </a:prstGeom>
        </p:spPr>
      </p:pic>
      <p:sp>
        <p:nvSpPr>
          <p:cNvPr id="41" name="Text 35"/>
          <p:cNvSpPr/>
          <p:nvPr/>
        </p:nvSpPr>
        <p:spPr>
          <a:xfrm>
            <a:off x="6756400" y="3173760"/>
            <a:ext cx="4059964"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CITY_THREAD</a:t>
            </a:r>
            <a:endParaRPr lang="en-US" sz="1200" dirty="0"/>
          </a:p>
        </p:txBody>
      </p:sp>
      <p:sp>
        <p:nvSpPr>
          <p:cNvPr id="42" name="Text 36"/>
          <p:cNvSpPr/>
          <p:nvPr/>
        </p:nvSpPr>
        <p:spPr>
          <a:xfrm>
            <a:off x="6756400" y="3399780"/>
            <a:ext cx="4059964"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a rolling two-sentence summary, refreshed every two messages</a:t>
            </a:r>
            <a:endParaRPr lang="en-US" sz="1100" dirty="0"/>
          </a:p>
        </p:txBody>
      </p:sp>
      <p:sp>
        <p:nvSpPr>
          <p:cNvPr id="43" name="Shape 37"/>
          <p:cNvSpPr/>
          <p:nvPr/>
        </p:nvSpPr>
        <p:spPr>
          <a:xfrm>
            <a:off x="6329363" y="3713163"/>
            <a:ext cx="5019675" cy="600075"/>
          </a:xfrm>
          <a:prstGeom prst="roundRect">
            <a:avLst>
              <a:gd name="adj" fmla="val 16138"/>
            </a:avLst>
          </a:prstGeom>
          <a:solidFill>
            <a:srgbClr val="FFF4F1"/>
          </a:solidFill>
          <a:ln w="9525">
            <a:solidFill>
              <a:srgbClr val="C74634">
                <a:alpha val="60000"/>
              </a:srgbClr>
            </a:solidFill>
            <a:prstDash val="solid"/>
          </a:ln>
        </p:spPr>
      </p:sp>
      <p:pic>
        <p:nvPicPr>
          <p:cNvPr id="44" name="Image 4" descr="Lightning">    </p:cNvPr>
          <p:cNvPicPr>
            <a:picLocks noChangeAspect="1"/>
          </p:cNvPicPr>
          <p:nvPr/>
        </p:nvPicPr>
        <p:blipFill>
          <a:blip r:embed="rId5"/>
          <a:srcRect l="0" r="0" t="0" b="0"/>
          <a:stretch/>
        </p:blipFill>
        <p:spPr>
          <a:xfrm>
            <a:off x="6413500" y="3886200"/>
            <a:ext cx="254000" cy="254000"/>
          </a:xfrm>
          <a:prstGeom prst="rect">
            <a:avLst/>
          </a:prstGeom>
        </p:spPr>
      </p:pic>
      <p:sp>
        <p:nvSpPr>
          <p:cNvPr id="45" name="Text 38"/>
          <p:cNvSpPr/>
          <p:nvPr/>
        </p:nvSpPr>
        <p:spPr>
          <a:xfrm>
            <a:off x="6756400" y="3802410"/>
            <a:ext cx="324740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D2D2D"/>
                </a:solidFill>
                <a:latin typeface="Arial" pitchFamily="34" charset="0"/>
                <a:ea typeface="Arial" pitchFamily="34" charset="-122"/>
                <a:cs typeface="Arial" pitchFamily="34" charset="-120"/>
              </a:rPr>
              <a:t>Written automatically: add_messages</a:t>
            </a:r>
            <a:endParaRPr lang="en-US" sz="1200" dirty="0"/>
          </a:p>
        </p:txBody>
      </p:sp>
      <p:sp>
        <p:nvSpPr>
          <p:cNvPr id="46" name="Text 39"/>
          <p:cNvSpPr/>
          <p:nvPr/>
        </p:nvSpPr>
        <p:spPr>
          <a:xfrm>
            <a:off x="6756400" y="4028430"/>
            <a:ext cx="3247409"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one call lands the turn, then the extractor LLM runs</a:t>
            </a:r>
            <a:endParaRPr lang="en-US" sz="1100" dirty="0"/>
          </a:p>
        </p:txBody>
      </p:sp>
      <p:sp>
        <p:nvSpPr>
          <p:cNvPr id="47" name="Text 40"/>
          <p:cNvSpPr/>
          <p:nvPr/>
        </p:nvSpPr>
        <p:spPr>
          <a:xfrm>
            <a:off x="6324600" y="4445000"/>
            <a:ext cx="5166995"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2D2D2D"/>
                </a:solidFill>
                <a:latin typeface="Arial" pitchFamily="34" charset="0"/>
                <a:ea typeface="Arial" pitchFamily="34" charset="-122"/>
                <a:cs typeface="Arial" pitchFamily="34" charset="-120"/>
              </a:rPr>
              <a:t>What inspectors said and what was learned from it. The extractor turns a narrative into typed records that are reusable across threads and inspectors.</a:t>
            </a:r>
            <a:endParaRPr lang="en-US" sz="1100" dirty="0"/>
          </a:p>
        </p:txBody>
      </p:sp>
      <p:sp>
        <p:nvSpPr>
          <p:cNvPr id="48" name="Text 41"/>
          <p:cNvSpPr/>
          <p:nvPr/>
        </p:nvSpPr>
        <p:spPr>
          <a:xfrm>
            <a:off x="812800" y="5435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D2D2D"/>
                </a:solidFill>
                <a:latin typeface="Arial" pitchFamily="34" charset="0"/>
                <a:ea typeface="Arial" pitchFamily="34" charset="-122"/>
                <a:cs typeface="Arial" pitchFamily="34" charset="-120"/>
              </a:rPr>
              <a:t>Both feed the next turn’s reads. What separates them is how they grow: a finding is recorded on purpose, memory accrues from every turn.</a:t>
            </a:r>
            <a:endParaRPr lang="en-US" sz="1300" dirty="0"/>
          </a:p>
        </p:txBody>
      </p:sp>
      <p:sp>
        <p:nvSpPr>
          <p:cNvPr id="49" name="Text 4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CALL_COPILOT · THE SAME EIGHT STEPS AS THE NOTEBOOK DIAGRAM</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A copilot turn, end to end</a:t>
            </a:r>
            <a:endParaRPr lang="en-US" sz="2800" dirty="0"/>
          </a:p>
        </p:txBody>
      </p:sp>
      <p:sp>
        <p:nvSpPr>
          <p:cNvPr id="5" name="Shape 3"/>
          <p:cNvSpPr/>
          <p:nvPr/>
        </p:nvSpPr>
        <p:spPr>
          <a:xfrm>
            <a:off x="817563" y="1401763"/>
            <a:ext cx="1895475" cy="396875"/>
          </a:xfrm>
          <a:prstGeom prst="roundRect">
            <a:avLst>
              <a:gd name="adj" fmla="val 24400"/>
            </a:avLst>
          </a:prstGeom>
          <a:solidFill>
            <a:srgbClr val="FFFFFF">
              <a:alpha val="6000"/>
            </a:srgbClr>
          </a:solidFill>
          <a:ln w="9525">
            <a:solidFill>
              <a:srgbClr val="FFFFFF">
                <a:alpha val="18000"/>
              </a:srgbClr>
            </a:solidFill>
            <a:prstDash val="solid"/>
          </a:ln>
        </p:spPr>
      </p:sp>
      <p:pic>
        <p:nvPicPr>
          <p:cNvPr id="6" name="Image 0" descr="Users">    </p:cNvPr>
          <p:cNvPicPr>
            <a:picLocks noChangeAspect="1"/>
          </p:cNvPicPr>
          <p:nvPr/>
        </p:nvPicPr>
        <p:blipFill>
          <a:blip r:embed="rId1"/>
          <a:srcRect l="0" r="0" t="0" b="0"/>
          <a:stretch/>
        </p:blipFill>
        <p:spPr>
          <a:xfrm>
            <a:off x="889000" y="1473200"/>
            <a:ext cx="254000" cy="254000"/>
          </a:xfrm>
          <a:prstGeom prst="rect">
            <a:avLst/>
          </a:prstGeom>
        </p:spPr>
      </p:pic>
      <p:sp>
        <p:nvSpPr>
          <p:cNvPr id="7" name="Text 4"/>
          <p:cNvSpPr/>
          <p:nvPr/>
        </p:nvSpPr>
        <p:spPr>
          <a:xfrm>
            <a:off x="1231900" y="1493540"/>
            <a:ext cx="73674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Inspector</a:t>
            </a:r>
            <a:endParaRPr lang="en-US" sz="1200" dirty="0"/>
          </a:p>
        </p:txBody>
      </p:sp>
      <p:sp>
        <p:nvSpPr>
          <p:cNvPr id="8" name="Shape 5"/>
          <p:cNvSpPr/>
          <p:nvPr/>
        </p:nvSpPr>
        <p:spPr>
          <a:xfrm>
            <a:off x="3497263" y="1401763"/>
            <a:ext cx="1895475" cy="396875"/>
          </a:xfrm>
          <a:prstGeom prst="roundRect">
            <a:avLst>
              <a:gd name="adj" fmla="val 24400"/>
            </a:avLst>
          </a:prstGeom>
          <a:solidFill>
            <a:srgbClr val="36677D">
              <a:alpha val="35000"/>
            </a:srgbClr>
          </a:solidFill>
          <a:ln w="9525">
            <a:solidFill>
              <a:srgbClr val="7FC4DC"/>
            </a:solidFill>
            <a:prstDash val="solid"/>
          </a:ln>
        </p:spPr>
      </p:sp>
      <p:pic>
        <p:nvPicPr>
          <p:cNvPr id="9" name="Image 1" descr="Settings">    </p:cNvPr>
          <p:cNvPicPr>
            <a:picLocks noChangeAspect="1"/>
          </p:cNvPicPr>
          <p:nvPr/>
        </p:nvPicPr>
        <p:blipFill>
          <a:blip r:embed="rId2"/>
          <a:srcRect l="0" r="0" t="0" b="0"/>
          <a:stretch/>
        </p:blipFill>
        <p:spPr>
          <a:xfrm>
            <a:off x="3568700" y="1473200"/>
            <a:ext cx="254000" cy="254000"/>
          </a:xfrm>
          <a:prstGeom prst="rect">
            <a:avLst/>
          </a:prstGeom>
        </p:spPr>
      </p:pic>
      <p:sp>
        <p:nvSpPr>
          <p:cNvPr id="10" name="Text 6"/>
          <p:cNvSpPr/>
          <p:nvPr/>
        </p:nvSpPr>
        <p:spPr>
          <a:xfrm>
            <a:off x="3911600" y="1493540"/>
            <a:ext cx="88924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call_copilot</a:t>
            </a:r>
            <a:endParaRPr lang="en-US" sz="1200" dirty="0"/>
          </a:p>
        </p:txBody>
      </p:sp>
      <p:sp>
        <p:nvSpPr>
          <p:cNvPr id="11" name="Shape 7"/>
          <p:cNvSpPr/>
          <p:nvPr/>
        </p:nvSpPr>
        <p:spPr>
          <a:xfrm>
            <a:off x="7434263" y="1401763"/>
            <a:ext cx="2149475" cy="396875"/>
          </a:xfrm>
          <a:prstGeom prst="roundRect">
            <a:avLst>
              <a:gd name="adj" fmla="val 24400"/>
            </a:avLst>
          </a:prstGeom>
          <a:solidFill>
            <a:srgbClr val="DEB068">
              <a:alpha val="14000"/>
            </a:srgbClr>
          </a:solidFill>
          <a:ln w="9525">
            <a:solidFill>
              <a:srgbClr val="DEB068">
                <a:alpha val="70000"/>
              </a:srgbClr>
            </a:solidFill>
            <a:prstDash val="solid"/>
          </a:ln>
        </p:spPr>
      </p:sp>
      <p:pic>
        <p:nvPicPr>
          <p:cNvPr id="12" name="Image 2" descr="Database">    </p:cNvPr>
          <p:cNvPicPr>
            <a:picLocks noChangeAspect="1"/>
          </p:cNvPicPr>
          <p:nvPr/>
        </p:nvPicPr>
        <p:blipFill>
          <a:blip r:embed="rId3"/>
          <a:srcRect l="0" r="0" t="0" b="0"/>
          <a:stretch/>
        </p:blipFill>
        <p:spPr>
          <a:xfrm>
            <a:off x="7505700" y="1473200"/>
            <a:ext cx="254000" cy="254000"/>
          </a:xfrm>
          <a:prstGeom prst="rect">
            <a:avLst/>
          </a:prstGeom>
        </p:spPr>
      </p:pic>
      <p:sp>
        <p:nvSpPr>
          <p:cNvPr id="13" name="Text 8"/>
          <p:cNvSpPr/>
          <p:nvPr/>
        </p:nvSpPr>
        <p:spPr>
          <a:xfrm>
            <a:off x="7848600" y="1493540"/>
            <a:ext cx="143440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Oracle AI Database</a:t>
            </a:r>
            <a:endParaRPr lang="en-US" sz="1200" dirty="0"/>
          </a:p>
        </p:txBody>
      </p:sp>
      <p:sp>
        <p:nvSpPr>
          <p:cNvPr id="14" name="Shape 9"/>
          <p:cNvSpPr/>
          <p:nvPr/>
        </p:nvSpPr>
        <p:spPr>
          <a:xfrm>
            <a:off x="9732963" y="1401763"/>
            <a:ext cx="1641475" cy="396875"/>
          </a:xfrm>
          <a:prstGeom prst="roundRect">
            <a:avLst>
              <a:gd name="adj" fmla="val 24400"/>
            </a:avLst>
          </a:prstGeom>
          <a:solidFill>
            <a:srgbClr val="FFFFFF">
              <a:alpha val="6000"/>
            </a:srgbClr>
          </a:solidFill>
          <a:ln w="9525">
            <a:solidFill>
              <a:srgbClr val="FFFFFF">
                <a:alpha val="18000"/>
              </a:srgbClr>
            </a:solidFill>
            <a:prstDash val="solid"/>
          </a:ln>
        </p:spPr>
      </p:sp>
      <p:pic>
        <p:nvPicPr>
          <p:cNvPr id="15" name="Image 3" descr="Lightbulb">    </p:cNvPr>
          <p:cNvPicPr>
            <a:picLocks noChangeAspect="1"/>
          </p:cNvPicPr>
          <p:nvPr/>
        </p:nvPicPr>
        <p:blipFill>
          <a:blip r:embed="rId4"/>
          <a:srcRect l="0" r="0" t="0" b="0"/>
          <a:stretch/>
        </p:blipFill>
        <p:spPr>
          <a:xfrm>
            <a:off x="9804400" y="1473200"/>
            <a:ext cx="254000" cy="254000"/>
          </a:xfrm>
          <a:prstGeom prst="rect">
            <a:avLst/>
          </a:prstGeom>
        </p:spPr>
      </p:pic>
      <p:sp>
        <p:nvSpPr>
          <p:cNvPr id="16" name="Text 10"/>
          <p:cNvSpPr/>
          <p:nvPr/>
        </p:nvSpPr>
        <p:spPr>
          <a:xfrm>
            <a:off x="10147300" y="1493540"/>
            <a:ext cx="83805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Agent LLM</a:t>
            </a:r>
            <a:endParaRPr lang="en-US" sz="1200" dirty="0"/>
          </a:p>
        </p:txBody>
      </p:sp>
      <p:pic>
        <p:nvPicPr>
          <p:cNvPr id="17" name="Image 4" descr="lifelines">    </p:cNvPr>
          <p:cNvPicPr>
            <a:picLocks noChangeAspect="1"/>
          </p:cNvPicPr>
          <p:nvPr/>
        </p:nvPicPr>
        <p:blipFill>
          <a:blip r:embed="rId5"/>
          <a:srcRect l="0" r="0" t="0" b="0"/>
          <a:stretch/>
        </p:blipFill>
        <p:spPr>
          <a:xfrm>
            <a:off x="0" y="0"/>
            <a:ext cx="12192000" cy="6858000"/>
          </a:xfrm>
          <a:prstGeom prst="rect">
            <a:avLst/>
          </a:prstGeom>
        </p:spPr>
      </p:pic>
      <p:pic>
        <p:nvPicPr>
          <p:cNvPr id="18" name="Image 5" descr="narrative (asset + inspector)">    </p:cNvPr>
          <p:cNvPicPr>
            <a:picLocks noChangeAspect="1"/>
          </p:cNvPicPr>
          <p:nvPr/>
        </p:nvPicPr>
        <p:blipFill>
          <a:blip r:embed="rId6"/>
          <a:srcRect l="0" r="0" t="0" b="0"/>
          <a:stretch/>
        </p:blipFill>
        <p:spPr>
          <a:xfrm>
            <a:off x="0" y="0"/>
            <a:ext cx="12192000" cy="6858000"/>
          </a:xfrm>
          <a:prstGeom prst="rect">
            <a:avLst/>
          </a:prstGeom>
        </p:spPr>
      </p:pic>
      <p:sp>
        <p:nvSpPr>
          <p:cNvPr id="19" name="Text 11"/>
          <p:cNvSpPr/>
          <p:nvPr/>
        </p:nvSpPr>
        <p:spPr>
          <a:xfrm>
            <a:off x="1777429" y="1803400"/>
            <a:ext cx="2655443"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F2EFEA"/>
                </a:solidFill>
                <a:latin typeface="Courier New" pitchFamily="49" charset="0"/>
                <a:ea typeface="Courier New" pitchFamily="49" charset="-122"/>
                <a:cs typeface="Courier New" pitchFamily="49" charset="-120"/>
              </a:rPr>
              <a:t>narrative (asset + inspector)</a:t>
            </a:r>
            <a:endParaRPr lang="en-US" sz="1100" dirty="0"/>
          </a:p>
        </p:txBody>
      </p:sp>
      <p:pic>
        <p:nvPicPr>
          <p:cNvPr id="20" name="Image 6" descr="1. resolve thread (SDK): Harbor Bridge::Vance">    </p:cNvPr>
          <p:cNvPicPr>
            <a:picLocks noChangeAspect="1"/>
          </p:cNvPicPr>
          <p:nvPr/>
        </p:nvPicPr>
        <p:blipFill>
          <a:blip r:embed="rId7"/>
          <a:srcRect l="0" r="0" t="0" b="0"/>
          <a:stretch/>
        </p:blipFill>
        <p:spPr>
          <a:xfrm>
            <a:off x="0" y="0"/>
            <a:ext cx="12192000" cy="6858000"/>
          </a:xfrm>
          <a:prstGeom prst="rect">
            <a:avLst/>
          </a:prstGeom>
        </p:spPr>
      </p:pic>
      <p:sp>
        <p:nvSpPr>
          <p:cNvPr id="21" name="Text 12"/>
          <p:cNvSpPr/>
          <p:nvPr/>
        </p:nvSpPr>
        <p:spPr>
          <a:xfrm>
            <a:off x="4436364" y="2159000"/>
            <a:ext cx="4081272"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DEB068"/>
                </a:solidFill>
                <a:latin typeface="Courier New" pitchFamily="49" charset="0"/>
                <a:ea typeface="Courier New" pitchFamily="49" charset="-122"/>
                <a:cs typeface="Courier New" pitchFamily="49" charset="-120"/>
              </a:rPr>
              <a:t>1. resolve thread (SDK): Harbor Bridge::Vance</a:t>
            </a:r>
            <a:endParaRPr lang="en-US" sz="1100" dirty="0"/>
          </a:p>
        </p:txBody>
      </p:sp>
      <p:pic>
        <p:nvPicPr>
          <p:cNvPr id="22" name="Image 7" descr="2. get_asset() · CITY_ASSET: class bridge">    </p:cNvPr>
          <p:cNvPicPr>
            <a:picLocks noChangeAspect="1"/>
          </p:cNvPicPr>
          <p:nvPr/>
        </p:nvPicPr>
        <p:blipFill>
          <a:blip r:embed="rId8"/>
          <a:srcRect l="0" r="0" t="0" b="0"/>
          <a:stretch/>
        </p:blipFill>
        <p:spPr>
          <a:xfrm>
            <a:off x="0" y="0"/>
            <a:ext cx="12192000" cy="6858000"/>
          </a:xfrm>
          <a:prstGeom prst="rect">
            <a:avLst/>
          </a:prstGeom>
        </p:spPr>
      </p:pic>
      <p:sp>
        <p:nvSpPr>
          <p:cNvPr id="23" name="Text 13"/>
          <p:cNvSpPr/>
          <p:nvPr/>
        </p:nvSpPr>
        <p:spPr>
          <a:xfrm>
            <a:off x="4436364" y="2514600"/>
            <a:ext cx="4081272"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DEB068"/>
                </a:solidFill>
                <a:latin typeface="Courier New" pitchFamily="49" charset="0"/>
                <a:ea typeface="Courier New" pitchFamily="49" charset="-122"/>
                <a:cs typeface="Courier New" pitchFamily="49" charset="-120"/>
              </a:rPr>
              <a:t>2. get_asset() · CITY_ASSET: class bridge</a:t>
            </a:r>
            <a:endParaRPr lang="en-US" sz="1100" dirty="0"/>
          </a:p>
        </p:txBody>
      </p:sp>
      <p:pic>
        <p:nvPicPr>
          <p:cNvPr id="24" name="Image 8" descr="3. context card + pooled asset memory">    </p:cNvPr>
          <p:cNvPicPr>
            <a:picLocks noChangeAspect="1"/>
          </p:cNvPicPr>
          <p:nvPr/>
        </p:nvPicPr>
        <p:blipFill>
          <a:blip r:embed="rId9"/>
          <a:srcRect l="0" r="0" t="0" b="0"/>
          <a:stretch/>
        </p:blipFill>
        <p:spPr>
          <a:xfrm>
            <a:off x="0" y="0"/>
            <a:ext cx="12192000" cy="6858000"/>
          </a:xfrm>
          <a:prstGeom prst="rect">
            <a:avLst/>
          </a:prstGeom>
        </p:spPr>
      </p:pic>
      <p:sp>
        <p:nvSpPr>
          <p:cNvPr id="25" name="Text 14"/>
          <p:cNvSpPr/>
          <p:nvPr/>
        </p:nvSpPr>
        <p:spPr>
          <a:xfrm>
            <a:off x="4436364" y="2870200"/>
            <a:ext cx="4081272"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DEB068"/>
                </a:solidFill>
                <a:latin typeface="Courier New" pitchFamily="49" charset="0"/>
                <a:ea typeface="Courier New" pitchFamily="49" charset="-122"/>
                <a:cs typeface="Courier New" pitchFamily="49" charset="-120"/>
              </a:rPr>
              <a:t>3. context card + pooled asset memory</a:t>
            </a:r>
            <a:endParaRPr lang="en-US" sz="1100" dirty="0"/>
          </a:p>
        </p:txBody>
      </p:sp>
      <p:pic>
        <p:nvPicPr>
          <p:cNvPr id="26" name="Image 9" descr="4. find_similar_findings(): Pier 2, grade C">    </p:cNvPr>
          <p:cNvPicPr>
            <a:picLocks noChangeAspect="1"/>
          </p:cNvPicPr>
          <p:nvPr/>
        </p:nvPicPr>
        <p:blipFill>
          <a:blip r:embed="rId10"/>
          <a:srcRect l="0" r="0" t="0" b="0"/>
          <a:stretch/>
        </p:blipFill>
        <p:spPr>
          <a:xfrm>
            <a:off x="0" y="0"/>
            <a:ext cx="12192000" cy="6858000"/>
          </a:xfrm>
          <a:prstGeom prst="rect">
            <a:avLst/>
          </a:prstGeom>
        </p:spPr>
      </p:pic>
      <p:sp>
        <p:nvSpPr>
          <p:cNvPr id="27" name="Text 15"/>
          <p:cNvSpPr/>
          <p:nvPr/>
        </p:nvSpPr>
        <p:spPr>
          <a:xfrm>
            <a:off x="4436364" y="3225800"/>
            <a:ext cx="4081272"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DEB068"/>
                </a:solidFill>
                <a:latin typeface="Courier New" pitchFamily="49" charset="0"/>
                <a:ea typeface="Courier New" pitchFamily="49" charset="-122"/>
                <a:cs typeface="Courier New" pitchFamily="49" charset="-120"/>
              </a:rPr>
              <a:t>4. find_similar_findings(): Pier 2, grade C</a:t>
            </a:r>
            <a:endParaRPr lang="en-US" sz="1100" dirty="0"/>
          </a:p>
        </p:txBody>
      </p:sp>
      <p:pic>
        <p:nvPicPr>
          <p:cNvPr id="28" name="Image 10" descr="5. system prompt + assembled context">    </p:cNvPr>
          <p:cNvPicPr>
            <a:picLocks noChangeAspect="1"/>
          </p:cNvPicPr>
          <p:nvPr/>
        </p:nvPicPr>
        <p:blipFill>
          <a:blip r:embed="rId11"/>
          <a:srcRect l="0" r="0" t="0" b="0"/>
          <a:stretch/>
        </p:blipFill>
        <p:spPr>
          <a:xfrm>
            <a:off x="0" y="0"/>
            <a:ext cx="12192000" cy="6858000"/>
          </a:xfrm>
          <a:prstGeom prst="rect">
            <a:avLst/>
          </a:prstGeom>
        </p:spPr>
      </p:pic>
      <p:sp>
        <p:nvSpPr>
          <p:cNvPr id="29" name="Text 16"/>
          <p:cNvSpPr/>
          <p:nvPr/>
        </p:nvSpPr>
        <p:spPr>
          <a:xfrm>
            <a:off x="4405693" y="3581400"/>
            <a:ext cx="6187313"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7FC4DC"/>
                </a:solidFill>
                <a:latin typeface="Courier New" pitchFamily="49" charset="0"/>
                <a:ea typeface="Courier New" pitchFamily="49" charset="-122"/>
                <a:cs typeface="Courier New" pitchFamily="49" charset="-120"/>
              </a:rPr>
              <a:t>5. system prompt + assembled context</a:t>
            </a:r>
            <a:endParaRPr lang="en-US" sz="1100" dirty="0"/>
          </a:p>
        </p:txBody>
      </p:sp>
      <p:pic>
        <p:nvPicPr>
          <p:cNvPr id="30" name="Image 11" descr="6. diagnosis: cites Mercer, the grade, the 60-day fix">    </p:cNvPr>
          <p:cNvPicPr>
            <a:picLocks noChangeAspect="1"/>
          </p:cNvPicPr>
          <p:nvPr/>
        </p:nvPicPr>
        <p:blipFill>
          <a:blip r:embed="rId12"/>
          <a:srcRect l="0" r="0" t="0" b="0"/>
          <a:stretch/>
        </p:blipFill>
        <p:spPr>
          <a:xfrm>
            <a:off x="0" y="0"/>
            <a:ext cx="12192000" cy="6858000"/>
          </a:xfrm>
          <a:prstGeom prst="rect">
            <a:avLst/>
          </a:prstGeom>
        </p:spPr>
      </p:pic>
      <p:sp>
        <p:nvSpPr>
          <p:cNvPr id="31" name="Text 17"/>
          <p:cNvSpPr/>
          <p:nvPr/>
        </p:nvSpPr>
        <p:spPr>
          <a:xfrm>
            <a:off x="4405693" y="3937000"/>
            <a:ext cx="6187313"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7FC4DC"/>
                </a:solidFill>
                <a:latin typeface="Courier New" pitchFamily="49" charset="0"/>
                <a:ea typeface="Courier New" pitchFamily="49" charset="-122"/>
                <a:cs typeface="Courier New" pitchFamily="49" charset="-120"/>
              </a:rPr>
              <a:t>6. diagnosis: cites Mercer, the grade, the 60-day fix</a:t>
            </a:r>
            <a:endParaRPr lang="en-US" sz="1100" dirty="0"/>
          </a:p>
        </p:txBody>
      </p:sp>
      <p:pic>
        <p:nvPicPr>
          <p:cNvPr id="32" name="Image 12" descr="7. add_messages() · writes CITY_MESSAGE">    </p:cNvPr>
          <p:cNvPicPr>
            <a:picLocks noChangeAspect="1"/>
          </p:cNvPicPr>
          <p:nvPr/>
        </p:nvPicPr>
        <p:blipFill>
          <a:blip r:embed="rId13"/>
          <a:srcRect l="0" r="0" t="0" b="0"/>
          <a:stretch/>
        </p:blipFill>
        <p:spPr>
          <a:xfrm>
            <a:off x="0" y="0"/>
            <a:ext cx="12192000" cy="6858000"/>
          </a:xfrm>
          <a:prstGeom prst="rect">
            <a:avLst/>
          </a:prstGeom>
        </p:spPr>
      </p:pic>
      <p:sp>
        <p:nvSpPr>
          <p:cNvPr id="33" name="Text 18"/>
          <p:cNvSpPr/>
          <p:nvPr/>
        </p:nvSpPr>
        <p:spPr>
          <a:xfrm>
            <a:off x="4436364" y="4292600"/>
            <a:ext cx="4081272"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E8836F"/>
                </a:solidFill>
                <a:latin typeface="Courier New" pitchFamily="49" charset="0"/>
                <a:ea typeface="Courier New" pitchFamily="49" charset="-122"/>
                <a:cs typeface="Courier New" pitchFamily="49" charset="-120"/>
              </a:rPr>
              <a:t>7. add_messages() · writes CITY_MESSAGE</a:t>
            </a:r>
            <a:endParaRPr lang="en-US" sz="1100" dirty="0"/>
          </a:p>
        </p:txBody>
      </p:sp>
      <p:sp>
        <p:nvSpPr>
          <p:cNvPr id="34" name="Shape 19"/>
          <p:cNvSpPr/>
          <p:nvPr/>
        </p:nvSpPr>
        <p:spPr>
          <a:xfrm>
            <a:off x="6735763" y="4792663"/>
            <a:ext cx="3546475" cy="447675"/>
          </a:xfrm>
          <a:prstGeom prst="roundRect">
            <a:avLst>
              <a:gd name="adj" fmla="val 15957"/>
            </a:avLst>
          </a:prstGeom>
          <a:solidFill>
            <a:srgbClr val="DEB068">
              <a:alpha val="90000"/>
            </a:srgbClr>
          </a:solidFill>
          <a:ln w="9525">
            <a:solidFill>
              <a:srgbClr val="DEB068"/>
            </a:solidFill>
            <a:prstDash val="solid"/>
          </a:ln>
        </p:spPr>
      </p:sp>
      <p:sp>
        <p:nvSpPr>
          <p:cNvPr id="35" name="Text 20"/>
          <p:cNvSpPr/>
          <p:nvPr/>
        </p:nvSpPr>
        <p:spPr>
          <a:xfrm>
            <a:off x="6807200" y="4851846"/>
            <a:ext cx="3505708" cy="354657"/>
          </a:xfrm>
          <a:prstGeom prst="rect">
            <a:avLst/>
          </a:prstGeom>
          <a:noFill/>
          <a:ln/>
        </p:spPr>
        <p:txBody>
          <a:bodyPr wrap="square" lIns="0" tIns="0" rIns="0" bIns="0" rtlCol="0" anchor="t">
            <a:normAutofit/>
          </a:bodyPr>
          <a:lstStyle/>
          <a:p>
            <a:pPr algn="l" indent="0" marL="0">
              <a:lnSpc>
                <a:spcPts val="1300"/>
              </a:lnSpc>
              <a:buNone/>
            </a:pPr>
            <a:r>
              <a:rPr lang="en-US" sz="1000" dirty="0">
                <a:solidFill>
                  <a:srgbClr val="1E2A2A"/>
                </a:solidFill>
                <a:latin typeface="Courier New" pitchFamily="49" charset="0"/>
                <a:ea typeface="Courier New" pitchFamily="49" charset="-122"/>
                <a:cs typeface="Courier New" pitchFamily="49" charset="-120"/>
              </a:rPr>
              <a:t>8. SDK derives CITY_MEMORY (extractor) and CITY_THREAD (summary refresh)</a:t>
            </a:r>
            <a:endParaRPr lang="en-US" sz="1000" dirty="0"/>
          </a:p>
        </p:txBody>
      </p:sp>
      <p:pic>
        <p:nvPicPr>
          <p:cNvPr id="36" name="Image 13" descr="the answer back to the inspector">    </p:cNvPr>
          <p:cNvPicPr>
            <a:picLocks noChangeAspect="1"/>
          </p:cNvPicPr>
          <p:nvPr/>
        </p:nvPicPr>
        <p:blipFill>
          <a:blip r:embed="rId14"/>
          <a:srcRect l="0" r="0" t="0" b="0"/>
          <a:stretch/>
        </p:blipFill>
        <p:spPr>
          <a:xfrm>
            <a:off x="0" y="0"/>
            <a:ext cx="12192000" cy="6858000"/>
          </a:xfrm>
          <a:prstGeom prst="rect">
            <a:avLst/>
          </a:prstGeom>
        </p:spPr>
      </p:pic>
      <p:sp>
        <p:nvSpPr>
          <p:cNvPr id="37" name="Text 21"/>
          <p:cNvSpPr/>
          <p:nvPr/>
        </p:nvSpPr>
        <p:spPr>
          <a:xfrm>
            <a:off x="1777429" y="5245100"/>
            <a:ext cx="2655443"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F2EFEA"/>
                </a:solidFill>
                <a:latin typeface="Courier New" pitchFamily="49" charset="0"/>
                <a:ea typeface="Courier New" pitchFamily="49" charset="-122"/>
                <a:cs typeface="Courier New" pitchFamily="49" charset="-120"/>
              </a:rPr>
              <a:t>answer</a:t>
            </a:r>
            <a:endParaRPr lang="en-US" sz="1100" dirty="0"/>
          </a:p>
        </p:txBody>
      </p:sp>
      <p:sp>
        <p:nvSpPr>
          <p:cNvPr id="38" name="Text 22"/>
          <p:cNvSpPr/>
          <p:nvPr/>
        </p:nvSpPr>
        <p:spPr>
          <a:xfrm>
            <a:off x="812800" y="5753100"/>
            <a:ext cx="10883392"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Steps 1 to 4 are the read path, 5 and 6 the model, 7 and 8 the write path. You write 3 and 4 in TODO 6; the rest is pre-built.</a:t>
            </a:r>
            <a:endParaRPr lang="en-US" sz="1100" dirty="0"/>
          </a:p>
        </p:txBody>
      </p:sp>
      <p:sp>
        <p:nvSpPr>
          <p:cNvPr id="39"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Workshop instructions</a:t>
            </a:r>
            <a:endParaRPr lang="en-US" sz="2800" dirty="0"/>
          </a:p>
        </p:txBody>
      </p:sp>
      <p:sp>
        <p:nvSpPr>
          <p:cNvPr id="4" name="Shape 2"/>
          <p:cNvSpPr/>
          <p:nvPr/>
        </p:nvSpPr>
        <p:spPr>
          <a:xfrm>
            <a:off x="817563" y="1503363"/>
            <a:ext cx="10556875" cy="701675"/>
          </a:xfrm>
          <a:prstGeom prst="roundRect">
            <a:avLst>
              <a:gd name="adj" fmla="val 17421"/>
            </a:avLst>
          </a:prstGeom>
          <a:solidFill>
            <a:srgbClr val="FFFFFF">
              <a:alpha val="6000"/>
            </a:srgbClr>
          </a:solidFill>
          <a:ln w="9525">
            <a:solidFill>
              <a:srgbClr val="FFFFFF">
                <a:alpha val="18000"/>
              </a:srgbClr>
            </a:solidFill>
            <a:prstDash val="solid"/>
          </a:ln>
        </p:spPr>
      </p:sp>
      <p:sp>
        <p:nvSpPr>
          <p:cNvPr id="5" name="Text 3"/>
          <p:cNvSpPr/>
          <p:nvPr/>
        </p:nvSpPr>
        <p:spPr>
          <a:xfrm>
            <a:off x="990600" y="1678930"/>
            <a:ext cx="355600" cy="350490"/>
          </a:xfrm>
          <a:custGeom>
            <a:avLst/>
            <a:gdLst/>
            <a:ahLst/>
            <a:cxnLst/>
            <a:rect l="l" t="t" r="r" b="b"/>
            <a:pathLst>
              <a:path w="355600" h="350490">
                <a:moveTo>
                  <a:pt x="175245" y="0"/>
                </a:moveTo>
                <a:lnTo>
                  <a:pt x="180355" y="0"/>
                </a:lnTo>
                <a:arcTo hR="175245" wR="175245" stAng="16200000" swAng="5400000"/>
                <a:lnTo>
                  <a:pt x="355600" y="175245"/>
                </a:lnTo>
                <a:arcTo hR="175245" wR="175245" stAng="0" swAng="5400000"/>
                <a:lnTo>
                  <a:pt x="175245" y="350490"/>
                </a:lnTo>
                <a:arcTo hR="175245" wR="175245" stAng="5400000" swAng="5400000"/>
                <a:lnTo>
                  <a:pt x="0" y="175245"/>
                </a:lnTo>
                <a:arcTo hR="175245" wR="175245" stAng="10800000" swAng="5400000"/>
                <a:close/>
              </a:path>
            </a:pathLst>
          </a:custGeom>
          <a:solidFill>
            <a:srgbClr val="C74634"/>
          </a:solidFill>
          <a:ln/>
        </p:spPr>
        <p:txBody>
          <a:bodyPr wrap="square" lIns="0" tIns="50800" rIns="0" bIns="25400" rtlCol="0" anchor="t">
            <a:normAutofit/>
          </a:bodyPr>
          <a:lstStyle/>
          <a:p>
            <a:pPr algn="ctr" indent="0" marL="0">
              <a:lnSpc>
                <a:spcPts val="1960"/>
              </a:lnSpc>
              <a:buNone/>
            </a:pPr>
            <a:r>
              <a:rPr lang="en-US" sz="1400" b="1" dirty="0">
                <a:solidFill>
                  <a:srgbClr val="FFFFFF"/>
                </a:solidFill>
                <a:latin typeface="Courier New" pitchFamily="49" charset="0"/>
                <a:ea typeface="Courier New" pitchFamily="49" charset="-122"/>
                <a:cs typeface="Courier New" pitchFamily="49" charset="-120"/>
              </a:rPr>
              <a:t>1</a:t>
            </a:r>
            <a:endParaRPr lang="en-US" sz="1400" dirty="0"/>
          </a:p>
        </p:txBody>
      </p:sp>
      <p:sp>
        <p:nvSpPr>
          <p:cNvPr id="6" name="Text 4"/>
          <p:cNvSpPr/>
          <p:nvPr/>
        </p:nvSpPr>
        <p:spPr>
          <a:xfrm>
            <a:off x="1524000" y="1747540"/>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Arial" pitchFamily="34" charset="0"/>
                <a:ea typeface="Arial" pitchFamily="34" charset="-122"/>
                <a:cs typeface="Arial" pitchFamily="34" charset="-120"/>
              </a:rPr>
              <a:t>Get into the lab</a:t>
            </a:r>
            <a:endParaRPr lang="en-US" sz="1400" dirty="0"/>
          </a:p>
        </p:txBody>
      </p:sp>
      <p:sp>
        <p:nvSpPr>
          <p:cNvPr id="7" name="Text 5"/>
          <p:cNvSpPr/>
          <p:nvPr/>
        </p:nvSpPr>
        <p:spPr>
          <a:xfrm>
            <a:off x="3860800" y="1657052"/>
            <a:ext cx="7560818" cy="419695"/>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Reserve the LiveLabs workshop and open JupyterLab: the next five slides. Work in notebook_student_ollama.ipynb; the complete notebook is the answer key.</a:t>
            </a:r>
            <a:endParaRPr lang="en-US" sz="1150" dirty="0"/>
          </a:p>
        </p:txBody>
      </p:sp>
      <p:sp>
        <p:nvSpPr>
          <p:cNvPr id="8" name="Shape 6"/>
          <p:cNvSpPr/>
          <p:nvPr/>
        </p:nvSpPr>
        <p:spPr>
          <a:xfrm>
            <a:off x="817563" y="2316163"/>
            <a:ext cx="10556875" cy="701675"/>
          </a:xfrm>
          <a:prstGeom prst="roundRect">
            <a:avLst>
              <a:gd name="adj" fmla="val 17421"/>
            </a:avLst>
          </a:prstGeom>
          <a:solidFill>
            <a:srgbClr val="FFFFFF">
              <a:alpha val="6000"/>
            </a:srgbClr>
          </a:solidFill>
          <a:ln w="9525">
            <a:solidFill>
              <a:srgbClr val="FFFFFF">
                <a:alpha val="18000"/>
              </a:srgbClr>
            </a:solidFill>
            <a:prstDash val="solid"/>
          </a:ln>
        </p:spPr>
      </p:sp>
      <p:sp>
        <p:nvSpPr>
          <p:cNvPr id="9" name="Text 7"/>
          <p:cNvSpPr/>
          <p:nvPr/>
        </p:nvSpPr>
        <p:spPr>
          <a:xfrm>
            <a:off x="990600" y="2491730"/>
            <a:ext cx="355600" cy="350490"/>
          </a:xfrm>
          <a:custGeom>
            <a:avLst/>
            <a:gdLst/>
            <a:ahLst/>
            <a:cxnLst/>
            <a:rect l="l" t="t" r="r" b="b"/>
            <a:pathLst>
              <a:path w="355600" h="350490">
                <a:moveTo>
                  <a:pt x="175245" y="0"/>
                </a:moveTo>
                <a:lnTo>
                  <a:pt x="180355" y="0"/>
                </a:lnTo>
                <a:arcTo hR="175245" wR="175245" stAng="16200000" swAng="5400000"/>
                <a:lnTo>
                  <a:pt x="355600" y="175245"/>
                </a:lnTo>
                <a:arcTo hR="175245" wR="175245" stAng="0" swAng="5400000"/>
                <a:lnTo>
                  <a:pt x="175245" y="350490"/>
                </a:lnTo>
                <a:arcTo hR="175245" wR="175245" stAng="5400000" swAng="5400000"/>
                <a:lnTo>
                  <a:pt x="0" y="175245"/>
                </a:lnTo>
                <a:arcTo hR="175245" wR="175245" stAng="10800000" swAng="5400000"/>
                <a:close/>
              </a:path>
            </a:pathLst>
          </a:custGeom>
          <a:solidFill>
            <a:srgbClr val="C74634"/>
          </a:solidFill>
          <a:ln/>
        </p:spPr>
        <p:txBody>
          <a:bodyPr wrap="square" lIns="0" tIns="50800" rIns="0" bIns="25400" rtlCol="0" anchor="t">
            <a:normAutofit/>
          </a:bodyPr>
          <a:lstStyle/>
          <a:p>
            <a:pPr algn="ctr" indent="0" marL="0">
              <a:lnSpc>
                <a:spcPts val="1960"/>
              </a:lnSpc>
              <a:buNone/>
            </a:pPr>
            <a:r>
              <a:rPr lang="en-US" sz="1400" b="1" dirty="0">
                <a:solidFill>
                  <a:srgbClr val="FFFFFF"/>
                </a:solidFill>
                <a:latin typeface="Courier New" pitchFamily="49" charset="0"/>
                <a:ea typeface="Courier New" pitchFamily="49" charset="-122"/>
                <a:cs typeface="Courier New" pitchFamily="49" charset="-120"/>
              </a:rPr>
              <a:t>2</a:t>
            </a:r>
            <a:endParaRPr lang="en-US" sz="1400" dirty="0"/>
          </a:p>
        </p:txBody>
      </p:sp>
      <p:sp>
        <p:nvSpPr>
          <p:cNvPr id="10" name="Text 8"/>
          <p:cNvSpPr/>
          <p:nvPr/>
        </p:nvSpPr>
        <p:spPr>
          <a:xfrm>
            <a:off x="1524000" y="2560340"/>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Arial" pitchFamily="34" charset="0"/>
                <a:ea typeface="Arial" pitchFamily="34" charset="-122"/>
                <a:cs typeface="Arial" pitchFamily="34" charset="-120"/>
              </a:rPr>
              <a:t>Check the config cell</a:t>
            </a:r>
            <a:endParaRPr lang="en-US" sz="1400" dirty="0"/>
          </a:p>
        </p:txBody>
      </p:sp>
      <p:sp>
        <p:nvSpPr>
          <p:cNvPr id="11" name="Text 9"/>
          <p:cNvSpPr/>
          <p:nvPr/>
        </p:nvSpPr>
        <p:spPr>
          <a:xfrm>
            <a:off x="3860800" y="2469852"/>
            <a:ext cx="7560818" cy="419695"/>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DB_USER prism, DSN aidbfree:1521/FREEPDB1, ONNX model ALL_MINILM_L12_V2, Ollama llama3.2 at ollama:11434. Change nothing unless told.</a:t>
            </a:r>
            <a:endParaRPr lang="en-US" sz="1150" dirty="0"/>
          </a:p>
        </p:txBody>
      </p:sp>
      <p:sp>
        <p:nvSpPr>
          <p:cNvPr id="12" name="Shape 10"/>
          <p:cNvSpPr/>
          <p:nvPr/>
        </p:nvSpPr>
        <p:spPr>
          <a:xfrm>
            <a:off x="817563" y="3128963"/>
            <a:ext cx="10556875" cy="701675"/>
          </a:xfrm>
          <a:prstGeom prst="roundRect">
            <a:avLst>
              <a:gd name="adj" fmla="val 17421"/>
            </a:avLst>
          </a:prstGeom>
          <a:solidFill>
            <a:srgbClr val="FFFFFF">
              <a:alpha val="6000"/>
            </a:srgbClr>
          </a:solidFill>
          <a:ln w="9525">
            <a:solidFill>
              <a:srgbClr val="FFFFFF">
                <a:alpha val="18000"/>
              </a:srgbClr>
            </a:solidFill>
            <a:prstDash val="solid"/>
          </a:ln>
        </p:spPr>
      </p:sp>
      <p:sp>
        <p:nvSpPr>
          <p:cNvPr id="13" name="Text 11"/>
          <p:cNvSpPr/>
          <p:nvPr/>
        </p:nvSpPr>
        <p:spPr>
          <a:xfrm>
            <a:off x="990600" y="3304530"/>
            <a:ext cx="355600" cy="350490"/>
          </a:xfrm>
          <a:custGeom>
            <a:avLst/>
            <a:gdLst/>
            <a:ahLst/>
            <a:cxnLst/>
            <a:rect l="l" t="t" r="r" b="b"/>
            <a:pathLst>
              <a:path w="355600" h="350490">
                <a:moveTo>
                  <a:pt x="175245" y="0"/>
                </a:moveTo>
                <a:lnTo>
                  <a:pt x="180355" y="0"/>
                </a:lnTo>
                <a:arcTo hR="175245" wR="175245" stAng="16200000" swAng="5400000"/>
                <a:lnTo>
                  <a:pt x="355600" y="175245"/>
                </a:lnTo>
                <a:arcTo hR="175245" wR="175245" stAng="0" swAng="5400000"/>
                <a:lnTo>
                  <a:pt x="175245" y="350490"/>
                </a:lnTo>
                <a:arcTo hR="175245" wR="175245" stAng="5400000" swAng="5400000"/>
                <a:lnTo>
                  <a:pt x="0" y="175245"/>
                </a:lnTo>
                <a:arcTo hR="175245" wR="175245" stAng="10800000" swAng="5400000"/>
                <a:close/>
              </a:path>
            </a:pathLst>
          </a:custGeom>
          <a:solidFill>
            <a:srgbClr val="C74634"/>
          </a:solidFill>
          <a:ln/>
        </p:spPr>
        <p:txBody>
          <a:bodyPr wrap="square" lIns="0" tIns="50800" rIns="0" bIns="25400" rtlCol="0" anchor="t">
            <a:normAutofit/>
          </a:bodyPr>
          <a:lstStyle/>
          <a:p>
            <a:pPr algn="ctr" indent="0" marL="0">
              <a:lnSpc>
                <a:spcPts val="1960"/>
              </a:lnSpc>
              <a:buNone/>
            </a:pPr>
            <a:r>
              <a:rPr lang="en-US" sz="1400" b="1" dirty="0">
                <a:solidFill>
                  <a:srgbClr val="FFFFFF"/>
                </a:solidFill>
                <a:latin typeface="Courier New" pitchFamily="49" charset="0"/>
                <a:ea typeface="Courier New" pitchFamily="49" charset="-122"/>
                <a:cs typeface="Courier New" pitchFamily="49" charset="-120"/>
              </a:rPr>
              <a:t>3</a:t>
            </a:r>
            <a:endParaRPr lang="en-US" sz="1400" dirty="0"/>
          </a:p>
        </p:txBody>
      </p:sp>
      <p:sp>
        <p:nvSpPr>
          <p:cNvPr id="14" name="Text 12"/>
          <p:cNvSpPr/>
          <p:nvPr/>
        </p:nvSpPr>
        <p:spPr>
          <a:xfrm>
            <a:off x="1524000" y="3373090"/>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Arial" pitchFamily="34" charset="0"/>
                <a:ea typeface="Arial" pitchFamily="34" charset="-122"/>
                <a:cs typeface="Arial" pitchFamily="34" charset="-120"/>
              </a:rPr>
              <a:t>Run Part 1</a:t>
            </a:r>
            <a:endParaRPr lang="en-US" sz="1400" dirty="0"/>
          </a:p>
        </p:txBody>
      </p:sp>
      <p:sp>
        <p:nvSpPr>
          <p:cNvPr id="15" name="Text 13"/>
          <p:cNvSpPr/>
          <p:nvPr/>
        </p:nvSpPr>
        <p:spPr>
          <a:xfrm>
            <a:off x="3860800" y="3381177"/>
            <a:ext cx="7560818" cy="222548"/>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Connect to the database. The optional reset cell wipes every CITY_ table if you want a clean slate.</a:t>
            </a:r>
            <a:endParaRPr lang="en-US" sz="1150" dirty="0"/>
          </a:p>
        </p:txBody>
      </p:sp>
      <p:sp>
        <p:nvSpPr>
          <p:cNvPr id="16" name="Shape 14"/>
          <p:cNvSpPr/>
          <p:nvPr/>
        </p:nvSpPr>
        <p:spPr>
          <a:xfrm>
            <a:off x="817563" y="3941763"/>
            <a:ext cx="10556875" cy="701675"/>
          </a:xfrm>
          <a:prstGeom prst="roundRect">
            <a:avLst>
              <a:gd name="adj" fmla="val 17421"/>
            </a:avLst>
          </a:prstGeom>
          <a:solidFill>
            <a:srgbClr val="FFFFFF">
              <a:alpha val="6000"/>
            </a:srgbClr>
          </a:solidFill>
          <a:ln w="9525">
            <a:solidFill>
              <a:srgbClr val="FFFFFF">
                <a:alpha val="18000"/>
              </a:srgbClr>
            </a:solidFill>
            <a:prstDash val="solid"/>
          </a:ln>
        </p:spPr>
      </p:sp>
      <p:sp>
        <p:nvSpPr>
          <p:cNvPr id="17" name="Text 15"/>
          <p:cNvSpPr/>
          <p:nvPr/>
        </p:nvSpPr>
        <p:spPr>
          <a:xfrm>
            <a:off x="990600" y="4117330"/>
            <a:ext cx="355600" cy="350490"/>
          </a:xfrm>
          <a:custGeom>
            <a:avLst/>
            <a:gdLst/>
            <a:ahLst/>
            <a:cxnLst/>
            <a:rect l="l" t="t" r="r" b="b"/>
            <a:pathLst>
              <a:path w="355600" h="350490">
                <a:moveTo>
                  <a:pt x="175245" y="0"/>
                </a:moveTo>
                <a:lnTo>
                  <a:pt x="180355" y="0"/>
                </a:lnTo>
                <a:arcTo hR="175245" wR="175245" stAng="16200000" swAng="5400000"/>
                <a:lnTo>
                  <a:pt x="355600" y="175245"/>
                </a:lnTo>
                <a:arcTo hR="175245" wR="175245" stAng="0" swAng="5400000"/>
                <a:lnTo>
                  <a:pt x="175245" y="350490"/>
                </a:lnTo>
                <a:arcTo hR="175245" wR="175245" stAng="5400000" swAng="5400000"/>
                <a:lnTo>
                  <a:pt x="0" y="175245"/>
                </a:lnTo>
                <a:arcTo hR="175245" wR="175245" stAng="10800000" swAng="5400000"/>
                <a:close/>
              </a:path>
            </a:pathLst>
          </a:custGeom>
          <a:solidFill>
            <a:srgbClr val="C74634"/>
          </a:solidFill>
          <a:ln/>
        </p:spPr>
        <p:txBody>
          <a:bodyPr wrap="square" lIns="0" tIns="50800" rIns="0" bIns="25400" rtlCol="0" anchor="t">
            <a:normAutofit/>
          </a:bodyPr>
          <a:lstStyle/>
          <a:p>
            <a:pPr algn="ctr" indent="0" marL="0">
              <a:lnSpc>
                <a:spcPts val="1960"/>
              </a:lnSpc>
              <a:buNone/>
            </a:pPr>
            <a:r>
              <a:rPr lang="en-US" sz="1400" b="1" dirty="0">
                <a:solidFill>
                  <a:srgbClr val="FFFFFF"/>
                </a:solidFill>
                <a:latin typeface="Courier New" pitchFamily="49" charset="0"/>
                <a:ea typeface="Courier New" pitchFamily="49" charset="-122"/>
                <a:cs typeface="Courier New" pitchFamily="49" charset="-120"/>
              </a:rPr>
              <a:t>4</a:t>
            </a:r>
            <a:endParaRPr lang="en-US" sz="1400" dirty="0"/>
          </a:p>
        </p:txBody>
      </p:sp>
      <p:sp>
        <p:nvSpPr>
          <p:cNvPr id="18" name="Text 16"/>
          <p:cNvSpPr/>
          <p:nvPr/>
        </p:nvSpPr>
        <p:spPr>
          <a:xfrm>
            <a:off x="1524000" y="4079280"/>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Arial" pitchFamily="34" charset="0"/>
                <a:ea typeface="Arial" pitchFamily="34" charset="-122"/>
                <a:cs typeface="Arial" pitchFamily="34" charset="-120"/>
              </a:rPr>
              <a:t>Work Parts 2 to 6 in order</a:t>
            </a:r>
            <a:endParaRPr lang="en-US" sz="1400" dirty="0"/>
          </a:p>
        </p:txBody>
      </p:sp>
      <p:sp>
        <p:nvSpPr>
          <p:cNvPr id="19" name="Text 17"/>
          <p:cNvSpPr/>
          <p:nvPr/>
        </p:nvSpPr>
        <p:spPr>
          <a:xfrm>
            <a:off x="3860800" y="4095452"/>
            <a:ext cx="7560818" cy="419695"/>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Six TODOs, one to three lines each. Every TODO has a checkpoint cell after it and a Show answer fold if you are stuck.</a:t>
            </a:r>
            <a:endParaRPr lang="en-US" sz="1150" dirty="0"/>
          </a:p>
        </p:txBody>
      </p:sp>
      <p:sp>
        <p:nvSpPr>
          <p:cNvPr id="20" name="Shape 18"/>
          <p:cNvSpPr/>
          <p:nvPr/>
        </p:nvSpPr>
        <p:spPr>
          <a:xfrm>
            <a:off x="817563" y="4754563"/>
            <a:ext cx="10556875" cy="701675"/>
          </a:xfrm>
          <a:prstGeom prst="roundRect">
            <a:avLst>
              <a:gd name="adj" fmla="val 17421"/>
            </a:avLst>
          </a:prstGeom>
          <a:solidFill>
            <a:srgbClr val="FFFFFF">
              <a:alpha val="6000"/>
            </a:srgbClr>
          </a:solidFill>
          <a:ln w="9525">
            <a:solidFill>
              <a:srgbClr val="FFFFFF">
                <a:alpha val="18000"/>
              </a:srgbClr>
            </a:solidFill>
            <a:prstDash val="solid"/>
          </a:ln>
        </p:spPr>
      </p:sp>
      <p:sp>
        <p:nvSpPr>
          <p:cNvPr id="21" name="Text 19"/>
          <p:cNvSpPr/>
          <p:nvPr/>
        </p:nvSpPr>
        <p:spPr>
          <a:xfrm>
            <a:off x="990600" y="4930130"/>
            <a:ext cx="355600" cy="350490"/>
          </a:xfrm>
          <a:custGeom>
            <a:avLst/>
            <a:gdLst/>
            <a:ahLst/>
            <a:cxnLst/>
            <a:rect l="l" t="t" r="r" b="b"/>
            <a:pathLst>
              <a:path w="355600" h="350490">
                <a:moveTo>
                  <a:pt x="175245" y="0"/>
                </a:moveTo>
                <a:lnTo>
                  <a:pt x="180355" y="0"/>
                </a:lnTo>
                <a:arcTo hR="175245" wR="175245" stAng="16200000" swAng="5400000"/>
                <a:lnTo>
                  <a:pt x="355600" y="175245"/>
                </a:lnTo>
                <a:arcTo hR="175245" wR="175245" stAng="0" swAng="5400000"/>
                <a:lnTo>
                  <a:pt x="175245" y="350490"/>
                </a:lnTo>
                <a:arcTo hR="175245" wR="175245" stAng="5400000" swAng="5400000"/>
                <a:lnTo>
                  <a:pt x="0" y="175245"/>
                </a:lnTo>
                <a:arcTo hR="175245" wR="175245" stAng="10800000" swAng="5400000"/>
                <a:close/>
              </a:path>
            </a:pathLst>
          </a:custGeom>
          <a:solidFill>
            <a:srgbClr val="C74634"/>
          </a:solidFill>
          <a:ln/>
        </p:spPr>
        <p:txBody>
          <a:bodyPr wrap="square" lIns="0" tIns="50800" rIns="0" bIns="25400" rtlCol="0" anchor="t">
            <a:normAutofit/>
          </a:bodyPr>
          <a:lstStyle/>
          <a:p>
            <a:pPr algn="ctr" indent="0" marL="0">
              <a:lnSpc>
                <a:spcPts val="1960"/>
              </a:lnSpc>
              <a:buNone/>
            </a:pPr>
            <a:r>
              <a:rPr lang="en-US" sz="1400" b="1" dirty="0">
                <a:solidFill>
                  <a:srgbClr val="FFFFFF"/>
                </a:solidFill>
                <a:latin typeface="Courier New" pitchFamily="49" charset="0"/>
                <a:ea typeface="Courier New" pitchFamily="49" charset="-122"/>
                <a:cs typeface="Courier New" pitchFamily="49" charset="-120"/>
              </a:rPr>
              <a:t>5</a:t>
            </a:r>
            <a:endParaRPr lang="en-US" sz="1400" dirty="0"/>
          </a:p>
        </p:txBody>
      </p:sp>
      <p:sp>
        <p:nvSpPr>
          <p:cNvPr id="22" name="Text 20"/>
          <p:cNvSpPr/>
          <p:nvPr/>
        </p:nvSpPr>
        <p:spPr>
          <a:xfrm>
            <a:off x="1524000" y="4998740"/>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Arial" pitchFamily="34" charset="0"/>
                <a:ea typeface="Arial" pitchFamily="34" charset="-122"/>
                <a:cs typeface="Arial" pitchFamily="34" charset="-120"/>
              </a:rPr>
              <a:t>Then the scenario</a:t>
            </a:r>
            <a:endParaRPr lang="en-US" sz="1400" dirty="0"/>
          </a:p>
        </p:txBody>
      </p:sp>
      <p:sp>
        <p:nvSpPr>
          <p:cNvPr id="23" name="Text 21"/>
          <p:cNvSpPr/>
          <p:nvPr/>
        </p:nvSpPr>
        <p:spPr>
          <a:xfrm>
            <a:off x="3860800" y="4908252"/>
            <a:ext cx="7560818" cy="419695"/>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Run Mercer’s day, then Vance’s, then the with-and-without comparison. Stuck for more than two minutes? Raise a hand.</a:t>
            </a:r>
            <a:endParaRPr lang="en-US" sz="1150" dirty="0"/>
          </a:p>
        </p:txBody>
      </p:sp>
      <p:sp>
        <p:nvSpPr>
          <p:cNvPr id="24" name="Text 22"/>
          <p:cNvSpPr/>
          <p:nvPr/>
        </p:nvSpPr>
        <p:spPr>
          <a:xfrm>
            <a:off x="812800" y="56261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Extraction runs a local model, so a copilot turn takes 30 to 60 seconds. That is the moment to read the printed USER MESSAGE: it is exactly what the model sees.</a:t>
            </a:r>
            <a:endParaRPr lang="en-US" sz="1200" dirty="0"/>
          </a:p>
        </p:txBody>
      </p:sp>
      <p:sp>
        <p:nvSpPr>
          <p:cNvPr id="25"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GETTING INTO THE LAB · THE LINK</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Scan to open the workshop</a:t>
            </a:r>
            <a:endParaRPr lang="en-US" sz="2800" dirty="0"/>
          </a:p>
        </p:txBody>
      </p:sp>
      <p:sp>
        <p:nvSpPr>
          <p:cNvPr id="5" name="Text 3"/>
          <p:cNvSpPr/>
          <p:nvPr/>
        </p:nvSpPr>
        <p:spPr>
          <a:xfrm>
            <a:off x="763270" y="4978400"/>
            <a:ext cx="3401060" cy="416520"/>
          </a:xfrm>
          <a:prstGeom prst="rect">
            <a:avLst/>
          </a:prstGeom>
          <a:noFill/>
          <a:ln/>
        </p:spPr>
        <p:txBody>
          <a:bodyPr wrap="none" lIns="0" tIns="0" rIns="0" bIns="0" rtlCol="0" anchor="t">
            <a:normAutofit/>
          </a:bodyPr>
          <a:lstStyle/>
          <a:p>
            <a:pPr algn="ctr" indent="0" marL="0">
              <a:lnSpc>
                <a:spcPts val="3080"/>
              </a:lnSpc>
              <a:buNone/>
            </a:pPr>
            <a:r>
              <a:rPr lang="en-US" sz="2200" b="1" dirty="0">
                <a:solidFill>
                  <a:srgbClr val="FFFFFF"/>
                </a:solidFill>
                <a:latin typeface="Courier New" pitchFamily="49" charset="0"/>
                <a:ea typeface="Courier New" pitchFamily="49" charset="-122"/>
                <a:cs typeface="Courier New" pitchFamily="49" charset="-120"/>
              </a:rPr>
              <a:t>livelabs.oracle.com/ai-world26/HOL6032</a:t>
            </a:r>
            <a:endParaRPr lang="en-US" sz="2200" dirty="0"/>
          </a:p>
        </p:txBody>
      </p:sp>
      <p:sp>
        <p:nvSpPr>
          <p:cNvPr id="6" name="Text 4"/>
          <p:cNvSpPr/>
          <p:nvPr/>
        </p:nvSpPr>
        <p:spPr>
          <a:xfrm>
            <a:off x="763270" y="5410200"/>
            <a:ext cx="3401060" cy="416520"/>
          </a:xfrm>
          <a:prstGeom prst="rect">
            <a:avLst/>
          </a:prstGeom>
          <a:noFill/>
          <a:ln/>
        </p:spPr>
        <p:txBody>
          <a:bodyPr wrap="none" lIns="0" tIns="0" rIns="0" bIns="0" rtlCol="0" anchor="t">
            <a:normAutofit/>
          </a:bodyPr>
          <a:lstStyle/>
          <a:p>
            <a:pPr algn="ctr" indent="0" marL="0">
              <a:lnSpc>
                <a:spcPts val="1540"/>
              </a:lnSpc>
              <a:buNone/>
            </a:pPr>
            <a:r>
              <a:rPr lang="en-US" sz="1100" dirty="0">
                <a:solidFill>
                  <a:srgbClr val="AEB9B7"/>
                </a:solidFill>
                <a:latin typeface="Courier New" pitchFamily="49" charset="0"/>
                <a:ea typeface="Courier New" pitchFamily="49" charset="-122"/>
                <a:cs typeface="Courier New" pitchFamily="49" charset="-120"/>
              </a:rPr>
              <a:t>livelabs.oracle.com · </a:t>
            </a:r>
            <a:endParaRPr lang="en-US" sz="1100" dirty="0"/>
          </a:p>
          <a:p>
            <a:pPr algn="ctr" indent="0" marL="0">
              <a:lnSpc>
                <a:spcPts val="1540"/>
              </a:lnSpc>
              <a:buNone/>
            </a:pPr>
            <a:r>
              <a:rPr lang="en-US" sz="1100" dirty="0">
                <a:solidFill>
                  <a:srgbClr val="AEB9B7"/>
                </a:solidFill>
                <a:latin typeface="Courier New" pitchFamily="49" charset="0"/>
                <a:ea typeface="Courier New" pitchFamily="49" charset="-122"/>
                <a:cs typeface="Courier New" pitchFamily="49" charset="-120"/>
              </a:rPr>
              <a:t>Event: Code 09705-XRDT-EAYA</a:t>
            </a:r>
            <a:endParaRPr lang="en-US" sz="1100" dirty="0"/>
          </a:p>
        </p:txBody>
      </p:sp>
      <p:sp>
        <p:nvSpPr>
          <p:cNvPr id="7" name="Text 5"/>
          <p:cNvSpPr/>
          <p:nvPr/>
        </p:nvSpPr>
        <p:spPr>
          <a:xfrm>
            <a:off x="4572000" y="1587500"/>
            <a:ext cx="701141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FFFF"/>
                </a:solidFill>
                <a:latin typeface="Arial" pitchFamily="34" charset="0"/>
                <a:ea typeface="Arial" pitchFamily="34" charset="-122"/>
                <a:cs typeface="Arial" pitchFamily="34" charset="-120"/>
              </a:rPr>
              <a:t>Zero to Hero: Agent Memory</a:t>
            </a:r>
            <a:endParaRPr lang="en-US" sz="2200" dirty="0"/>
          </a:p>
        </p:txBody>
      </p:sp>
      <p:sp>
        <p:nvSpPr>
          <p:cNvPr id="8" name="Text 6"/>
          <p:cNvSpPr/>
          <p:nvPr/>
        </p:nvSpPr>
        <p:spPr>
          <a:xfrm>
            <a:off x="4572000" y="2070100"/>
            <a:ext cx="7011416"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2EFEA"/>
                </a:solidFill>
                <a:latin typeface="Arial" pitchFamily="34" charset="0"/>
                <a:ea typeface="Arial" pitchFamily="34" charset="-122"/>
                <a:cs typeface="Arial" pitchFamily="34" charset="-120"/>
              </a:rPr>
              <a:t>The LiveLabs workshop for this session. Lab 3 is the notebook we are using today; Labs 1 and 2 are background you can do later. The sandbox runs in an Oracle-owned tenancy, free, so no cloud account of your own is needed.</a:t>
            </a:r>
            <a:endParaRPr lang="en-US" sz="1400" dirty="0"/>
          </a:p>
        </p:txBody>
      </p:sp>
      <p:sp>
        <p:nvSpPr>
          <p:cNvPr id="9" name="Text 7"/>
          <p:cNvSpPr/>
          <p:nvPr/>
        </p:nvSpPr>
        <p:spPr>
          <a:xfrm>
            <a:off x="4572000" y="3365500"/>
            <a:ext cx="381000" cy="358130"/>
          </a:xfrm>
          <a:custGeom>
            <a:avLst/>
            <a:gdLst/>
            <a:ahLst/>
            <a:cxnLst/>
            <a:rect l="l" t="t" r="r" b="b"/>
            <a:pathLst>
              <a:path w="381000" h="358130">
                <a:moveTo>
                  <a:pt x="179065" y="0"/>
                </a:moveTo>
                <a:lnTo>
                  <a:pt x="201935" y="0"/>
                </a:lnTo>
                <a:arcTo hR="179065" wR="179065" stAng="16200000" swAng="5400000"/>
                <a:lnTo>
                  <a:pt x="381000" y="179065"/>
                </a:lnTo>
                <a:arcTo hR="179065" wR="179065" stAng="0" swAng="5400000"/>
                <a:lnTo>
                  <a:pt x="179065" y="358130"/>
                </a:lnTo>
                <a:arcTo hR="179065" wR="179065" stAng="5400000" swAng="5400000"/>
                <a:lnTo>
                  <a:pt x="0" y="179065"/>
                </a:lnTo>
                <a:arcTo hR="179065" wR="179065" stAng="10800000" swAng="5400000"/>
                <a:close/>
              </a:path>
            </a:pathLst>
          </a:custGeom>
          <a:solidFill>
            <a:srgbClr val="C74634"/>
          </a:solidFill>
          <a:ln/>
        </p:spPr>
        <p:txBody>
          <a:bodyPr wrap="square" lIns="0" tIns="63500" rIns="0" bIns="38100" rtlCol="0" anchor="t">
            <a:normAutofit/>
          </a:bodyPr>
          <a:lstStyle/>
          <a:p>
            <a:pPr algn="ctr" indent="0" marL="0">
              <a:lnSpc>
                <a:spcPts val="1820"/>
              </a:lnSpc>
              <a:buNone/>
            </a:pPr>
            <a:r>
              <a:rPr lang="en-US" sz="1300" b="1" dirty="0">
                <a:solidFill>
                  <a:srgbClr val="FFFFFF"/>
                </a:solidFill>
                <a:latin typeface="Courier New" pitchFamily="49" charset="0"/>
                <a:ea typeface="Courier New" pitchFamily="49" charset="-122"/>
                <a:cs typeface="Courier New" pitchFamily="49" charset="-120"/>
              </a:rPr>
              <a:t>1</a:t>
            </a:r>
            <a:endParaRPr lang="en-US" sz="1300" dirty="0"/>
          </a:p>
        </p:txBody>
      </p:sp>
      <p:sp>
        <p:nvSpPr>
          <p:cNvPr id="10" name="Text 8"/>
          <p:cNvSpPr/>
          <p:nvPr/>
        </p:nvSpPr>
        <p:spPr>
          <a:xfrm>
            <a:off x="5105400" y="3429000"/>
            <a:ext cx="646201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2EFEA"/>
                </a:solidFill>
                <a:latin typeface="Arial" pitchFamily="34" charset="0"/>
                <a:ea typeface="Arial" pitchFamily="34" charset="-122"/>
                <a:cs typeface="Arial" pitchFamily="34" charset="-120"/>
              </a:rPr>
              <a:t>Start, then Run with LiveLabs Sandbox on OCI</a:t>
            </a:r>
            <a:endParaRPr lang="en-US" sz="1300" dirty="0"/>
          </a:p>
        </p:txBody>
      </p:sp>
      <p:sp>
        <p:nvSpPr>
          <p:cNvPr id="11" name="Text 9"/>
          <p:cNvSpPr/>
          <p:nvPr/>
        </p:nvSpPr>
        <p:spPr>
          <a:xfrm>
            <a:off x="4572000" y="3975100"/>
            <a:ext cx="381000" cy="358130"/>
          </a:xfrm>
          <a:custGeom>
            <a:avLst/>
            <a:gdLst/>
            <a:ahLst/>
            <a:cxnLst/>
            <a:rect l="l" t="t" r="r" b="b"/>
            <a:pathLst>
              <a:path w="381000" h="358130">
                <a:moveTo>
                  <a:pt x="179065" y="0"/>
                </a:moveTo>
                <a:lnTo>
                  <a:pt x="201935" y="0"/>
                </a:lnTo>
                <a:arcTo hR="179065" wR="179065" stAng="16200000" swAng="5400000"/>
                <a:lnTo>
                  <a:pt x="381000" y="179065"/>
                </a:lnTo>
                <a:arcTo hR="179065" wR="179065" stAng="0" swAng="5400000"/>
                <a:lnTo>
                  <a:pt x="179065" y="358130"/>
                </a:lnTo>
                <a:arcTo hR="179065" wR="179065" stAng="5400000" swAng="5400000"/>
                <a:lnTo>
                  <a:pt x="0" y="179065"/>
                </a:lnTo>
                <a:arcTo hR="179065" wR="179065" stAng="10800000" swAng="5400000"/>
                <a:close/>
              </a:path>
            </a:pathLst>
          </a:custGeom>
          <a:solidFill>
            <a:srgbClr val="C74634"/>
          </a:solidFill>
          <a:ln/>
        </p:spPr>
        <p:txBody>
          <a:bodyPr wrap="square" lIns="0" tIns="63500" rIns="0" bIns="38100" rtlCol="0" anchor="t">
            <a:normAutofit/>
          </a:bodyPr>
          <a:lstStyle/>
          <a:p>
            <a:pPr algn="ctr" indent="0" marL="0">
              <a:lnSpc>
                <a:spcPts val="1820"/>
              </a:lnSpc>
              <a:buNone/>
            </a:pPr>
            <a:r>
              <a:rPr lang="en-US" sz="1300" b="1" dirty="0">
                <a:solidFill>
                  <a:srgbClr val="FFFFFF"/>
                </a:solidFill>
                <a:latin typeface="Courier New" pitchFamily="49" charset="0"/>
                <a:ea typeface="Courier New" pitchFamily="49" charset="-122"/>
                <a:cs typeface="Courier New" pitchFamily="49" charset="-120"/>
              </a:rPr>
              <a:t>2</a:t>
            </a:r>
            <a:endParaRPr lang="en-US" sz="1300" dirty="0"/>
          </a:p>
        </p:txBody>
      </p:sp>
      <p:sp>
        <p:nvSpPr>
          <p:cNvPr id="12" name="Text 10"/>
          <p:cNvSpPr/>
          <p:nvPr/>
        </p:nvSpPr>
        <p:spPr>
          <a:xfrm>
            <a:off x="5105400" y="4038600"/>
            <a:ext cx="646201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2EFEA"/>
                </a:solidFill>
                <a:latin typeface="Arial" pitchFamily="34" charset="0"/>
                <a:ea typeface="Arial" pitchFamily="34" charset="-122"/>
                <a:cs typeface="Arial" pitchFamily="34" charset="-120"/>
              </a:rPr>
              <a:t>Consent, submit the reservation, wait for Launch Workshop</a:t>
            </a:r>
            <a:endParaRPr lang="en-US" sz="1300" dirty="0"/>
          </a:p>
        </p:txBody>
      </p:sp>
      <p:sp>
        <p:nvSpPr>
          <p:cNvPr id="13" name="Text 11"/>
          <p:cNvSpPr/>
          <p:nvPr/>
        </p:nvSpPr>
        <p:spPr>
          <a:xfrm>
            <a:off x="4572000" y="4584700"/>
            <a:ext cx="381000" cy="358130"/>
          </a:xfrm>
          <a:custGeom>
            <a:avLst/>
            <a:gdLst/>
            <a:ahLst/>
            <a:cxnLst/>
            <a:rect l="l" t="t" r="r" b="b"/>
            <a:pathLst>
              <a:path w="381000" h="358130">
                <a:moveTo>
                  <a:pt x="179065" y="0"/>
                </a:moveTo>
                <a:lnTo>
                  <a:pt x="201935" y="0"/>
                </a:lnTo>
                <a:arcTo hR="179065" wR="179065" stAng="16200000" swAng="5400000"/>
                <a:lnTo>
                  <a:pt x="381000" y="179065"/>
                </a:lnTo>
                <a:arcTo hR="179065" wR="179065" stAng="0" swAng="5400000"/>
                <a:lnTo>
                  <a:pt x="179065" y="358130"/>
                </a:lnTo>
                <a:arcTo hR="179065" wR="179065" stAng="5400000" swAng="5400000"/>
                <a:lnTo>
                  <a:pt x="0" y="179065"/>
                </a:lnTo>
                <a:arcTo hR="179065" wR="179065" stAng="10800000" swAng="5400000"/>
                <a:close/>
              </a:path>
            </a:pathLst>
          </a:custGeom>
          <a:solidFill>
            <a:srgbClr val="C74634"/>
          </a:solidFill>
          <a:ln/>
        </p:spPr>
        <p:txBody>
          <a:bodyPr wrap="square" lIns="0" tIns="63500" rIns="0" bIns="38100" rtlCol="0" anchor="t">
            <a:normAutofit/>
          </a:bodyPr>
          <a:lstStyle/>
          <a:p>
            <a:pPr algn="ctr" indent="0" marL="0">
              <a:lnSpc>
                <a:spcPts val="1820"/>
              </a:lnSpc>
              <a:buNone/>
            </a:pPr>
            <a:r>
              <a:rPr lang="en-US" sz="1300" b="1" dirty="0">
                <a:solidFill>
                  <a:srgbClr val="FFFFFF"/>
                </a:solidFill>
                <a:latin typeface="Courier New" pitchFamily="49" charset="0"/>
                <a:ea typeface="Courier New" pitchFamily="49" charset="-122"/>
                <a:cs typeface="Courier New" pitchFamily="49" charset="-120"/>
              </a:rPr>
              <a:t>3</a:t>
            </a:r>
            <a:endParaRPr lang="en-US" sz="1300" dirty="0"/>
          </a:p>
        </p:txBody>
      </p:sp>
      <p:sp>
        <p:nvSpPr>
          <p:cNvPr id="14" name="Text 12"/>
          <p:cNvSpPr/>
          <p:nvPr/>
        </p:nvSpPr>
        <p:spPr>
          <a:xfrm>
            <a:off x="5105400" y="4648200"/>
            <a:ext cx="646201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2EFEA"/>
                </a:solidFill>
                <a:latin typeface="Arial" pitchFamily="34" charset="0"/>
                <a:ea typeface="Arial" pitchFamily="34" charset="-122"/>
                <a:cs typeface="Arial" pitchFamily="34" charset="-120"/>
              </a:rPr>
              <a:t>Connect to the Development Environment and open JupyterLab</a:t>
            </a:r>
            <a:endParaRPr lang="en-US" sz="1300" dirty="0"/>
          </a:p>
        </p:txBody>
      </p:sp>
      <p:sp>
        <p:nvSpPr>
          <p:cNvPr id="15" name="Text 13"/>
          <p:cNvSpPr/>
          <p:nvPr/>
        </p:nvSpPr>
        <p:spPr>
          <a:xfrm>
            <a:off x="4572000" y="5410200"/>
            <a:ext cx="70114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The next five slides walk through each step with the screen in front of you. Keep this page open; you will come back to it.</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GETTING INTO THE LAB · 1 OF 5</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Open the workshop page</a:t>
            </a:r>
            <a:endParaRPr lang="en-US" sz="2800" dirty="0"/>
          </a:p>
        </p:txBody>
      </p:sp>
      <p:pic>
        <p:nvPicPr>
          <p:cNvPr id="5" name="Image 0" descr="The LiveLabs page for Zero to Hero: Agent Memory, with the Share and Start buttons at the top right">    </p:cNvPr>
          <p:cNvPicPr>
            <a:picLocks noChangeAspect="1"/>
          </p:cNvPicPr>
          <p:nvPr/>
        </p:nvPicPr>
        <p:blipFill>
          <a:blip r:embed="rId1"/>
          <a:srcRect l="0" r="0" t="-31" b="-31"/>
          <a:stretch/>
        </p:blipFill>
        <p:spPr>
          <a:xfrm>
            <a:off x="812800" y="1498600"/>
            <a:ext cx="8255000" cy="4527550"/>
          </a:xfrm>
          <a:prstGeom prst="roundRect">
            <a:avLst>
              <a:gd name="adj" fmla="val 1964"/>
            </a:avLst>
          </a:prstGeom>
        </p:spPr>
      </p:pic>
      <p:sp>
        <p:nvSpPr>
          <p:cNvPr id="6" name="Shape 3"/>
          <p:cNvSpPr/>
          <p:nvPr/>
        </p:nvSpPr>
        <p:spPr>
          <a:xfrm>
            <a:off x="7842250" y="2082800"/>
            <a:ext cx="609600" cy="368300"/>
          </a:xfrm>
          <a:prstGeom prst="roundRect">
            <a:avLst>
              <a:gd name="adj" fmla="val 13793"/>
            </a:avLst>
          </a:prstGeom>
          <a:noFill/>
          <a:ln w="25400">
            <a:solidFill>
              <a:srgbClr val="C74634"/>
            </a:solidFill>
            <a:prstDash val="solid"/>
          </a:ln>
          <a:effectLst>
            <a:outerShdw sx="100000" sy="100000" kx="0" ky="0" algn="bl" rotWithShape="0" blurRad="38100" dist="0" dir="60000">
              <a:srgbClr val="C74634">
                <a:alpha val="22000"/>
              </a:srgbClr>
            </a:outerShdw>
          </a:effectLst>
        </p:spPr>
      </p:sp>
      <p:sp>
        <p:nvSpPr>
          <p:cNvPr id="7" name="Text 4"/>
          <p:cNvSpPr/>
          <p:nvPr/>
        </p:nvSpPr>
        <p:spPr>
          <a:xfrm>
            <a:off x="7829550" y="1778000"/>
            <a:ext cx="622300" cy="271760"/>
          </a:xfrm>
          <a:prstGeom prst="roundRect">
            <a:avLst>
              <a:gd name="adj" fmla="val 50000"/>
            </a:avLst>
          </a:prstGeom>
          <a:solidFill>
            <a:srgbClr val="C74634"/>
          </a:solidFill>
          <a:ln/>
        </p:spPr>
        <p:txBody>
          <a:bodyPr wrap="none" lIns="11002" tIns="0" rIns="11002" bIns="0" rtlCol="0" anchor="t">
            <a:normAutofit/>
          </a:bodyPr>
          <a:lstStyle/>
          <a:p>
            <a:pPr algn="ctr" indent="0" marL="0">
              <a:lnSpc>
                <a:spcPts val="1540"/>
              </a:lnSpc>
              <a:buNone/>
            </a:pPr>
            <a:r>
              <a:rPr lang="en-US" sz="1100" b="1" dirty="0">
                <a:solidFill>
                  <a:srgbClr val="FFFFFF"/>
                </a:solidFill>
                <a:latin typeface="Courier New" pitchFamily="49" charset="0"/>
                <a:ea typeface="Courier New" pitchFamily="49" charset="-122"/>
                <a:cs typeface="Courier New" pitchFamily="49" charset="-120"/>
              </a:rPr>
              <a:t>Start</a:t>
            </a:r>
            <a:endParaRPr lang="en-US" sz="1100" dirty="0"/>
          </a:p>
        </p:txBody>
      </p:sp>
      <p:sp>
        <p:nvSpPr>
          <p:cNvPr id="8" name="Text 5"/>
          <p:cNvSpPr/>
          <p:nvPr/>
        </p:nvSpPr>
        <p:spPr>
          <a:xfrm>
            <a:off x="9271000" y="1498600"/>
            <a:ext cx="457200" cy="419100"/>
          </a:xfrm>
          <a:custGeom>
            <a:avLst/>
            <a:gdLst/>
            <a:ahLst/>
            <a:cxnLst/>
            <a:rect l="l" t="t" r="r" b="b"/>
            <a:pathLst>
              <a:path w="457200" h="419100">
                <a:moveTo>
                  <a:pt x="209550" y="0"/>
                </a:moveTo>
                <a:lnTo>
                  <a:pt x="247650" y="0"/>
                </a:lnTo>
                <a:arcTo hR="209550" wR="209550" stAng="16200000" swAng="5400000"/>
                <a:lnTo>
                  <a:pt x="457200" y="209550"/>
                </a:lnTo>
                <a:arcTo hR="209550" wR="209550" stAng="0" swAng="5400000"/>
                <a:lnTo>
                  <a:pt x="209550" y="419100"/>
                </a:lnTo>
                <a:arcTo hR="209550" wR="209550" stAng="5400000" swAng="5400000"/>
                <a:lnTo>
                  <a:pt x="0" y="209550"/>
                </a:lnTo>
                <a:arcTo hR="209550" wR="209550" stAng="10800000" swAng="5400000"/>
                <a:close/>
              </a:path>
            </a:pathLst>
          </a:custGeom>
          <a:solidFill>
            <a:srgbClr val="C74634"/>
          </a:solidFill>
          <a:ln/>
        </p:spPr>
        <p:txBody>
          <a:bodyPr wrap="square" lIns="0" tIns="76200" rIns="0" bIns="50800" rtlCol="0" anchor="t">
            <a:normAutofit/>
          </a:bodyPr>
          <a:lstStyle/>
          <a:p>
            <a:pPr algn="ctr" indent="0" marL="0">
              <a:lnSpc>
                <a:spcPts val="2100"/>
              </a:lnSpc>
              <a:buNone/>
            </a:pPr>
            <a:r>
              <a:rPr lang="en-US" sz="1500" b="1" dirty="0">
                <a:solidFill>
                  <a:srgbClr val="FFFFFF"/>
                </a:solidFill>
                <a:latin typeface="Courier New" pitchFamily="49" charset="0"/>
                <a:ea typeface="Courier New" pitchFamily="49" charset="-122"/>
                <a:cs typeface="Courier New" pitchFamily="49" charset="-120"/>
              </a:rPr>
              <a:t>1</a:t>
            </a:r>
            <a:endParaRPr lang="en-US" sz="1500" dirty="0"/>
          </a:p>
        </p:txBody>
      </p:sp>
      <p:sp>
        <p:nvSpPr>
          <p:cNvPr id="9" name="Text 6"/>
          <p:cNvSpPr/>
          <p:nvPr/>
        </p:nvSpPr>
        <p:spPr>
          <a:xfrm>
            <a:off x="9271000" y="2019300"/>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Zero to Hero: Agent Memory</a:t>
            </a:r>
            <a:endParaRPr lang="en-US" sz="1500" dirty="0"/>
          </a:p>
        </p:txBody>
      </p:sp>
      <p:sp>
        <p:nvSpPr>
          <p:cNvPr id="10" name="Text 7"/>
          <p:cNvSpPr/>
          <p:nvPr/>
        </p:nvSpPr>
        <p:spPr>
          <a:xfrm>
            <a:off x="9271000" y="2679700"/>
            <a:ext cx="2171446"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Open the workshop from the QR code on the previous slide.</a:t>
            </a:r>
            <a:endParaRPr lang="en-US" sz="1100" dirty="0"/>
          </a:p>
        </p:txBody>
      </p:sp>
      <p:sp>
        <p:nvSpPr>
          <p:cNvPr id="11" name="Text 8"/>
          <p:cNvSpPr/>
          <p:nvPr/>
        </p:nvSpPr>
        <p:spPr>
          <a:xfrm>
            <a:off x="9271000" y="3378200"/>
            <a:ext cx="2171446"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Lab 3 is this notebook; Labs 1 and 2 are optional background.</a:t>
            </a:r>
            <a:endParaRPr lang="en-US" sz="1100" dirty="0"/>
          </a:p>
        </p:txBody>
      </p:sp>
      <p:sp>
        <p:nvSpPr>
          <p:cNvPr id="12" name="Text 9"/>
          <p:cNvSpPr/>
          <p:nvPr/>
        </p:nvSpPr>
        <p:spPr>
          <a:xfrm>
            <a:off x="9271000" y="4076700"/>
            <a:ext cx="2171446"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Click Start, top right.</a:t>
            </a:r>
            <a:endParaRPr lang="en-US" sz="1100" dirty="0"/>
          </a:p>
        </p:txBody>
      </p:sp>
      <p:sp>
        <p:nvSpPr>
          <p:cNvPr id="13" name="Text 10"/>
          <p:cNvSpPr/>
          <p:nvPr/>
        </p:nvSpPr>
        <p:spPr>
          <a:xfrm>
            <a:off x="812800" y="6153150"/>
            <a:ext cx="850265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Courier New" pitchFamily="49" charset="0"/>
                <a:ea typeface="Courier New" pitchFamily="49" charset="-122"/>
                <a:cs typeface="Courier New" pitchFamily="49" charset="-120"/>
              </a:rPr>
              <a:t>livelabs.oracle.com/ords/r/dbpm/livelabs/view-workshop?wid=4465</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GETTING INTO THE LAB · 2 OF 5</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Run it with the LiveLabs sandbox</a:t>
            </a:r>
            <a:endParaRPr lang="en-US" sz="2800" dirty="0"/>
          </a:p>
        </p:txBody>
      </p:sp>
      <p:pic>
        <p:nvPicPr>
          <p:cNvPr id="5" name="Image 0" descr="The Start popup on the workshop page, with the Run with LiveLabs Sandbox on OCI button">    </p:cNvPr>
          <p:cNvPicPr>
            <a:picLocks noChangeAspect="1"/>
          </p:cNvPicPr>
          <p:nvPr/>
        </p:nvPicPr>
        <p:blipFill>
          <a:blip r:embed="rId1"/>
          <a:srcRect l="-22" r="-22" t="0" b="0"/>
          <a:stretch/>
        </p:blipFill>
        <p:spPr>
          <a:xfrm>
            <a:off x="812800" y="1498600"/>
            <a:ext cx="8255000" cy="4502150"/>
          </a:xfrm>
          <a:prstGeom prst="roundRect">
            <a:avLst>
              <a:gd name="adj" fmla="val 1975"/>
            </a:avLst>
          </a:prstGeom>
        </p:spPr>
      </p:pic>
      <p:sp>
        <p:nvSpPr>
          <p:cNvPr id="6" name="Shape 3"/>
          <p:cNvSpPr/>
          <p:nvPr/>
        </p:nvSpPr>
        <p:spPr>
          <a:xfrm>
            <a:off x="6432550" y="2997200"/>
            <a:ext cx="2533650" cy="349250"/>
          </a:xfrm>
          <a:prstGeom prst="roundRect">
            <a:avLst>
              <a:gd name="adj" fmla="val 14545"/>
            </a:avLst>
          </a:prstGeom>
          <a:noFill/>
          <a:ln w="25400">
            <a:solidFill>
              <a:srgbClr val="C74634"/>
            </a:solidFill>
            <a:prstDash val="solid"/>
          </a:ln>
          <a:effectLst>
            <a:outerShdw sx="100000" sy="100000" kx="0" ky="0" algn="bl" rotWithShape="0" blurRad="38100" dist="0" dir="60000">
              <a:srgbClr val="C74634">
                <a:alpha val="22000"/>
              </a:srgbClr>
            </a:outerShdw>
          </a:effectLst>
        </p:spPr>
      </p:sp>
      <p:sp>
        <p:nvSpPr>
          <p:cNvPr id="7" name="Text 4"/>
          <p:cNvSpPr/>
          <p:nvPr/>
        </p:nvSpPr>
        <p:spPr>
          <a:xfrm>
            <a:off x="6419850" y="2692400"/>
            <a:ext cx="1955800" cy="271760"/>
          </a:xfrm>
          <a:prstGeom prst="roundRect">
            <a:avLst>
              <a:gd name="adj" fmla="val 50000"/>
            </a:avLst>
          </a:prstGeom>
          <a:solidFill>
            <a:srgbClr val="C74634"/>
          </a:solidFill>
          <a:ln/>
        </p:spPr>
        <p:txBody>
          <a:bodyPr wrap="none" lIns="9351" tIns="0" rIns="9351" bIns="0" rtlCol="0" anchor="t">
            <a:normAutofit/>
          </a:bodyPr>
          <a:lstStyle/>
          <a:p>
            <a:pPr algn="ctr" indent="0" marL="0">
              <a:lnSpc>
                <a:spcPts val="1540"/>
              </a:lnSpc>
              <a:buNone/>
            </a:pPr>
            <a:r>
              <a:rPr lang="en-US" sz="1100" b="1" dirty="0">
                <a:solidFill>
                  <a:srgbClr val="FFFFFF"/>
                </a:solidFill>
                <a:latin typeface="Courier New" pitchFamily="49" charset="0"/>
                <a:ea typeface="Courier New" pitchFamily="49" charset="-122"/>
                <a:cs typeface="Courier New" pitchFamily="49" charset="-120"/>
              </a:rPr>
              <a:t>Run with the sandbox</a:t>
            </a:r>
            <a:endParaRPr lang="en-US" sz="1100" dirty="0"/>
          </a:p>
        </p:txBody>
      </p:sp>
      <p:sp>
        <p:nvSpPr>
          <p:cNvPr id="8" name="Text 5"/>
          <p:cNvSpPr/>
          <p:nvPr/>
        </p:nvSpPr>
        <p:spPr>
          <a:xfrm>
            <a:off x="9271000" y="1498600"/>
            <a:ext cx="457200" cy="419100"/>
          </a:xfrm>
          <a:custGeom>
            <a:avLst/>
            <a:gdLst/>
            <a:ahLst/>
            <a:cxnLst/>
            <a:rect l="l" t="t" r="r" b="b"/>
            <a:pathLst>
              <a:path w="457200" h="419100">
                <a:moveTo>
                  <a:pt x="209550" y="0"/>
                </a:moveTo>
                <a:lnTo>
                  <a:pt x="247650" y="0"/>
                </a:lnTo>
                <a:arcTo hR="209550" wR="209550" stAng="16200000" swAng="5400000"/>
                <a:lnTo>
                  <a:pt x="457200" y="209550"/>
                </a:lnTo>
                <a:arcTo hR="209550" wR="209550" stAng="0" swAng="5400000"/>
                <a:lnTo>
                  <a:pt x="209550" y="419100"/>
                </a:lnTo>
                <a:arcTo hR="209550" wR="209550" stAng="5400000" swAng="5400000"/>
                <a:lnTo>
                  <a:pt x="0" y="209550"/>
                </a:lnTo>
                <a:arcTo hR="209550" wR="209550" stAng="10800000" swAng="5400000"/>
                <a:close/>
              </a:path>
            </a:pathLst>
          </a:custGeom>
          <a:solidFill>
            <a:srgbClr val="C74634"/>
          </a:solidFill>
          <a:ln/>
        </p:spPr>
        <p:txBody>
          <a:bodyPr wrap="square" lIns="0" tIns="76200" rIns="0" bIns="50800" rtlCol="0" anchor="t">
            <a:normAutofit/>
          </a:bodyPr>
          <a:lstStyle/>
          <a:p>
            <a:pPr algn="ctr" indent="0" marL="0">
              <a:lnSpc>
                <a:spcPts val="2100"/>
              </a:lnSpc>
              <a:buNone/>
            </a:pPr>
            <a:r>
              <a:rPr lang="en-US" sz="1500" b="1" dirty="0">
                <a:solidFill>
                  <a:srgbClr val="FFFFFF"/>
                </a:solidFill>
                <a:latin typeface="Courier New" pitchFamily="49" charset="0"/>
                <a:ea typeface="Courier New" pitchFamily="49" charset="-122"/>
                <a:cs typeface="Courier New" pitchFamily="49" charset="-120"/>
              </a:rPr>
              <a:t>2</a:t>
            </a:r>
            <a:endParaRPr lang="en-US" sz="1500" dirty="0"/>
          </a:p>
        </p:txBody>
      </p:sp>
      <p:sp>
        <p:nvSpPr>
          <p:cNvPr id="9" name="Text 6"/>
          <p:cNvSpPr/>
          <p:nvPr/>
        </p:nvSpPr>
        <p:spPr>
          <a:xfrm>
            <a:off x="9271000" y="2019300"/>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Start, then the green button</a:t>
            </a:r>
            <a:endParaRPr lang="en-US" sz="1500" dirty="0"/>
          </a:p>
        </p:txBody>
      </p:sp>
      <p:sp>
        <p:nvSpPr>
          <p:cNvPr id="10" name="Text 7"/>
          <p:cNvSpPr/>
          <p:nvPr/>
        </p:nvSpPr>
        <p:spPr>
          <a:xfrm>
            <a:off x="9271000" y="2679700"/>
            <a:ext cx="2171446" cy="6120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The sandbox creates the database and JupyterLab in an Oracle-owned tenancy, free.</a:t>
            </a:r>
            <a:endParaRPr lang="en-US" sz="1100" dirty="0"/>
          </a:p>
        </p:txBody>
      </p:sp>
      <p:sp>
        <p:nvSpPr>
          <p:cNvPr id="11" name="Text 8"/>
          <p:cNvSpPr/>
          <p:nvPr/>
        </p:nvSpPr>
        <p:spPr>
          <a:xfrm>
            <a:off x="9271000" y="3581400"/>
            <a:ext cx="2171446" cy="6120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No Oracle Cloud account of your own is needed; sign in with your Oracle account when asked.</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GETTING INTO THE LAB · 3 OF 5</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Consent, then submit the reservation</a:t>
            </a:r>
            <a:endParaRPr lang="en-US" sz="2800" dirty="0"/>
          </a:p>
        </p:txBody>
      </p:sp>
      <p:pic>
        <p:nvPicPr>
          <p:cNvPr id="5" name="Image 0" descr="The Reserve Workshop panel with the Start Workshop Now toggle, the consent checkbox and the Submit Reservation button">    </p:cNvPr>
          <p:cNvPicPr>
            <a:picLocks noChangeAspect="1"/>
          </p:cNvPicPr>
          <p:nvPr/>
        </p:nvPicPr>
        <p:blipFill>
          <a:blip r:embed="rId1"/>
          <a:srcRect l="0" r="0" t="-31" b="-31"/>
          <a:stretch/>
        </p:blipFill>
        <p:spPr>
          <a:xfrm>
            <a:off x="812800" y="1498600"/>
            <a:ext cx="8255000" cy="4527550"/>
          </a:xfrm>
          <a:prstGeom prst="roundRect">
            <a:avLst>
              <a:gd name="adj" fmla="val 1964"/>
            </a:avLst>
          </a:prstGeom>
        </p:spPr>
      </p:pic>
      <p:sp>
        <p:nvSpPr>
          <p:cNvPr id="6" name="Shape 3"/>
          <p:cNvSpPr/>
          <p:nvPr/>
        </p:nvSpPr>
        <p:spPr>
          <a:xfrm>
            <a:off x="5562600" y="2914650"/>
            <a:ext cx="3295650" cy="374650"/>
          </a:xfrm>
          <a:prstGeom prst="roundRect">
            <a:avLst>
              <a:gd name="adj" fmla="val 13559"/>
            </a:avLst>
          </a:prstGeom>
          <a:noFill/>
          <a:ln w="25400">
            <a:solidFill>
              <a:srgbClr val="C74634"/>
            </a:solidFill>
            <a:prstDash val="solid"/>
          </a:ln>
          <a:effectLst>
            <a:outerShdw sx="100000" sy="100000" kx="0" ky="0" algn="bl" rotWithShape="0" blurRad="38100" dist="0" dir="60000">
              <a:srgbClr val="C74634">
                <a:alpha val="22000"/>
              </a:srgbClr>
            </a:outerShdw>
          </a:effectLst>
        </p:spPr>
      </p:sp>
      <p:sp>
        <p:nvSpPr>
          <p:cNvPr id="7" name="Text 4"/>
          <p:cNvSpPr/>
          <p:nvPr/>
        </p:nvSpPr>
        <p:spPr>
          <a:xfrm>
            <a:off x="5549900" y="2609850"/>
            <a:ext cx="1155700" cy="271760"/>
          </a:xfrm>
          <a:prstGeom prst="roundRect">
            <a:avLst>
              <a:gd name="adj" fmla="val 50000"/>
            </a:avLst>
          </a:prstGeom>
          <a:solidFill>
            <a:srgbClr val="C74634"/>
          </a:solidFill>
          <a:ln/>
        </p:spPr>
        <p:txBody>
          <a:bodyPr wrap="none" lIns="11002" tIns="0" rIns="11002" bIns="0" rtlCol="0" anchor="t">
            <a:normAutofit/>
          </a:bodyPr>
          <a:lstStyle/>
          <a:p>
            <a:pPr algn="ctr" indent="0" marL="0">
              <a:lnSpc>
                <a:spcPts val="1540"/>
              </a:lnSpc>
              <a:buNone/>
            </a:pPr>
            <a:r>
              <a:rPr lang="en-US" sz="1100" b="1" dirty="0">
                <a:solidFill>
                  <a:srgbClr val="FFFFFF"/>
                </a:solidFill>
                <a:latin typeface="Courier New" pitchFamily="49" charset="0"/>
                <a:ea typeface="Courier New" pitchFamily="49" charset="-122"/>
                <a:cs typeface="Courier New" pitchFamily="49" charset="-120"/>
              </a:rPr>
              <a:t>A · consent</a:t>
            </a:r>
            <a:endParaRPr lang="en-US" sz="1100" dirty="0"/>
          </a:p>
        </p:txBody>
      </p:sp>
      <p:sp>
        <p:nvSpPr>
          <p:cNvPr id="8" name="Shape 5"/>
          <p:cNvSpPr/>
          <p:nvPr/>
        </p:nvSpPr>
        <p:spPr>
          <a:xfrm>
            <a:off x="7988300" y="3295650"/>
            <a:ext cx="965200" cy="349250"/>
          </a:xfrm>
          <a:prstGeom prst="roundRect">
            <a:avLst>
              <a:gd name="adj" fmla="val 14545"/>
            </a:avLst>
          </a:prstGeom>
          <a:noFill/>
          <a:ln w="25400">
            <a:solidFill>
              <a:srgbClr val="C74634"/>
            </a:solidFill>
            <a:prstDash val="solid"/>
          </a:ln>
          <a:effectLst>
            <a:outerShdw sx="100000" sy="100000" kx="0" ky="0" algn="bl" rotWithShape="0" blurRad="38100" dist="0" dir="60000">
              <a:srgbClr val="C74634">
                <a:alpha val="22000"/>
              </a:srgbClr>
            </a:outerShdw>
          </a:effectLst>
        </p:spPr>
      </p:sp>
      <p:sp>
        <p:nvSpPr>
          <p:cNvPr id="9" name="Text 6"/>
          <p:cNvSpPr/>
          <p:nvPr/>
        </p:nvSpPr>
        <p:spPr>
          <a:xfrm>
            <a:off x="7975600" y="3727450"/>
            <a:ext cx="1066800" cy="271760"/>
          </a:xfrm>
          <a:prstGeom prst="roundRect">
            <a:avLst>
              <a:gd name="adj" fmla="val 50000"/>
            </a:avLst>
          </a:prstGeom>
          <a:solidFill>
            <a:srgbClr val="C74634"/>
          </a:solidFill>
          <a:ln/>
        </p:spPr>
        <p:txBody>
          <a:bodyPr wrap="none" lIns="11002" tIns="0" rIns="11002" bIns="0" rtlCol="0" anchor="t">
            <a:normAutofit/>
          </a:bodyPr>
          <a:lstStyle/>
          <a:p>
            <a:pPr algn="ctr" indent="0" marL="0">
              <a:lnSpc>
                <a:spcPts val="1540"/>
              </a:lnSpc>
              <a:buNone/>
            </a:pPr>
            <a:r>
              <a:rPr lang="en-US" sz="1100" b="1" dirty="0">
                <a:solidFill>
                  <a:srgbClr val="FFFFFF"/>
                </a:solidFill>
                <a:latin typeface="Courier New" pitchFamily="49" charset="0"/>
                <a:ea typeface="Courier New" pitchFamily="49" charset="-122"/>
                <a:cs typeface="Courier New" pitchFamily="49" charset="-120"/>
              </a:rPr>
              <a:t>B · submit</a:t>
            </a:r>
            <a:endParaRPr lang="en-US" sz="1100" dirty="0"/>
          </a:p>
        </p:txBody>
      </p:sp>
      <p:sp>
        <p:nvSpPr>
          <p:cNvPr id="10" name="Text 7"/>
          <p:cNvSpPr/>
          <p:nvPr/>
        </p:nvSpPr>
        <p:spPr>
          <a:xfrm>
            <a:off x="9271000" y="1498600"/>
            <a:ext cx="457200" cy="419100"/>
          </a:xfrm>
          <a:custGeom>
            <a:avLst/>
            <a:gdLst/>
            <a:ahLst/>
            <a:cxnLst/>
            <a:rect l="l" t="t" r="r" b="b"/>
            <a:pathLst>
              <a:path w="457200" h="419100">
                <a:moveTo>
                  <a:pt x="209550" y="0"/>
                </a:moveTo>
                <a:lnTo>
                  <a:pt x="247650" y="0"/>
                </a:lnTo>
                <a:arcTo hR="209550" wR="209550" stAng="16200000" swAng="5400000"/>
                <a:lnTo>
                  <a:pt x="457200" y="209550"/>
                </a:lnTo>
                <a:arcTo hR="209550" wR="209550" stAng="0" swAng="5400000"/>
                <a:lnTo>
                  <a:pt x="209550" y="419100"/>
                </a:lnTo>
                <a:arcTo hR="209550" wR="209550" stAng="5400000" swAng="5400000"/>
                <a:lnTo>
                  <a:pt x="0" y="209550"/>
                </a:lnTo>
                <a:arcTo hR="209550" wR="209550" stAng="10800000" swAng="5400000"/>
                <a:close/>
              </a:path>
            </a:pathLst>
          </a:custGeom>
          <a:solidFill>
            <a:srgbClr val="C74634"/>
          </a:solidFill>
          <a:ln/>
        </p:spPr>
        <p:txBody>
          <a:bodyPr wrap="square" lIns="0" tIns="76200" rIns="0" bIns="50800" rtlCol="0" anchor="t">
            <a:normAutofit/>
          </a:bodyPr>
          <a:lstStyle/>
          <a:p>
            <a:pPr algn="ctr" indent="0" marL="0">
              <a:lnSpc>
                <a:spcPts val="2100"/>
              </a:lnSpc>
              <a:buNone/>
            </a:pPr>
            <a:r>
              <a:rPr lang="en-US" sz="1500" b="1" dirty="0">
                <a:solidFill>
                  <a:srgbClr val="FFFFFF"/>
                </a:solidFill>
                <a:latin typeface="Courier New" pitchFamily="49" charset="0"/>
                <a:ea typeface="Courier New" pitchFamily="49" charset="-122"/>
                <a:cs typeface="Courier New" pitchFamily="49" charset="-120"/>
              </a:rPr>
              <a:t>3</a:t>
            </a:r>
            <a:endParaRPr lang="en-US" sz="1500" dirty="0"/>
          </a:p>
        </p:txBody>
      </p:sp>
      <p:sp>
        <p:nvSpPr>
          <p:cNvPr id="11" name="Text 8"/>
          <p:cNvSpPr/>
          <p:nvPr/>
        </p:nvSpPr>
        <p:spPr>
          <a:xfrm>
            <a:off x="9271000" y="2019300"/>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Reserve the workshop</a:t>
            </a:r>
            <a:endParaRPr lang="en-US" sz="1500" dirty="0"/>
          </a:p>
        </p:txBody>
      </p:sp>
      <p:sp>
        <p:nvSpPr>
          <p:cNvPr id="12" name="Text 9"/>
          <p:cNvSpPr/>
          <p:nvPr/>
        </p:nvSpPr>
        <p:spPr>
          <a:xfrm>
            <a:off x="9271000" y="2679700"/>
            <a:ext cx="2171446"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Leave Start Workshop Now switched on.</a:t>
            </a:r>
            <a:endParaRPr lang="en-US" sz="1100" dirty="0"/>
          </a:p>
        </p:txBody>
      </p:sp>
      <p:sp>
        <p:nvSpPr>
          <p:cNvPr id="13" name="Text 10"/>
          <p:cNvSpPr/>
          <p:nvPr/>
        </p:nvSpPr>
        <p:spPr>
          <a:xfrm>
            <a:off x="9271000" y="3175000"/>
            <a:ext cx="2171446"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Tick the consent box (A), then Submit Reservation (B).</a:t>
            </a:r>
            <a:endParaRPr lang="en-US" sz="1100" dirty="0"/>
          </a:p>
        </p:txBody>
      </p:sp>
      <p:sp>
        <p:nvSpPr>
          <p:cNvPr id="14" name="Text 11"/>
          <p:cNvSpPr/>
          <p:nvPr/>
        </p:nvSpPr>
        <p:spPr>
          <a:xfrm>
            <a:off x="9271000" y="3873500"/>
            <a:ext cx="2171446"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You will get an email when the environment is ready.</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GETTING INTO THE LAB · 4 OF 5</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Wait for Launch Workshop to appear</a:t>
            </a:r>
            <a:endParaRPr lang="en-US" sz="2800" dirty="0"/>
          </a:p>
        </p:txBody>
      </p:sp>
      <p:pic>
        <p:nvPicPr>
          <p:cNvPr id="5" name="Image 0" descr="My Reservations, with the new Zero to Hero reservation showing Pending creation">    </p:cNvPr>
          <p:cNvPicPr>
            <a:picLocks noChangeAspect="1"/>
          </p:cNvPicPr>
          <p:nvPr/>
        </p:nvPicPr>
        <p:blipFill>
          <a:blip r:embed="rId1"/>
          <a:srcRect l="0" r="0" t="-36" b="-36"/>
          <a:stretch/>
        </p:blipFill>
        <p:spPr>
          <a:xfrm>
            <a:off x="812800" y="1498600"/>
            <a:ext cx="8255000" cy="4419600"/>
          </a:xfrm>
          <a:prstGeom prst="roundRect">
            <a:avLst>
              <a:gd name="adj" fmla="val 2011"/>
            </a:avLst>
          </a:prstGeom>
        </p:spPr>
      </p:pic>
      <p:sp>
        <p:nvSpPr>
          <p:cNvPr id="6" name="Shape 3"/>
          <p:cNvSpPr/>
          <p:nvPr/>
        </p:nvSpPr>
        <p:spPr>
          <a:xfrm>
            <a:off x="1454150" y="3606800"/>
            <a:ext cx="673100" cy="177800"/>
          </a:xfrm>
          <a:prstGeom prst="roundRect">
            <a:avLst>
              <a:gd name="adj" fmla="val 28571"/>
            </a:avLst>
          </a:prstGeom>
          <a:noFill/>
          <a:ln w="25400">
            <a:solidFill>
              <a:srgbClr val="C74634"/>
            </a:solidFill>
            <a:prstDash val="solid"/>
          </a:ln>
          <a:effectLst>
            <a:outerShdw sx="100000" sy="100000" kx="0" ky="0" algn="bl" rotWithShape="0" blurRad="38100" dist="0" dir="60000">
              <a:srgbClr val="C74634">
                <a:alpha val="22000"/>
              </a:srgbClr>
            </a:outerShdw>
          </a:effectLst>
        </p:spPr>
      </p:sp>
      <p:sp>
        <p:nvSpPr>
          <p:cNvPr id="7" name="Text 4"/>
          <p:cNvSpPr/>
          <p:nvPr/>
        </p:nvSpPr>
        <p:spPr>
          <a:xfrm>
            <a:off x="1441450" y="3302000"/>
            <a:ext cx="1600200" cy="271760"/>
          </a:xfrm>
          <a:prstGeom prst="roundRect">
            <a:avLst>
              <a:gd name="adj" fmla="val 50000"/>
            </a:avLst>
          </a:prstGeom>
          <a:solidFill>
            <a:srgbClr val="C74634"/>
          </a:solidFill>
          <a:ln/>
        </p:spPr>
        <p:txBody>
          <a:bodyPr wrap="none" lIns="11002" tIns="0" rIns="11002" bIns="0" rtlCol="0" anchor="t">
            <a:normAutofit/>
          </a:bodyPr>
          <a:lstStyle/>
          <a:p>
            <a:pPr algn="ctr" indent="0" marL="0">
              <a:lnSpc>
                <a:spcPts val="1540"/>
              </a:lnSpc>
              <a:buNone/>
            </a:pPr>
            <a:r>
              <a:rPr lang="en-US" sz="1100" b="1" dirty="0">
                <a:solidFill>
                  <a:srgbClr val="FFFFFF"/>
                </a:solidFill>
                <a:latin typeface="Courier New" pitchFamily="49" charset="0"/>
                <a:ea typeface="Courier New" pitchFamily="49" charset="-122"/>
                <a:cs typeface="Courier New" pitchFamily="49" charset="-120"/>
              </a:rPr>
              <a:t>pending creation</a:t>
            </a:r>
            <a:endParaRPr lang="en-US" sz="1100" dirty="0"/>
          </a:p>
        </p:txBody>
      </p:sp>
      <p:pic>
        <p:nvPicPr>
          <p:cNvPr id="8" name="Image 1" descr="My Reservations a few minutes later, with the Launch Workshop button on the new reservation">    </p:cNvPr>
          <p:cNvPicPr>
            <a:picLocks noChangeAspect="1"/>
          </p:cNvPicPr>
          <p:nvPr/>
        </p:nvPicPr>
        <p:blipFill>
          <a:blip r:embed="rId2"/>
          <a:srcRect l="-5" r="-5" t="0" b="0"/>
          <a:stretch/>
        </p:blipFill>
        <p:spPr>
          <a:xfrm>
            <a:off x="812800" y="1498600"/>
            <a:ext cx="8255000" cy="4400550"/>
          </a:xfrm>
          <a:prstGeom prst="roundRect">
            <a:avLst>
              <a:gd name="adj" fmla="val 2020"/>
            </a:avLst>
          </a:prstGeom>
        </p:spPr>
      </p:pic>
      <p:sp>
        <p:nvSpPr>
          <p:cNvPr id="9" name="Shape 5"/>
          <p:cNvSpPr/>
          <p:nvPr/>
        </p:nvSpPr>
        <p:spPr>
          <a:xfrm>
            <a:off x="1441450" y="3733800"/>
            <a:ext cx="1047750" cy="285750"/>
          </a:xfrm>
          <a:prstGeom prst="roundRect">
            <a:avLst>
              <a:gd name="adj" fmla="val 17778"/>
            </a:avLst>
          </a:prstGeom>
          <a:noFill/>
          <a:ln w="25400">
            <a:solidFill>
              <a:srgbClr val="C74634"/>
            </a:solidFill>
            <a:prstDash val="solid"/>
          </a:ln>
          <a:effectLst>
            <a:outerShdw sx="100000" sy="100000" kx="0" ky="0" algn="bl" rotWithShape="0" blurRad="38100" dist="0" dir="60000">
              <a:srgbClr val="C74634">
                <a:alpha val="22000"/>
              </a:srgbClr>
            </a:outerShdw>
          </a:effectLst>
        </p:spPr>
      </p:sp>
      <p:sp>
        <p:nvSpPr>
          <p:cNvPr id="10" name="Text 6"/>
          <p:cNvSpPr/>
          <p:nvPr/>
        </p:nvSpPr>
        <p:spPr>
          <a:xfrm>
            <a:off x="1428750" y="3429000"/>
            <a:ext cx="1511300" cy="271760"/>
          </a:xfrm>
          <a:prstGeom prst="roundRect">
            <a:avLst>
              <a:gd name="adj" fmla="val 50000"/>
            </a:avLst>
          </a:prstGeom>
          <a:solidFill>
            <a:srgbClr val="C74634"/>
          </a:solidFill>
          <a:ln/>
        </p:spPr>
        <p:txBody>
          <a:bodyPr wrap="none" lIns="11002" tIns="0" rIns="11002" bIns="0" rtlCol="0" anchor="t">
            <a:normAutofit/>
          </a:bodyPr>
          <a:lstStyle/>
          <a:p>
            <a:pPr algn="ctr" indent="0" marL="0">
              <a:lnSpc>
                <a:spcPts val="1540"/>
              </a:lnSpc>
              <a:buNone/>
            </a:pPr>
            <a:r>
              <a:rPr lang="en-US" sz="1100" b="1" dirty="0">
                <a:solidFill>
                  <a:srgbClr val="FFFFFF"/>
                </a:solidFill>
                <a:latin typeface="Courier New" pitchFamily="49" charset="0"/>
                <a:ea typeface="Courier New" pitchFamily="49" charset="-122"/>
                <a:cs typeface="Courier New" pitchFamily="49" charset="-120"/>
              </a:rPr>
              <a:t>Launch Workshop</a:t>
            </a:r>
            <a:endParaRPr lang="en-US" sz="1100" dirty="0"/>
          </a:p>
        </p:txBody>
      </p:sp>
      <p:sp>
        <p:nvSpPr>
          <p:cNvPr id="11" name="Text 7"/>
          <p:cNvSpPr/>
          <p:nvPr/>
        </p:nvSpPr>
        <p:spPr>
          <a:xfrm>
            <a:off x="9271000" y="1498600"/>
            <a:ext cx="457200" cy="419100"/>
          </a:xfrm>
          <a:custGeom>
            <a:avLst/>
            <a:gdLst/>
            <a:ahLst/>
            <a:cxnLst/>
            <a:rect l="l" t="t" r="r" b="b"/>
            <a:pathLst>
              <a:path w="457200" h="419100">
                <a:moveTo>
                  <a:pt x="209550" y="0"/>
                </a:moveTo>
                <a:lnTo>
                  <a:pt x="247650" y="0"/>
                </a:lnTo>
                <a:arcTo hR="209550" wR="209550" stAng="16200000" swAng="5400000"/>
                <a:lnTo>
                  <a:pt x="457200" y="209550"/>
                </a:lnTo>
                <a:arcTo hR="209550" wR="209550" stAng="0" swAng="5400000"/>
                <a:lnTo>
                  <a:pt x="209550" y="419100"/>
                </a:lnTo>
                <a:arcTo hR="209550" wR="209550" stAng="5400000" swAng="5400000"/>
                <a:lnTo>
                  <a:pt x="0" y="209550"/>
                </a:lnTo>
                <a:arcTo hR="209550" wR="209550" stAng="10800000" swAng="5400000"/>
                <a:close/>
              </a:path>
            </a:pathLst>
          </a:custGeom>
          <a:solidFill>
            <a:srgbClr val="C74634"/>
          </a:solidFill>
          <a:ln/>
        </p:spPr>
        <p:txBody>
          <a:bodyPr wrap="square" lIns="0" tIns="76200" rIns="0" bIns="50800" rtlCol="0" anchor="t">
            <a:normAutofit/>
          </a:bodyPr>
          <a:lstStyle/>
          <a:p>
            <a:pPr algn="ctr" indent="0" marL="0">
              <a:lnSpc>
                <a:spcPts val="2100"/>
              </a:lnSpc>
              <a:buNone/>
            </a:pPr>
            <a:r>
              <a:rPr lang="en-US" sz="1500" b="1" dirty="0">
                <a:solidFill>
                  <a:srgbClr val="FFFFFF"/>
                </a:solidFill>
                <a:latin typeface="Courier New" pitchFamily="49" charset="0"/>
                <a:ea typeface="Courier New" pitchFamily="49" charset="-122"/>
                <a:cs typeface="Courier New" pitchFamily="49" charset="-120"/>
              </a:rPr>
              <a:t>4</a:t>
            </a:r>
            <a:endParaRPr lang="en-US" sz="1500" dirty="0"/>
          </a:p>
        </p:txBody>
      </p:sp>
      <p:sp>
        <p:nvSpPr>
          <p:cNvPr id="12" name="Text 8"/>
          <p:cNvSpPr/>
          <p:nvPr/>
        </p:nvSpPr>
        <p:spPr>
          <a:xfrm>
            <a:off x="9271000" y="2019300"/>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My Reservations</a:t>
            </a:r>
            <a:endParaRPr lang="en-US" sz="1500" dirty="0"/>
          </a:p>
        </p:txBody>
      </p:sp>
      <p:sp>
        <p:nvSpPr>
          <p:cNvPr id="13" name="Text 9"/>
          <p:cNvSpPr/>
          <p:nvPr/>
        </p:nvSpPr>
        <p:spPr>
          <a:xfrm>
            <a:off x="9271000" y="2425700"/>
            <a:ext cx="2171446" cy="6120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The card says Pending creation while the sandbox is built. A few minutes, usually.</a:t>
            </a:r>
            <a:endParaRPr lang="en-US" sz="1100" dirty="0"/>
          </a:p>
        </p:txBody>
      </p:sp>
      <p:sp>
        <p:nvSpPr>
          <p:cNvPr id="14" name="Text 10"/>
          <p:cNvSpPr/>
          <p:nvPr/>
        </p:nvSpPr>
        <p:spPr>
          <a:xfrm>
            <a:off x="9271000" y="3327400"/>
            <a:ext cx="2171446"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Refresh the page; when Launch Workshop appears, click it.</a:t>
            </a:r>
            <a:endParaRPr lang="en-US" sz="1100" dirty="0"/>
          </a:p>
        </p:txBody>
      </p:sp>
      <p:sp>
        <p:nvSpPr>
          <p:cNvPr id="15" name="Text 11"/>
          <p:cNvSpPr/>
          <p:nvPr/>
        </p:nvSpPr>
        <p:spPr>
          <a:xfrm>
            <a:off x="9271000" y="4025900"/>
            <a:ext cx="2171446" cy="6120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Find this page again under your name, top right, then My Reservations.</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GETTING INTO THE LAB · 5 OF 5</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Connect to the development environment</a:t>
            </a:r>
            <a:endParaRPr lang="en-US" sz="2800" dirty="0"/>
          </a:p>
        </p:txBody>
      </p:sp>
      <p:pic>
        <p:nvPicPr>
          <p:cNvPr id="5" name="Image 0" descr="The workshop guide open at Connect to the Development Environment, with View Login Info, the time remaining and Task 1">    </p:cNvPr>
          <p:cNvPicPr>
            <a:picLocks noChangeAspect="1"/>
          </p:cNvPicPr>
          <p:nvPr/>
        </p:nvPicPr>
        <p:blipFill>
          <a:blip r:embed="rId1"/>
          <a:srcRect l="-53" r="-53" t="0" b="0"/>
          <a:stretch/>
        </p:blipFill>
        <p:spPr>
          <a:xfrm>
            <a:off x="812800" y="1498600"/>
            <a:ext cx="8255000" cy="4514850"/>
          </a:xfrm>
          <a:prstGeom prst="roundRect">
            <a:avLst>
              <a:gd name="adj" fmla="val 1969"/>
            </a:avLst>
          </a:prstGeom>
        </p:spPr>
      </p:pic>
      <p:sp>
        <p:nvSpPr>
          <p:cNvPr id="6" name="Shape 3"/>
          <p:cNvSpPr/>
          <p:nvPr/>
        </p:nvSpPr>
        <p:spPr>
          <a:xfrm>
            <a:off x="812800" y="1911350"/>
            <a:ext cx="635000" cy="184150"/>
          </a:xfrm>
          <a:prstGeom prst="roundRect">
            <a:avLst>
              <a:gd name="adj" fmla="val 27586"/>
            </a:avLst>
          </a:prstGeom>
          <a:noFill/>
          <a:ln w="25400">
            <a:solidFill>
              <a:srgbClr val="C74634"/>
            </a:solidFill>
            <a:prstDash val="solid"/>
          </a:ln>
          <a:effectLst>
            <a:outerShdw sx="100000" sy="100000" kx="0" ky="0" algn="bl" rotWithShape="0" blurRad="38100" dist="0" dir="60000">
              <a:srgbClr val="C74634">
                <a:alpha val="22000"/>
              </a:srgbClr>
            </a:outerShdw>
          </a:effectLst>
        </p:spPr>
      </p:sp>
      <p:sp>
        <p:nvSpPr>
          <p:cNvPr id="7" name="Text 4"/>
          <p:cNvSpPr/>
          <p:nvPr/>
        </p:nvSpPr>
        <p:spPr>
          <a:xfrm>
            <a:off x="800100" y="1606550"/>
            <a:ext cx="1866900" cy="271760"/>
          </a:xfrm>
          <a:prstGeom prst="roundRect">
            <a:avLst>
              <a:gd name="adj" fmla="val 50000"/>
            </a:avLst>
          </a:prstGeom>
          <a:solidFill>
            <a:srgbClr val="C74634"/>
          </a:solidFill>
          <a:ln/>
        </p:spPr>
        <p:txBody>
          <a:bodyPr wrap="none" lIns="10685" tIns="0" rIns="10685" bIns="0" rtlCol="0" anchor="t">
            <a:normAutofit/>
          </a:bodyPr>
          <a:lstStyle/>
          <a:p>
            <a:pPr algn="ctr" indent="0" marL="0">
              <a:lnSpc>
                <a:spcPts val="1540"/>
              </a:lnSpc>
              <a:buNone/>
            </a:pPr>
            <a:r>
              <a:rPr lang="en-US" sz="1100" b="1" dirty="0">
                <a:solidFill>
                  <a:srgbClr val="FFFFFF"/>
                </a:solidFill>
                <a:latin typeface="Courier New" pitchFamily="49" charset="0"/>
                <a:ea typeface="Courier New" pitchFamily="49" charset="-122"/>
                <a:cs typeface="Courier New" pitchFamily="49" charset="-120"/>
              </a:rPr>
              <a:t>A · View Login Info</a:t>
            </a:r>
            <a:endParaRPr lang="en-US" sz="1100" dirty="0"/>
          </a:p>
        </p:txBody>
      </p:sp>
      <p:sp>
        <p:nvSpPr>
          <p:cNvPr id="8" name="Shape 5"/>
          <p:cNvSpPr/>
          <p:nvPr/>
        </p:nvSpPr>
        <p:spPr>
          <a:xfrm>
            <a:off x="2571750" y="4489450"/>
            <a:ext cx="3644900" cy="285750"/>
          </a:xfrm>
          <a:prstGeom prst="roundRect">
            <a:avLst>
              <a:gd name="adj" fmla="val 17778"/>
            </a:avLst>
          </a:prstGeom>
          <a:noFill/>
          <a:ln w="25400">
            <a:solidFill>
              <a:srgbClr val="C74634"/>
            </a:solidFill>
            <a:prstDash val="solid"/>
          </a:ln>
          <a:effectLst>
            <a:outerShdw sx="100000" sy="100000" kx="0" ky="0" algn="bl" rotWithShape="0" blurRad="38100" dist="0" dir="60000">
              <a:srgbClr val="C74634">
                <a:alpha val="22000"/>
              </a:srgbClr>
            </a:outerShdw>
          </a:effectLst>
        </p:spPr>
      </p:sp>
      <p:sp>
        <p:nvSpPr>
          <p:cNvPr id="9" name="Text 6"/>
          <p:cNvSpPr/>
          <p:nvPr/>
        </p:nvSpPr>
        <p:spPr>
          <a:xfrm>
            <a:off x="2559050" y="4851400"/>
            <a:ext cx="1066800" cy="271760"/>
          </a:xfrm>
          <a:prstGeom prst="roundRect">
            <a:avLst>
              <a:gd name="adj" fmla="val 50000"/>
            </a:avLst>
          </a:prstGeom>
          <a:solidFill>
            <a:srgbClr val="C74634"/>
          </a:solidFill>
          <a:ln/>
        </p:spPr>
        <p:txBody>
          <a:bodyPr wrap="none" lIns="11002" tIns="0" rIns="11002" bIns="0" rtlCol="0" anchor="t">
            <a:normAutofit/>
          </a:bodyPr>
          <a:lstStyle/>
          <a:p>
            <a:pPr algn="ctr" indent="0" marL="0">
              <a:lnSpc>
                <a:spcPts val="1540"/>
              </a:lnSpc>
              <a:buNone/>
            </a:pPr>
            <a:r>
              <a:rPr lang="en-US" sz="1100" b="1" dirty="0">
                <a:solidFill>
                  <a:srgbClr val="FFFFFF"/>
                </a:solidFill>
                <a:latin typeface="Courier New" pitchFamily="49" charset="0"/>
                <a:ea typeface="Courier New" pitchFamily="49" charset="-122"/>
                <a:cs typeface="Courier New" pitchFamily="49" charset="-120"/>
              </a:rPr>
              <a:t>B · Task 1</a:t>
            </a:r>
            <a:endParaRPr lang="en-US" sz="1100" dirty="0"/>
          </a:p>
        </p:txBody>
      </p:sp>
      <p:sp>
        <p:nvSpPr>
          <p:cNvPr id="10" name="Shape 7"/>
          <p:cNvSpPr/>
          <p:nvPr/>
        </p:nvSpPr>
        <p:spPr>
          <a:xfrm>
            <a:off x="7854950" y="1866900"/>
            <a:ext cx="1168400" cy="279400"/>
          </a:xfrm>
          <a:prstGeom prst="roundRect">
            <a:avLst>
              <a:gd name="adj" fmla="val 18182"/>
            </a:avLst>
          </a:prstGeom>
          <a:noFill/>
          <a:ln w="25400">
            <a:solidFill>
              <a:srgbClr val="C74634"/>
            </a:solidFill>
            <a:prstDash val="solid"/>
          </a:ln>
          <a:effectLst>
            <a:outerShdw sx="100000" sy="100000" kx="0" ky="0" algn="bl" rotWithShape="0" blurRad="38100" dist="0" dir="60000">
              <a:srgbClr val="C74634">
                <a:alpha val="22000"/>
              </a:srgbClr>
            </a:outerShdw>
          </a:effectLst>
        </p:spPr>
      </p:sp>
      <p:sp>
        <p:nvSpPr>
          <p:cNvPr id="11" name="Text 8"/>
          <p:cNvSpPr/>
          <p:nvPr/>
        </p:nvSpPr>
        <p:spPr>
          <a:xfrm>
            <a:off x="7842250" y="1562100"/>
            <a:ext cx="889000" cy="271760"/>
          </a:xfrm>
          <a:prstGeom prst="roundRect">
            <a:avLst>
              <a:gd name="adj" fmla="val 50000"/>
            </a:avLst>
          </a:prstGeom>
          <a:solidFill>
            <a:srgbClr val="C74634"/>
          </a:solidFill>
          <a:ln/>
        </p:spPr>
        <p:txBody>
          <a:bodyPr wrap="none" lIns="11002" tIns="0" rIns="11002" bIns="0" rtlCol="0" anchor="t">
            <a:normAutofit/>
          </a:bodyPr>
          <a:lstStyle/>
          <a:p>
            <a:pPr algn="ctr" indent="0" marL="0">
              <a:lnSpc>
                <a:spcPts val="1540"/>
              </a:lnSpc>
              <a:buNone/>
            </a:pPr>
            <a:r>
              <a:rPr lang="en-US" sz="1100" b="1" dirty="0">
                <a:solidFill>
                  <a:srgbClr val="FFFFFF"/>
                </a:solidFill>
                <a:latin typeface="Courier New" pitchFamily="49" charset="0"/>
                <a:ea typeface="Courier New" pitchFamily="49" charset="-122"/>
                <a:cs typeface="Courier New" pitchFamily="49" charset="-120"/>
              </a:rPr>
              <a:t>C · time</a:t>
            </a:r>
            <a:endParaRPr lang="en-US" sz="1100" dirty="0"/>
          </a:p>
        </p:txBody>
      </p:sp>
      <p:sp>
        <p:nvSpPr>
          <p:cNvPr id="12" name="Text 9"/>
          <p:cNvSpPr/>
          <p:nvPr/>
        </p:nvSpPr>
        <p:spPr>
          <a:xfrm>
            <a:off x="9271000" y="1498600"/>
            <a:ext cx="457200" cy="419100"/>
          </a:xfrm>
          <a:custGeom>
            <a:avLst/>
            <a:gdLst/>
            <a:ahLst/>
            <a:cxnLst/>
            <a:rect l="l" t="t" r="r" b="b"/>
            <a:pathLst>
              <a:path w="457200" h="419100">
                <a:moveTo>
                  <a:pt x="209550" y="0"/>
                </a:moveTo>
                <a:lnTo>
                  <a:pt x="247650" y="0"/>
                </a:lnTo>
                <a:arcTo hR="209550" wR="209550" stAng="16200000" swAng="5400000"/>
                <a:lnTo>
                  <a:pt x="457200" y="209550"/>
                </a:lnTo>
                <a:arcTo hR="209550" wR="209550" stAng="0" swAng="5400000"/>
                <a:lnTo>
                  <a:pt x="209550" y="419100"/>
                </a:lnTo>
                <a:arcTo hR="209550" wR="209550" stAng="5400000" swAng="5400000"/>
                <a:lnTo>
                  <a:pt x="0" y="209550"/>
                </a:lnTo>
                <a:arcTo hR="209550" wR="209550" stAng="10800000" swAng="5400000"/>
                <a:close/>
              </a:path>
            </a:pathLst>
          </a:custGeom>
          <a:solidFill>
            <a:srgbClr val="C74634"/>
          </a:solidFill>
          <a:ln/>
        </p:spPr>
        <p:txBody>
          <a:bodyPr wrap="square" lIns="0" tIns="76200" rIns="0" bIns="50800" rtlCol="0" anchor="t">
            <a:normAutofit/>
          </a:bodyPr>
          <a:lstStyle/>
          <a:p>
            <a:pPr algn="ctr" indent="0" marL="0">
              <a:lnSpc>
                <a:spcPts val="2100"/>
              </a:lnSpc>
              <a:buNone/>
            </a:pPr>
            <a:r>
              <a:rPr lang="en-US" sz="1500" b="1" dirty="0">
                <a:solidFill>
                  <a:srgbClr val="FFFFFF"/>
                </a:solidFill>
                <a:latin typeface="Courier New" pitchFamily="49" charset="0"/>
                <a:ea typeface="Courier New" pitchFamily="49" charset="-122"/>
                <a:cs typeface="Courier New" pitchFamily="49" charset="-120"/>
              </a:rPr>
              <a:t>5</a:t>
            </a:r>
            <a:endParaRPr lang="en-US" sz="1500" dirty="0"/>
          </a:p>
        </p:txBody>
      </p:sp>
      <p:sp>
        <p:nvSpPr>
          <p:cNvPr id="13" name="Text 10"/>
          <p:cNvSpPr/>
          <p:nvPr/>
        </p:nvSpPr>
        <p:spPr>
          <a:xfrm>
            <a:off x="9271000" y="2019300"/>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Follow Task 1</a:t>
            </a:r>
            <a:endParaRPr lang="en-US" sz="1500" dirty="0"/>
          </a:p>
        </p:txBody>
      </p:sp>
      <p:sp>
        <p:nvSpPr>
          <p:cNvPr id="14" name="Text 11"/>
          <p:cNvSpPr/>
          <p:nvPr/>
        </p:nvSpPr>
        <p:spPr>
          <a:xfrm>
            <a:off x="9271000" y="2425700"/>
            <a:ext cx="2171446" cy="6120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View Login Info (A): copy the Development IDE password and click Start Development IDE.</a:t>
            </a:r>
            <a:endParaRPr lang="en-US" sz="1100" dirty="0"/>
          </a:p>
        </p:txBody>
      </p:sp>
      <p:sp>
        <p:nvSpPr>
          <p:cNvPr id="15" name="Text 12"/>
          <p:cNvSpPr/>
          <p:nvPr/>
        </p:nvSpPr>
        <p:spPr>
          <a:xfrm>
            <a:off x="9271000" y="3327400"/>
            <a:ext cx="2171446" cy="6120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Task 1 (B): log in to JupyterLab and open notebook_student_ollama.ipynb.</a:t>
            </a:r>
            <a:endParaRPr lang="en-US" sz="1100" dirty="0"/>
          </a:p>
        </p:txBody>
      </p:sp>
      <p:sp>
        <p:nvSpPr>
          <p:cNvPr id="16" name="Text 13"/>
          <p:cNvSpPr/>
          <p:nvPr/>
        </p:nvSpPr>
        <p:spPr>
          <a:xfrm>
            <a:off x="9271000" y="4025900"/>
            <a:ext cx="2171446"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F2EFEA"/>
                </a:solidFill>
                <a:latin typeface="Arial" pitchFamily="34" charset="0"/>
                <a:ea typeface="Arial" pitchFamily="34" charset="-122"/>
                <a:cs typeface="Arial" pitchFamily="34" charset="-120"/>
              </a:rPr>
              <a:t>Watch the clock (C) and extend the reservation before it runs out.</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Six parts, six TODOs</a:t>
            </a:r>
            <a:endParaRPr lang="en-US" sz="2800" dirty="0"/>
          </a:p>
        </p:txBody>
      </p:sp>
      <p:sp>
        <p:nvSpPr>
          <p:cNvPr id="4" name="Shape 2"/>
          <p:cNvSpPr/>
          <p:nvPr/>
        </p:nvSpPr>
        <p:spPr>
          <a:xfrm>
            <a:off x="815975" y="1501775"/>
            <a:ext cx="2482850" cy="1987550"/>
          </a:xfrm>
          <a:prstGeom prst="roundRect">
            <a:avLst>
              <a:gd name="adj" fmla="val 6869"/>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5" name="Text 3"/>
          <p:cNvSpPr/>
          <p:nvPr/>
        </p:nvSpPr>
        <p:spPr>
          <a:xfrm>
            <a:off x="965200" y="1657350"/>
            <a:ext cx="603647"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C74634"/>
                </a:solidFill>
                <a:latin typeface="Courier New" pitchFamily="49" charset="0"/>
                <a:ea typeface="Courier New" pitchFamily="49" charset="-122"/>
                <a:cs typeface="Courier New" pitchFamily="49" charset="-120"/>
              </a:rPr>
              <a:t>PART 1</a:t>
            </a:r>
            <a:endParaRPr lang="en-US" sz="1100" dirty="0"/>
          </a:p>
        </p:txBody>
      </p:sp>
      <p:sp>
        <p:nvSpPr>
          <p:cNvPr id="6" name="Text 4"/>
          <p:cNvSpPr/>
          <p:nvPr/>
        </p:nvSpPr>
        <p:spPr>
          <a:xfrm>
            <a:off x="965200" y="1916410"/>
            <a:ext cx="12926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Oracle setup</a:t>
            </a:r>
            <a:endParaRPr lang="en-US" sz="1400" dirty="0"/>
          </a:p>
        </p:txBody>
      </p:sp>
      <p:sp>
        <p:nvSpPr>
          <p:cNvPr id="7" name="Text 5"/>
          <p:cNvSpPr/>
          <p:nvPr/>
        </p:nvSpPr>
        <p:spPr>
          <a:xfrm>
            <a:off x="965200" y="2193230"/>
            <a:ext cx="2249932" cy="6120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Connect with python-oracledb. Pre-built; the optional reset cell wipes CITY_*.</a:t>
            </a:r>
            <a:endParaRPr lang="en-US" sz="1100" dirty="0"/>
          </a:p>
        </p:txBody>
      </p:sp>
      <p:sp>
        <p:nvSpPr>
          <p:cNvPr id="8" name="Text 6"/>
          <p:cNvSpPr/>
          <p:nvPr/>
        </p:nvSpPr>
        <p:spPr>
          <a:xfrm>
            <a:off x="965200" y="2906911"/>
            <a:ext cx="704255"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6677D"/>
                </a:solidFill>
                <a:latin typeface="Courier New" pitchFamily="49" charset="0"/>
                <a:ea typeface="Courier New" pitchFamily="49" charset="-122"/>
                <a:cs typeface="Courier New" pitchFamily="49" charset="-120"/>
              </a:rPr>
              <a:t>no TODO</a:t>
            </a:r>
            <a:endParaRPr lang="en-US" sz="1100" dirty="0"/>
          </a:p>
        </p:txBody>
      </p:sp>
      <p:sp>
        <p:nvSpPr>
          <p:cNvPr id="9" name="Shape 7"/>
          <p:cNvSpPr/>
          <p:nvPr/>
        </p:nvSpPr>
        <p:spPr>
          <a:xfrm>
            <a:off x="3511550" y="1504950"/>
            <a:ext cx="2476500" cy="1981200"/>
          </a:xfrm>
          <a:prstGeom prst="roundRect">
            <a:avLst>
              <a:gd name="adj" fmla="val 6731"/>
            </a:avLst>
          </a:prstGeom>
          <a:solidFill>
            <a:srgbClr val="FFF4F1"/>
          </a:solidFill>
          <a:ln w="12700">
            <a:solidFill>
              <a:srgbClr val="C74634">
                <a:alpha val="50000"/>
              </a:srgbClr>
            </a:solidFill>
            <a:prstDash val="solid"/>
          </a:ln>
        </p:spPr>
      </p:sp>
      <p:sp>
        <p:nvSpPr>
          <p:cNvPr id="10" name="Text 8"/>
          <p:cNvSpPr/>
          <p:nvPr/>
        </p:nvSpPr>
        <p:spPr>
          <a:xfrm>
            <a:off x="3657600" y="1663700"/>
            <a:ext cx="603647"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C74634"/>
                </a:solidFill>
                <a:latin typeface="Courier New" pitchFamily="49" charset="0"/>
                <a:ea typeface="Courier New" pitchFamily="49" charset="-122"/>
                <a:cs typeface="Courier New" pitchFamily="49" charset="-120"/>
              </a:rPr>
              <a:t>PART 2</a:t>
            </a:r>
            <a:endParaRPr lang="en-US" sz="1100" dirty="0"/>
          </a:p>
        </p:txBody>
      </p:sp>
      <p:sp>
        <p:nvSpPr>
          <p:cNvPr id="11" name="Text 9"/>
          <p:cNvSpPr/>
          <p:nvPr/>
        </p:nvSpPr>
        <p:spPr>
          <a:xfrm>
            <a:off x="3657600" y="1922760"/>
            <a:ext cx="23241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The embedder and SDK</a:t>
            </a:r>
            <a:endParaRPr lang="en-US" sz="1400" dirty="0"/>
          </a:p>
        </p:txBody>
      </p:sp>
      <p:sp>
        <p:nvSpPr>
          <p:cNvPr id="12" name="Text 10"/>
          <p:cNvSpPr/>
          <p:nvPr/>
        </p:nvSpPr>
        <p:spPr>
          <a:xfrm>
            <a:off x="3657600" y="2199580"/>
            <a:ext cx="2249932" cy="807641"/>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TODO 1 · embed(): call embed_documents, return np.float32. Checkpoint: 384-dim vectors.</a:t>
            </a:r>
            <a:endParaRPr lang="en-US" sz="1100" dirty="0"/>
          </a:p>
        </p:txBody>
      </p:sp>
      <p:sp>
        <p:nvSpPr>
          <p:cNvPr id="13" name="Text 11"/>
          <p:cNvSpPr/>
          <p:nvPr/>
        </p:nvSpPr>
        <p:spPr>
          <a:xfrm>
            <a:off x="3657600" y="3108821"/>
            <a:ext cx="603647"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6677D"/>
                </a:solidFill>
                <a:latin typeface="Courier New" pitchFamily="49" charset="0"/>
                <a:ea typeface="Courier New" pitchFamily="49" charset="-122"/>
                <a:cs typeface="Courier New" pitchFamily="49" charset="-120"/>
              </a:rPr>
              <a:t>TODO 1</a:t>
            </a:r>
            <a:endParaRPr lang="en-US" sz="1100" dirty="0"/>
          </a:p>
        </p:txBody>
      </p:sp>
      <p:sp>
        <p:nvSpPr>
          <p:cNvPr id="14" name="Shape 12"/>
          <p:cNvSpPr/>
          <p:nvPr/>
        </p:nvSpPr>
        <p:spPr>
          <a:xfrm>
            <a:off x="6203950" y="1504950"/>
            <a:ext cx="2476500" cy="1981200"/>
          </a:xfrm>
          <a:prstGeom prst="roundRect">
            <a:avLst>
              <a:gd name="adj" fmla="val 6731"/>
            </a:avLst>
          </a:prstGeom>
          <a:solidFill>
            <a:srgbClr val="FFF4F1"/>
          </a:solidFill>
          <a:ln w="12700">
            <a:solidFill>
              <a:srgbClr val="C74634">
                <a:alpha val="50000"/>
              </a:srgbClr>
            </a:solidFill>
            <a:prstDash val="solid"/>
          </a:ln>
        </p:spPr>
      </p:sp>
      <p:sp>
        <p:nvSpPr>
          <p:cNvPr id="15" name="Text 13"/>
          <p:cNvSpPr/>
          <p:nvPr/>
        </p:nvSpPr>
        <p:spPr>
          <a:xfrm>
            <a:off x="6350000" y="1663700"/>
            <a:ext cx="603647"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C74634"/>
                </a:solidFill>
                <a:latin typeface="Courier New" pitchFamily="49" charset="0"/>
                <a:ea typeface="Courier New" pitchFamily="49" charset="-122"/>
                <a:cs typeface="Courier New" pitchFamily="49" charset="-120"/>
              </a:rPr>
              <a:t>PART 3</a:t>
            </a:r>
            <a:endParaRPr lang="en-US" sz="1100" dirty="0"/>
          </a:p>
        </p:txBody>
      </p:sp>
      <p:sp>
        <p:nvSpPr>
          <p:cNvPr id="16" name="Text 14"/>
          <p:cNvSpPr/>
          <p:nvPr/>
        </p:nvSpPr>
        <p:spPr>
          <a:xfrm>
            <a:off x="6350000" y="1922760"/>
            <a:ext cx="23241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Assets + auto-extraction</a:t>
            </a:r>
            <a:endParaRPr lang="en-US" sz="1400" dirty="0"/>
          </a:p>
        </p:txBody>
      </p:sp>
      <p:sp>
        <p:nvSpPr>
          <p:cNvPr id="17" name="Text 15"/>
          <p:cNvSpPr/>
          <p:nvPr/>
        </p:nvSpPr>
        <p:spPr>
          <a:xfrm>
            <a:off x="6350000" y="2199580"/>
            <a:ext cx="2249932" cy="807641"/>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TODO 2 · build the [Asset] [Inspector] content string, then add_messages_async. TODO 3 · set user_id on the search.</a:t>
            </a:r>
            <a:endParaRPr lang="en-US" sz="1100" dirty="0"/>
          </a:p>
        </p:txBody>
      </p:sp>
      <p:sp>
        <p:nvSpPr>
          <p:cNvPr id="18" name="Text 16"/>
          <p:cNvSpPr/>
          <p:nvPr/>
        </p:nvSpPr>
        <p:spPr>
          <a:xfrm>
            <a:off x="6350000" y="3108821"/>
            <a:ext cx="905411"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6677D"/>
                </a:solidFill>
                <a:latin typeface="Courier New" pitchFamily="49" charset="0"/>
                <a:ea typeface="Courier New" pitchFamily="49" charset="-122"/>
                <a:cs typeface="Courier New" pitchFamily="49" charset="-120"/>
              </a:rPr>
              <a:t>TODO 2, 3</a:t>
            </a:r>
            <a:endParaRPr lang="en-US" sz="1100" dirty="0"/>
          </a:p>
        </p:txBody>
      </p:sp>
      <p:sp>
        <p:nvSpPr>
          <p:cNvPr id="19" name="Shape 17"/>
          <p:cNvSpPr/>
          <p:nvPr/>
        </p:nvSpPr>
        <p:spPr>
          <a:xfrm>
            <a:off x="8896350" y="1504950"/>
            <a:ext cx="2476500" cy="1981200"/>
          </a:xfrm>
          <a:prstGeom prst="roundRect">
            <a:avLst>
              <a:gd name="adj" fmla="val 6731"/>
            </a:avLst>
          </a:prstGeom>
          <a:solidFill>
            <a:srgbClr val="FFF4F1"/>
          </a:solidFill>
          <a:ln w="12700">
            <a:solidFill>
              <a:srgbClr val="C74634">
                <a:alpha val="50000"/>
              </a:srgbClr>
            </a:solidFill>
            <a:prstDash val="solid"/>
          </a:ln>
        </p:spPr>
      </p:sp>
      <p:sp>
        <p:nvSpPr>
          <p:cNvPr id="20" name="Text 18"/>
          <p:cNvSpPr/>
          <p:nvPr/>
        </p:nvSpPr>
        <p:spPr>
          <a:xfrm>
            <a:off x="9042400" y="1663700"/>
            <a:ext cx="603647"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C74634"/>
                </a:solidFill>
                <a:latin typeface="Courier New" pitchFamily="49" charset="0"/>
                <a:ea typeface="Courier New" pitchFamily="49" charset="-122"/>
                <a:cs typeface="Courier New" pitchFamily="49" charset="-120"/>
              </a:rPr>
              <a:t>PART 4</a:t>
            </a:r>
            <a:endParaRPr lang="en-US" sz="1100" dirty="0"/>
          </a:p>
        </p:txBody>
      </p:sp>
      <p:sp>
        <p:nvSpPr>
          <p:cNvPr id="21" name="Text 19"/>
          <p:cNvSpPr/>
          <p:nvPr/>
        </p:nvSpPr>
        <p:spPr>
          <a:xfrm>
            <a:off x="9042400" y="1922760"/>
            <a:ext cx="23241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Findings + similar search</a:t>
            </a:r>
            <a:endParaRPr lang="en-US" sz="1400" dirty="0"/>
          </a:p>
        </p:txBody>
      </p:sp>
      <p:sp>
        <p:nvSpPr>
          <p:cNvPr id="22" name="Text 20"/>
          <p:cNvSpPr/>
          <p:nvPr/>
        </p:nvSpPr>
        <p:spPr>
          <a:xfrm>
            <a:off x="9042400" y="2199580"/>
            <a:ext cx="2249932" cy="807641"/>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TODO 4 · vec = array.array('f', ...). TODO 5 · the VECTOR_DISTANCE SQL with (:bind IS NULL OR col = :bind).</a:t>
            </a:r>
            <a:endParaRPr lang="en-US" sz="1100" dirty="0"/>
          </a:p>
        </p:txBody>
      </p:sp>
      <p:sp>
        <p:nvSpPr>
          <p:cNvPr id="23" name="Text 21"/>
          <p:cNvSpPr/>
          <p:nvPr/>
        </p:nvSpPr>
        <p:spPr>
          <a:xfrm>
            <a:off x="9042400" y="3108821"/>
            <a:ext cx="905411"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6677D"/>
                </a:solidFill>
                <a:latin typeface="Courier New" pitchFamily="49" charset="0"/>
                <a:ea typeface="Courier New" pitchFamily="49" charset="-122"/>
                <a:cs typeface="Courier New" pitchFamily="49" charset="-120"/>
              </a:rPr>
              <a:t>TODO 4, 5</a:t>
            </a:r>
            <a:endParaRPr lang="en-US" sz="1100" dirty="0"/>
          </a:p>
        </p:txBody>
      </p:sp>
      <p:sp>
        <p:nvSpPr>
          <p:cNvPr id="24" name="Shape 22"/>
          <p:cNvSpPr/>
          <p:nvPr/>
        </p:nvSpPr>
        <p:spPr>
          <a:xfrm>
            <a:off x="815975" y="3597275"/>
            <a:ext cx="2482850" cy="1987550"/>
          </a:xfrm>
          <a:prstGeom prst="roundRect">
            <a:avLst>
              <a:gd name="adj" fmla="val 6869"/>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25" name="Text 23"/>
          <p:cNvSpPr/>
          <p:nvPr/>
        </p:nvSpPr>
        <p:spPr>
          <a:xfrm>
            <a:off x="965200" y="3677493"/>
            <a:ext cx="603647" cy="219869"/>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C74634"/>
                </a:solidFill>
                <a:latin typeface="Courier New" pitchFamily="49" charset="0"/>
                <a:ea typeface="Courier New" pitchFamily="49" charset="-122"/>
                <a:cs typeface="Courier New" pitchFamily="49" charset="-120"/>
              </a:rPr>
              <a:t>PART 5</a:t>
            </a:r>
            <a:endParaRPr lang="en-US" sz="1100" dirty="0"/>
          </a:p>
        </p:txBody>
      </p:sp>
      <p:sp>
        <p:nvSpPr>
          <p:cNvPr id="26" name="Text 24"/>
          <p:cNvSpPr/>
          <p:nvPr/>
        </p:nvSpPr>
        <p:spPr>
          <a:xfrm>
            <a:off x="965200" y="3935462"/>
            <a:ext cx="838914" cy="237480"/>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2D2D2D"/>
                </a:solidFill>
                <a:latin typeface="Arial" pitchFamily="34" charset="0"/>
                <a:ea typeface="Arial" pitchFamily="34" charset="-122"/>
                <a:cs typeface="Arial" pitchFamily="34" charset="-120"/>
              </a:rPr>
              <a:t>Scoping</a:t>
            </a:r>
            <a:endParaRPr lang="en-US" sz="1396" dirty="0"/>
          </a:p>
        </p:txBody>
      </p:sp>
      <p:sp>
        <p:nvSpPr>
          <p:cNvPr id="27" name="Text 25"/>
          <p:cNvSpPr/>
          <p:nvPr/>
        </p:nvSpPr>
        <p:spPr>
          <a:xfrm>
            <a:off x="965200" y="4211042"/>
            <a:ext cx="2249932" cy="997545"/>
          </a:xfrm>
          <a:prstGeom prst="rect">
            <a:avLst/>
          </a:prstGeom>
          <a:noFill/>
          <a:ln/>
        </p:spPr>
        <p:txBody>
          <a:bodyPr wrap="square" lIns="0" tIns="0" rIns="0" bIns="0" rtlCol="0" anchor="t">
            <a:normAutofit/>
          </a:bodyPr>
          <a:lstStyle/>
          <a:p>
            <a:pPr algn="l" indent="0" marL="0">
              <a:lnSpc>
                <a:spcPts val="1535"/>
              </a:lnSpc>
              <a:buNone/>
            </a:pPr>
            <a:r>
              <a:rPr lang="en-US" sz="1097" dirty="0">
                <a:solidFill>
                  <a:srgbClr val="6B6B6B"/>
                </a:solidFill>
                <a:latin typeface="Arial" pitchFamily="34" charset="0"/>
                <a:ea typeface="Arial" pitchFamily="34" charset="-122"/>
                <a:cs typeface="Arial" pitchFamily="34" charset="-120"/>
              </a:rPr>
              <a:t>Run and read. user_id, agent_id, thread_id as SQL WHERE predicates; the assertions prove Mercer’s note never reaches Vance.</a:t>
            </a:r>
            <a:endParaRPr lang="en-US" sz="1097" dirty="0"/>
          </a:p>
        </p:txBody>
      </p:sp>
      <p:sp>
        <p:nvSpPr>
          <p:cNvPr id="28" name="Text 26"/>
          <p:cNvSpPr/>
          <p:nvPr/>
        </p:nvSpPr>
        <p:spPr>
          <a:xfrm>
            <a:off x="965200" y="5310188"/>
            <a:ext cx="704255" cy="219819"/>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6677D"/>
                </a:solidFill>
                <a:latin typeface="Courier New" pitchFamily="49" charset="0"/>
                <a:ea typeface="Courier New" pitchFamily="49" charset="-122"/>
                <a:cs typeface="Courier New" pitchFamily="49" charset="-120"/>
              </a:rPr>
              <a:t>no TODO</a:t>
            </a:r>
            <a:endParaRPr lang="en-US" sz="1100" dirty="0"/>
          </a:p>
        </p:txBody>
      </p:sp>
      <p:sp>
        <p:nvSpPr>
          <p:cNvPr id="29" name="Shape 27"/>
          <p:cNvSpPr/>
          <p:nvPr/>
        </p:nvSpPr>
        <p:spPr>
          <a:xfrm>
            <a:off x="3511550" y="3600450"/>
            <a:ext cx="2476500" cy="1981200"/>
          </a:xfrm>
          <a:prstGeom prst="roundRect">
            <a:avLst>
              <a:gd name="adj" fmla="val 6731"/>
            </a:avLst>
          </a:prstGeom>
          <a:solidFill>
            <a:srgbClr val="FFF4F1"/>
          </a:solidFill>
          <a:ln w="12700">
            <a:solidFill>
              <a:srgbClr val="C74634">
                <a:alpha val="50000"/>
              </a:srgbClr>
            </a:solidFill>
            <a:prstDash val="solid"/>
          </a:ln>
        </p:spPr>
      </p:sp>
      <p:sp>
        <p:nvSpPr>
          <p:cNvPr id="30" name="Text 28"/>
          <p:cNvSpPr/>
          <p:nvPr/>
        </p:nvSpPr>
        <p:spPr>
          <a:xfrm>
            <a:off x="3657600" y="3759200"/>
            <a:ext cx="603647"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C74634"/>
                </a:solidFill>
                <a:latin typeface="Courier New" pitchFamily="49" charset="0"/>
                <a:ea typeface="Courier New" pitchFamily="49" charset="-122"/>
                <a:cs typeface="Courier New" pitchFamily="49" charset="-120"/>
              </a:rPr>
              <a:t>PART 6</a:t>
            </a:r>
            <a:endParaRPr lang="en-US" sz="1100" dirty="0"/>
          </a:p>
        </p:txBody>
      </p:sp>
      <p:sp>
        <p:nvSpPr>
          <p:cNvPr id="31" name="Text 29"/>
          <p:cNvSpPr/>
          <p:nvPr/>
        </p:nvSpPr>
        <p:spPr>
          <a:xfrm>
            <a:off x="3657600" y="4018260"/>
            <a:ext cx="22411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Assemble call_copilot</a:t>
            </a:r>
            <a:endParaRPr lang="en-US" sz="1400" dirty="0"/>
          </a:p>
        </p:txBody>
      </p:sp>
      <p:sp>
        <p:nvSpPr>
          <p:cNvPr id="32" name="Text 30"/>
          <p:cNvSpPr/>
          <p:nvPr/>
        </p:nvSpPr>
        <p:spPr>
          <a:xfrm>
            <a:off x="3657600" y="4295080"/>
            <a:ext cx="2249932" cy="807641"/>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TODO 6 · the context card (get_context_card_async) and find_similar_findings inside the turn. Smoke test.</a:t>
            </a:r>
            <a:endParaRPr lang="en-US" sz="1100" dirty="0"/>
          </a:p>
        </p:txBody>
      </p:sp>
      <p:sp>
        <p:nvSpPr>
          <p:cNvPr id="33" name="Text 31"/>
          <p:cNvSpPr/>
          <p:nvPr/>
        </p:nvSpPr>
        <p:spPr>
          <a:xfrm>
            <a:off x="3657600" y="5204321"/>
            <a:ext cx="603647"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6677D"/>
                </a:solidFill>
                <a:latin typeface="Courier New" pitchFamily="49" charset="0"/>
                <a:ea typeface="Courier New" pitchFamily="49" charset="-122"/>
                <a:cs typeface="Courier New" pitchFamily="49" charset="-120"/>
              </a:rPr>
              <a:t>TODO 6</a:t>
            </a:r>
            <a:endParaRPr lang="en-US" sz="1100" dirty="0"/>
          </a:p>
        </p:txBody>
      </p:sp>
      <p:sp>
        <p:nvSpPr>
          <p:cNvPr id="34" name="Shape 32"/>
          <p:cNvSpPr/>
          <p:nvPr/>
        </p:nvSpPr>
        <p:spPr>
          <a:xfrm>
            <a:off x="6200775" y="3597275"/>
            <a:ext cx="2482850" cy="1987550"/>
          </a:xfrm>
          <a:prstGeom prst="roundRect">
            <a:avLst>
              <a:gd name="adj" fmla="val 6869"/>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35" name="Text 33"/>
          <p:cNvSpPr/>
          <p:nvPr/>
        </p:nvSpPr>
        <p:spPr>
          <a:xfrm>
            <a:off x="6350000" y="3752850"/>
            <a:ext cx="804803"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C74634"/>
                </a:solidFill>
                <a:latin typeface="Courier New" pitchFamily="49" charset="0"/>
                <a:ea typeface="Courier New" pitchFamily="49" charset="-122"/>
                <a:cs typeface="Courier New" pitchFamily="49" charset="-120"/>
              </a:rPr>
              <a:t>SCENARIO</a:t>
            </a:r>
            <a:endParaRPr lang="en-US" sz="1100" dirty="0"/>
          </a:p>
        </p:txBody>
      </p:sp>
      <p:sp>
        <p:nvSpPr>
          <p:cNvPr id="36" name="Text 34"/>
          <p:cNvSpPr/>
          <p:nvPr/>
        </p:nvSpPr>
        <p:spPr>
          <a:xfrm>
            <a:off x="6350000" y="4011910"/>
            <a:ext cx="122068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The handoff</a:t>
            </a:r>
            <a:endParaRPr lang="en-US" sz="1400" dirty="0"/>
          </a:p>
        </p:txBody>
      </p:sp>
      <p:sp>
        <p:nvSpPr>
          <p:cNvPr id="37" name="Text 35"/>
          <p:cNvSpPr/>
          <p:nvPr/>
        </p:nvSpPr>
        <p:spPr>
          <a:xfrm>
            <a:off x="6350000" y="4288730"/>
            <a:ext cx="2249932" cy="6120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Mercer: call_copilot, log_finding, a follow-up. Vance: call_copilot only. Watch CITY_MEMORY grow.</a:t>
            </a:r>
            <a:endParaRPr lang="en-US" sz="1100" dirty="0"/>
          </a:p>
        </p:txBody>
      </p:sp>
      <p:sp>
        <p:nvSpPr>
          <p:cNvPr id="38" name="Text 36"/>
          <p:cNvSpPr/>
          <p:nvPr/>
        </p:nvSpPr>
        <p:spPr>
          <a:xfrm>
            <a:off x="6350000" y="5002411"/>
            <a:ext cx="603647"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6677D"/>
                </a:solidFill>
                <a:latin typeface="Courier New" pitchFamily="49" charset="0"/>
                <a:ea typeface="Courier New" pitchFamily="49" charset="-122"/>
                <a:cs typeface="Courier New" pitchFamily="49" charset="-120"/>
              </a:rPr>
              <a:t>run it</a:t>
            </a:r>
            <a:endParaRPr lang="en-US" sz="1100" dirty="0"/>
          </a:p>
        </p:txBody>
      </p:sp>
      <p:sp>
        <p:nvSpPr>
          <p:cNvPr id="39" name="Shape 37"/>
          <p:cNvSpPr/>
          <p:nvPr/>
        </p:nvSpPr>
        <p:spPr>
          <a:xfrm>
            <a:off x="8893175" y="3597275"/>
            <a:ext cx="2482850" cy="1987550"/>
          </a:xfrm>
          <a:prstGeom prst="roundRect">
            <a:avLst>
              <a:gd name="adj" fmla="val 6869"/>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40" name="Text 38"/>
          <p:cNvSpPr/>
          <p:nvPr/>
        </p:nvSpPr>
        <p:spPr>
          <a:xfrm>
            <a:off x="9042400" y="3752850"/>
            <a:ext cx="704255"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C74634"/>
                </a:solidFill>
                <a:latin typeface="Courier New" pitchFamily="49" charset="0"/>
                <a:ea typeface="Courier New" pitchFamily="49" charset="-122"/>
                <a:cs typeface="Courier New" pitchFamily="49" charset="-120"/>
              </a:rPr>
              <a:t>COMPARE</a:t>
            </a:r>
            <a:endParaRPr lang="en-US" sz="1100" dirty="0"/>
          </a:p>
        </p:txBody>
      </p:sp>
      <p:sp>
        <p:nvSpPr>
          <p:cNvPr id="41" name="Text 39"/>
          <p:cNvSpPr/>
          <p:nvPr/>
        </p:nvSpPr>
        <p:spPr>
          <a:xfrm>
            <a:off x="9042400" y="4011910"/>
            <a:ext cx="171640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2D2D"/>
                </a:solidFill>
                <a:latin typeface="Arial" pitchFamily="34" charset="0"/>
                <a:ea typeface="Arial" pitchFamily="34" charset="-122"/>
                <a:cs typeface="Arial" pitchFamily="34" charset="-120"/>
              </a:rPr>
              <a:t>With and without</a:t>
            </a:r>
            <a:endParaRPr lang="en-US" sz="1400" dirty="0"/>
          </a:p>
        </p:txBody>
      </p:sp>
      <p:sp>
        <p:nvSpPr>
          <p:cNvPr id="42" name="Text 40"/>
          <p:cNvSpPr/>
          <p:nvPr/>
        </p:nvSpPr>
        <p:spPr>
          <a:xfrm>
            <a:off x="9042400" y="4288730"/>
            <a:ext cx="2249932" cy="6120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B6B"/>
                </a:solidFill>
                <a:latin typeface="Arial" pitchFamily="34" charset="0"/>
                <a:ea typeface="Arial" pitchFamily="34" charset="-122"/>
                <a:cs typeface="Arial" pitchFamily="34" charset="-120"/>
              </a:rPr>
              <a:t>The same Vance narrative with every memory layer removed. The contrast is the point of the lab.</a:t>
            </a:r>
            <a:endParaRPr lang="en-US" sz="1100" dirty="0"/>
          </a:p>
        </p:txBody>
      </p:sp>
      <p:sp>
        <p:nvSpPr>
          <p:cNvPr id="43" name="Text 41"/>
          <p:cNvSpPr/>
          <p:nvPr/>
        </p:nvSpPr>
        <p:spPr>
          <a:xfrm>
            <a:off x="9042400" y="5002411"/>
            <a:ext cx="603647"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6677D"/>
                </a:solidFill>
                <a:latin typeface="Courier New" pitchFamily="49" charset="0"/>
                <a:ea typeface="Courier New" pitchFamily="49" charset="-122"/>
                <a:cs typeface="Courier New" pitchFamily="49" charset="-120"/>
              </a:rPr>
              <a:t>run it</a:t>
            </a:r>
            <a:endParaRPr lang="en-US" sz="1100" dirty="0"/>
          </a:p>
        </p:txBody>
      </p:sp>
      <p:sp>
        <p:nvSpPr>
          <p:cNvPr id="44" name="Text 42"/>
          <p:cNvSpPr/>
          <p:nvPr/>
        </p:nvSpPr>
        <p:spPr>
          <a:xfrm>
            <a:off x="812800" y="57785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D2D2D"/>
                </a:solidFill>
                <a:latin typeface="Arial" pitchFamily="34" charset="0"/>
                <a:ea typeface="Arial" pitchFamily="34" charset="-122"/>
                <a:cs typeface="Arial" pitchFamily="34" charset="-120"/>
              </a:rPr>
              <a:t>Nothing is throwaway: every part builds one component, proves it with a checkpoint, and Part 6 wires it into the turn.</a:t>
            </a:r>
            <a:endParaRPr lang="en-US" sz="1300" dirty="0"/>
          </a:p>
        </p:txBody>
      </p:sp>
      <p:sp>
        <p:nvSpPr>
          <p:cNvPr id="45" name="Text 4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THE SCENARIO</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The handoff: private turns, shared knowledge</a:t>
            </a:r>
            <a:endParaRPr lang="en-US" sz="2800" dirty="0"/>
          </a:p>
        </p:txBody>
      </p:sp>
      <p:sp>
        <p:nvSpPr>
          <p:cNvPr id="5" name="Text 3"/>
          <p:cNvSpPr/>
          <p:nvPr/>
        </p:nvSpPr>
        <p:spPr>
          <a:xfrm>
            <a:off x="812800" y="1498600"/>
            <a:ext cx="2616200"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E8836F"/>
                </a:solidFill>
                <a:latin typeface="Courier New" pitchFamily="49" charset="0"/>
                <a:ea typeface="Courier New" pitchFamily="49" charset="-122"/>
                <a:cs typeface="Courier New" pitchFamily="49" charset="-120"/>
              </a:rPr>
              <a:t>DAY 1 · MERCER</a:t>
            </a:r>
            <a:endParaRPr lang="en-US" sz="1100" dirty="0"/>
          </a:p>
        </p:txBody>
      </p:sp>
      <p:sp>
        <p:nvSpPr>
          <p:cNvPr id="6" name="Shape 4"/>
          <p:cNvSpPr/>
          <p:nvPr/>
        </p:nvSpPr>
        <p:spPr>
          <a:xfrm>
            <a:off x="817563" y="1757363"/>
            <a:ext cx="3165475" cy="536575"/>
          </a:xfrm>
          <a:prstGeom prst="roundRect">
            <a:avLst>
              <a:gd name="adj" fmla="val 18047"/>
            </a:avLst>
          </a:prstGeom>
          <a:solidFill>
            <a:srgbClr val="36677D">
              <a:alpha val="35000"/>
            </a:srgbClr>
          </a:solidFill>
          <a:ln w="9525">
            <a:solidFill>
              <a:srgbClr val="7FC4DC"/>
            </a:solidFill>
            <a:prstDash val="solid"/>
          </a:ln>
        </p:spPr>
      </p:sp>
      <p:pic>
        <p:nvPicPr>
          <p:cNvPr id="7" name="Image 0" descr="Settings">    </p:cNvPr>
          <p:cNvPicPr>
            <a:picLocks noChangeAspect="1"/>
          </p:cNvPicPr>
          <p:nvPr/>
        </p:nvPicPr>
        <p:blipFill>
          <a:blip r:embed="rId1"/>
          <a:srcRect l="0" r="0" t="0" b="0"/>
          <a:stretch/>
        </p:blipFill>
        <p:spPr>
          <a:xfrm>
            <a:off x="901700" y="1898650"/>
            <a:ext cx="254000" cy="254000"/>
          </a:xfrm>
          <a:prstGeom prst="rect">
            <a:avLst/>
          </a:prstGeom>
        </p:spPr>
      </p:pic>
      <p:sp>
        <p:nvSpPr>
          <p:cNvPr id="8" name="Text 5"/>
          <p:cNvSpPr/>
          <p:nvPr/>
        </p:nvSpPr>
        <p:spPr>
          <a:xfrm>
            <a:off x="1244600" y="1814860"/>
            <a:ext cx="195964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call_copilot</a:t>
            </a:r>
            <a:endParaRPr lang="en-US" sz="1200" dirty="0"/>
          </a:p>
        </p:txBody>
      </p:sp>
      <p:sp>
        <p:nvSpPr>
          <p:cNvPr id="9" name="Text 6"/>
          <p:cNvSpPr/>
          <p:nvPr/>
        </p:nvSpPr>
        <p:spPr>
          <a:xfrm>
            <a:off x="1244600" y="2040880"/>
            <a:ext cx="1959646"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reason: 4 LLM calls, 30 to 60 s</a:t>
            </a:r>
            <a:endParaRPr lang="en-US" sz="1100" dirty="0"/>
          </a:p>
        </p:txBody>
      </p:sp>
      <p:sp>
        <p:nvSpPr>
          <p:cNvPr id="10" name="Shape 7"/>
          <p:cNvSpPr/>
          <p:nvPr/>
        </p:nvSpPr>
        <p:spPr>
          <a:xfrm>
            <a:off x="817563" y="2455863"/>
            <a:ext cx="3165475" cy="536575"/>
          </a:xfrm>
          <a:prstGeom prst="roundRect">
            <a:avLst>
              <a:gd name="adj" fmla="val 18047"/>
            </a:avLst>
          </a:prstGeom>
          <a:solidFill>
            <a:srgbClr val="DEB068">
              <a:alpha val="14000"/>
            </a:srgbClr>
          </a:solidFill>
          <a:ln w="9525">
            <a:solidFill>
              <a:srgbClr val="DEB068">
                <a:alpha val="70000"/>
              </a:srgbClr>
            </a:solidFill>
            <a:prstDash val="solid"/>
          </a:ln>
        </p:spPr>
      </p:sp>
      <p:pic>
        <p:nvPicPr>
          <p:cNvPr id="11" name="Image 1" descr="Check">    </p:cNvPr>
          <p:cNvPicPr>
            <a:picLocks noChangeAspect="1"/>
          </p:cNvPicPr>
          <p:nvPr/>
        </p:nvPicPr>
        <p:blipFill>
          <a:blip r:embed="rId2"/>
          <a:srcRect l="0" r="0" t="0" b="0"/>
          <a:stretch/>
        </p:blipFill>
        <p:spPr>
          <a:xfrm>
            <a:off x="901700" y="2597150"/>
            <a:ext cx="254000" cy="254000"/>
          </a:xfrm>
          <a:prstGeom prst="rect">
            <a:avLst/>
          </a:prstGeom>
        </p:spPr>
      </p:pic>
      <p:sp>
        <p:nvSpPr>
          <p:cNvPr id="12" name="Text 8"/>
          <p:cNvSpPr/>
          <p:nvPr/>
        </p:nvSpPr>
        <p:spPr>
          <a:xfrm>
            <a:off x="1244600" y="2513360"/>
            <a:ext cx="243919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log_finding</a:t>
            </a:r>
            <a:endParaRPr lang="en-US" sz="1200" dirty="0"/>
          </a:p>
        </p:txBody>
      </p:sp>
      <p:sp>
        <p:nvSpPr>
          <p:cNvPr id="13" name="Text 9"/>
          <p:cNvSpPr/>
          <p:nvPr/>
        </p:nvSpPr>
        <p:spPr>
          <a:xfrm>
            <a:off x="1244600" y="2739380"/>
            <a:ext cx="2439198"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record: grade C, primer within 60 days</a:t>
            </a:r>
            <a:endParaRPr lang="en-US" sz="1100" dirty="0"/>
          </a:p>
        </p:txBody>
      </p:sp>
      <p:pic>
        <p:nvPicPr>
          <p:cNvPr id="14" name="Image 2" descr="then">    </p:cNvPr>
          <p:cNvPicPr>
            <a:picLocks noChangeAspect="1"/>
          </p:cNvPicPr>
          <p:nvPr/>
        </p:nvPicPr>
        <p:blipFill>
          <a:blip r:embed="rId3"/>
          <a:srcRect l="0" r="0" t="0" b="0"/>
          <a:stretch/>
        </p:blipFill>
        <p:spPr>
          <a:xfrm>
            <a:off x="0" y="0"/>
            <a:ext cx="12192000" cy="6858000"/>
          </a:xfrm>
          <a:prstGeom prst="rect">
            <a:avLst/>
          </a:prstGeom>
        </p:spPr>
      </p:pic>
      <p:sp>
        <p:nvSpPr>
          <p:cNvPr id="15" name="Shape 10"/>
          <p:cNvSpPr/>
          <p:nvPr/>
        </p:nvSpPr>
        <p:spPr>
          <a:xfrm>
            <a:off x="817563" y="3154363"/>
            <a:ext cx="3165475" cy="536575"/>
          </a:xfrm>
          <a:prstGeom prst="roundRect">
            <a:avLst>
              <a:gd name="adj" fmla="val 18047"/>
            </a:avLst>
          </a:prstGeom>
          <a:solidFill>
            <a:srgbClr val="36677D">
              <a:alpha val="35000"/>
            </a:srgbClr>
          </a:solidFill>
          <a:ln w="9525">
            <a:solidFill>
              <a:srgbClr val="7FC4DC"/>
            </a:solidFill>
            <a:prstDash val="solid"/>
          </a:ln>
        </p:spPr>
      </p:sp>
      <p:pic>
        <p:nvPicPr>
          <p:cNvPr id="16" name="Image 3" descr="Settings">    </p:cNvPr>
          <p:cNvPicPr>
            <a:picLocks noChangeAspect="1"/>
          </p:cNvPicPr>
          <p:nvPr/>
        </p:nvPicPr>
        <p:blipFill>
          <a:blip r:embed="rId4"/>
          <a:srcRect l="0" r="0" t="0" b="0"/>
          <a:stretch/>
        </p:blipFill>
        <p:spPr>
          <a:xfrm>
            <a:off x="901700" y="3295650"/>
            <a:ext cx="254000" cy="254000"/>
          </a:xfrm>
          <a:prstGeom prst="rect">
            <a:avLst/>
          </a:prstGeom>
        </p:spPr>
      </p:pic>
      <p:sp>
        <p:nvSpPr>
          <p:cNvPr id="17" name="Text 11"/>
          <p:cNvSpPr/>
          <p:nvPr/>
        </p:nvSpPr>
        <p:spPr>
          <a:xfrm>
            <a:off x="1244600" y="3211860"/>
            <a:ext cx="211186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call_copilot again</a:t>
            </a:r>
            <a:endParaRPr lang="en-US" sz="1200" dirty="0"/>
          </a:p>
        </p:txBody>
      </p:sp>
      <p:sp>
        <p:nvSpPr>
          <p:cNvPr id="18" name="Text 12"/>
          <p:cNvSpPr/>
          <p:nvPr/>
        </p:nvSpPr>
        <p:spPr>
          <a:xfrm>
            <a:off x="1244600" y="3437880"/>
            <a:ext cx="2111866"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the Q3 note becomes a guideline</a:t>
            </a:r>
            <a:endParaRPr lang="en-US" sz="1100" dirty="0"/>
          </a:p>
        </p:txBody>
      </p:sp>
      <p:pic>
        <p:nvPicPr>
          <p:cNvPr id="19" name="Image 4" descr="then">    </p:cNvPr>
          <p:cNvPicPr>
            <a:picLocks noChangeAspect="1"/>
          </p:cNvPicPr>
          <p:nvPr/>
        </p:nvPicPr>
        <p:blipFill>
          <a:blip r:embed="rId5"/>
          <a:srcRect l="0" r="0" t="0" b="0"/>
          <a:stretch/>
        </p:blipFill>
        <p:spPr>
          <a:xfrm>
            <a:off x="0" y="0"/>
            <a:ext cx="12192000" cy="6858000"/>
          </a:xfrm>
          <a:prstGeom prst="rect">
            <a:avLst/>
          </a:prstGeom>
        </p:spPr>
      </p:pic>
      <p:sp>
        <p:nvSpPr>
          <p:cNvPr id="20" name="Text 13"/>
          <p:cNvSpPr/>
          <p:nvPr/>
        </p:nvSpPr>
        <p:spPr>
          <a:xfrm>
            <a:off x="812800" y="3937000"/>
            <a:ext cx="3270250"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Reasoning first, then the formal record, then a note that only matters next time.</a:t>
            </a:r>
            <a:endParaRPr lang="en-US" sz="1100" dirty="0"/>
          </a:p>
        </p:txBody>
      </p:sp>
      <p:sp>
        <p:nvSpPr>
          <p:cNvPr id="21" name="Text 14"/>
          <p:cNvSpPr/>
          <p:nvPr/>
        </p:nvSpPr>
        <p:spPr>
          <a:xfrm>
            <a:off x="4445000" y="1498600"/>
            <a:ext cx="2616200"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7FC4DC"/>
                </a:solidFill>
                <a:latin typeface="Courier New" pitchFamily="49" charset="0"/>
                <a:ea typeface="Courier New" pitchFamily="49" charset="-122"/>
                <a:cs typeface="Courier New" pitchFamily="49" charset="-120"/>
              </a:rPr>
              <a:t>DAY N · VANCE</a:t>
            </a:r>
            <a:endParaRPr lang="en-US" sz="1100" dirty="0"/>
          </a:p>
        </p:txBody>
      </p:sp>
      <p:sp>
        <p:nvSpPr>
          <p:cNvPr id="22" name="Shape 15"/>
          <p:cNvSpPr/>
          <p:nvPr/>
        </p:nvSpPr>
        <p:spPr>
          <a:xfrm>
            <a:off x="4449763" y="1757363"/>
            <a:ext cx="3165475" cy="536575"/>
          </a:xfrm>
          <a:prstGeom prst="roundRect">
            <a:avLst>
              <a:gd name="adj" fmla="val 18047"/>
            </a:avLst>
          </a:prstGeom>
          <a:solidFill>
            <a:srgbClr val="36677D">
              <a:alpha val="35000"/>
            </a:srgbClr>
          </a:solidFill>
          <a:ln w="9525">
            <a:solidFill>
              <a:srgbClr val="7FC4DC"/>
            </a:solidFill>
            <a:prstDash val="solid"/>
          </a:ln>
        </p:spPr>
      </p:sp>
      <p:pic>
        <p:nvPicPr>
          <p:cNvPr id="23" name="Image 5" descr="Settings">    </p:cNvPr>
          <p:cNvPicPr>
            <a:picLocks noChangeAspect="1"/>
          </p:cNvPicPr>
          <p:nvPr/>
        </p:nvPicPr>
        <p:blipFill>
          <a:blip r:embed="rId6"/>
          <a:srcRect l="0" r="0" t="0" b="0"/>
          <a:stretch/>
        </p:blipFill>
        <p:spPr>
          <a:xfrm>
            <a:off x="4533900" y="1898650"/>
            <a:ext cx="254000" cy="254000"/>
          </a:xfrm>
          <a:prstGeom prst="rect">
            <a:avLst/>
          </a:prstGeom>
        </p:spPr>
      </p:pic>
      <p:sp>
        <p:nvSpPr>
          <p:cNvPr id="24" name="Text 16"/>
          <p:cNvSpPr/>
          <p:nvPr/>
        </p:nvSpPr>
        <p:spPr>
          <a:xfrm>
            <a:off x="4876800" y="1814860"/>
            <a:ext cx="2191783"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call_copilot only</a:t>
            </a:r>
            <a:endParaRPr lang="en-US" sz="1200" dirty="0"/>
          </a:p>
        </p:txBody>
      </p:sp>
      <p:sp>
        <p:nvSpPr>
          <p:cNvPr id="25" name="Text 17"/>
          <p:cNvSpPr/>
          <p:nvPr/>
        </p:nvSpPr>
        <p:spPr>
          <a:xfrm>
            <a:off x="4876800" y="2040880"/>
            <a:ext cx="2191783"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he is diagnosing, not recording yet</a:t>
            </a:r>
            <a:endParaRPr lang="en-US" sz="1100" dirty="0"/>
          </a:p>
        </p:txBody>
      </p:sp>
      <p:sp>
        <p:nvSpPr>
          <p:cNvPr id="26" name="Text 18"/>
          <p:cNvSpPr/>
          <p:nvPr/>
        </p:nvSpPr>
        <p:spPr>
          <a:xfrm>
            <a:off x="4445000" y="2413000"/>
            <a:ext cx="3270250"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Never met Mercer. Types: rust bleed near a pier on the south side, spalling on the pedestal below.</a:t>
            </a:r>
            <a:endParaRPr lang="en-US" sz="1100" dirty="0"/>
          </a:p>
        </p:txBody>
      </p:sp>
      <p:sp>
        <p:nvSpPr>
          <p:cNvPr id="27" name="Shape 19"/>
          <p:cNvSpPr/>
          <p:nvPr/>
        </p:nvSpPr>
        <p:spPr>
          <a:xfrm>
            <a:off x="8132762" y="1503363"/>
            <a:ext cx="3241675" cy="3038475"/>
          </a:xfrm>
          <a:prstGeom prst="roundRect">
            <a:avLst>
              <a:gd name="adj" fmla="val 4441"/>
            </a:avLst>
          </a:prstGeom>
          <a:solidFill>
            <a:srgbClr val="DEB068">
              <a:alpha val="8000"/>
            </a:srgbClr>
          </a:solidFill>
          <a:ln w="9525">
            <a:solidFill>
              <a:srgbClr val="DEB068">
                <a:alpha val="60000"/>
              </a:srgbClr>
            </a:solidFill>
            <a:prstDash val="dash"/>
          </a:ln>
        </p:spPr>
      </p:sp>
      <p:sp>
        <p:nvSpPr>
          <p:cNvPr id="28" name="Text 20"/>
          <p:cNvSpPr/>
          <p:nvPr/>
        </p:nvSpPr>
        <p:spPr>
          <a:xfrm>
            <a:off x="8255000" y="1587500"/>
            <a:ext cx="3087116"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DEB068"/>
                </a:solidFill>
                <a:latin typeface="Courier New" pitchFamily="49" charset="0"/>
                <a:ea typeface="Courier New" pitchFamily="49" charset="-122"/>
                <a:cs typeface="Courier New" pitchFamily="49" charset="-120"/>
              </a:rPr>
              <a:t>user_id=Harbor Bridge · agent_id=CITY</a:t>
            </a:r>
            <a:endParaRPr lang="en-US" sz="1000" dirty="0"/>
          </a:p>
        </p:txBody>
      </p:sp>
      <p:sp>
        <p:nvSpPr>
          <p:cNvPr id="29" name="Shape 21"/>
          <p:cNvSpPr/>
          <p:nvPr/>
        </p:nvSpPr>
        <p:spPr>
          <a:xfrm>
            <a:off x="8285163" y="1884363"/>
            <a:ext cx="2936875" cy="523875"/>
          </a:xfrm>
          <a:prstGeom prst="roundRect">
            <a:avLst>
              <a:gd name="adj" fmla="val 18485"/>
            </a:avLst>
          </a:prstGeom>
          <a:solidFill>
            <a:srgbClr val="FFFFFF">
              <a:alpha val="6000"/>
            </a:srgbClr>
          </a:solidFill>
          <a:ln w="9525">
            <a:solidFill>
              <a:srgbClr val="FFFFFF">
                <a:alpha val="18000"/>
              </a:srgbClr>
            </a:solidFill>
            <a:prstDash val="solid"/>
          </a:ln>
        </p:spPr>
      </p:sp>
      <p:sp>
        <p:nvSpPr>
          <p:cNvPr id="30" name="Text 22"/>
          <p:cNvSpPr/>
          <p:nvPr/>
        </p:nvSpPr>
        <p:spPr>
          <a:xfrm>
            <a:off x="8369300" y="1944390"/>
            <a:ext cx="2263064" cy="220960"/>
          </a:xfrm>
          <a:prstGeom prst="rect">
            <a:avLst/>
          </a:prstGeom>
          <a:noFill/>
          <a:ln/>
        </p:spPr>
        <p:txBody>
          <a:bodyPr wrap="none" lIns="0" tIns="0" rIns="0" bIns="0" rtlCol="0" anchor="t">
            <a:normAutofit/>
          </a:bodyPr>
          <a:lstStyle/>
          <a:p>
            <a:pPr algn="l" indent="0" marL="0">
              <a:lnSpc>
                <a:spcPts val="1540"/>
              </a:lnSpc>
              <a:buNone/>
            </a:pPr>
            <a:r>
              <a:rPr lang="en-US" sz="1100" b="1" dirty="0">
                <a:solidFill>
                  <a:srgbClr val="FFFFFF"/>
                </a:solidFill>
                <a:latin typeface="Arial" pitchFamily="34" charset="0"/>
                <a:ea typeface="Arial" pitchFamily="34" charset="-122"/>
                <a:cs typeface="Arial" pitchFamily="34" charset="-120"/>
              </a:rPr>
              <a:t>Harbor Bridge::Evelyn_H_Mercer</a:t>
            </a:r>
            <a:endParaRPr lang="en-US" sz="1100" dirty="0"/>
          </a:p>
        </p:txBody>
      </p:sp>
      <p:sp>
        <p:nvSpPr>
          <p:cNvPr id="31" name="Text 23"/>
          <p:cNvSpPr/>
          <p:nvPr/>
        </p:nvSpPr>
        <p:spPr>
          <a:xfrm>
            <a:off x="8369300" y="2152650"/>
            <a:ext cx="1145778"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her private thread</a:t>
            </a:r>
            <a:endParaRPr lang="en-US" sz="1100" dirty="0"/>
          </a:p>
        </p:txBody>
      </p:sp>
      <p:sp>
        <p:nvSpPr>
          <p:cNvPr id="32" name="Shape 24"/>
          <p:cNvSpPr/>
          <p:nvPr/>
        </p:nvSpPr>
        <p:spPr>
          <a:xfrm>
            <a:off x="8285163" y="2519363"/>
            <a:ext cx="2936875" cy="523875"/>
          </a:xfrm>
          <a:prstGeom prst="roundRect">
            <a:avLst>
              <a:gd name="adj" fmla="val 18485"/>
            </a:avLst>
          </a:prstGeom>
          <a:solidFill>
            <a:srgbClr val="FFFFFF">
              <a:alpha val="6000"/>
            </a:srgbClr>
          </a:solidFill>
          <a:ln w="9525">
            <a:solidFill>
              <a:srgbClr val="FFFFFF">
                <a:alpha val="18000"/>
              </a:srgbClr>
            </a:solidFill>
            <a:prstDash val="solid"/>
          </a:ln>
        </p:spPr>
      </p:sp>
      <p:sp>
        <p:nvSpPr>
          <p:cNvPr id="33" name="Text 25"/>
          <p:cNvSpPr/>
          <p:nvPr/>
        </p:nvSpPr>
        <p:spPr>
          <a:xfrm>
            <a:off x="8369300" y="2579390"/>
            <a:ext cx="2039001" cy="220960"/>
          </a:xfrm>
          <a:prstGeom prst="rect">
            <a:avLst/>
          </a:prstGeom>
          <a:noFill/>
          <a:ln/>
        </p:spPr>
        <p:txBody>
          <a:bodyPr wrap="none" lIns="0" tIns="0" rIns="0" bIns="0" rtlCol="0" anchor="t">
            <a:normAutofit/>
          </a:bodyPr>
          <a:lstStyle/>
          <a:p>
            <a:pPr algn="l" indent="0" marL="0">
              <a:lnSpc>
                <a:spcPts val="1540"/>
              </a:lnSpc>
              <a:buNone/>
            </a:pPr>
            <a:r>
              <a:rPr lang="en-US" sz="1100" b="1" dirty="0">
                <a:solidFill>
                  <a:srgbClr val="FFFFFF"/>
                </a:solidFill>
                <a:latin typeface="Arial" pitchFamily="34" charset="0"/>
                <a:ea typeface="Arial" pitchFamily="34" charset="-122"/>
                <a:cs typeface="Arial" pitchFamily="34" charset="-120"/>
              </a:rPr>
              <a:t>Harbor Bridge::Jordan_Vance</a:t>
            </a:r>
            <a:endParaRPr lang="en-US" sz="1100" dirty="0"/>
          </a:p>
        </p:txBody>
      </p:sp>
      <p:sp>
        <p:nvSpPr>
          <p:cNvPr id="34" name="Text 26"/>
          <p:cNvSpPr/>
          <p:nvPr/>
        </p:nvSpPr>
        <p:spPr>
          <a:xfrm>
            <a:off x="8369300" y="2787650"/>
            <a:ext cx="1122462"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his private thread</a:t>
            </a:r>
            <a:endParaRPr lang="en-US" sz="1100" dirty="0"/>
          </a:p>
        </p:txBody>
      </p:sp>
      <p:sp>
        <p:nvSpPr>
          <p:cNvPr id="35" name="Shape 27"/>
          <p:cNvSpPr/>
          <p:nvPr/>
        </p:nvSpPr>
        <p:spPr>
          <a:xfrm>
            <a:off x="8285163" y="3255963"/>
            <a:ext cx="2936875" cy="523875"/>
          </a:xfrm>
          <a:prstGeom prst="roundRect">
            <a:avLst>
              <a:gd name="adj" fmla="val 18485"/>
            </a:avLst>
          </a:prstGeom>
          <a:solidFill>
            <a:srgbClr val="C74634">
              <a:alpha val="18000"/>
            </a:srgbClr>
          </a:solidFill>
          <a:ln w="9525">
            <a:solidFill>
              <a:srgbClr val="E8836F">
                <a:alpha val="80000"/>
              </a:srgbClr>
            </a:solidFill>
            <a:prstDash val="solid"/>
          </a:ln>
        </p:spPr>
      </p:sp>
      <p:sp>
        <p:nvSpPr>
          <p:cNvPr id="36" name="Text 28"/>
          <p:cNvSpPr/>
          <p:nvPr/>
        </p:nvSpPr>
        <p:spPr>
          <a:xfrm>
            <a:off x="8369300" y="3307110"/>
            <a:ext cx="171321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Pooled CITY_MEMORY</a:t>
            </a:r>
            <a:endParaRPr lang="en-US" sz="1200" dirty="0"/>
          </a:p>
        </p:txBody>
      </p:sp>
      <p:sp>
        <p:nvSpPr>
          <p:cNvPr id="37" name="Text 29"/>
          <p:cNvSpPr/>
          <p:nvPr/>
        </p:nvSpPr>
        <p:spPr>
          <a:xfrm>
            <a:off x="8369300" y="3533130"/>
            <a:ext cx="1887752"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facts and guidelines, by asset</a:t>
            </a:r>
            <a:endParaRPr lang="en-US" sz="1100" dirty="0"/>
          </a:p>
        </p:txBody>
      </p:sp>
      <p:pic>
        <p:nvPicPr>
          <p:cNvPr id="38" name="Image 6" descr="both threads pool into the asset's memory">    </p:cNvPr>
          <p:cNvPicPr>
            <a:picLocks noChangeAspect="1"/>
          </p:cNvPicPr>
          <p:nvPr/>
        </p:nvPicPr>
        <p:blipFill>
          <a:blip r:embed="rId7"/>
          <a:srcRect l="0" r="0" t="0" b="0"/>
          <a:stretch/>
        </p:blipFill>
        <p:spPr>
          <a:xfrm>
            <a:off x="0" y="0"/>
            <a:ext cx="12192000" cy="6858000"/>
          </a:xfrm>
          <a:prstGeom prst="rect">
            <a:avLst/>
          </a:prstGeom>
        </p:spPr>
      </p:pic>
      <p:sp>
        <p:nvSpPr>
          <p:cNvPr id="39" name="Text 30"/>
          <p:cNvSpPr/>
          <p:nvPr/>
        </p:nvSpPr>
        <p:spPr>
          <a:xfrm>
            <a:off x="8280400" y="3886200"/>
            <a:ext cx="3034792" cy="488255"/>
          </a:xfrm>
          <a:prstGeom prst="rect">
            <a:avLst/>
          </a:prstGeom>
          <a:noFill/>
          <a:ln/>
        </p:spPr>
        <p:txBody>
          <a:bodyPr wrap="square" lIns="0" tIns="0" rIns="0" bIns="0" rtlCol="0" anchor="t">
            <a:normAutofit/>
          </a:bodyPr>
          <a:lstStyle/>
          <a:p>
            <a:pPr algn="l" indent="0" marL="0">
              <a:lnSpc>
                <a:spcPts val="1215"/>
              </a:lnSpc>
              <a:buNone/>
            </a:pPr>
            <a:r>
              <a:rPr lang="en-US" sz="900" dirty="0">
                <a:solidFill>
                  <a:srgbClr val="AEB9B7"/>
                </a:solidFill>
                <a:latin typeface="Courier New" pitchFamily="49" charset="0"/>
                <a:ea typeface="Courier New" pitchFamily="49" charset="-122"/>
                <a:cs typeface="Courier New" pitchFamily="49" charset="-120"/>
              </a:rPr>
              <a:t>search_async(user_id=asset, exact_thread_match=False, record_types=[fact, guideline, memory])</a:t>
            </a:r>
            <a:endParaRPr lang="en-US" sz="900" dirty="0"/>
          </a:p>
        </p:txBody>
      </p:sp>
      <p:sp>
        <p:nvSpPr>
          <p:cNvPr id="40" name="Text 31"/>
          <p:cNvSpPr/>
          <p:nvPr/>
        </p:nvSpPr>
        <p:spPr>
          <a:xfrm>
            <a:off x="4445000" y="3048000"/>
            <a:ext cx="3270250" cy="779661"/>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F2EFEA"/>
                </a:solidFill>
                <a:latin typeface="Arial" pitchFamily="34" charset="0"/>
                <a:ea typeface="Arial" pitchFamily="34" charset="-122"/>
                <a:cs typeface="Arial" pitchFamily="34" charset="-120"/>
              </a:rPr>
              <a:t>What crosses: her distilled facts and guidelines, and her logged finding. What does not: her raw messages; his context card carries only his own thread.</a:t>
            </a:r>
            <a:endParaRPr lang="en-US" sz="1100" dirty="0"/>
          </a:p>
        </p:txBody>
      </p:sp>
      <p:sp>
        <p:nvSpPr>
          <p:cNvPr id="41" name="Text 32"/>
          <p:cNvSpPr/>
          <p:nvPr/>
        </p:nvSpPr>
        <p:spPr>
          <a:xfrm>
            <a:off x="812800" y="4826000"/>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Vance’s diagnosis is shaped by Mercer’s work with no human handoff: the finding through find_similar_findings, the rules through the asset-pooled search.</a:t>
            </a:r>
            <a:endParaRPr lang="en-US" sz="1300" dirty="0"/>
          </a:p>
        </p:txBody>
      </p:sp>
      <p:sp>
        <p:nvSpPr>
          <p:cNvPr id="42" name="Text 33"/>
          <p:cNvSpPr/>
          <p:nvPr/>
        </p:nvSpPr>
        <p:spPr>
          <a:xfrm>
            <a:off x="812800" y="5372100"/>
            <a:ext cx="10883392"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AEB9B7"/>
                </a:solidFill>
                <a:latin typeface="Arial" pitchFamily="34" charset="0"/>
                <a:ea typeface="Arial" pitchFamily="34" charset="-122"/>
                <a:cs typeface="Arial" pitchFamily="34" charset="-120"/>
              </a:rPr>
              <a:t>Extraction is probabilistic: if her standing guidance lands as a fact instead of a guideline, re-run her cell.</a:t>
            </a:r>
            <a:endParaRPr lang="en-US" sz="1100" dirty="0"/>
          </a:p>
        </p:txBody>
      </p:sp>
      <p:sp>
        <p:nvSpPr>
          <p:cNvPr id="43" name="Text 3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690563" y="1274763"/>
            <a:ext cx="5324475" cy="4435475"/>
          </a:xfrm>
          <a:prstGeom prst="roundRect">
            <a:avLst>
              <a:gd name="adj" fmla="val 3615"/>
            </a:avLst>
          </a:prstGeom>
          <a:solidFill>
            <a:srgbClr val="C74634">
              <a:alpha val="9000"/>
            </a:srgbClr>
          </a:solidFill>
          <a:ln w="9525">
            <a:solidFill>
              <a:srgbClr val="C74634">
                <a:alpha val="40000"/>
              </a:srgbClr>
            </a:solidFill>
            <a:prstDash val="solid"/>
          </a:ln>
        </p:spPr>
      </p:sp>
      <p:sp>
        <p:nvSpPr>
          <p:cNvPr id="3" name="Shape 1"/>
          <p:cNvSpPr/>
          <p:nvPr/>
        </p:nvSpPr>
        <p:spPr>
          <a:xfrm>
            <a:off x="6176963" y="1274763"/>
            <a:ext cx="5324475" cy="4435475"/>
          </a:xfrm>
          <a:prstGeom prst="roundRect">
            <a:avLst>
              <a:gd name="adj" fmla="val 3615"/>
            </a:avLst>
          </a:prstGeom>
          <a:solidFill>
            <a:srgbClr val="36677D">
              <a:alpha val="22000"/>
            </a:srgbClr>
          </a:solidFill>
          <a:ln w="9525">
            <a:solidFill>
              <a:srgbClr val="7FC4DC">
                <a:alpha val="40000"/>
              </a:srgbClr>
            </a:solidFill>
            <a:prstDash val="solid"/>
          </a:ln>
        </p:spPr>
      </p:sp>
      <p:sp>
        <p:nvSpPr>
          <p:cNvPr id="4" name="Shape 2"/>
          <p:cNvSpPr/>
          <p:nvPr/>
        </p:nvSpPr>
        <p:spPr>
          <a:xfrm>
            <a:off x="812800" y="457200"/>
            <a:ext cx="355600" cy="38100"/>
          </a:xfrm>
          <a:prstGeom prst="roundRect">
            <a:avLst>
              <a:gd name="adj" fmla="val 50000"/>
            </a:avLst>
          </a:prstGeom>
          <a:solidFill>
            <a:srgbClr val="C74634"/>
          </a:solidFill>
          <a:ln/>
        </p:spPr>
      </p:sp>
      <p:sp>
        <p:nvSpPr>
          <p:cNvPr id="5" name="Text 3"/>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Vance, without and with memory</a:t>
            </a:r>
            <a:endParaRPr lang="en-US" sz="2800" dirty="0"/>
          </a:p>
        </p:txBody>
      </p:sp>
      <p:sp>
        <p:nvSpPr>
          <p:cNvPr id="6" name="Text 4"/>
          <p:cNvSpPr/>
          <p:nvPr/>
        </p:nvSpPr>
        <p:spPr>
          <a:xfrm>
            <a:off x="838200" y="1371600"/>
            <a:ext cx="5172075"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E8836F"/>
                </a:solidFill>
                <a:latin typeface="Courier New" pitchFamily="49" charset="0"/>
                <a:ea typeface="Courier New" pitchFamily="49" charset="-122"/>
                <a:cs typeface="Courier New" pitchFamily="49" charset="-120"/>
              </a:rPr>
              <a:t>WITHOUT MEMORY · the same model, the narrative only</a:t>
            </a:r>
            <a:endParaRPr lang="en-US" sz="1100" dirty="0"/>
          </a:p>
        </p:txBody>
      </p:sp>
      <p:sp>
        <p:nvSpPr>
          <p:cNvPr id="7" name="Text 5"/>
          <p:cNvSpPr/>
          <p:nvPr/>
        </p:nvSpPr>
        <p:spPr>
          <a:xfrm>
            <a:off x="6324600" y="1371600"/>
            <a:ext cx="5166995" cy="22096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7FC4DC"/>
                </a:solidFill>
                <a:latin typeface="Courier New" pitchFamily="49" charset="0"/>
                <a:ea typeface="Courier New" pitchFamily="49" charset="-122"/>
                <a:cs typeface="Courier New" pitchFamily="49" charset="-120"/>
              </a:rPr>
              <a:t>WITH MEMORY · the copilot you built</a:t>
            </a:r>
            <a:endParaRPr lang="en-US" sz="1100" dirty="0"/>
          </a:p>
        </p:txBody>
      </p:sp>
      <p:sp>
        <p:nvSpPr>
          <p:cNvPr id="8" name="Shape 6"/>
          <p:cNvSpPr/>
          <p:nvPr/>
        </p:nvSpPr>
        <p:spPr>
          <a:xfrm>
            <a:off x="841375" y="1666875"/>
            <a:ext cx="5022850" cy="819150"/>
          </a:xfrm>
          <a:prstGeom prst="roundRect">
            <a:avLst>
              <a:gd name="adj" fmla="val 12016"/>
            </a:avLst>
          </a:prstGeom>
          <a:solidFill>
            <a:srgbClr val="1E2A2A">
              <a:alpha val="50000"/>
            </a:srgbClr>
          </a:solidFill>
          <a:ln w="6350">
            <a:solidFill>
              <a:srgbClr val="E8836F">
                <a:alpha val="30000"/>
              </a:srgbClr>
            </a:solidFill>
            <a:prstDash val="solid"/>
          </a:ln>
        </p:spPr>
      </p:sp>
      <p:sp>
        <p:nvSpPr>
          <p:cNvPr id="9" name="Shape 7"/>
          <p:cNvSpPr/>
          <p:nvPr/>
        </p:nvSpPr>
        <p:spPr>
          <a:xfrm>
            <a:off x="962025" y="1784350"/>
            <a:ext cx="0" cy="408880"/>
          </a:xfrm>
          <a:prstGeom prst="line">
            <a:avLst/>
          </a:prstGeom>
          <a:noFill/>
          <a:ln w="19050">
            <a:solidFill>
              <a:srgbClr val="E8836F"/>
            </a:solidFill>
            <a:prstDash val="solid"/>
          </a:ln>
        </p:spPr>
      </p:sp>
      <p:sp>
        <p:nvSpPr>
          <p:cNvPr id="10" name="Text 8"/>
          <p:cNvSpPr/>
          <p:nvPr/>
        </p:nvSpPr>
        <p:spPr>
          <a:xfrm>
            <a:off x="1073150" y="1784350"/>
            <a:ext cx="4820349"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F2EFEA"/>
                </a:solidFill>
                <a:latin typeface="Arial" pitchFamily="34" charset="0"/>
                <a:ea typeface="Arial" pitchFamily="34" charset="-122"/>
                <a:cs typeface="Arial" pitchFamily="34" charset="-120"/>
              </a:rPr>
              <a:t>“In 2018, Inspector Smith reported similar rust bleed on the north side of the bridge, with a grade of 2 (moderate)...”</a:t>
            </a:r>
            <a:endParaRPr lang="en-US" sz="1150" dirty="0"/>
          </a:p>
        </p:txBody>
      </p:sp>
      <p:sp>
        <p:nvSpPr>
          <p:cNvPr id="11" name="Shape 9"/>
          <p:cNvSpPr/>
          <p:nvPr/>
        </p:nvSpPr>
        <p:spPr>
          <a:xfrm>
            <a:off x="841375" y="2593975"/>
            <a:ext cx="5022850" cy="819150"/>
          </a:xfrm>
          <a:prstGeom prst="roundRect">
            <a:avLst>
              <a:gd name="adj" fmla="val 12016"/>
            </a:avLst>
          </a:prstGeom>
          <a:solidFill>
            <a:srgbClr val="1E2A2A">
              <a:alpha val="50000"/>
            </a:srgbClr>
          </a:solidFill>
          <a:ln w="6350">
            <a:solidFill>
              <a:srgbClr val="E8836F">
                <a:alpha val="30000"/>
              </a:srgbClr>
            </a:solidFill>
            <a:prstDash val="solid"/>
          </a:ln>
        </p:spPr>
      </p:sp>
      <p:sp>
        <p:nvSpPr>
          <p:cNvPr id="12" name="Shape 10"/>
          <p:cNvSpPr/>
          <p:nvPr/>
        </p:nvSpPr>
        <p:spPr>
          <a:xfrm>
            <a:off x="962025" y="2711450"/>
            <a:ext cx="0" cy="408880"/>
          </a:xfrm>
          <a:prstGeom prst="line">
            <a:avLst/>
          </a:prstGeom>
          <a:noFill/>
          <a:ln w="19050">
            <a:solidFill>
              <a:srgbClr val="E8836F"/>
            </a:solidFill>
            <a:prstDash val="solid"/>
          </a:ln>
        </p:spPr>
      </p:sp>
      <p:sp>
        <p:nvSpPr>
          <p:cNvPr id="13" name="Text 11"/>
          <p:cNvSpPr/>
          <p:nvPr/>
        </p:nvSpPr>
        <p:spPr>
          <a:xfrm>
            <a:off x="1073150" y="2711450"/>
            <a:ext cx="4820349"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F2EFEA"/>
                </a:solidFill>
                <a:latin typeface="Arial" pitchFamily="34" charset="0"/>
                <a:ea typeface="Arial" pitchFamily="34" charset="-122"/>
                <a:cs typeface="Arial" pitchFamily="34" charset="-120"/>
              </a:rPr>
              <a:t>“In 2015, Inspector Johnson noted spalling on the concrete pedestal, with a grade of 1 (minor)”</a:t>
            </a:r>
            <a:endParaRPr lang="en-US" sz="1150" dirty="0"/>
          </a:p>
        </p:txBody>
      </p:sp>
      <p:sp>
        <p:nvSpPr>
          <p:cNvPr id="14" name="Shape 12"/>
          <p:cNvSpPr/>
          <p:nvPr/>
        </p:nvSpPr>
        <p:spPr>
          <a:xfrm>
            <a:off x="841375" y="3521075"/>
            <a:ext cx="5022850" cy="819150"/>
          </a:xfrm>
          <a:prstGeom prst="roundRect">
            <a:avLst>
              <a:gd name="adj" fmla="val 12016"/>
            </a:avLst>
          </a:prstGeom>
          <a:solidFill>
            <a:srgbClr val="1E2A2A">
              <a:alpha val="50000"/>
            </a:srgbClr>
          </a:solidFill>
          <a:ln w="6350">
            <a:solidFill>
              <a:srgbClr val="E8836F">
                <a:alpha val="30000"/>
              </a:srgbClr>
            </a:solidFill>
            <a:prstDash val="solid"/>
          </a:ln>
        </p:spPr>
      </p:sp>
      <p:sp>
        <p:nvSpPr>
          <p:cNvPr id="15" name="Shape 13"/>
          <p:cNvSpPr/>
          <p:nvPr/>
        </p:nvSpPr>
        <p:spPr>
          <a:xfrm>
            <a:off x="962025" y="3638550"/>
            <a:ext cx="0" cy="408880"/>
          </a:xfrm>
          <a:prstGeom prst="line">
            <a:avLst/>
          </a:prstGeom>
          <a:noFill/>
          <a:ln w="19050">
            <a:solidFill>
              <a:srgbClr val="E8836F"/>
            </a:solidFill>
            <a:prstDash val="solid"/>
          </a:ln>
        </p:spPr>
      </p:sp>
      <p:sp>
        <p:nvSpPr>
          <p:cNvPr id="16" name="Text 14"/>
          <p:cNvSpPr/>
          <p:nvPr/>
        </p:nvSpPr>
        <p:spPr>
          <a:xfrm>
            <a:off x="1073150" y="3638550"/>
            <a:ext cx="4820349"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F2EFEA"/>
                </a:solidFill>
                <a:latin typeface="Arial" pitchFamily="34" charset="0"/>
                <a:ea typeface="Arial" pitchFamily="34" charset="-122"/>
                <a:cs typeface="Arial" pitchFamily="34" charset="-120"/>
              </a:rPr>
              <a:t>“Guideline 3.2.1: Corrosion of steel reinforcement” and “Guideline 2.1.3: Concrete pedestal maintenance” (Thread Context)</a:t>
            </a:r>
            <a:endParaRPr lang="en-US" sz="1150" dirty="0"/>
          </a:p>
        </p:txBody>
      </p:sp>
      <p:sp>
        <p:nvSpPr>
          <p:cNvPr id="17" name="Text 15"/>
          <p:cNvSpPr/>
          <p:nvPr/>
        </p:nvSpPr>
        <p:spPr>
          <a:xfrm>
            <a:off x="838200" y="4483100"/>
            <a:ext cx="51669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836F"/>
                </a:solidFill>
                <a:latin typeface="Arial" pitchFamily="34" charset="0"/>
                <a:ea typeface="Arial" pitchFamily="34" charset="-122"/>
                <a:cs typeface="Arial" pitchFamily="34" charset="-120"/>
              </a:rPr>
              <a:t>There is no Inspector Smith, no Inspector Johnson and no guideline 3.2.1. Asked to cite history it was never given, the model wrote one.</a:t>
            </a:r>
            <a:endParaRPr lang="en-US" sz="1200" dirty="0"/>
          </a:p>
        </p:txBody>
      </p:sp>
      <p:sp>
        <p:nvSpPr>
          <p:cNvPr id="18" name="Text 16"/>
          <p:cNvSpPr/>
          <p:nvPr/>
        </p:nvSpPr>
        <p:spPr>
          <a:xfrm>
            <a:off x="838200" y="5156200"/>
            <a:ext cx="2072977" cy="297160"/>
          </a:xfrm>
          <a:prstGeom prst="roundRect">
            <a:avLst>
              <a:gd name="adj" fmla="val 50000"/>
            </a:avLst>
          </a:prstGeom>
          <a:solidFill>
            <a:srgbClr val="C74634">
              <a:alpha val="50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Courier New" pitchFamily="49" charset="0"/>
                <a:ea typeface="Courier New" pitchFamily="49" charset="-122"/>
                <a:cs typeface="Courier New" pitchFamily="49" charset="-120"/>
              </a:rPr>
              <a:t>hallucinated citations</a:t>
            </a:r>
            <a:endParaRPr lang="en-US" sz="1100" dirty="0"/>
          </a:p>
        </p:txBody>
      </p:sp>
      <p:sp>
        <p:nvSpPr>
          <p:cNvPr id="19" name="Shape 17"/>
          <p:cNvSpPr/>
          <p:nvPr/>
        </p:nvSpPr>
        <p:spPr>
          <a:xfrm>
            <a:off x="6327775" y="1666875"/>
            <a:ext cx="5022850" cy="819150"/>
          </a:xfrm>
          <a:prstGeom prst="roundRect">
            <a:avLst>
              <a:gd name="adj" fmla="val 12016"/>
            </a:avLst>
          </a:prstGeom>
          <a:solidFill>
            <a:srgbClr val="1E2A2A">
              <a:alpha val="50000"/>
            </a:srgbClr>
          </a:solidFill>
          <a:ln w="6350">
            <a:solidFill>
              <a:srgbClr val="7FC4DC">
                <a:alpha val="30000"/>
              </a:srgbClr>
            </a:solidFill>
            <a:prstDash val="solid"/>
          </a:ln>
        </p:spPr>
      </p:sp>
      <p:sp>
        <p:nvSpPr>
          <p:cNvPr id="20" name="Shape 18"/>
          <p:cNvSpPr/>
          <p:nvPr/>
        </p:nvSpPr>
        <p:spPr>
          <a:xfrm>
            <a:off x="6448425" y="1784350"/>
            <a:ext cx="0" cy="408880"/>
          </a:xfrm>
          <a:prstGeom prst="line">
            <a:avLst/>
          </a:prstGeom>
          <a:noFill/>
          <a:ln w="19050">
            <a:solidFill>
              <a:srgbClr val="7FC4DC"/>
            </a:solidFill>
            <a:prstDash val="solid"/>
          </a:ln>
        </p:spPr>
      </p:sp>
      <p:sp>
        <p:nvSpPr>
          <p:cNvPr id="21" name="Text 19"/>
          <p:cNvSpPr/>
          <p:nvPr/>
        </p:nvSpPr>
        <p:spPr>
          <a:xfrm>
            <a:off x="6559550" y="1784350"/>
            <a:ext cx="4820349"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F2EFEA"/>
                </a:solidFill>
                <a:latin typeface="Arial" pitchFamily="34" charset="0"/>
                <a:ea typeface="Arial" pitchFamily="34" charset="-122"/>
                <a:cs typeface="Arial" pitchFamily="34" charset="-120"/>
              </a:rPr>
              <a:t>“consistent with prior findings from Evelyn H. Mercer (grade C, 0 days ago) and (grade B, 47 days ago)... section loss up to 25%”</a:t>
            </a:r>
            <a:endParaRPr lang="en-US" sz="1150" dirty="0"/>
          </a:p>
        </p:txBody>
      </p:sp>
      <p:sp>
        <p:nvSpPr>
          <p:cNvPr id="22" name="Shape 20"/>
          <p:cNvSpPr/>
          <p:nvPr/>
        </p:nvSpPr>
        <p:spPr>
          <a:xfrm>
            <a:off x="6327775" y="2593975"/>
            <a:ext cx="5022850" cy="819150"/>
          </a:xfrm>
          <a:prstGeom prst="roundRect">
            <a:avLst>
              <a:gd name="adj" fmla="val 12016"/>
            </a:avLst>
          </a:prstGeom>
          <a:solidFill>
            <a:srgbClr val="1E2A2A">
              <a:alpha val="50000"/>
            </a:srgbClr>
          </a:solidFill>
          <a:ln w="6350">
            <a:solidFill>
              <a:srgbClr val="7FC4DC">
                <a:alpha val="30000"/>
              </a:srgbClr>
            </a:solidFill>
            <a:prstDash val="solid"/>
          </a:ln>
        </p:spPr>
      </p:sp>
      <p:sp>
        <p:nvSpPr>
          <p:cNvPr id="23" name="Shape 21"/>
          <p:cNvSpPr/>
          <p:nvPr/>
        </p:nvSpPr>
        <p:spPr>
          <a:xfrm>
            <a:off x="6448425" y="2711450"/>
            <a:ext cx="0" cy="408880"/>
          </a:xfrm>
          <a:prstGeom prst="line">
            <a:avLst/>
          </a:prstGeom>
          <a:noFill/>
          <a:ln w="19050">
            <a:solidFill>
              <a:srgbClr val="7FC4DC"/>
            </a:solidFill>
            <a:prstDash val="solid"/>
          </a:ln>
        </p:spPr>
      </p:sp>
      <p:sp>
        <p:nvSpPr>
          <p:cNvPr id="24" name="Text 22"/>
          <p:cNvSpPr/>
          <p:nvPr/>
        </p:nvSpPr>
        <p:spPr>
          <a:xfrm>
            <a:off x="6559550" y="2711450"/>
            <a:ext cx="4820349"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F2EFEA"/>
                </a:solidFill>
                <a:latin typeface="Arial" pitchFamily="34" charset="0"/>
                <a:ea typeface="Arial" pitchFamily="34" charset="-122"/>
                <a:cs typeface="Arial" pitchFamily="34" charset="-120"/>
              </a:rPr>
              <a:t>“remove loose corrosion products, apply a corrosion-inhibiting primer and finish coat to the affected bearing assemblies within 60 days”</a:t>
            </a:r>
            <a:endParaRPr lang="en-US" sz="1150" dirty="0"/>
          </a:p>
        </p:txBody>
      </p:sp>
      <p:sp>
        <p:nvSpPr>
          <p:cNvPr id="25" name="Shape 23"/>
          <p:cNvSpPr/>
          <p:nvPr/>
        </p:nvSpPr>
        <p:spPr>
          <a:xfrm>
            <a:off x="6327775" y="3521075"/>
            <a:ext cx="5022850" cy="819150"/>
          </a:xfrm>
          <a:prstGeom prst="roundRect">
            <a:avLst>
              <a:gd name="adj" fmla="val 12016"/>
            </a:avLst>
          </a:prstGeom>
          <a:solidFill>
            <a:srgbClr val="1E2A2A">
              <a:alpha val="50000"/>
            </a:srgbClr>
          </a:solidFill>
          <a:ln w="6350">
            <a:solidFill>
              <a:srgbClr val="7FC4DC">
                <a:alpha val="30000"/>
              </a:srgbClr>
            </a:solidFill>
            <a:prstDash val="solid"/>
          </a:ln>
        </p:spPr>
      </p:sp>
      <p:sp>
        <p:nvSpPr>
          <p:cNvPr id="26" name="Shape 24"/>
          <p:cNvSpPr/>
          <p:nvPr/>
        </p:nvSpPr>
        <p:spPr>
          <a:xfrm>
            <a:off x="6448425" y="3638550"/>
            <a:ext cx="0" cy="408880"/>
          </a:xfrm>
          <a:prstGeom prst="line">
            <a:avLst/>
          </a:prstGeom>
          <a:noFill/>
          <a:ln w="19050">
            <a:solidFill>
              <a:srgbClr val="7FC4DC"/>
            </a:solidFill>
            <a:prstDash val="solid"/>
          </a:ln>
        </p:spPr>
      </p:sp>
      <p:sp>
        <p:nvSpPr>
          <p:cNvPr id="27" name="Text 25"/>
          <p:cNvSpPr/>
          <p:nvPr/>
        </p:nvSpPr>
        <p:spPr>
          <a:xfrm>
            <a:off x="6559550" y="3638550"/>
            <a:ext cx="4820349"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F2EFEA"/>
                </a:solidFill>
                <a:latin typeface="Arial" pitchFamily="34" charset="0"/>
                <a:ea typeface="Arial" pitchFamily="34" charset="-122"/>
                <a:cs typeface="Arial" pitchFamily="34" charset="-120"/>
              </a:rPr>
              <a:t>“re-inspect annually with caliper section-loss measurements” and the standing rule: surface corrosion is a common issue here</a:t>
            </a:r>
            <a:endParaRPr lang="en-US" sz="1150" dirty="0"/>
          </a:p>
        </p:txBody>
      </p:sp>
      <p:sp>
        <p:nvSpPr>
          <p:cNvPr id="28" name="Text 26"/>
          <p:cNvSpPr/>
          <p:nvPr/>
        </p:nvSpPr>
        <p:spPr>
          <a:xfrm>
            <a:off x="6324600" y="4483100"/>
            <a:ext cx="51669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C4DC"/>
                </a:solidFill>
                <a:latin typeface="Arial" pitchFamily="34" charset="0"/>
                <a:ea typeface="Arial" pitchFamily="34" charset="-122"/>
                <a:cs typeface="Arial" pitchFamily="34" charset="-120"/>
              </a:rPr>
              <a:t>Every citation resolves to a row: Mercer’s logged finding, her extracted guidelines, the asset’s pooled memory. Same model, same narrative.</a:t>
            </a:r>
            <a:endParaRPr lang="en-US" sz="1200" dirty="0"/>
          </a:p>
        </p:txBody>
      </p:sp>
      <p:sp>
        <p:nvSpPr>
          <p:cNvPr id="29" name="Text 27"/>
          <p:cNvSpPr/>
          <p:nvPr/>
        </p:nvSpPr>
        <p:spPr>
          <a:xfrm>
            <a:off x="6324600" y="5156200"/>
            <a:ext cx="1989138" cy="297160"/>
          </a:xfrm>
          <a:prstGeom prst="roundRect">
            <a:avLst>
              <a:gd name="adj" fmla="val 50000"/>
            </a:avLst>
          </a:prstGeom>
          <a:solidFill>
            <a:srgbClr val="36677D">
              <a:alpha val="70000"/>
            </a:srgbClr>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Courier New" pitchFamily="49" charset="0"/>
                <a:ea typeface="Courier New" pitchFamily="49" charset="-122"/>
                <a:cs typeface="Courier New" pitchFamily="49" charset="-120"/>
              </a:rPr>
              <a:t>every claim traceable</a:t>
            </a:r>
            <a:endParaRPr lang="en-US" sz="1100" dirty="0"/>
          </a:p>
        </p:txBody>
      </p:sp>
      <p:sp>
        <p:nvSpPr>
          <p:cNvPr id="30" name="Text 28"/>
          <p:cNvSpPr/>
          <p:nvPr/>
        </p:nvSpPr>
        <p:spPr>
          <a:xfrm>
            <a:off x="812800" y="59055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B7"/>
                </a:solidFill>
                <a:latin typeface="Arial" pitchFamily="34" charset="0"/>
                <a:ea typeface="Arial" pitchFamily="34" charset="-122"/>
                <a:cs typeface="Arial" pitchFamily="34" charset="-120"/>
              </a:rPr>
              <a:t>Without memory the model invents a history. With memory it reads one. Outputs from the completed notebook, llama3.2 at temperature 0.</a:t>
            </a:r>
            <a:endParaRPr lang="en-US" sz="1200" dirty="0"/>
          </a:p>
        </p:txBody>
      </p:sp>
      <p:sp>
        <p:nvSpPr>
          <p:cNvPr id="31" name="Text 2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What you built, mapped to the taxonomy</a:t>
            </a:r>
            <a:endParaRPr lang="en-US" sz="2800" dirty="0"/>
          </a:p>
        </p:txBody>
      </p:sp>
      <p:sp>
        <p:nvSpPr>
          <p:cNvPr id="4" name="Shape 2"/>
          <p:cNvSpPr/>
          <p:nvPr/>
        </p:nvSpPr>
        <p:spPr>
          <a:xfrm>
            <a:off x="815975" y="1501775"/>
            <a:ext cx="5022850" cy="3041650"/>
          </a:xfrm>
          <a:prstGeom prst="roundRect">
            <a:avLst>
              <a:gd name="adj" fmla="val 4489"/>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5" name="Text 3"/>
          <p:cNvSpPr/>
          <p:nvPr/>
        </p:nvSpPr>
        <p:spPr>
          <a:xfrm>
            <a:off x="990600" y="1682750"/>
            <a:ext cx="2289533" cy="203200"/>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C74634"/>
                </a:solidFill>
                <a:latin typeface="Courier New" pitchFamily="49" charset="0"/>
                <a:ea typeface="Courier New" pitchFamily="49" charset="-122"/>
                <a:cs typeface="Courier New" pitchFamily="49" charset="-120"/>
              </a:rPr>
              <a:t>THE FOUR SDK RECORD TYPES</a:t>
            </a:r>
            <a:endParaRPr lang="en-US" sz="1000" dirty="0"/>
          </a:p>
        </p:txBody>
      </p:sp>
      <p:sp>
        <p:nvSpPr>
          <p:cNvPr id="6" name="Text 4"/>
          <p:cNvSpPr/>
          <p:nvPr/>
        </p:nvSpPr>
        <p:spPr>
          <a:xfrm>
            <a:off x="990600" y="1949450"/>
            <a:ext cx="1447800" cy="190500"/>
          </a:xfrm>
          <a:prstGeom prst="rect">
            <a:avLst/>
          </a:prstGeom>
          <a:noFill/>
          <a:ln/>
        </p:spPr>
        <p:txBody>
          <a:bodyPr wrap="square" lIns="0" tIns="0" rIns="0" bIns="0" rtlCol="0" anchor="t">
            <a:normAutofit/>
          </a:bodyPr>
          <a:lstStyle/>
          <a:p>
            <a:pPr algn="l" indent="0" marL="0">
              <a:lnSpc>
                <a:spcPts val="1300"/>
              </a:lnSpc>
              <a:buNone/>
            </a:pPr>
            <a:r>
              <a:rPr lang="en-US" sz="1000" dirty="0">
                <a:solidFill>
                  <a:srgbClr val="36677D"/>
                </a:solidFill>
                <a:latin typeface="Courier New" pitchFamily="49" charset="0"/>
                <a:ea typeface="Courier New" pitchFamily="49" charset="-122"/>
                <a:cs typeface="Courier New" pitchFamily="49" charset="-120"/>
              </a:rPr>
              <a:t>SDK record_type</a:t>
            </a:r>
            <a:endParaRPr lang="en-US" sz="1000" dirty="0"/>
          </a:p>
        </p:txBody>
      </p:sp>
      <p:sp>
        <p:nvSpPr>
          <p:cNvPr id="7" name="Text 5"/>
          <p:cNvSpPr/>
          <p:nvPr/>
        </p:nvSpPr>
        <p:spPr>
          <a:xfrm>
            <a:off x="2476500" y="1949450"/>
            <a:ext cx="1511300" cy="190500"/>
          </a:xfrm>
          <a:prstGeom prst="rect">
            <a:avLst/>
          </a:prstGeom>
          <a:noFill/>
          <a:ln/>
        </p:spPr>
        <p:txBody>
          <a:bodyPr wrap="square" lIns="0" tIns="0" rIns="0" bIns="0" rtlCol="0" anchor="t">
            <a:normAutofit/>
          </a:bodyPr>
          <a:lstStyle/>
          <a:p>
            <a:pPr algn="l" indent="0" marL="0">
              <a:lnSpc>
                <a:spcPts val="1300"/>
              </a:lnSpc>
              <a:buNone/>
            </a:pPr>
            <a:r>
              <a:rPr lang="en-US" sz="1000" dirty="0">
                <a:solidFill>
                  <a:srgbClr val="36677D"/>
                </a:solidFill>
                <a:latin typeface="Courier New" pitchFamily="49" charset="0"/>
                <a:ea typeface="Courier New" pitchFamily="49" charset="-122"/>
                <a:cs typeface="Courier New" pitchFamily="49" charset="-120"/>
              </a:rPr>
              <a:t>cognitive type</a:t>
            </a:r>
            <a:endParaRPr lang="en-US" sz="1000" dirty="0"/>
          </a:p>
        </p:txBody>
      </p:sp>
      <p:sp>
        <p:nvSpPr>
          <p:cNvPr id="8" name="Text 6"/>
          <p:cNvSpPr/>
          <p:nvPr/>
        </p:nvSpPr>
        <p:spPr>
          <a:xfrm>
            <a:off x="4025900" y="1949450"/>
            <a:ext cx="1638300" cy="190500"/>
          </a:xfrm>
          <a:prstGeom prst="rect">
            <a:avLst/>
          </a:prstGeom>
          <a:noFill/>
          <a:ln/>
        </p:spPr>
        <p:txBody>
          <a:bodyPr wrap="square" lIns="0" tIns="0" rIns="0" bIns="0" rtlCol="0" anchor="t">
            <a:normAutofit/>
          </a:bodyPr>
          <a:lstStyle/>
          <a:p>
            <a:pPr algn="l" indent="0" marL="0">
              <a:lnSpc>
                <a:spcPts val="1300"/>
              </a:lnSpc>
              <a:buNone/>
            </a:pPr>
            <a:r>
              <a:rPr lang="en-US" sz="1000" dirty="0">
                <a:solidFill>
                  <a:srgbClr val="36677D"/>
                </a:solidFill>
                <a:latin typeface="Courier New" pitchFamily="49" charset="0"/>
                <a:ea typeface="Courier New" pitchFamily="49" charset="-122"/>
                <a:cs typeface="Courier New" pitchFamily="49" charset="-120"/>
              </a:rPr>
              <a:t>from the lab</a:t>
            </a:r>
            <a:endParaRPr lang="en-US" sz="1000" dirty="0"/>
          </a:p>
        </p:txBody>
      </p:sp>
      <p:sp>
        <p:nvSpPr>
          <p:cNvPr id="9" name="Shape 7"/>
          <p:cNvSpPr/>
          <p:nvPr/>
        </p:nvSpPr>
        <p:spPr>
          <a:xfrm>
            <a:off x="990600" y="2203450"/>
            <a:ext cx="4572000" cy="9525"/>
          </a:xfrm>
          <a:prstGeom prst="rect">
            <a:avLst/>
          </a:prstGeom>
          <a:solidFill>
            <a:srgbClr val="31535C">
              <a:alpha val="30000"/>
            </a:srgbClr>
          </a:solidFill>
          <a:ln/>
        </p:spPr>
      </p:sp>
      <p:sp>
        <p:nvSpPr>
          <p:cNvPr id="10" name="Text 8"/>
          <p:cNvSpPr/>
          <p:nvPr/>
        </p:nvSpPr>
        <p:spPr>
          <a:xfrm>
            <a:off x="990600" y="2301875"/>
            <a:ext cx="1447800" cy="388541"/>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Courier New" pitchFamily="49" charset="0"/>
                <a:ea typeface="Courier New" pitchFamily="49" charset="-122"/>
                <a:cs typeface="Courier New" pitchFamily="49" charset="-120"/>
              </a:rPr>
              <a:t>fact</a:t>
            </a:r>
            <a:endParaRPr lang="en-US" sz="1100" dirty="0"/>
          </a:p>
        </p:txBody>
      </p:sp>
      <p:sp>
        <p:nvSpPr>
          <p:cNvPr id="11" name="Text 9"/>
          <p:cNvSpPr/>
          <p:nvPr/>
        </p:nvSpPr>
        <p:spPr>
          <a:xfrm>
            <a:off x="2476500" y="2301875"/>
            <a:ext cx="1511300"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2D2D2D"/>
                </a:solidFill>
                <a:latin typeface="Arial" pitchFamily="34" charset="0"/>
                <a:ea typeface="Arial" pitchFamily="34" charset="-122"/>
                <a:cs typeface="Arial" pitchFamily="34" charset="-120"/>
              </a:rPr>
              <a:t>Semantic</a:t>
            </a:r>
            <a:endParaRPr lang="en-US" sz="1100" dirty="0"/>
          </a:p>
        </p:txBody>
      </p:sp>
      <p:sp>
        <p:nvSpPr>
          <p:cNvPr id="12" name="Text 10"/>
          <p:cNvSpPr/>
          <p:nvPr/>
        </p:nvSpPr>
        <p:spPr>
          <a:xfrm>
            <a:off x="4025900" y="2301875"/>
            <a:ext cx="1638300"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6B6B6B"/>
                </a:solidFill>
                <a:latin typeface="Arial" pitchFamily="34" charset="0"/>
                <a:ea typeface="Arial" pitchFamily="34" charset="-122"/>
                <a:cs typeface="Arial" pitchFamily="34" charset="-120"/>
              </a:rPr>
              <a:t>“re-inspect Pier 2 bearings annually”</a:t>
            </a:r>
            <a:endParaRPr lang="en-US" sz="1100" dirty="0"/>
          </a:p>
        </p:txBody>
      </p:sp>
      <p:sp>
        <p:nvSpPr>
          <p:cNvPr id="13" name="Text 11"/>
          <p:cNvSpPr/>
          <p:nvPr/>
        </p:nvSpPr>
        <p:spPr>
          <a:xfrm>
            <a:off x="990600" y="2753916"/>
            <a:ext cx="1447800" cy="388541"/>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Courier New" pitchFamily="49" charset="0"/>
                <a:ea typeface="Courier New" pitchFamily="49" charset="-122"/>
                <a:cs typeface="Courier New" pitchFamily="49" charset="-120"/>
              </a:rPr>
              <a:t>preference</a:t>
            </a:r>
            <a:endParaRPr lang="en-US" sz="1100" dirty="0"/>
          </a:p>
        </p:txBody>
      </p:sp>
      <p:sp>
        <p:nvSpPr>
          <p:cNvPr id="14" name="Text 12"/>
          <p:cNvSpPr/>
          <p:nvPr/>
        </p:nvSpPr>
        <p:spPr>
          <a:xfrm>
            <a:off x="2476500" y="2753916"/>
            <a:ext cx="1511300"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2D2D2D"/>
                </a:solidFill>
                <a:latin typeface="Arial" pitchFamily="34" charset="0"/>
                <a:ea typeface="Arial" pitchFamily="34" charset="-122"/>
                <a:cs typeface="Arial" pitchFamily="34" charset="-120"/>
              </a:rPr>
              <a:t>Persona</a:t>
            </a:r>
            <a:endParaRPr lang="en-US" sz="1100" dirty="0"/>
          </a:p>
        </p:txBody>
      </p:sp>
      <p:sp>
        <p:nvSpPr>
          <p:cNvPr id="15" name="Text 13"/>
          <p:cNvSpPr/>
          <p:nvPr/>
        </p:nvSpPr>
        <p:spPr>
          <a:xfrm>
            <a:off x="4025900" y="2753916"/>
            <a:ext cx="1638300"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6B6B6B"/>
                </a:solidFill>
                <a:latin typeface="Arial" pitchFamily="34" charset="0"/>
                <a:ea typeface="Arial" pitchFamily="34" charset="-122"/>
                <a:cs typeface="Arial" pitchFamily="34" charset="-120"/>
              </a:rPr>
              <a:t>an inspector’s defaults and styles</a:t>
            </a:r>
            <a:endParaRPr lang="en-US" sz="1100" dirty="0"/>
          </a:p>
        </p:txBody>
      </p:sp>
      <p:sp>
        <p:nvSpPr>
          <p:cNvPr id="16" name="Text 14"/>
          <p:cNvSpPr/>
          <p:nvPr/>
        </p:nvSpPr>
        <p:spPr>
          <a:xfrm>
            <a:off x="990600" y="3205956"/>
            <a:ext cx="1447800" cy="388541"/>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Courier New" pitchFamily="49" charset="0"/>
                <a:ea typeface="Courier New" pitchFamily="49" charset="-122"/>
                <a:cs typeface="Courier New" pitchFamily="49" charset="-120"/>
              </a:rPr>
              <a:t>guideline</a:t>
            </a:r>
            <a:endParaRPr lang="en-US" sz="1100" dirty="0"/>
          </a:p>
        </p:txBody>
      </p:sp>
      <p:sp>
        <p:nvSpPr>
          <p:cNvPr id="17" name="Text 15"/>
          <p:cNvSpPr/>
          <p:nvPr/>
        </p:nvSpPr>
        <p:spPr>
          <a:xfrm>
            <a:off x="2476500" y="3205956"/>
            <a:ext cx="1511300"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2D2D2D"/>
                </a:solidFill>
                <a:latin typeface="Arial" pitchFamily="34" charset="0"/>
                <a:ea typeface="Arial" pitchFamily="34" charset="-122"/>
                <a:cs typeface="Arial" pitchFamily="34" charset="-120"/>
              </a:rPr>
              <a:t>Procedural</a:t>
            </a:r>
            <a:endParaRPr lang="en-US" sz="1100" dirty="0"/>
          </a:p>
        </p:txBody>
      </p:sp>
      <p:sp>
        <p:nvSpPr>
          <p:cNvPr id="18" name="Text 16"/>
          <p:cNvSpPr/>
          <p:nvPr/>
        </p:nvSpPr>
        <p:spPr>
          <a:xfrm>
            <a:off x="4025900" y="3205956"/>
            <a:ext cx="1638300"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6B6B6B"/>
                </a:solidFill>
                <a:latin typeface="Arial" pitchFamily="34" charset="0"/>
                <a:ea typeface="Arial" pitchFamily="34" charset="-122"/>
                <a:cs typeface="Arial" pitchFamily="34" charset="-120"/>
              </a:rPr>
              <a:t>“remove loose corrosion before priming”</a:t>
            </a:r>
            <a:endParaRPr lang="en-US" sz="1100" dirty="0"/>
          </a:p>
        </p:txBody>
      </p:sp>
      <p:sp>
        <p:nvSpPr>
          <p:cNvPr id="19" name="Text 17"/>
          <p:cNvSpPr/>
          <p:nvPr/>
        </p:nvSpPr>
        <p:spPr>
          <a:xfrm>
            <a:off x="990600" y="3657997"/>
            <a:ext cx="1447800" cy="388541"/>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Courier New" pitchFamily="49" charset="0"/>
                <a:ea typeface="Courier New" pitchFamily="49" charset="-122"/>
                <a:cs typeface="Courier New" pitchFamily="49" charset="-120"/>
              </a:rPr>
              <a:t>memory</a:t>
            </a:r>
            <a:endParaRPr lang="en-US" sz="1100" dirty="0"/>
          </a:p>
        </p:txBody>
      </p:sp>
      <p:sp>
        <p:nvSpPr>
          <p:cNvPr id="20" name="Text 18"/>
          <p:cNvSpPr/>
          <p:nvPr/>
        </p:nvSpPr>
        <p:spPr>
          <a:xfrm>
            <a:off x="2476500" y="3657997"/>
            <a:ext cx="1549400"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2D2D2D"/>
                </a:solidFill>
                <a:latin typeface="Arial" pitchFamily="34" charset="0"/>
                <a:ea typeface="Arial" pitchFamily="34" charset="-122"/>
                <a:cs typeface="Arial" pitchFamily="34" charset="-120"/>
              </a:rPr>
              <a:t>Working, ongoing state</a:t>
            </a:r>
            <a:endParaRPr lang="en-US" sz="1100" dirty="0"/>
          </a:p>
        </p:txBody>
      </p:sp>
      <p:sp>
        <p:nvSpPr>
          <p:cNvPr id="21" name="Text 19"/>
          <p:cNvSpPr/>
          <p:nvPr/>
        </p:nvSpPr>
        <p:spPr>
          <a:xfrm>
            <a:off x="4025900" y="3657997"/>
            <a:ext cx="1638300"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6B6B6B"/>
                </a:solidFill>
                <a:latin typeface="Arial" pitchFamily="34" charset="0"/>
                <a:ea typeface="Arial" pitchFamily="34" charset="-122"/>
                <a:cs typeface="Arial" pitchFamily="34" charset="-120"/>
              </a:rPr>
              <a:t>reminders, decisions, add_memory writes</a:t>
            </a:r>
            <a:endParaRPr lang="en-US" sz="1100" dirty="0"/>
          </a:p>
        </p:txBody>
      </p:sp>
      <p:sp>
        <p:nvSpPr>
          <p:cNvPr id="22" name="Shape 20"/>
          <p:cNvSpPr/>
          <p:nvPr/>
        </p:nvSpPr>
        <p:spPr>
          <a:xfrm>
            <a:off x="6099175" y="1501775"/>
            <a:ext cx="5276850" cy="3041650"/>
          </a:xfrm>
          <a:prstGeom prst="roundRect">
            <a:avLst>
              <a:gd name="adj" fmla="val 4489"/>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23" name="Text 21"/>
          <p:cNvSpPr/>
          <p:nvPr/>
        </p:nvSpPr>
        <p:spPr>
          <a:xfrm>
            <a:off x="6273800" y="1682750"/>
            <a:ext cx="3388490" cy="203200"/>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C74634"/>
                </a:solidFill>
                <a:latin typeface="Courier New" pitchFamily="49" charset="0"/>
                <a:ea typeface="Courier New" pitchFamily="49" charset="-122"/>
                <a:cs typeface="Courier New" pitchFamily="49" charset="-120"/>
              </a:rPr>
              <a:t>THE REST OF THE TAXONOMY, IN THIS LAB</a:t>
            </a:r>
            <a:endParaRPr lang="en-US" sz="1000" dirty="0"/>
          </a:p>
        </p:txBody>
      </p:sp>
      <p:sp>
        <p:nvSpPr>
          <p:cNvPr id="24" name="Text 22"/>
          <p:cNvSpPr/>
          <p:nvPr/>
        </p:nvSpPr>
        <p:spPr>
          <a:xfrm>
            <a:off x="6273800" y="1936750"/>
            <a:ext cx="1765935"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Arial" pitchFamily="34" charset="0"/>
                <a:ea typeface="Arial" pitchFamily="34" charset="-122"/>
                <a:cs typeface="Arial" pitchFamily="34" charset="-120"/>
              </a:rPr>
              <a:t>Working memory</a:t>
            </a:r>
            <a:endParaRPr lang="en-US" sz="1100" dirty="0"/>
          </a:p>
        </p:txBody>
      </p:sp>
      <p:sp>
        <p:nvSpPr>
          <p:cNvPr id="25" name="Text 23"/>
          <p:cNvSpPr/>
          <p:nvPr/>
        </p:nvSpPr>
        <p:spPr>
          <a:xfrm>
            <a:off x="8077200" y="1936750"/>
            <a:ext cx="2851658" cy="206970"/>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6B6B6B"/>
                </a:solidFill>
                <a:latin typeface="Arial" pitchFamily="34" charset="0"/>
                <a:ea typeface="Arial" pitchFamily="34" charset="-122"/>
                <a:cs typeface="Arial" pitchFamily="34" charset="-120"/>
              </a:rPr>
              <a:t>get_context_card(): the prompt-ready block</a:t>
            </a:r>
            <a:endParaRPr lang="en-US" sz="1100" dirty="0"/>
          </a:p>
        </p:txBody>
      </p:sp>
      <p:sp>
        <p:nvSpPr>
          <p:cNvPr id="26" name="Text 24"/>
          <p:cNvSpPr/>
          <p:nvPr/>
        </p:nvSpPr>
        <p:spPr>
          <a:xfrm>
            <a:off x="6273800" y="2194520"/>
            <a:ext cx="1765935" cy="388541"/>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Arial" pitchFamily="34" charset="0"/>
                <a:ea typeface="Arial" pitchFamily="34" charset="-122"/>
                <a:cs typeface="Arial" pitchFamily="34" charset="-120"/>
              </a:rPr>
              <a:t>Session memory</a:t>
            </a:r>
            <a:endParaRPr lang="en-US" sz="1100" dirty="0"/>
          </a:p>
        </p:txBody>
      </p:sp>
      <p:sp>
        <p:nvSpPr>
          <p:cNvPr id="27" name="Text 25"/>
          <p:cNvSpPr/>
          <p:nvPr/>
        </p:nvSpPr>
        <p:spPr>
          <a:xfrm>
            <a:off x="8077200" y="2194520"/>
            <a:ext cx="2851658"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6B6B6B"/>
                </a:solidFill>
                <a:latin typeface="Arial" pitchFamily="34" charset="0"/>
                <a:ea typeface="Arial" pitchFamily="34" charset="-122"/>
                <a:cs typeface="Arial" pitchFamily="34" charset="-120"/>
              </a:rPr>
              <a:t>the thread, CITY_THREAD, and its recent messages</a:t>
            </a:r>
            <a:endParaRPr lang="en-US" sz="1100" dirty="0"/>
          </a:p>
        </p:txBody>
      </p:sp>
      <p:sp>
        <p:nvSpPr>
          <p:cNvPr id="28" name="Text 26"/>
          <p:cNvSpPr/>
          <p:nvPr/>
        </p:nvSpPr>
        <p:spPr>
          <a:xfrm>
            <a:off x="6273800" y="2633861"/>
            <a:ext cx="1765935"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Arial" pitchFamily="34" charset="0"/>
                <a:ea typeface="Arial" pitchFamily="34" charset="-122"/>
                <a:cs typeface="Arial" pitchFamily="34" charset="-120"/>
              </a:rPr>
              <a:t>Episodic · conversations</a:t>
            </a:r>
            <a:endParaRPr lang="en-US" sz="1100" dirty="0"/>
          </a:p>
        </p:txBody>
      </p:sp>
      <p:sp>
        <p:nvSpPr>
          <p:cNvPr id="29" name="Text 27"/>
          <p:cNvSpPr/>
          <p:nvPr/>
        </p:nvSpPr>
        <p:spPr>
          <a:xfrm>
            <a:off x="8077200" y="2633861"/>
            <a:ext cx="3295650" cy="206970"/>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6B6B6B"/>
                </a:solidFill>
                <a:latin typeface="Arial" pitchFamily="34" charset="0"/>
                <a:ea typeface="Arial" pitchFamily="34" charset="-122"/>
                <a:cs typeface="Arial" pitchFamily="34" charset="-120"/>
              </a:rPr>
              <a:t>CITY_MESSAGE, verbatim turns per thread</a:t>
            </a:r>
            <a:endParaRPr lang="en-US" sz="1100" dirty="0"/>
          </a:p>
        </p:txBody>
      </p:sp>
      <p:sp>
        <p:nvSpPr>
          <p:cNvPr id="30" name="Text 28"/>
          <p:cNvSpPr/>
          <p:nvPr/>
        </p:nvSpPr>
        <p:spPr>
          <a:xfrm>
            <a:off x="6273800" y="2891631"/>
            <a:ext cx="1765935" cy="206970"/>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Arial" pitchFamily="34" charset="0"/>
                <a:ea typeface="Arial" pitchFamily="34" charset="-122"/>
                <a:cs typeface="Arial" pitchFamily="34" charset="-120"/>
              </a:rPr>
              <a:t>Episodic · summaries</a:t>
            </a:r>
            <a:endParaRPr lang="en-US" sz="1100" dirty="0"/>
          </a:p>
        </p:txBody>
      </p:sp>
      <p:sp>
        <p:nvSpPr>
          <p:cNvPr id="31" name="Text 29"/>
          <p:cNvSpPr/>
          <p:nvPr/>
        </p:nvSpPr>
        <p:spPr>
          <a:xfrm>
            <a:off x="8077200" y="2891631"/>
            <a:ext cx="2851658" cy="206970"/>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6B6B6B"/>
                </a:solidFill>
                <a:latin typeface="Arial" pitchFamily="34" charset="0"/>
                <a:ea typeface="Arial" pitchFamily="34" charset="-122"/>
                <a:cs typeface="Arial" pitchFamily="34" charset="-120"/>
              </a:rPr>
              <a:t>the rolling thread summary</a:t>
            </a:r>
            <a:endParaRPr lang="en-US" sz="1100" dirty="0"/>
          </a:p>
        </p:txBody>
      </p:sp>
      <p:sp>
        <p:nvSpPr>
          <p:cNvPr id="32" name="Text 30"/>
          <p:cNvSpPr/>
          <p:nvPr/>
        </p:nvSpPr>
        <p:spPr>
          <a:xfrm>
            <a:off x="6273800" y="3149402"/>
            <a:ext cx="1765935" cy="570111"/>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Arial" pitchFamily="34" charset="0"/>
                <a:ea typeface="Arial" pitchFamily="34" charset="-122"/>
                <a:cs typeface="Arial" pitchFamily="34" charset="-120"/>
              </a:rPr>
              <a:t>Semantic · knowledge base</a:t>
            </a:r>
            <a:endParaRPr lang="en-US" sz="1100" dirty="0"/>
          </a:p>
        </p:txBody>
      </p:sp>
      <p:sp>
        <p:nvSpPr>
          <p:cNvPr id="33" name="Text 31"/>
          <p:cNvSpPr/>
          <p:nvPr/>
        </p:nvSpPr>
        <p:spPr>
          <a:xfrm>
            <a:off x="8077200" y="3149402"/>
            <a:ext cx="2851658" cy="57011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6B6B6B"/>
                </a:solidFill>
                <a:latin typeface="Arial" pitchFamily="34" charset="0"/>
                <a:ea typeface="Arial" pitchFamily="34" charset="-122"/>
                <a:cs typeface="Arial" pitchFamily="34" charset="-120"/>
              </a:rPr>
              <a:t>CITY_ASSET and CITY_INSPECTION_FINDING, plus fact rows and VECTOR_DISTANCE search</a:t>
            </a:r>
            <a:endParaRPr lang="en-US" sz="1100" dirty="0"/>
          </a:p>
        </p:txBody>
      </p:sp>
      <p:sp>
        <p:nvSpPr>
          <p:cNvPr id="34" name="Text 32"/>
          <p:cNvSpPr/>
          <p:nvPr/>
        </p:nvSpPr>
        <p:spPr>
          <a:xfrm>
            <a:off x="6273800" y="3770313"/>
            <a:ext cx="1765935" cy="388541"/>
          </a:xfrm>
          <a:prstGeom prst="rect">
            <a:avLst/>
          </a:prstGeom>
          <a:noFill/>
          <a:ln/>
        </p:spPr>
        <p:txBody>
          <a:bodyPr wrap="square" lIns="0" tIns="0" rIns="0" bIns="0" rtlCol="0" anchor="t">
            <a:normAutofit/>
          </a:bodyPr>
          <a:lstStyle/>
          <a:p>
            <a:pPr algn="l" indent="0" marL="0">
              <a:lnSpc>
                <a:spcPts val="1430"/>
              </a:lnSpc>
              <a:buNone/>
            </a:pPr>
            <a:r>
              <a:rPr lang="en-US" sz="1100" b="1" dirty="0">
                <a:solidFill>
                  <a:srgbClr val="2D2D2D"/>
                </a:solidFill>
                <a:latin typeface="Arial" pitchFamily="34" charset="0"/>
                <a:ea typeface="Arial" pitchFamily="34" charset="-122"/>
                <a:cs typeface="Arial" pitchFamily="34" charset="-120"/>
              </a:rPr>
              <a:t>Shared memory</a:t>
            </a:r>
            <a:endParaRPr lang="en-US" sz="1100" dirty="0"/>
          </a:p>
        </p:txBody>
      </p:sp>
      <p:sp>
        <p:nvSpPr>
          <p:cNvPr id="35" name="Text 33"/>
          <p:cNvSpPr/>
          <p:nvPr/>
        </p:nvSpPr>
        <p:spPr>
          <a:xfrm>
            <a:off x="8077200" y="3770313"/>
            <a:ext cx="2851658"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6B6B6B"/>
                </a:solidFill>
                <a:latin typeface="Arial" pitchFamily="34" charset="0"/>
                <a:ea typeface="Arial" pitchFamily="34" charset="-122"/>
                <a:cs typeface="Arial" pitchFamily="34" charset="-120"/>
              </a:rPr>
              <a:t>agent_id-scoped records every inspector sees</a:t>
            </a:r>
            <a:endParaRPr lang="en-US" sz="1100" dirty="0"/>
          </a:p>
        </p:txBody>
      </p:sp>
      <p:sp>
        <p:nvSpPr>
          <p:cNvPr id="36" name="Shape 34"/>
          <p:cNvSpPr/>
          <p:nvPr/>
        </p:nvSpPr>
        <p:spPr>
          <a:xfrm>
            <a:off x="815975" y="4702175"/>
            <a:ext cx="10560050" cy="692150"/>
          </a:xfrm>
          <a:prstGeom prst="roundRect">
            <a:avLst>
              <a:gd name="adj" fmla="val 17890"/>
            </a:avLst>
          </a:prstGeom>
          <a:solidFill>
            <a:srgbClr val="1E2A2A"/>
          </a:solidFill>
          <a:ln w="6350">
            <a:solidFill>
              <a:srgbClr val="1E2A2A"/>
            </a:solidFill>
            <a:prstDash val="solid"/>
          </a:ln>
        </p:spPr>
      </p:sp>
      <p:sp>
        <p:nvSpPr>
          <p:cNvPr id="37" name="Text 35"/>
          <p:cNvSpPr/>
          <p:nvPr/>
        </p:nvSpPr>
        <p:spPr>
          <a:xfrm>
            <a:off x="1041400" y="4834930"/>
            <a:ext cx="104124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ial" pitchFamily="34" charset="0"/>
                <a:ea typeface="Arial" pitchFamily="34" charset="-122"/>
                <a:cs typeface="Arial" pitchFamily="34" charset="-120"/>
              </a:rPr>
              <a:t>Left to the agent framework, not the memory layer: the semantic cache, and the toolbox, workflow and tool-log artefacts. The SDK is the governed memory core: what the agent knows, said, learned and shares.</a:t>
            </a:r>
            <a:endParaRPr lang="en-US" sz="1200" dirty="0"/>
          </a:p>
        </p:txBody>
      </p:sp>
      <p:sp>
        <p:nvSpPr>
          <p:cNvPr id="38" name="Text 36"/>
          <p:cNvSpPr/>
          <p:nvPr/>
        </p:nvSpPr>
        <p:spPr>
          <a:xfrm>
            <a:off x="812800" y="55626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2D2D"/>
                </a:solidFill>
                <a:latin typeface="Arial" pitchFamily="34" charset="0"/>
                <a:ea typeface="Arial" pitchFamily="34" charset="-122"/>
                <a:cs typeface="Arial" pitchFamily="34" charset="-120"/>
              </a:rPr>
              <a:t>The domain tables count too: they are the organisation’s semantic memory, read by the agent and written on purpose. Memory engineering is deciding which of these you own.</a:t>
            </a:r>
            <a:endParaRPr lang="en-US" sz="1200" dirty="0"/>
          </a:p>
        </p:txBody>
      </p:sp>
      <p:sp>
        <p:nvSpPr>
          <p:cNvPr id="39" name="Text 3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654304" y="228600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spc="200" kern="0" dirty="0">
                <a:solidFill>
                  <a:srgbClr val="DEB068"/>
                </a:solidFill>
                <a:latin typeface="Courier New" pitchFamily="49" charset="0"/>
                <a:ea typeface="Courier New" pitchFamily="49" charset="-122"/>
                <a:cs typeface="Courier New" pitchFamily="49" charset="-120"/>
              </a:rPr>
              <a:t>ADVANCED · FOR ANYONE AHEAD OF THE ROOM</a:t>
            </a:r>
            <a:endParaRPr lang="en-US" sz="1200" dirty="0"/>
          </a:p>
        </p:txBody>
      </p:sp>
      <p:sp>
        <p:nvSpPr>
          <p:cNvPr id="4" name="Text 2"/>
          <p:cNvSpPr/>
          <p:nvPr/>
        </p:nvSpPr>
        <p:spPr>
          <a:xfrm>
            <a:off x="1779270" y="2794000"/>
            <a:ext cx="8633460" cy="1073150"/>
          </a:xfrm>
          <a:prstGeom prst="rect">
            <a:avLst/>
          </a:prstGeom>
          <a:noFill/>
          <a:ln/>
        </p:spPr>
        <p:txBody>
          <a:bodyPr wrap="none" lIns="0" tIns="0" rIns="0" bIns="0" rtlCol="0" anchor="t">
            <a:normAutofit/>
          </a:bodyPr>
          <a:lstStyle/>
          <a:p>
            <a:pPr algn="ctr" indent="0" marL="0">
              <a:lnSpc>
                <a:spcPts val="8250"/>
              </a:lnSpc>
              <a:buNone/>
            </a:pPr>
            <a:r>
              <a:rPr lang="en-US" sz="7500" b="1" spc="-150" kern="0" dirty="0">
                <a:solidFill>
                  <a:srgbClr val="FFFFFF"/>
                </a:solidFill>
                <a:latin typeface="Arial" pitchFamily="34" charset="0"/>
                <a:ea typeface="Arial" pitchFamily="34" charset="-122"/>
                <a:cs typeface="Arial" pitchFamily="34" charset="-120"/>
              </a:rPr>
              <a:t>Decision models</a:t>
            </a:r>
            <a:endParaRPr lang="en-US" sz="7500" dirty="0"/>
          </a:p>
        </p:txBody>
      </p:sp>
      <p:sp>
        <p:nvSpPr>
          <p:cNvPr id="5" name="Text 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3446843"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Decision models</a:t>
            </a:r>
            <a:endParaRPr lang="en-US" sz="2800" dirty="0"/>
          </a:p>
        </p:txBody>
      </p:sp>
      <p:sp>
        <p:nvSpPr>
          <p:cNvPr id="4" name="Text 2"/>
          <p:cNvSpPr/>
          <p:nvPr/>
        </p:nvSpPr>
        <p:spPr>
          <a:xfrm>
            <a:off x="812800" y="1905000"/>
            <a:ext cx="10464800" cy="1244600"/>
          </a:xfrm>
          <a:prstGeom prst="rect">
            <a:avLst/>
          </a:prstGeom>
          <a:noFill/>
          <a:ln/>
        </p:spPr>
        <p:txBody>
          <a:bodyPr wrap="square" lIns="0" tIns="0" rIns="0" bIns="0" rtlCol="0" anchor="t">
            <a:normAutofit/>
          </a:bodyPr>
          <a:lstStyle/>
          <a:p>
            <a:pPr algn="l" indent="0" marL="0">
              <a:lnSpc>
                <a:spcPts val="3200"/>
              </a:lnSpc>
              <a:buNone/>
            </a:pPr>
            <a:r>
              <a:rPr lang="en-US" sz="2500" spc="-25" kern="0" dirty="0">
                <a:solidFill>
                  <a:srgbClr val="FFFFFF"/>
                </a:solidFill>
                <a:latin typeface="Arial" pitchFamily="34" charset="0"/>
                <a:ea typeface="Arial" pitchFamily="34" charset="-122"/>
                <a:cs typeface="Arial" pitchFamily="34" charset="-120"/>
              </a:rPr>
              <a:t>A decision model answers a </a:t>
            </a:r>
            <a:r>
              <a:rPr lang="en-US" sz="2500" spc="-25" kern="0" dirty="0">
                <a:solidFill>
                  <a:srgbClr val="DEB068"/>
                </a:solidFill>
                <a:latin typeface="Arial" pitchFamily="34" charset="0"/>
                <a:ea typeface="Arial" pitchFamily="34" charset="-122"/>
                <a:cs typeface="Arial" pitchFamily="34" charset="-120"/>
              </a:rPr>
              <a:t>typed question</a:t>
            </a:r>
            <a:r>
              <a:rPr lang="en-US" sz="2500" spc="-25" kern="0" dirty="0">
                <a:solidFill>
                  <a:srgbClr val="FFFFFF"/>
                </a:solidFill>
                <a:latin typeface="Arial" pitchFamily="34" charset="0"/>
                <a:ea typeface="Arial" pitchFamily="34" charset="-122"/>
                <a:cs typeface="Arial" pitchFamily="34" charset="-120"/>
              </a:rPr>
              <a:t>, yes or no, a choice, a score, with a </a:t>
            </a:r>
            <a:r>
              <a:rPr lang="en-US" sz="2500" spc="-25" kern="0" dirty="0">
                <a:solidFill>
                  <a:srgbClr val="DEB068"/>
                </a:solidFill>
                <a:latin typeface="Arial" pitchFamily="34" charset="0"/>
                <a:ea typeface="Arial" pitchFamily="34" charset="-122"/>
                <a:cs typeface="Arial" pitchFamily="34" charset="-120"/>
              </a:rPr>
              <a:t>calibrated probability</a:t>
            </a:r>
            <a:r>
              <a:rPr lang="en-US" sz="2500" spc="-25" kern="0" dirty="0">
                <a:solidFill>
                  <a:srgbClr val="FFFFFF"/>
                </a:solidFill>
                <a:latin typeface="Arial" pitchFamily="34" charset="0"/>
                <a:ea typeface="Arial" pitchFamily="34" charset="-122"/>
                <a:cs typeface="Arial" pitchFamily="34" charset="-120"/>
              </a:rPr>
              <a:t>, in one prefill pass and without decoding a single token.</a:t>
            </a:r>
            <a:endParaRPr lang="en-US" sz="2500" dirty="0"/>
          </a:p>
        </p:txBody>
      </p:sp>
      <p:sp>
        <p:nvSpPr>
          <p:cNvPr id="5" name="Shape 3"/>
          <p:cNvSpPr/>
          <p:nvPr/>
        </p:nvSpPr>
        <p:spPr>
          <a:xfrm>
            <a:off x="817563" y="3560763"/>
            <a:ext cx="3375025" cy="2187575"/>
          </a:xfrm>
          <a:prstGeom prst="roundRect">
            <a:avLst>
              <a:gd name="adj" fmla="val 6749"/>
            </a:avLst>
          </a:prstGeom>
          <a:solidFill>
            <a:srgbClr val="FFFFFF">
              <a:alpha val="6000"/>
            </a:srgbClr>
          </a:solidFill>
          <a:ln w="9525">
            <a:solidFill>
              <a:srgbClr val="FFFFFF">
                <a:alpha val="18000"/>
              </a:srgbClr>
            </a:solidFill>
            <a:prstDash val="solid"/>
          </a:ln>
        </p:spPr>
      </p:sp>
      <p:sp>
        <p:nvSpPr>
          <p:cNvPr id="6" name="Text 4"/>
          <p:cNvSpPr/>
          <p:nvPr/>
        </p:nvSpPr>
        <p:spPr>
          <a:xfrm>
            <a:off x="1016000" y="3768725"/>
            <a:ext cx="1934966"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JEV · TYPESAFE AI</a:t>
            </a:r>
            <a:endParaRPr lang="en-US" sz="1200" dirty="0"/>
          </a:p>
        </p:txBody>
      </p:sp>
      <p:sp>
        <p:nvSpPr>
          <p:cNvPr id="7" name="Text 5"/>
          <p:cNvSpPr/>
          <p:nvPr/>
        </p:nvSpPr>
        <p:spPr>
          <a:xfrm>
            <a:off x="1016000" y="4058245"/>
            <a:ext cx="20713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15 September 2026</a:t>
            </a:r>
            <a:endParaRPr lang="en-US" sz="1500" dirty="0"/>
          </a:p>
        </p:txBody>
      </p:sp>
      <p:sp>
        <p:nvSpPr>
          <p:cNvPr id="8" name="Text 6"/>
          <p:cNvSpPr/>
          <p:nvPr/>
        </p:nvSpPr>
        <p:spPr>
          <a:xfrm>
            <a:off x="1016000" y="4363045"/>
            <a:ext cx="306749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Closed and hosted. Text in, probabilities out. Trained with RLCD, reinforcement learning for calibrated decisions. Listed at $0.042 per million input tokens.</a:t>
            </a:r>
            <a:endParaRPr lang="en-US" sz="1200" dirty="0"/>
          </a:p>
        </p:txBody>
      </p:sp>
      <p:sp>
        <p:nvSpPr>
          <p:cNvPr id="9" name="Shape 7"/>
          <p:cNvSpPr/>
          <p:nvPr/>
        </p:nvSpPr>
        <p:spPr>
          <a:xfrm>
            <a:off x="4405313" y="3560763"/>
            <a:ext cx="3375025" cy="2187575"/>
          </a:xfrm>
          <a:prstGeom prst="roundRect">
            <a:avLst>
              <a:gd name="adj" fmla="val 6749"/>
            </a:avLst>
          </a:prstGeom>
          <a:solidFill>
            <a:srgbClr val="FFFFFF">
              <a:alpha val="6000"/>
            </a:srgbClr>
          </a:solidFill>
          <a:ln w="9525">
            <a:solidFill>
              <a:srgbClr val="FFFFFF">
                <a:alpha val="18000"/>
              </a:srgbClr>
            </a:solidFill>
            <a:prstDash val="solid"/>
          </a:ln>
        </p:spPr>
      </p:sp>
      <p:sp>
        <p:nvSpPr>
          <p:cNvPr id="10" name="Text 8"/>
          <p:cNvSpPr/>
          <p:nvPr/>
        </p:nvSpPr>
        <p:spPr>
          <a:xfrm>
            <a:off x="4603750" y="3768725"/>
            <a:ext cx="1934966"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CLEF · CLOUDFLARE</a:t>
            </a:r>
            <a:endParaRPr lang="en-US" sz="1200" dirty="0"/>
          </a:p>
        </p:txBody>
      </p:sp>
      <p:sp>
        <p:nvSpPr>
          <p:cNvPr id="11" name="Text 9"/>
          <p:cNvSpPr/>
          <p:nvPr/>
        </p:nvSpPr>
        <p:spPr>
          <a:xfrm>
            <a:off x="4603750" y="4058245"/>
            <a:ext cx="16391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1 October 2026</a:t>
            </a:r>
            <a:endParaRPr lang="en-US" sz="1500" dirty="0"/>
          </a:p>
        </p:txBody>
      </p:sp>
      <p:sp>
        <p:nvSpPr>
          <p:cNvPr id="12" name="Text 10"/>
          <p:cNvSpPr/>
          <p:nvPr/>
        </p:nvSpPr>
        <p:spPr>
          <a:xfrm>
            <a:off x="4603750" y="4363045"/>
            <a:ext cx="306749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Open weights, Apache 2.0. A frozen Qwen backbone, a 65M-parameter joint schema head and LoRA adapters. 209 ms median; 39 ms for Clef-flash.</a:t>
            </a:r>
            <a:endParaRPr lang="en-US" sz="1200" dirty="0"/>
          </a:p>
        </p:txBody>
      </p:sp>
      <p:sp>
        <p:nvSpPr>
          <p:cNvPr id="13" name="Shape 11"/>
          <p:cNvSpPr/>
          <p:nvPr/>
        </p:nvSpPr>
        <p:spPr>
          <a:xfrm>
            <a:off x="7993063" y="3560763"/>
            <a:ext cx="3381375" cy="2187575"/>
          </a:xfrm>
          <a:prstGeom prst="roundRect">
            <a:avLst>
              <a:gd name="adj" fmla="val 6749"/>
            </a:avLst>
          </a:prstGeom>
          <a:solidFill>
            <a:srgbClr val="FFFFFF">
              <a:alpha val="6000"/>
            </a:srgbClr>
          </a:solidFill>
          <a:ln w="9525">
            <a:solidFill>
              <a:srgbClr val="FFFFFF">
                <a:alpha val="18000"/>
              </a:srgbClr>
            </a:solidFill>
            <a:prstDash val="solid"/>
          </a:ln>
        </p:spPr>
      </p:sp>
      <p:sp>
        <p:nvSpPr>
          <p:cNvPr id="14" name="Text 12"/>
          <p:cNvSpPr/>
          <p:nvPr/>
        </p:nvSpPr>
        <p:spPr>
          <a:xfrm>
            <a:off x="8191500" y="3768725"/>
            <a:ext cx="250404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DECISIONS API · OPENAI</a:t>
            </a:r>
            <a:endParaRPr lang="en-US" sz="1200" dirty="0"/>
          </a:p>
        </p:txBody>
      </p:sp>
      <p:sp>
        <p:nvSpPr>
          <p:cNvPr id="15" name="Text 13"/>
          <p:cNvSpPr/>
          <p:nvPr/>
        </p:nvSpPr>
        <p:spPr>
          <a:xfrm>
            <a:off x="8191500" y="4058245"/>
            <a:ext cx="31781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preview from 29 September 2026</a:t>
            </a:r>
            <a:endParaRPr lang="en-US" sz="1500" dirty="0"/>
          </a:p>
        </p:txBody>
      </p:sp>
      <p:sp>
        <p:nvSpPr>
          <p:cNvPr id="16" name="Text 14"/>
          <p:cNvSpPr/>
          <p:nvPr/>
        </p:nvSpPr>
        <p:spPr>
          <a:xfrm>
            <a:off x="8191500" y="4363045"/>
            <a:ext cx="30740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GPT-6 Luna with the answer space bounded before inference. No fine-tuning on offer yet, so it cannot learn from your traces.</a:t>
            </a:r>
            <a:endParaRPr lang="en-US" sz="12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3446843" cy="434330"/>
          </a:xfrm>
          <a:prstGeom prst="rect">
            <a:avLst/>
          </a:prstGeom>
          <a:noFill/>
          <a:ln/>
        </p:spPr>
        <p:txBody>
          <a:bodyPr wrap="none" lIns="0" tIns="0" rIns="0" bIns="0" rtlCol="0" anchor="t">
            <a:normAutofit/>
          </a:bodyPr>
          <a:lstStyle/>
          <a:p>
            <a:pPr algn="l" indent="0" marL="0">
              <a:lnSpc>
                <a:spcPts val="3220"/>
              </a:lnSpc>
              <a:buNone/>
            </a:pPr>
            <a:r>
              <a:rPr lang="en-US" sz="2800" b="1" spc="-50" kern="0" dirty="0">
                <a:solidFill>
                  <a:srgbClr val="FFFFFF"/>
                </a:solidFill>
                <a:latin typeface="Arial" pitchFamily="34" charset="0"/>
                <a:ea typeface="Arial" pitchFamily="34" charset="-122"/>
                <a:cs typeface="Arial" pitchFamily="34" charset="-120"/>
              </a:rPr>
              <a:t>Decision models</a:t>
            </a:r>
            <a:endParaRPr lang="en-US" sz="2800" dirty="0"/>
          </a:p>
        </p:txBody>
      </p:sp>
      <p:sp>
        <p:nvSpPr>
          <p:cNvPr id="4" name="Text 2"/>
          <p:cNvSpPr/>
          <p:nvPr/>
        </p:nvSpPr>
        <p:spPr>
          <a:xfrm>
            <a:off x="812800" y="1206500"/>
            <a:ext cx="1088339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2EFEA"/>
                </a:solidFill>
                <a:latin typeface="Arial" pitchFamily="34" charset="0"/>
                <a:ea typeface="Arial" pitchFamily="34" charset="-122"/>
                <a:cs typeface="Arial" pitchFamily="34" charset="-120"/>
              </a:rPr>
              <a:t>A decision model answers a </a:t>
            </a:r>
            <a:r>
              <a:rPr lang="en-US" sz="1500" dirty="0">
                <a:solidFill>
                  <a:srgbClr val="DEB068"/>
                </a:solidFill>
                <a:latin typeface="Arial" pitchFamily="34" charset="0"/>
                <a:ea typeface="Arial" pitchFamily="34" charset="-122"/>
                <a:cs typeface="Arial" pitchFamily="34" charset="-120"/>
              </a:rPr>
              <a:t>typed question</a:t>
            </a:r>
            <a:r>
              <a:rPr lang="en-US" sz="1500" dirty="0">
                <a:solidFill>
                  <a:srgbClr val="F2EFEA"/>
                </a:solidFill>
                <a:latin typeface="Arial" pitchFamily="34" charset="0"/>
                <a:ea typeface="Arial" pitchFamily="34" charset="-122"/>
                <a:cs typeface="Arial" pitchFamily="34" charset="-120"/>
              </a:rPr>
              <a:t>, yes or no, a choice, a score, with a </a:t>
            </a:r>
            <a:r>
              <a:rPr lang="en-US" sz="1500" dirty="0">
                <a:solidFill>
                  <a:srgbClr val="DEB068"/>
                </a:solidFill>
                <a:latin typeface="Arial" pitchFamily="34" charset="0"/>
                <a:ea typeface="Arial" pitchFamily="34" charset="-122"/>
                <a:cs typeface="Arial" pitchFamily="34" charset="-120"/>
              </a:rPr>
              <a:t>calibrated probability</a:t>
            </a:r>
            <a:r>
              <a:rPr lang="en-US" sz="1500" dirty="0">
                <a:solidFill>
                  <a:srgbClr val="F2EFEA"/>
                </a:solidFill>
                <a:latin typeface="Arial" pitchFamily="34" charset="0"/>
                <a:ea typeface="Arial" pitchFamily="34" charset="-122"/>
                <a:cs typeface="Arial" pitchFamily="34" charset="-120"/>
              </a:rPr>
              <a:t>, in one prefill pass and without decoding a single token.</a:t>
            </a:r>
            <a:endParaRPr lang="en-US" sz="1500" dirty="0"/>
          </a:p>
        </p:txBody>
      </p:sp>
      <p:sp>
        <p:nvSpPr>
          <p:cNvPr id="5" name="Text 3"/>
          <p:cNvSpPr/>
          <p:nvPr/>
        </p:nvSpPr>
        <p:spPr>
          <a:xfrm>
            <a:off x="812800" y="18415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WHY THEY BELONG IN A MEMORY SYSTEM</a:t>
            </a:r>
            <a:endParaRPr lang="en-US" sz="1200" dirty="0"/>
          </a:p>
        </p:txBody>
      </p:sp>
      <p:sp>
        <p:nvSpPr>
          <p:cNvPr id="6" name="Shape 4"/>
          <p:cNvSpPr/>
          <p:nvPr/>
        </p:nvSpPr>
        <p:spPr>
          <a:xfrm>
            <a:off x="817563" y="2163763"/>
            <a:ext cx="3375025" cy="2720975"/>
          </a:xfrm>
          <a:prstGeom prst="roundRect">
            <a:avLst>
              <a:gd name="adj" fmla="val 5426"/>
            </a:avLst>
          </a:prstGeom>
          <a:solidFill>
            <a:srgbClr val="FFFFFF">
              <a:alpha val="6000"/>
            </a:srgbClr>
          </a:solidFill>
          <a:ln w="9525">
            <a:solidFill>
              <a:srgbClr val="FFFFFF">
                <a:alpha val="18000"/>
              </a:srgbClr>
            </a:solidFill>
            <a:prstDash val="solid"/>
          </a:ln>
        </p:spPr>
      </p:sp>
      <p:sp>
        <p:nvSpPr>
          <p:cNvPr id="7" name="Text 5"/>
          <p:cNvSpPr/>
          <p:nvPr/>
        </p:nvSpPr>
        <p:spPr>
          <a:xfrm>
            <a:off x="1016000" y="2371725"/>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836F"/>
                </a:solidFill>
                <a:latin typeface="Courier New" pitchFamily="49" charset="0"/>
                <a:ea typeface="Courier New" pitchFamily="49" charset="-122"/>
                <a:cs typeface="Courier New" pitchFamily="49" charset="-120"/>
              </a:rPr>
              <a:t>01</a:t>
            </a:r>
            <a:endParaRPr lang="en-US" sz="1200" dirty="0"/>
          </a:p>
        </p:txBody>
      </p:sp>
      <p:sp>
        <p:nvSpPr>
          <p:cNvPr id="8" name="Text 6"/>
          <p:cNvSpPr/>
          <p:nvPr/>
        </p:nvSpPr>
        <p:spPr>
          <a:xfrm>
            <a:off x="1016000" y="2661245"/>
            <a:ext cx="31718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Arial" pitchFamily="34" charset="0"/>
                <a:ea typeface="Arial" pitchFamily="34" charset="-122"/>
                <a:cs typeface="Arial" pitchFamily="34" charset="-120"/>
              </a:rPr>
              <a:t>A decision model is memory</a:t>
            </a:r>
            <a:endParaRPr lang="en-US" sz="1600" dirty="0"/>
          </a:p>
        </p:txBody>
      </p:sp>
      <p:sp>
        <p:nvSpPr>
          <p:cNvPr id="9" name="Text 7"/>
          <p:cNvSpPr/>
          <p:nvPr/>
        </p:nvSpPr>
        <p:spPr>
          <a:xfrm>
            <a:off x="1016000" y="2981275"/>
            <a:ext cx="3067495"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EFEA"/>
                </a:solidFill>
                <a:latin typeface="Arial" pitchFamily="34" charset="0"/>
                <a:ea typeface="Arial" pitchFamily="34" charset="-122"/>
                <a:cs typeface="Arial" pitchFamily="34" charset="-120"/>
              </a:rPr>
              <a:t>Train a classifier on five years of labelled decisions and the weights are a compressed record of every one of them. Parametric memory, next to the database and the KV cache.</a:t>
            </a:r>
            <a:endParaRPr lang="en-US" sz="1200" dirty="0"/>
          </a:p>
        </p:txBody>
      </p:sp>
      <p:sp>
        <p:nvSpPr>
          <p:cNvPr id="10" name="Shape 8"/>
          <p:cNvSpPr/>
          <p:nvPr/>
        </p:nvSpPr>
        <p:spPr>
          <a:xfrm>
            <a:off x="4405313" y="2163763"/>
            <a:ext cx="3375025" cy="2720975"/>
          </a:xfrm>
          <a:prstGeom prst="roundRect">
            <a:avLst>
              <a:gd name="adj" fmla="val 5426"/>
            </a:avLst>
          </a:prstGeom>
          <a:solidFill>
            <a:srgbClr val="FFFFFF">
              <a:alpha val="6000"/>
            </a:srgbClr>
          </a:solidFill>
          <a:ln w="9525">
            <a:solidFill>
              <a:srgbClr val="FFFFFF">
                <a:alpha val="18000"/>
              </a:srgbClr>
            </a:solidFill>
            <a:prstDash val="solid"/>
          </a:ln>
        </p:spPr>
      </p:sp>
      <p:sp>
        <p:nvSpPr>
          <p:cNvPr id="11" name="Text 9"/>
          <p:cNvSpPr/>
          <p:nvPr/>
        </p:nvSpPr>
        <p:spPr>
          <a:xfrm>
            <a:off x="4603750" y="2371725"/>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836F"/>
                </a:solidFill>
                <a:latin typeface="Courier New" pitchFamily="49" charset="0"/>
                <a:ea typeface="Courier New" pitchFamily="49" charset="-122"/>
                <a:cs typeface="Courier New" pitchFamily="49" charset="-120"/>
              </a:rPr>
              <a:t>02</a:t>
            </a:r>
            <a:endParaRPr lang="en-US" sz="1200" dirty="0"/>
          </a:p>
        </p:txBody>
      </p:sp>
      <p:sp>
        <p:nvSpPr>
          <p:cNvPr id="12" name="Text 10"/>
          <p:cNvSpPr/>
          <p:nvPr/>
        </p:nvSpPr>
        <p:spPr>
          <a:xfrm>
            <a:off x="4603750" y="2661245"/>
            <a:ext cx="3067495"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Arial" pitchFamily="34" charset="0"/>
                <a:ea typeface="Arial" pitchFamily="34" charset="-122"/>
                <a:cs typeface="Arial" pitchFamily="34" charset="-120"/>
              </a:rPr>
              <a:t>Most memory operations are decisions</a:t>
            </a:r>
            <a:endParaRPr lang="en-US" sz="1600" dirty="0"/>
          </a:p>
        </p:txBody>
      </p:sp>
      <p:sp>
        <p:nvSpPr>
          <p:cNvPr id="13" name="Text 11"/>
          <p:cNvSpPr/>
          <p:nvPr/>
        </p:nvSpPr>
        <p:spPr>
          <a:xfrm>
            <a:off x="4603750" y="3225105"/>
            <a:ext cx="3067495"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EFEA"/>
                </a:solidFill>
                <a:latin typeface="Arial" pitchFamily="34" charset="0"/>
                <a:ea typeface="Arial" pitchFamily="34" charset="-122"/>
                <a:cs typeface="Arial" pitchFamily="34" charset="-120"/>
              </a:rPr>
              <a:t>Worth retaining? Which type? Does it contradict what is stored? Stale? Recall anything this turn? Bounded questions, bounded answers, answered today by a frontier LLM at one to three seconds each.</a:t>
            </a:r>
            <a:endParaRPr lang="en-US" sz="1200" dirty="0"/>
          </a:p>
        </p:txBody>
      </p:sp>
      <p:sp>
        <p:nvSpPr>
          <p:cNvPr id="14" name="Shape 12"/>
          <p:cNvSpPr/>
          <p:nvPr/>
        </p:nvSpPr>
        <p:spPr>
          <a:xfrm>
            <a:off x="7993063" y="2163763"/>
            <a:ext cx="3381375" cy="2720975"/>
          </a:xfrm>
          <a:prstGeom prst="roundRect">
            <a:avLst>
              <a:gd name="adj" fmla="val 5426"/>
            </a:avLst>
          </a:prstGeom>
          <a:solidFill>
            <a:srgbClr val="FFFFFF">
              <a:alpha val="6000"/>
            </a:srgbClr>
          </a:solidFill>
          <a:ln w="9525">
            <a:solidFill>
              <a:srgbClr val="FFFFFF">
                <a:alpha val="18000"/>
              </a:srgbClr>
            </a:solidFill>
            <a:prstDash val="solid"/>
          </a:ln>
        </p:spPr>
      </p:sp>
      <p:sp>
        <p:nvSpPr>
          <p:cNvPr id="15" name="Text 13"/>
          <p:cNvSpPr/>
          <p:nvPr/>
        </p:nvSpPr>
        <p:spPr>
          <a:xfrm>
            <a:off x="8191500" y="2371725"/>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836F"/>
                </a:solidFill>
                <a:latin typeface="Courier New" pitchFamily="49" charset="0"/>
                <a:ea typeface="Courier New" pitchFamily="49" charset="-122"/>
                <a:cs typeface="Courier New" pitchFamily="49" charset="-120"/>
              </a:rPr>
              <a:t>03</a:t>
            </a:r>
            <a:endParaRPr lang="en-US" sz="1200" dirty="0"/>
          </a:p>
        </p:txBody>
      </p:sp>
      <p:sp>
        <p:nvSpPr>
          <p:cNvPr id="16" name="Text 14"/>
          <p:cNvSpPr/>
          <p:nvPr/>
        </p:nvSpPr>
        <p:spPr>
          <a:xfrm>
            <a:off x="8191500" y="2661245"/>
            <a:ext cx="3074035"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Arial" pitchFamily="34" charset="0"/>
                <a:ea typeface="Arial" pitchFamily="34" charset="-122"/>
                <a:cs typeface="Arial" pitchFamily="34" charset="-120"/>
              </a:rPr>
              <a:t>The easiest models to keep training</a:t>
            </a:r>
            <a:endParaRPr lang="en-US" sz="1600" dirty="0"/>
          </a:p>
        </p:txBody>
      </p:sp>
      <p:sp>
        <p:nvSpPr>
          <p:cNvPr id="17" name="Text 15"/>
          <p:cNvSpPr/>
          <p:nvPr/>
        </p:nvSpPr>
        <p:spPr>
          <a:xfrm>
            <a:off x="8191500" y="3225105"/>
            <a:ext cx="3074035"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EFEA"/>
                </a:solidFill>
                <a:latin typeface="Arial" pitchFamily="34" charset="0"/>
                <a:ea typeface="Arial" pitchFamily="34" charset="-122"/>
                <a:cs typeface="Arial" pitchFamily="34" charset="-120"/>
              </a:rPr>
              <a:t>Bounded output means you always know whether the answer was right. The probability tells you which traces to collect next. The model is small, so weekly retraining is affordable.</a:t>
            </a:r>
            <a:endParaRPr lang="en-US" sz="1200" dirty="0"/>
          </a:p>
        </p:txBody>
      </p:sp>
      <p:sp>
        <p:nvSpPr>
          <p:cNvPr id="18" name="Text 16"/>
          <p:cNvSpPr/>
          <p:nvPr/>
        </p:nvSpPr>
        <p:spPr>
          <a:xfrm>
            <a:off x="812800" y="5143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Arial" pitchFamily="34" charset="0"/>
                <a:ea typeface="Arial" pitchFamily="34" charset="-122"/>
                <a:cs typeface="Arial" pitchFamily="34" charset="-120"/>
              </a:rPr>
              <a:t>If you are building agent memory now, the decision model is the first model worth owning.</a:t>
            </a:r>
            <a:endParaRPr lang="en-US" sz="1500" dirty="0"/>
          </a:p>
        </p:txBody>
      </p:sp>
      <p:sp>
        <p:nvSpPr>
          <p:cNvPr id="19"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Where decision models slot into the architecture</a:t>
            </a:r>
            <a:endParaRPr lang="en-US" sz="2800" dirty="0"/>
          </a:p>
        </p:txBody>
      </p:sp>
      <p:sp>
        <p:nvSpPr>
          <p:cNvPr id="4" name="Shape 2"/>
          <p:cNvSpPr/>
          <p:nvPr/>
        </p:nvSpPr>
        <p:spPr>
          <a:xfrm>
            <a:off x="817563" y="1401763"/>
            <a:ext cx="2479675" cy="3698875"/>
          </a:xfrm>
          <a:prstGeom prst="roundRect">
            <a:avLst>
              <a:gd name="adj" fmla="val 5442"/>
            </a:avLst>
          </a:prstGeom>
          <a:solidFill>
            <a:srgbClr val="FFFFFF">
              <a:alpha val="6000"/>
            </a:srgbClr>
          </a:solidFill>
          <a:ln w="9525">
            <a:solidFill>
              <a:srgbClr val="FFFFFF">
                <a:alpha val="18000"/>
              </a:srgbClr>
            </a:solidFill>
            <a:prstDash val="solid"/>
          </a:ln>
        </p:spPr>
      </p:sp>
      <p:sp>
        <p:nvSpPr>
          <p:cNvPr id="5" name="Text 3"/>
          <p:cNvSpPr/>
          <p:nvPr/>
        </p:nvSpPr>
        <p:spPr>
          <a:xfrm>
            <a:off x="965200" y="1500932"/>
            <a:ext cx="1836245" cy="218777"/>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DEB068"/>
                </a:solidFill>
                <a:latin typeface="Courier New" pitchFamily="49" charset="0"/>
                <a:ea typeface="Courier New" pitchFamily="49" charset="-122"/>
                <a:cs typeface="Courier New" pitchFamily="49" charset="-120"/>
              </a:rPr>
              <a:t>01 · SEMANTIC SEARCH</a:t>
            </a:r>
            <a:endParaRPr lang="en-US" sz="1086" dirty="0"/>
          </a:p>
        </p:txBody>
      </p:sp>
      <p:sp>
        <p:nvSpPr>
          <p:cNvPr id="6" name="Text 4"/>
          <p:cNvSpPr/>
          <p:nvPr/>
        </p:nvSpPr>
        <p:spPr>
          <a:xfrm>
            <a:off x="965200" y="1757809"/>
            <a:ext cx="1387872" cy="218728"/>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AEB9B7"/>
                </a:solidFill>
                <a:latin typeface="Courier New" pitchFamily="49" charset="0"/>
                <a:ea typeface="Courier New" pitchFamily="49" charset="-122"/>
                <a:cs typeface="Courier New" pitchFamily="49" charset="-120"/>
              </a:rPr>
              <a:t>EMBEDDING MODEL</a:t>
            </a:r>
            <a:endParaRPr lang="en-US" sz="1086" dirty="0"/>
          </a:p>
        </p:txBody>
      </p:sp>
      <p:sp>
        <p:nvSpPr>
          <p:cNvPr id="7" name="Text 5"/>
          <p:cNvSpPr/>
          <p:nvPr/>
        </p:nvSpPr>
        <p:spPr>
          <a:xfrm>
            <a:off x="965200" y="2014637"/>
            <a:ext cx="2249932" cy="616843"/>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Text to vectors, indexed once; nearest neighbours over the whole corpus.</a:t>
            </a:r>
            <a:endParaRPr lang="en-US" sz="1150" dirty="0"/>
          </a:p>
        </p:txBody>
      </p:sp>
      <p:sp>
        <p:nvSpPr>
          <p:cNvPr id="8" name="Text 6"/>
          <p:cNvSpPr/>
          <p:nvPr/>
        </p:nvSpPr>
        <p:spPr>
          <a:xfrm>
            <a:off x="965200" y="2713137"/>
            <a:ext cx="360164" cy="261739"/>
          </a:xfrm>
          <a:custGeom>
            <a:avLst/>
            <a:gdLst/>
            <a:ahLst/>
            <a:cxnLst/>
            <a:rect l="l" t="t" r="r" b="b"/>
            <a:pathLst>
              <a:path w="360164" h="261739">
                <a:moveTo>
                  <a:pt x="130870" y="0"/>
                </a:moveTo>
                <a:lnTo>
                  <a:pt x="229295" y="0"/>
                </a:lnTo>
                <a:arcTo hR="130870" wR="130870" stAng="16200000" swAng="5400000"/>
                <a:lnTo>
                  <a:pt x="360164" y="130870"/>
                </a:lnTo>
                <a:arcTo hR="130870" wR="130870" stAng="0" swAng="5400000"/>
                <a:lnTo>
                  <a:pt x="130870" y="261739"/>
                </a:lnTo>
                <a:arcTo hR="130870" wR="130870" stAng="5400000" swAng="5400000"/>
                <a:lnTo>
                  <a:pt x="0" y="130870"/>
                </a:lnTo>
                <a:arcTo hR="130870" wR="130870" stAng="10800000" swAng="5400000"/>
                <a:close/>
              </a:path>
            </a:pathLst>
          </a:custGeom>
          <a:solidFill>
            <a:srgbClr val="FFFFFF">
              <a:alpha val="10000"/>
            </a:srgbClr>
          </a:solidFill>
          <a:ln/>
        </p:spPr>
        <p:txBody>
          <a:bodyPr wrap="none" lIns="0" tIns="0" rIns="0" bIns="0" rtlCol="0" anchor="ctr">
            <a:normAutofit/>
          </a:bodyPr>
          <a:lstStyle/>
          <a:p>
            <a:pPr algn="ctr" indent="0" marL="0">
              <a:lnSpc>
                <a:spcPts val="1675"/>
              </a:lnSpc>
              <a:buNone/>
            </a:pPr>
            <a:r>
              <a:rPr lang="en-US" sz="1196" b="1" dirty="0">
                <a:solidFill>
                  <a:srgbClr val="FFFFFF"/>
                </a:solidFill>
                <a:latin typeface="Courier New" pitchFamily="49" charset="0"/>
                <a:ea typeface="Courier New" pitchFamily="49" charset="-122"/>
                <a:cs typeface="Courier New" pitchFamily="49" charset="-120"/>
              </a:rPr>
              <a:t>VS</a:t>
            </a:r>
            <a:endParaRPr lang="en-US" sz="1196" dirty="0"/>
          </a:p>
        </p:txBody>
      </p:sp>
      <p:sp>
        <p:nvSpPr>
          <p:cNvPr id="9" name="Text 7"/>
          <p:cNvSpPr/>
          <p:nvPr/>
        </p:nvSpPr>
        <p:spPr>
          <a:xfrm>
            <a:off x="965200" y="3038376"/>
            <a:ext cx="2111662" cy="218777"/>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E8836F"/>
                </a:solidFill>
                <a:latin typeface="Courier New" pitchFamily="49" charset="0"/>
                <a:ea typeface="Courier New" pitchFamily="49" charset="-122"/>
                <a:cs typeface="Courier New" pitchFamily="49" charset="-120"/>
              </a:rPr>
              <a:t>DM · RETRIEVAL DECISION</a:t>
            </a:r>
            <a:endParaRPr lang="en-US" sz="1086" dirty="0"/>
          </a:p>
        </p:txBody>
      </p:sp>
      <p:sp>
        <p:nvSpPr>
          <p:cNvPr id="10" name="Text 8"/>
          <p:cNvSpPr/>
          <p:nvPr/>
        </p:nvSpPr>
        <p:spPr>
          <a:xfrm>
            <a:off x="965200" y="3295253"/>
            <a:ext cx="2249932" cy="813991"/>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Does this turn need retrieval? Which store or index? It sees only the state; it cannot index a corpus.</a:t>
            </a:r>
            <a:endParaRPr lang="en-US" sz="1150" dirty="0"/>
          </a:p>
        </p:txBody>
      </p:sp>
      <p:sp>
        <p:nvSpPr>
          <p:cNvPr id="11" name="Shape 9"/>
          <p:cNvSpPr/>
          <p:nvPr/>
        </p:nvSpPr>
        <p:spPr>
          <a:xfrm>
            <a:off x="969963" y="4468416"/>
            <a:ext cx="2174875" cy="528290"/>
          </a:xfrm>
          <a:prstGeom prst="roundRect">
            <a:avLst>
              <a:gd name="adj" fmla="val 13522"/>
            </a:avLst>
          </a:prstGeom>
          <a:solidFill>
            <a:srgbClr val="C74634">
              <a:alpha val="28000"/>
            </a:srgbClr>
          </a:solidFill>
          <a:ln w="9525">
            <a:solidFill>
              <a:srgbClr val="C74634"/>
            </a:solidFill>
            <a:prstDash val="solid"/>
          </a:ln>
        </p:spPr>
      </p:sp>
      <p:sp>
        <p:nvSpPr>
          <p:cNvPr id="12" name="Text 10"/>
          <p:cNvSpPr/>
          <p:nvPr/>
        </p:nvSpPr>
        <p:spPr>
          <a:xfrm>
            <a:off x="1076325" y="4536678"/>
            <a:ext cx="2021014" cy="417165"/>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FFF"/>
                </a:solidFill>
                <a:latin typeface="Arial" pitchFamily="34" charset="0"/>
                <a:ea typeface="Arial" pitchFamily="34" charset="-122"/>
                <a:cs typeface="Arial" pitchFamily="34" charset="-120"/>
              </a:rPr>
              <a:t>KEEP BOTH. Embeddings recall, the model decides.</a:t>
            </a:r>
            <a:endParaRPr lang="en-US" sz="1200" dirty="0"/>
          </a:p>
        </p:txBody>
      </p:sp>
      <p:sp>
        <p:nvSpPr>
          <p:cNvPr id="13" name="Shape 11"/>
          <p:cNvSpPr/>
          <p:nvPr/>
        </p:nvSpPr>
        <p:spPr>
          <a:xfrm>
            <a:off x="3509963" y="1401763"/>
            <a:ext cx="2479675" cy="3698875"/>
          </a:xfrm>
          <a:prstGeom prst="roundRect">
            <a:avLst>
              <a:gd name="adj" fmla="val 5442"/>
            </a:avLst>
          </a:prstGeom>
          <a:solidFill>
            <a:srgbClr val="FFFFFF">
              <a:alpha val="6000"/>
            </a:srgbClr>
          </a:solidFill>
          <a:ln w="9525">
            <a:solidFill>
              <a:srgbClr val="FFFFFF">
                <a:alpha val="18000"/>
              </a:srgbClr>
            </a:solidFill>
            <a:prstDash val="solid"/>
          </a:ln>
        </p:spPr>
      </p:sp>
      <p:sp>
        <p:nvSpPr>
          <p:cNvPr id="14" name="Text 12"/>
          <p:cNvSpPr/>
          <p:nvPr/>
        </p:nvSpPr>
        <p:spPr>
          <a:xfrm>
            <a:off x="3657600" y="1500932"/>
            <a:ext cx="1298724" cy="218777"/>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DEB068"/>
                </a:solidFill>
                <a:latin typeface="Courier New" pitchFamily="49" charset="0"/>
                <a:ea typeface="Courier New" pitchFamily="49" charset="-122"/>
                <a:cs typeface="Courier New" pitchFamily="49" charset="-120"/>
              </a:rPr>
              <a:t>02 · RERANKING</a:t>
            </a:r>
            <a:endParaRPr lang="en-US" sz="1086" dirty="0"/>
          </a:p>
        </p:txBody>
      </p:sp>
      <p:sp>
        <p:nvSpPr>
          <p:cNvPr id="15" name="Text 13"/>
          <p:cNvSpPr/>
          <p:nvPr/>
        </p:nvSpPr>
        <p:spPr>
          <a:xfrm>
            <a:off x="3657600" y="1757809"/>
            <a:ext cx="2019839" cy="218728"/>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AEB9B7"/>
                </a:solidFill>
                <a:latin typeface="Courier New" pitchFamily="49" charset="0"/>
                <a:ea typeface="Courier New" pitchFamily="49" charset="-122"/>
                <a:cs typeface="Courier New" pitchFamily="49" charset="-120"/>
              </a:rPr>
              <a:t>CROSS-ENCODER RERANKER</a:t>
            </a:r>
            <a:endParaRPr lang="en-US" sz="1086" dirty="0"/>
          </a:p>
        </p:txBody>
      </p:sp>
      <p:sp>
        <p:nvSpPr>
          <p:cNvPr id="16" name="Text 14"/>
          <p:cNvSpPr/>
          <p:nvPr/>
        </p:nvSpPr>
        <p:spPr>
          <a:xfrm>
            <a:off x="3657600" y="2014637"/>
            <a:ext cx="2249932" cy="616843"/>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Scores each query and passage pair; reorders a fixed top-k from recall.</a:t>
            </a:r>
            <a:endParaRPr lang="en-US" sz="1150" dirty="0"/>
          </a:p>
        </p:txBody>
      </p:sp>
      <p:sp>
        <p:nvSpPr>
          <p:cNvPr id="17" name="Text 15"/>
          <p:cNvSpPr/>
          <p:nvPr/>
        </p:nvSpPr>
        <p:spPr>
          <a:xfrm>
            <a:off x="3657600" y="2713137"/>
            <a:ext cx="360164" cy="261739"/>
          </a:xfrm>
          <a:custGeom>
            <a:avLst/>
            <a:gdLst/>
            <a:ahLst/>
            <a:cxnLst/>
            <a:rect l="l" t="t" r="r" b="b"/>
            <a:pathLst>
              <a:path w="360164" h="261739">
                <a:moveTo>
                  <a:pt x="130870" y="0"/>
                </a:moveTo>
                <a:lnTo>
                  <a:pt x="229295" y="0"/>
                </a:lnTo>
                <a:arcTo hR="130870" wR="130870" stAng="16200000" swAng="5400000"/>
                <a:lnTo>
                  <a:pt x="360164" y="130870"/>
                </a:lnTo>
                <a:arcTo hR="130870" wR="130870" stAng="0" swAng="5400000"/>
                <a:lnTo>
                  <a:pt x="130870" y="261739"/>
                </a:lnTo>
                <a:arcTo hR="130870" wR="130870" stAng="5400000" swAng="5400000"/>
                <a:lnTo>
                  <a:pt x="0" y="130870"/>
                </a:lnTo>
                <a:arcTo hR="130870" wR="130870" stAng="10800000" swAng="5400000"/>
                <a:close/>
              </a:path>
            </a:pathLst>
          </a:custGeom>
          <a:solidFill>
            <a:srgbClr val="FFFFFF">
              <a:alpha val="10000"/>
            </a:srgbClr>
          </a:solidFill>
          <a:ln/>
        </p:spPr>
        <p:txBody>
          <a:bodyPr wrap="none" lIns="0" tIns="0" rIns="0" bIns="0" rtlCol="0" anchor="ctr">
            <a:normAutofit/>
          </a:bodyPr>
          <a:lstStyle/>
          <a:p>
            <a:pPr algn="ctr" indent="0" marL="0">
              <a:lnSpc>
                <a:spcPts val="1675"/>
              </a:lnSpc>
              <a:buNone/>
            </a:pPr>
            <a:r>
              <a:rPr lang="en-US" sz="1196" b="1" dirty="0">
                <a:solidFill>
                  <a:srgbClr val="FFFFFF"/>
                </a:solidFill>
                <a:latin typeface="Courier New" pitchFamily="49" charset="0"/>
                <a:ea typeface="Courier New" pitchFamily="49" charset="-122"/>
                <a:cs typeface="Courier New" pitchFamily="49" charset="-120"/>
              </a:rPr>
              <a:t>VS</a:t>
            </a:r>
            <a:endParaRPr lang="en-US" sz="1196" dirty="0"/>
          </a:p>
        </p:txBody>
      </p:sp>
      <p:sp>
        <p:nvSpPr>
          <p:cNvPr id="18" name="Text 16"/>
          <p:cNvSpPr/>
          <p:nvPr/>
        </p:nvSpPr>
        <p:spPr>
          <a:xfrm>
            <a:off x="3657600" y="3038376"/>
            <a:ext cx="1836245" cy="218777"/>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E8836F"/>
                </a:solidFill>
                <a:latin typeface="Courier New" pitchFamily="49" charset="0"/>
                <a:ea typeface="Courier New" pitchFamily="49" charset="-122"/>
                <a:cs typeface="Courier New" pitchFamily="49" charset="-120"/>
              </a:rPr>
              <a:t>DM · RELEVANCE SCORE</a:t>
            </a:r>
            <a:endParaRPr lang="en-US" sz="1086" dirty="0"/>
          </a:p>
        </p:txBody>
      </p:sp>
      <p:sp>
        <p:nvSpPr>
          <p:cNvPr id="19" name="Text 17"/>
          <p:cNvSpPr/>
          <p:nvPr/>
        </p:nvSpPr>
        <p:spPr>
          <a:xfrm>
            <a:off x="3657600" y="3295253"/>
            <a:ext cx="2249932" cy="616843"/>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A calibrated score per candidate, and is the evidence enough? A threshold instead of a fixed top-k.</a:t>
            </a:r>
            <a:endParaRPr lang="en-US" sz="1150" dirty="0"/>
          </a:p>
        </p:txBody>
      </p:sp>
      <p:sp>
        <p:nvSpPr>
          <p:cNvPr id="20" name="Shape 18"/>
          <p:cNvSpPr/>
          <p:nvPr/>
        </p:nvSpPr>
        <p:spPr>
          <a:xfrm>
            <a:off x="3662362" y="4468416"/>
            <a:ext cx="2174875" cy="528290"/>
          </a:xfrm>
          <a:prstGeom prst="roundRect">
            <a:avLst>
              <a:gd name="adj" fmla="val 13522"/>
            </a:avLst>
          </a:prstGeom>
          <a:solidFill>
            <a:srgbClr val="C74634">
              <a:alpha val="28000"/>
            </a:srgbClr>
          </a:solidFill>
          <a:ln w="9525">
            <a:solidFill>
              <a:srgbClr val="C74634"/>
            </a:solidFill>
            <a:prstDash val="solid"/>
          </a:ln>
        </p:spPr>
      </p:sp>
      <p:sp>
        <p:nvSpPr>
          <p:cNvPr id="21" name="Text 19"/>
          <p:cNvSpPr/>
          <p:nvPr/>
        </p:nvSpPr>
        <p:spPr>
          <a:xfrm>
            <a:off x="3768725" y="4536678"/>
            <a:ext cx="2021014" cy="417165"/>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FFF"/>
                </a:solidFill>
                <a:latin typeface="Arial" pitchFamily="34" charset="0"/>
                <a:ea typeface="Arial" pitchFamily="34" charset="-122"/>
                <a:cs typeface="Arial" pitchFamily="34" charset="-120"/>
              </a:rPr>
              <a:t>CLOSEST FIT. A near drop-in for the reranker.</a:t>
            </a:r>
            <a:endParaRPr lang="en-US" sz="1200" dirty="0"/>
          </a:p>
        </p:txBody>
      </p:sp>
      <p:sp>
        <p:nvSpPr>
          <p:cNvPr id="22" name="Shape 20"/>
          <p:cNvSpPr/>
          <p:nvPr/>
        </p:nvSpPr>
        <p:spPr>
          <a:xfrm>
            <a:off x="6202363" y="1401763"/>
            <a:ext cx="2479675" cy="3698875"/>
          </a:xfrm>
          <a:prstGeom prst="roundRect">
            <a:avLst>
              <a:gd name="adj" fmla="val 5442"/>
            </a:avLst>
          </a:prstGeom>
          <a:solidFill>
            <a:srgbClr val="FFFFFF">
              <a:alpha val="6000"/>
            </a:srgbClr>
          </a:solidFill>
          <a:ln w="9525">
            <a:solidFill>
              <a:srgbClr val="FFFFFF">
                <a:alpha val="18000"/>
              </a:srgbClr>
            </a:solidFill>
            <a:prstDash val="solid"/>
          </a:ln>
        </p:spPr>
      </p:sp>
      <p:sp>
        <p:nvSpPr>
          <p:cNvPr id="23" name="Text 21"/>
          <p:cNvSpPr/>
          <p:nvPr/>
        </p:nvSpPr>
        <p:spPr>
          <a:xfrm>
            <a:off x="6350000" y="1500932"/>
            <a:ext cx="2019839" cy="218777"/>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DEB068"/>
                </a:solidFill>
                <a:latin typeface="Courier New" pitchFamily="49" charset="0"/>
                <a:ea typeface="Courier New" pitchFamily="49" charset="-122"/>
                <a:cs typeface="Courier New" pitchFamily="49" charset="-120"/>
              </a:rPr>
              <a:t>03 · TOOLBOX, SKILLBOX</a:t>
            </a:r>
            <a:endParaRPr lang="en-US" sz="1086" dirty="0"/>
          </a:p>
        </p:txBody>
      </p:sp>
      <p:sp>
        <p:nvSpPr>
          <p:cNvPr id="24" name="Text 22"/>
          <p:cNvSpPr/>
          <p:nvPr/>
        </p:nvSpPr>
        <p:spPr>
          <a:xfrm>
            <a:off x="6350000" y="1757809"/>
            <a:ext cx="1209576" cy="218728"/>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AEB9B7"/>
                </a:solidFill>
                <a:latin typeface="Courier New" pitchFamily="49" charset="0"/>
                <a:ea typeface="Courier New" pitchFamily="49" charset="-122"/>
                <a:cs typeface="Courier New" pitchFamily="49" charset="-120"/>
              </a:rPr>
              <a:t>VECTOR SEARCH</a:t>
            </a:r>
            <a:endParaRPr lang="en-US" sz="1086" dirty="0"/>
          </a:p>
        </p:txBody>
      </p:sp>
      <p:sp>
        <p:nvSpPr>
          <p:cNvPr id="25" name="Text 23"/>
          <p:cNvSpPr/>
          <p:nvPr/>
        </p:nvSpPr>
        <p:spPr>
          <a:xfrm>
            <a:off x="6350000" y="2014637"/>
            <a:ext cx="2249932" cy="419695"/>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Embed tool and skill descriptions; top-k by similarity to the request.</a:t>
            </a:r>
            <a:endParaRPr lang="en-US" sz="1150" dirty="0"/>
          </a:p>
        </p:txBody>
      </p:sp>
      <p:sp>
        <p:nvSpPr>
          <p:cNvPr id="26" name="Text 24"/>
          <p:cNvSpPr/>
          <p:nvPr/>
        </p:nvSpPr>
        <p:spPr>
          <a:xfrm>
            <a:off x="6350000" y="2713137"/>
            <a:ext cx="360164" cy="261739"/>
          </a:xfrm>
          <a:custGeom>
            <a:avLst/>
            <a:gdLst/>
            <a:ahLst/>
            <a:cxnLst/>
            <a:rect l="l" t="t" r="r" b="b"/>
            <a:pathLst>
              <a:path w="360164" h="261739">
                <a:moveTo>
                  <a:pt x="130870" y="0"/>
                </a:moveTo>
                <a:lnTo>
                  <a:pt x="229295" y="0"/>
                </a:lnTo>
                <a:arcTo hR="130870" wR="130870" stAng="16200000" swAng="5400000"/>
                <a:lnTo>
                  <a:pt x="360164" y="130870"/>
                </a:lnTo>
                <a:arcTo hR="130870" wR="130870" stAng="0" swAng="5400000"/>
                <a:lnTo>
                  <a:pt x="130870" y="261739"/>
                </a:lnTo>
                <a:arcTo hR="130870" wR="130870" stAng="5400000" swAng="5400000"/>
                <a:lnTo>
                  <a:pt x="0" y="130870"/>
                </a:lnTo>
                <a:arcTo hR="130870" wR="130870" stAng="10800000" swAng="5400000"/>
                <a:close/>
              </a:path>
            </a:pathLst>
          </a:custGeom>
          <a:solidFill>
            <a:srgbClr val="FFFFFF">
              <a:alpha val="10000"/>
            </a:srgbClr>
          </a:solidFill>
          <a:ln/>
        </p:spPr>
        <p:txBody>
          <a:bodyPr wrap="none" lIns="0" tIns="0" rIns="0" bIns="0" rtlCol="0" anchor="ctr">
            <a:normAutofit/>
          </a:bodyPr>
          <a:lstStyle/>
          <a:p>
            <a:pPr algn="ctr" indent="0" marL="0">
              <a:lnSpc>
                <a:spcPts val="1675"/>
              </a:lnSpc>
              <a:buNone/>
            </a:pPr>
            <a:r>
              <a:rPr lang="en-US" sz="1196" b="1" dirty="0">
                <a:solidFill>
                  <a:srgbClr val="FFFFFF"/>
                </a:solidFill>
                <a:latin typeface="Courier New" pitchFamily="49" charset="0"/>
                <a:ea typeface="Courier New" pitchFamily="49" charset="-122"/>
                <a:cs typeface="Courier New" pitchFamily="49" charset="-120"/>
              </a:rPr>
              <a:t>VS</a:t>
            </a:r>
            <a:endParaRPr lang="en-US" sz="1196" dirty="0"/>
          </a:p>
        </p:txBody>
      </p:sp>
      <p:sp>
        <p:nvSpPr>
          <p:cNvPr id="27" name="Text 25"/>
          <p:cNvSpPr/>
          <p:nvPr/>
        </p:nvSpPr>
        <p:spPr>
          <a:xfrm>
            <a:off x="6350000" y="3038376"/>
            <a:ext cx="1477020" cy="218777"/>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E8836F"/>
                </a:solidFill>
                <a:latin typeface="Courier New" pitchFamily="49" charset="0"/>
                <a:ea typeface="Courier New" pitchFamily="49" charset="-122"/>
                <a:cs typeface="Courier New" pitchFamily="49" charset="-120"/>
              </a:rPr>
              <a:t>DM · TOOL CHOICE</a:t>
            </a:r>
            <a:endParaRPr lang="en-US" sz="1086" dirty="0"/>
          </a:p>
        </p:txBody>
      </p:sp>
      <p:sp>
        <p:nvSpPr>
          <p:cNvPr id="28" name="Text 26"/>
          <p:cNvSpPr/>
          <p:nvPr/>
        </p:nvSpPr>
        <p:spPr>
          <a:xfrm>
            <a:off x="6350000" y="3295253"/>
            <a:ext cx="2249932" cy="616843"/>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Choice over the registry: it can only return a tool that exists, and a risk score before the call runs.</a:t>
            </a:r>
            <a:endParaRPr lang="en-US" sz="1150" dirty="0"/>
          </a:p>
        </p:txBody>
      </p:sp>
      <p:sp>
        <p:nvSpPr>
          <p:cNvPr id="29" name="Shape 27"/>
          <p:cNvSpPr/>
          <p:nvPr/>
        </p:nvSpPr>
        <p:spPr>
          <a:xfrm>
            <a:off x="6354763" y="4468416"/>
            <a:ext cx="2174875" cy="528290"/>
          </a:xfrm>
          <a:prstGeom prst="roundRect">
            <a:avLst>
              <a:gd name="adj" fmla="val 13522"/>
            </a:avLst>
          </a:prstGeom>
          <a:solidFill>
            <a:srgbClr val="C74634">
              <a:alpha val="28000"/>
            </a:srgbClr>
          </a:solidFill>
          <a:ln w="9525">
            <a:solidFill>
              <a:srgbClr val="C74634"/>
            </a:solidFill>
            <a:prstDash val="solid"/>
          </a:ln>
        </p:spPr>
      </p:sp>
      <p:sp>
        <p:nvSpPr>
          <p:cNvPr id="30" name="Text 28"/>
          <p:cNvSpPr/>
          <p:nvPr/>
        </p:nvSpPr>
        <p:spPr>
          <a:xfrm>
            <a:off x="6461125" y="4536678"/>
            <a:ext cx="2021014" cy="417165"/>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FFF"/>
                </a:solidFill>
                <a:latin typeface="Arial" pitchFamily="34" charset="0"/>
                <a:ea typeface="Arial" pitchFamily="34" charset="-122"/>
                <a:cs typeface="Arial" pitchFamily="34" charset="-120"/>
              </a:rPr>
              <a:t>STRONG FIT. Select and gate in one pass.</a:t>
            </a:r>
            <a:endParaRPr lang="en-US" sz="1200" dirty="0"/>
          </a:p>
        </p:txBody>
      </p:sp>
      <p:sp>
        <p:nvSpPr>
          <p:cNvPr id="31" name="Shape 29"/>
          <p:cNvSpPr/>
          <p:nvPr/>
        </p:nvSpPr>
        <p:spPr>
          <a:xfrm>
            <a:off x="8894763" y="1401763"/>
            <a:ext cx="2479675" cy="3698875"/>
          </a:xfrm>
          <a:prstGeom prst="roundRect">
            <a:avLst>
              <a:gd name="adj" fmla="val 5442"/>
            </a:avLst>
          </a:prstGeom>
          <a:solidFill>
            <a:srgbClr val="FFFFFF">
              <a:alpha val="6000"/>
            </a:srgbClr>
          </a:solidFill>
          <a:ln w="9525">
            <a:solidFill>
              <a:srgbClr val="FFFFFF">
                <a:alpha val="18000"/>
              </a:srgbClr>
            </a:solidFill>
            <a:prstDash val="solid"/>
          </a:ln>
        </p:spPr>
      </p:sp>
      <p:sp>
        <p:nvSpPr>
          <p:cNvPr id="32" name="Text 30"/>
          <p:cNvSpPr/>
          <p:nvPr/>
        </p:nvSpPr>
        <p:spPr>
          <a:xfrm>
            <a:off x="9042400" y="1500932"/>
            <a:ext cx="1566118" cy="218777"/>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DEB068"/>
                </a:solidFill>
                <a:latin typeface="Courier New" pitchFamily="49" charset="0"/>
                <a:ea typeface="Courier New" pitchFamily="49" charset="-122"/>
                <a:cs typeface="Courier New" pitchFamily="49" charset="-120"/>
              </a:rPr>
              <a:t>04 · MEMORY WRITE</a:t>
            </a:r>
            <a:endParaRPr lang="en-US" sz="1086" dirty="0"/>
          </a:p>
        </p:txBody>
      </p:sp>
      <p:sp>
        <p:nvSpPr>
          <p:cNvPr id="33" name="Text 31"/>
          <p:cNvSpPr/>
          <p:nvPr/>
        </p:nvSpPr>
        <p:spPr>
          <a:xfrm>
            <a:off x="9042400" y="1757809"/>
            <a:ext cx="1298724" cy="218728"/>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AEB9B7"/>
                </a:solidFill>
                <a:latin typeface="Courier New" pitchFamily="49" charset="0"/>
                <a:ea typeface="Courier New" pitchFamily="49" charset="-122"/>
                <a:cs typeface="Courier New" pitchFamily="49" charset="-120"/>
              </a:rPr>
              <a:t>LLM EXTRACTION</a:t>
            </a:r>
            <a:endParaRPr lang="en-US" sz="1086" dirty="0"/>
          </a:p>
        </p:txBody>
      </p:sp>
      <p:sp>
        <p:nvSpPr>
          <p:cNvPr id="34" name="Text 32"/>
          <p:cNvSpPr/>
          <p:nvPr/>
        </p:nvSpPr>
        <p:spPr>
          <a:xfrm>
            <a:off x="9042400" y="2014637"/>
            <a:ext cx="2249932" cy="616843"/>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The chat model reads the turn and writes the facts it finds, as text.</a:t>
            </a:r>
            <a:endParaRPr lang="en-US" sz="1150" dirty="0"/>
          </a:p>
        </p:txBody>
      </p:sp>
      <p:sp>
        <p:nvSpPr>
          <p:cNvPr id="35" name="Text 33"/>
          <p:cNvSpPr/>
          <p:nvPr/>
        </p:nvSpPr>
        <p:spPr>
          <a:xfrm>
            <a:off x="9042400" y="2713137"/>
            <a:ext cx="542479" cy="261739"/>
          </a:xfrm>
          <a:custGeom>
            <a:avLst/>
            <a:gdLst/>
            <a:ahLst/>
            <a:cxnLst/>
            <a:rect l="l" t="t" r="r" b="b"/>
            <a:pathLst>
              <a:path w="542479" h="261739">
                <a:moveTo>
                  <a:pt x="130870" y="0"/>
                </a:moveTo>
                <a:lnTo>
                  <a:pt x="411609" y="0"/>
                </a:lnTo>
                <a:arcTo hR="130870" wR="130870" stAng="16200000" swAng="5400000"/>
                <a:lnTo>
                  <a:pt x="542479" y="130870"/>
                </a:lnTo>
                <a:arcTo hR="130870" wR="130870" stAng="0" swAng="5400000"/>
                <a:lnTo>
                  <a:pt x="130870" y="261739"/>
                </a:lnTo>
                <a:arcTo hR="130870" wR="130870" stAng="5400000" swAng="5400000"/>
                <a:lnTo>
                  <a:pt x="0" y="130870"/>
                </a:lnTo>
                <a:arcTo hR="130870" wR="130870" stAng="10800000" swAng="5400000"/>
                <a:close/>
              </a:path>
            </a:pathLst>
          </a:custGeom>
          <a:solidFill>
            <a:srgbClr val="FFFFFF">
              <a:alpha val="10000"/>
            </a:srgbClr>
          </a:solidFill>
          <a:ln/>
        </p:spPr>
        <p:txBody>
          <a:bodyPr wrap="none" lIns="0" tIns="0" rIns="0" bIns="0" rtlCol="0" anchor="ctr">
            <a:normAutofit/>
          </a:bodyPr>
          <a:lstStyle/>
          <a:p>
            <a:pPr algn="ctr" indent="0" marL="0">
              <a:lnSpc>
                <a:spcPts val="1675"/>
              </a:lnSpc>
              <a:buNone/>
            </a:pPr>
            <a:r>
              <a:rPr lang="en-US" sz="1196" b="1" dirty="0">
                <a:solidFill>
                  <a:srgbClr val="FFFFFF"/>
                </a:solidFill>
                <a:latin typeface="Courier New" pitchFamily="49" charset="0"/>
                <a:ea typeface="Courier New" pitchFamily="49" charset="-122"/>
                <a:cs typeface="Courier New" pitchFamily="49" charset="-120"/>
              </a:rPr>
              <a:t>WITH</a:t>
            </a:r>
            <a:endParaRPr lang="en-US" sz="1196" dirty="0"/>
          </a:p>
        </p:txBody>
      </p:sp>
      <p:sp>
        <p:nvSpPr>
          <p:cNvPr id="36" name="Text 34"/>
          <p:cNvSpPr/>
          <p:nvPr/>
        </p:nvSpPr>
        <p:spPr>
          <a:xfrm>
            <a:off x="9042400" y="3038376"/>
            <a:ext cx="1566118" cy="218777"/>
          </a:xfrm>
          <a:prstGeom prst="rect">
            <a:avLst/>
          </a:prstGeom>
          <a:noFill/>
          <a:ln/>
        </p:spPr>
        <p:txBody>
          <a:bodyPr wrap="none" lIns="0" tIns="0" rIns="0" bIns="0" rtlCol="0" anchor="t">
            <a:normAutofit/>
          </a:bodyPr>
          <a:lstStyle/>
          <a:p>
            <a:pPr algn="l" indent="0" marL="0">
              <a:lnSpc>
                <a:spcPts val="1521"/>
              </a:lnSpc>
              <a:buNone/>
            </a:pPr>
            <a:r>
              <a:rPr lang="en-US" sz="1086" spc="50" kern="0" dirty="0">
                <a:solidFill>
                  <a:srgbClr val="E8836F"/>
                </a:solidFill>
                <a:latin typeface="Courier New" pitchFamily="49" charset="0"/>
                <a:ea typeface="Courier New" pitchFamily="49" charset="-122"/>
                <a:cs typeface="Courier New" pitchFamily="49" charset="-120"/>
              </a:rPr>
              <a:t>DM · WRITE ROUTER</a:t>
            </a:r>
            <a:endParaRPr lang="en-US" sz="1086" dirty="0"/>
          </a:p>
        </p:txBody>
      </p:sp>
      <p:sp>
        <p:nvSpPr>
          <p:cNvPr id="37" name="Text 35"/>
          <p:cNvSpPr/>
          <p:nvPr/>
        </p:nvSpPr>
        <p:spPr>
          <a:xfrm>
            <a:off x="9042400" y="3295253"/>
            <a:ext cx="2249932" cy="616843"/>
          </a:xfrm>
          <a:prstGeom prst="rect">
            <a:avLst/>
          </a:prstGeom>
          <a:noFill/>
          <a:ln/>
        </p:spPr>
        <p:txBody>
          <a:bodyPr wrap="square" lIns="0" tIns="0" rIns="0" bIns="0" rtlCol="0" anchor="t">
            <a:normAutofit/>
          </a:bodyPr>
          <a:lstStyle/>
          <a:p>
            <a:pPr algn="l" indent="0" marL="0">
              <a:lnSpc>
                <a:spcPts val="1553"/>
              </a:lnSpc>
              <a:buNone/>
            </a:pPr>
            <a:r>
              <a:rPr lang="en-US" sz="1150" dirty="0">
                <a:solidFill>
                  <a:srgbClr val="F2EFEA"/>
                </a:solidFill>
                <a:latin typeface="Arial" pitchFamily="34" charset="0"/>
                <a:ea typeface="Arial" pitchFamily="34" charset="-122"/>
                <a:cs typeface="Arial" pitchFamily="34" charset="-120"/>
              </a:rPr>
              <a:t>Worth remembering? Which type: episodic, semantic, procedural? Or straight to decay?</a:t>
            </a:r>
            <a:endParaRPr lang="en-US" sz="1150" dirty="0"/>
          </a:p>
        </p:txBody>
      </p:sp>
      <p:sp>
        <p:nvSpPr>
          <p:cNvPr id="38" name="Shape 36"/>
          <p:cNvSpPr/>
          <p:nvPr/>
        </p:nvSpPr>
        <p:spPr>
          <a:xfrm>
            <a:off x="9047163" y="4468416"/>
            <a:ext cx="2174875" cy="528290"/>
          </a:xfrm>
          <a:prstGeom prst="roundRect">
            <a:avLst>
              <a:gd name="adj" fmla="val 13522"/>
            </a:avLst>
          </a:prstGeom>
          <a:solidFill>
            <a:srgbClr val="C74634">
              <a:alpha val="28000"/>
            </a:srgbClr>
          </a:solidFill>
          <a:ln w="9525">
            <a:solidFill>
              <a:srgbClr val="C74634"/>
            </a:solidFill>
            <a:prstDash val="solid"/>
          </a:ln>
        </p:spPr>
      </p:sp>
      <p:sp>
        <p:nvSpPr>
          <p:cNvPr id="39" name="Text 37"/>
          <p:cNvSpPr/>
          <p:nvPr/>
        </p:nvSpPr>
        <p:spPr>
          <a:xfrm>
            <a:off x="9153525" y="4536678"/>
            <a:ext cx="2021014" cy="417165"/>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FFF"/>
                </a:solidFill>
                <a:latin typeface="Arial" pitchFamily="34" charset="0"/>
                <a:ea typeface="Arial" pitchFamily="34" charset="-122"/>
                <a:cs typeface="Arial" pitchFamily="34" charset="-120"/>
              </a:rPr>
              <a:t>WITH THE LLM. It writes, the model routes.</a:t>
            </a:r>
            <a:endParaRPr lang="en-US" sz="1200" dirty="0"/>
          </a:p>
        </p:txBody>
      </p:sp>
      <p:sp>
        <p:nvSpPr>
          <p:cNvPr id="40" name="Shape 38"/>
          <p:cNvSpPr/>
          <p:nvPr/>
        </p:nvSpPr>
        <p:spPr>
          <a:xfrm>
            <a:off x="817563" y="5186363"/>
            <a:ext cx="10556875" cy="625475"/>
          </a:xfrm>
          <a:prstGeom prst="roundRect">
            <a:avLst>
              <a:gd name="adj" fmla="val 19543"/>
            </a:avLst>
          </a:prstGeom>
          <a:solidFill>
            <a:srgbClr val="DEB068">
              <a:alpha val="6000"/>
            </a:srgbClr>
          </a:solidFill>
          <a:ln w="9525">
            <a:solidFill>
              <a:srgbClr val="DEB068">
                <a:alpha val="45000"/>
              </a:srgbClr>
            </a:solidFill>
            <a:prstDash val="solid"/>
          </a:ln>
        </p:spPr>
      </p:sp>
      <p:sp>
        <p:nvSpPr>
          <p:cNvPr id="41" name="Text 39"/>
          <p:cNvSpPr/>
          <p:nvPr/>
        </p:nvSpPr>
        <p:spPr>
          <a:xfrm>
            <a:off x="1016000" y="5392440"/>
            <a:ext cx="294322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MEMORY SUBSTRATE · THE DATABASE</a:t>
            </a:r>
            <a:endParaRPr lang="en-US" sz="1200" dirty="0"/>
          </a:p>
        </p:txBody>
      </p:sp>
      <p:sp>
        <p:nvSpPr>
          <p:cNvPr id="42" name="Text 40"/>
          <p:cNvSpPr/>
          <p:nvPr/>
        </p:nvSpPr>
        <p:spPr>
          <a:xfrm>
            <a:off x="4025900" y="5293370"/>
            <a:ext cx="470916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EB9B7"/>
                </a:solidFill>
                <a:latin typeface="Arial" pitchFamily="34" charset="0"/>
                <a:ea typeface="Arial" pitchFamily="34" charset="-122"/>
                <a:cs typeface="Arial" pitchFamily="34" charset="-120"/>
              </a:rPr>
              <a:t>recall feeds 01; routed writes from 04 land as episodic, semantic or procedural memory</a:t>
            </a:r>
            <a:endParaRPr lang="en-US" sz="1200" dirty="0"/>
          </a:p>
        </p:txBody>
      </p:sp>
      <p:sp>
        <p:nvSpPr>
          <p:cNvPr id="43" name="Text 41"/>
          <p:cNvSpPr/>
          <p:nvPr/>
        </p:nvSpPr>
        <p:spPr>
          <a:xfrm>
            <a:off x="8907463" y="5336877"/>
            <a:ext cx="2263775" cy="324445"/>
          </a:xfrm>
          <a:prstGeom prst="roundRect">
            <a:avLst>
              <a:gd name="adj" fmla="val 50000"/>
            </a:avLst>
          </a:prstGeom>
          <a:solidFill>
            <a:srgbClr val="C74634">
              <a:alpha val="28000"/>
            </a:srgbClr>
          </a:solidFill>
          <a:ln w="9525">
            <a:solidFill>
              <a:srgbClr val="C74634"/>
            </a:solidFill>
            <a:prstDash val="solid"/>
          </a:ln>
        </p:spPr>
        <p:txBody>
          <a:bodyPr wrap="none" lIns="58849" tIns="8049" rIns="0" bIns="0" rtlCol="0" anchor="t">
            <a:normAutofit/>
          </a:bodyPr>
          <a:lstStyle/>
          <a:p>
            <a:pPr algn="l" indent="0" marL="0">
              <a:lnSpc>
                <a:spcPts val="1680"/>
              </a:lnSpc>
              <a:buNone/>
            </a:pPr>
            <a:r>
              <a:rPr lang="en-US" sz="1200" b="1" dirty="0">
                <a:solidFill>
                  <a:srgbClr val="FFFFFF"/>
                </a:solidFill>
                <a:latin typeface="Courier New" pitchFamily="49" charset="0"/>
                <a:ea typeface="Courier New" pitchFamily="49" charset="-122"/>
                <a:cs typeface="Courier New" pitchFamily="49" charset="-120"/>
              </a:rPr>
              <a:t>Decay · forget, don’t delete</a:t>
            </a:r>
            <a:endParaRPr lang="en-US" sz="1200" dirty="0"/>
          </a:p>
        </p:txBody>
      </p:sp>
      <p:sp>
        <p:nvSpPr>
          <p:cNvPr id="44" name="Text 4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DECISION MODELS · IN THE NOTEBOOK YOU JUST RAN</a:t>
            </a:r>
            <a:endParaRPr lang="en-US" sz="1200" dirty="0"/>
          </a:p>
        </p:txBody>
      </p:sp>
      <p:sp>
        <p:nvSpPr>
          <p:cNvPr id="4" name="Text 2"/>
          <p:cNvSpPr/>
          <p:nvPr>
            <p:ph type="title"/>
          </p:nvPr>
        </p:nvSpPr>
        <p:spPr>
          <a:xfrm>
            <a:off x="812800" y="889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A decision model hiding in plain sight</a:t>
            </a:r>
            <a:endParaRPr lang="en-US" sz="2800" dirty="0"/>
          </a:p>
        </p:txBody>
      </p:sp>
      <p:sp>
        <p:nvSpPr>
          <p:cNvPr id="5" name="Shape 3"/>
          <p:cNvSpPr/>
          <p:nvPr/>
        </p:nvSpPr>
        <p:spPr>
          <a:xfrm>
            <a:off x="815975" y="1501775"/>
            <a:ext cx="6343650" cy="2724150"/>
          </a:xfrm>
          <a:prstGeom prst="roundRect">
            <a:avLst>
              <a:gd name="adj" fmla="val 4079"/>
            </a:avLst>
          </a:prstGeom>
          <a:solidFill>
            <a:srgbClr val="1E2A2A"/>
          </a:solidFill>
          <a:ln w="6350">
            <a:solidFill>
              <a:srgbClr val="1E2A2A"/>
            </a:solidFill>
            <a:prstDash val="solid"/>
          </a:ln>
        </p:spPr>
      </p:sp>
      <p:sp>
        <p:nvSpPr>
          <p:cNvPr id="6" name="Text 4"/>
          <p:cNvSpPr/>
          <p:nvPr/>
        </p:nvSpPr>
        <p:spPr>
          <a:xfrm>
            <a:off x="939800" y="1623268"/>
            <a:ext cx="3205305" cy="203051"/>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DEB068"/>
                </a:solidFill>
                <a:latin typeface="Courier New" pitchFamily="49" charset="0"/>
                <a:ea typeface="Courier New" pitchFamily="49" charset="-122"/>
                <a:cs typeface="Courier New" pitchFamily="49" charset="-120"/>
              </a:rPr>
              <a:t>PART 3 · PRE-BUILT · classify_asset</a:t>
            </a:r>
            <a:endParaRPr lang="en-US" sz="1000" dirty="0"/>
          </a:p>
        </p:txBody>
      </p:sp>
      <p:sp>
        <p:nvSpPr>
          <p:cNvPr id="7" name="Text 5"/>
          <p:cNvSpPr/>
          <p:nvPr/>
        </p:nvSpPr>
        <p:spPr>
          <a:xfrm>
            <a:off x="939800" y="1839020"/>
            <a:ext cx="2614054" cy="196751"/>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2EFEA"/>
                </a:solidFill>
                <a:latin typeface="Courier New" pitchFamily="49" charset="0"/>
                <a:ea typeface="Courier New" pitchFamily="49" charset="-122"/>
                <a:cs typeface="Courier New" pitchFamily="49" charset="-120"/>
              </a:rPr>
              <a:t>def classify_asset(name: str) -&gt; str:</a:t>
            </a:r>
            <a:endParaRPr lang="en-US" sz="900" dirty="0"/>
          </a:p>
        </p:txBody>
      </p:sp>
      <p:sp>
        <p:nvSpPr>
          <p:cNvPr id="8" name="Text 6"/>
          <p:cNvSpPr/>
          <p:nvPr/>
        </p:nvSpPr>
        <p:spPr>
          <a:xfrm>
            <a:off x="939800" y="2048470"/>
            <a:ext cx="1422648" cy="196701"/>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2EFEA"/>
                </a:solidFill>
                <a:latin typeface="Courier New" pitchFamily="49" charset="0"/>
                <a:ea typeface="Courier New" pitchFamily="49" charset="-122"/>
                <a:cs typeface="Courier New" pitchFamily="49" charset="-120"/>
              </a:rPr>
              <a:t>    n = name.lower()</a:t>
            </a:r>
            <a:endParaRPr lang="en-US" sz="900" dirty="0"/>
          </a:p>
        </p:txBody>
      </p:sp>
      <p:sp>
        <p:nvSpPr>
          <p:cNvPr id="9" name="Text 7"/>
          <p:cNvSpPr/>
          <p:nvPr/>
        </p:nvSpPr>
        <p:spPr>
          <a:xfrm>
            <a:off x="939800" y="2257871"/>
            <a:ext cx="4450912" cy="196751"/>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2EFEA"/>
                </a:solidFill>
                <a:latin typeface="Courier New" pitchFamily="49" charset="0"/>
                <a:ea typeface="Courier New" pitchFamily="49" charset="-122"/>
                <a:cs typeface="Courier New" pitchFamily="49" charset="-120"/>
              </a:rPr>
              <a:t>    if "bridge" in n or "overpass" in n:        return "bridge"</a:t>
            </a:r>
            <a:endParaRPr lang="en-US" sz="900" dirty="0"/>
          </a:p>
        </p:txBody>
      </p:sp>
      <p:sp>
        <p:nvSpPr>
          <p:cNvPr id="10" name="Text 8"/>
          <p:cNvSpPr/>
          <p:nvPr/>
        </p:nvSpPr>
        <p:spPr>
          <a:xfrm>
            <a:off x="939800" y="2467322"/>
            <a:ext cx="4733482" cy="196701"/>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2EFEA"/>
                </a:solidFill>
                <a:latin typeface="Courier New" pitchFamily="49" charset="0"/>
                <a:ea typeface="Courier New" pitchFamily="49" charset="-122"/>
                <a:cs typeface="Courier New" pitchFamily="49" charset="-120"/>
              </a:rPr>
              <a:t>    if "substation" in n:                       return "substation"</a:t>
            </a:r>
            <a:endParaRPr lang="en-US" sz="900" dirty="0"/>
          </a:p>
        </p:txBody>
      </p:sp>
      <p:sp>
        <p:nvSpPr>
          <p:cNvPr id="11" name="Text 9"/>
          <p:cNvSpPr/>
          <p:nvPr/>
        </p:nvSpPr>
        <p:spPr>
          <a:xfrm>
            <a:off x="939800" y="2676723"/>
            <a:ext cx="4592197" cy="196701"/>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2EFEA"/>
                </a:solidFill>
                <a:latin typeface="Courier New" pitchFamily="49" charset="0"/>
                <a:ea typeface="Courier New" pitchFamily="49" charset="-122"/>
                <a:cs typeface="Courier New" pitchFamily="49" charset="-120"/>
              </a:rPr>
              <a:t>    if "pipeline" in n:                         return "pipeline"</a:t>
            </a:r>
            <a:endParaRPr lang="en-US" sz="900" dirty="0"/>
          </a:p>
        </p:txBody>
      </p:sp>
      <p:sp>
        <p:nvSpPr>
          <p:cNvPr id="12" name="Text 10"/>
          <p:cNvSpPr/>
          <p:nvPr/>
        </p:nvSpPr>
        <p:spPr>
          <a:xfrm>
            <a:off x="939800" y="2886125"/>
            <a:ext cx="5157389" cy="196701"/>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2EFEA"/>
                </a:solidFill>
                <a:latin typeface="Courier New" pitchFamily="49" charset="0"/>
                <a:ea typeface="Courier New" pitchFamily="49" charset="-122"/>
                <a:cs typeface="Courier New" pitchFamily="49" charset="-120"/>
              </a:rPr>
              <a:t>    if "water" in n or "outfall" in n or "treatment" in n: return "water"</a:t>
            </a:r>
            <a:endParaRPr lang="en-US" sz="900" dirty="0"/>
          </a:p>
        </p:txBody>
      </p:sp>
      <p:sp>
        <p:nvSpPr>
          <p:cNvPr id="13" name="Text 11"/>
          <p:cNvSpPr/>
          <p:nvPr/>
        </p:nvSpPr>
        <p:spPr>
          <a:xfrm>
            <a:off x="939800" y="3095526"/>
            <a:ext cx="4521529" cy="196701"/>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2EFEA"/>
                </a:solidFill>
                <a:latin typeface="Courier New" pitchFamily="49" charset="0"/>
                <a:ea typeface="Courier New" pitchFamily="49" charset="-122"/>
                <a:cs typeface="Courier New" pitchFamily="49" charset="-120"/>
              </a:rPr>
              <a:t>    if "solar" in n or "gas distribution" in n:  return "energy"</a:t>
            </a:r>
            <a:endParaRPr lang="en-US" sz="900" dirty="0"/>
          </a:p>
        </p:txBody>
      </p:sp>
      <p:sp>
        <p:nvSpPr>
          <p:cNvPr id="14" name="Text 12"/>
          <p:cNvSpPr/>
          <p:nvPr/>
        </p:nvSpPr>
        <p:spPr>
          <a:xfrm>
            <a:off x="939800" y="3304927"/>
            <a:ext cx="6146486" cy="196701"/>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2EFEA"/>
                </a:solidFill>
                <a:latin typeface="Courier New" pitchFamily="49" charset="0"/>
                <a:ea typeface="Courier New" pitchFamily="49" charset="-122"/>
                <a:cs typeface="Courier New" pitchFamily="49" charset="-120"/>
              </a:rPr>
              <a:t>    if "sensor" in n or "array" in n or "monitor" in n or "gauge" in n: return "sensor"</a:t>
            </a:r>
            <a:endParaRPr lang="en-US" sz="900" dirty="0"/>
          </a:p>
        </p:txBody>
      </p:sp>
      <p:sp>
        <p:nvSpPr>
          <p:cNvPr id="15" name="Text 13"/>
          <p:cNvSpPr/>
          <p:nvPr/>
        </p:nvSpPr>
        <p:spPr>
          <a:xfrm>
            <a:off x="939800" y="3514328"/>
            <a:ext cx="4380244" cy="196701"/>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2EFEA"/>
                </a:solidFill>
                <a:latin typeface="Courier New" pitchFamily="49" charset="0"/>
                <a:ea typeface="Courier New" pitchFamily="49" charset="-122"/>
                <a:cs typeface="Courier New" pitchFamily="49" charset="-120"/>
              </a:rPr>
              <a:t>    if "tower" in n or "relay" in n:            return "comms"</a:t>
            </a:r>
            <a:endParaRPr lang="en-US" sz="900" dirty="0"/>
          </a:p>
        </p:txBody>
      </p:sp>
      <p:sp>
        <p:nvSpPr>
          <p:cNvPr id="16" name="Text 14"/>
          <p:cNvSpPr/>
          <p:nvPr/>
        </p:nvSpPr>
        <p:spPr>
          <a:xfrm>
            <a:off x="939800" y="3723729"/>
            <a:ext cx="5298674" cy="196701"/>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2EFEA"/>
                </a:solidFill>
                <a:latin typeface="Courier New" pitchFamily="49" charset="0"/>
                <a:ea typeface="Courier New" pitchFamily="49" charset="-122"/>
                <a:cs typeface="Courier New" pitchFamily="49" charset="-120"/>
              </a:rPr>
              <a:t>    if "seawall" in n or "retaining" in n or "booster" in n: return "civil"</a:t>
            </a:r>
            <a:endParaRPr lang="en-US" sz="900" dirty="0"/>
          </a:p>
        </p:txBody>
      </p:sp>
      <p:sp>
        <p:nvSpPr>
          <p:cNvPr id="17" name="Text 15"/>
          <p:cNvSpPr/>
          <p:nvPr/>
        </p:nvSpPr>
        <p:spPr>
          <a:xfrm>
            <a:off x="939800" y="3933130"/>
            <a:ext cx="1285478" cy="196701"/>
          </a:xfrm>
          <a:prstGeom prst="rect">
            <a:avLst/>
          </a:prstGeom>
          <a:noFill/>
          <a:ln/>
        </p:spPr>
        <p:txBody>
          <a:bodyPr wrap="none" lIns="0" tIns="0" rIns="0" bIns="0" rtlCol="0" anchor="t">
            <a:normAutofit/>
          </a:bodyPr>
          <a:lstStyle/>
          <a:p>
            <a:pPr algn="l" indent="0" marL="0">
              <a:lnSpc>
                <a:spcPts val="1350"/>
              </a:lnSpc>
              <a:buNone/>
            </a:pPr>
            <a:r>
              <a:rPr lang="en-US" sz="900" dirty="0">
                <a:solidFill>
                  <a:srgbClr val="F2EFEA"/>
                </a:solidFill>
                <a:latin typeface="Courier New" pitchFamily="49" charset="0"/>
                <a:ea typeface="Courier New" pitchFamily="49" charset="-122"/>
                <a:cs typeface="Courier New" pitchFamily="49" charset="-120"/>
              </a:rPr>
              <a:t>    return "other"</a:t>
            </a:r>
            <a:endParaRPr lang="en-US" sz="900" dirty="0"/>
          </a:p>
        </p:txBody>
      </p:sp>
      <p:sp>
        <p:nvSpPr>
          <p:cNvPr id="18" name="Shape 16"/>
          <p:cNvSpPr/>
          <p:nvPr/>
        </p:nvSpPr>
        <p:spPr>
          <a:xfrm>
            <a:off x="7370763" y="1503363"/>
            <a:ext cx="4003675" cy="879475"/>
          </a:xfrm>
          <a:prstGeom prst="roundRect">
            <a:avLst>
              <a:gd name="adj" fmla="val 12455"/>
            </a:avLst>
          </a:prstGeom>
          <a:solidFill>
            <a:srgbClr val="FFFFFF">
              <a:alpha val="6000"/>
            </a:srgbClr>
          </a:solidFill>
          <a:ln w="9525">
            <a:solidFill>
              <a:srgbClr val="FFFFFF">
                <a:alpha val="18000"/>
              </a:srgbClr>
            </a:solidFill>
            <a:prstDash val="solid"/>
          </a:ln>
        </p:spPr>
      </p:sp>
      <p:sp>
        <p:nvSpPr>
          <p:cNvPr id="19" name="Text 17"/>
          <p:cNvSpPr/>
          <p:nvPr/>
        </p:nvSpPr>
        <p:spPr>
          <a:xfrm>
            <a:off x="7480300" y="1622425"/>
            <a:ext cx="1117749" cy="203200"/>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DEB068"/>
                </a:solidFill>
                <a:latin typeface="Courier New" pitchFamily="49" charset="0"/>
                <a:ea typeface="Courier New" pitchFamily="49" charset="-122"/>
                <a:cs typeface="Courier New" pitchFamily="49" charset="-120"/>
              </a:rPr>
              <a:t>WHAT THIS IS</a:t>
            </a:r>
            <a:endParaRPr lang="en-US" sz="1000" dirty="0"/>
          </a:p>
        </p:txBody>
      </p:sp>
      <p:sp>
        <p:nvSpPr>
          <p:cNvPr id="20" name="Text 18"/>
          <p:cNvSpPr/>
          <p:nvPr/>
        </p:nvSpPr>
        <p:spPr>
          <a:xfrm>
            <a:off x="7480300" y="1838325"/>
            <a:ext cx="3898138" cy="385366"/>
          </a:xfrm>
          <a:prstGeom prst="rect">
            <a:avLst/>
          </a:prstGeom>
          <a:noFill/>
          <a:ln/>
        </p:spPr>
        <p:txBody>
          <a:bodyPr wrap="square" lIns="0" tIns="0" rIns="0" bIns="0" rtlCol="0" anchor="t">
            <a:normAutofit/>
          </a:bodyPr>
          <a:lstStyle/>
          <a:p>
            <a:pPr algn="l" indent="0" marL="0">
              <a:lnSpc>
                <a:spcPts val="1418"/>
              </a:lnSpc>
              <a:buNone/>
            </a:pPr>
            <a:r>
              <a:rPr lang="en-US" sz="1050" dirty="0">
                <a:solidFill>
                  <a:srgbClr val="F2EFEA"/>
                </a:solidFill>
                <a:latin typeface="Arial" pitchFamily="34" charset="0"/>
                <a:ea typeface="Arial" pitchFamily="34" charset="-122"/>
                <a:cs typeface="Arial" pitchFamily="34" charset="-120"/>
              </a:rPr>
              <a:t>A classifier. Input: an asset name. Output: one of eight classes. A bounded answer with no model call, written by hand.</a:t>
            </a:r>
            <a:endParaRPr lang="en-US" sz="1050" dirty="0"/>
          </a:p>
        </p:txBody>
      </p:sp>
      <p:sp>
        <p:nvSpPr>
          <p:cNvPr id="21" name="Shape 19"/>
          <p:cNvSpPr/>
          <p:nvPr/>
        </p:nvSpPr>
        <p:spPr>
          <a:xfrm>
            <a:off x="7370763" y="2481263"/>
            <a:ext cx="4003675" cy="1069975"/>
          </a:xfrm>
          <a:prstGeom prst="roundRect">
            <a:avLst>
              <a:gd name="adj" fmla="val 10237"/>
            </a:avLst>
          </a:prstGeom>
          <a:solidFill>
            <a:srgbClr val="FFFFFF">
              <a:alpha val="6000"/>
            </a:srgbClr>
          </a:solidFill>
          <a:ln w="9525">
            <a:solidFill>
              <a:srgbClr val="FFFFFF">
                <a:alpha val="18000"/>
              </a:srgbClr>
            </a:solidFill>
            <a:prstDash val="solid"/>
          </a:ln>
        </p:spPr>
      </p:sp>
      <p:sp>
        <p:nvSpPr>
          <p:cNvPr id="22" name="Text 20"/>
          <p:cNvSpPr/>
          <p:nvPr/>
        </p:nvSpPr>
        <p:spPr>
          <a:xfrm>
            <a:off x="7480300" y="2600325"/>
            <a:ext cx="1384498" cy="203200"/>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E8836F"/>
                </a:solidFill>
                <a:latin typeface="Courier New" pitchFamily="49" charset="0"/>
                <a:ea typeface="Courier New" pitchFamily="49" charset="-122"/>
                <a:cs typeface="Courier New" pitchFamily="49" charset="-120"/>
              </a:rPr>
              <a:t>WHERE IT BREAKS</a:t>
            </a:r>
            <a:endParaRPr lang="en-US" sz="1000" dirty="0"/>
          </a:p>
        </p:txBody>
      </p:sp>
      <p:sp>
        <p:nvSpPr>
          <p:cNvPr id="23" name="Text 21"/>
          <p:cNvSpPr/>
          <p:nvPr/>
        </p:nvSpPr>
        <p:spPr>
          <a:xfrm>
            <a:off x="7480300" y="2816225"/>
            <a:ext cx="3898138" cy="565348"/>
          </a:xfrm>
          <a:prstGeom prst="rect">
            <a:avLst/>
          </a:prstGeom>
          <a:noFill/>
          <a:ln/>
        </p:spPr>
        <p:txBody>
          <a:bodyPr wrap="square" lIns="0" tIns="0" rIns="0" bIns="0" rtlCol="0" anchor="t">
            <a:normAutofit/>
          </a:bodyPr>
          <a:lstStyle/>
          <a:p>
            <a:pPr algn="l" indent="0" marL="0">
              <a:lnSpc>
                <a:spcPts val="1418"/>
              </a:lnSpc>
              <a:buNone/>
            </a:pPr>
            <a:r>
              <a:rPr lang="en-US" sz="1050" dirty="0">
                <a:solidFill>
                  <a:srgbClr val="F2EFEA"/>
                </a:solidFill>
                <a:latin typeface="Arial" pitchFamily="34" charset="0"/>
                <a:ea typeface="Arial" pitchFamily="34" charset="-122"/>
                <a:cs typeface="Arial" pitchFamily="34" charset="-120"/>
              </a:rPr>
              <a:t>Rule order decides: a water tower is water, not comms; Greenfield Booster Station lands in civil. Every new asset type is another elif, and the function never says how sure it is.</a:t>
            </a:r>
            <a:endParaRPr lang="en-US" sz="1050" dirty="0"/>
          </a:p>
        </p:txBody>
      </p:sp>
      <p:sp>
        <p:nvSpPr>
          <p:cNvPr id="24" name="Shape 22"/>
          <p:cNvSpPr/>
          <p:nvPr/>
        </p:nvSpPr>
        <p:spPr>
          <a:xfrm>
            <a:off x="7370763" y="3649663"/>
            <a:ext cx="4003675" cy="1069975"/>
          </a:xfrm>
          <a:prstGeom prst="roundRect">
            <a:avLst>
              <a:gd name="adj" fmla="val 10237"/>
            </a:avLst>
          </a:prstGeom>
          <a:solidFill>
            <a:srgbClr val="FFFFFF">
              <a:alpha val="6000"/>
            </a:srgbClr>
          </a:solidFill>
          <a:ln w="9525">
            <a:solidFill>
              <a:srgbClr val="FFFFFF">
                <a:alpha val="18000"/>
              </a:srgbClr>
            </a:solidFill>
            <a:prstDash val="solid"/>
          </a:ln>
        </p:spPr>
      </p:sp>
      <p:sp>
        <p:nvSpPr>
          <p:cNvPr id="25" name="Text 23"/>
          <p:cNvSpPr/>
          <p:nvPr/>
        </p:nvSpPr>
        <p:spPr>
          <a:xfrm>
            <a:off x="7480300" y="3718768"/>
            <a:ext cx="1740148" cy="202406"/>
          </a:xfrm>
          <a:prstGeom prst="rect">
            <a:avLst/>
          </a:prstGeom>
          <a:noFill/>
          <a:ln/>
        </p:spPr>
        <p:txBody>
          <a:bodyPr wrap="none" lIns="0" tIns="0" rIns="0" bIns="0" rtlCol="0" anchor="t">
            <a:normAutofit/>
          </a:bodyPr>
          <a:lstStyle/>
          <a:p>
            <a:pPr algn="l" indent="0" marL="0">
              <a:lnSpc>
                <a:spcPts val="1400"/>
              </a:lnSpc>
              <a:buNone/>
            </a:pPr>
            <a:r>
              <a:rPr lang="en-US" sz="1000" spc="100" kern="0" dirty="0">
                <a:solidFill>
                  <a:srgbClr val="7FC4DC"/>
                </a:solidFill>
                <a:latin typeface="Courier New" pitchFamily="49" charset="0"/>
                <a:ea typeface="Courier New" pitchFamily="49" charset="-122"/>
                <a:cs typeface="Courier New" pitchFamily="49" charset="-120"/>
              </a:rPr>
              <a:t>AS A DECISION MODEL</a:t>
            </a:r>
            <a:endParaRPr lang="en-US" sz="1000" dirty="0"/>
          </a:p>
        </p:txBody>
      </p:sp>
      <p:sp>
        <p:nvSpPr>
          <p:cNvPr id="26" name="Text 24"/>
          <p:cNvSpPr/>
          <p:nvPr/>
        </p:nvSpPr>
        <p:spPr>
          <a:xfrm>
            <a:off x="7480300" y="3933875"/>
            <a:ext cx="3898138" cy="742057"/>
          </a:xfrm>
          <a:prstGeom prst="rect">
            <a:avLst/>
          </a:prstGeom>
          <a:noFill/>
          <a:ln/>
        </p:spPr>
        <p:txBody>
          <a:bodyPr wrap="square" lIns="0" tIns="0" rIns="0" bIns="0" rtlCol="0" anchor="t">
            <a:normAutofit/>
          </a:bodyPr>
          <a:lstStyle/>
          <a:p>
            <a:pPr algn="l" indent="0" marL="0">
              <a:lnSpc>
                <a:spcPts val="1418"/>
              </a:lnSpc>
              <a:buNone/>
            </a:pPr>
            <a:r>
              <a:rPr lang="en-US" sz="1050" dirty="0">
                <a:solidFill>
                  <a:srgbClr val="F2EFEA"/>
                </a:solidFill>
                <a:latin typeface="Arial" pitchFamily="34" charset="0"/>
                <a:ea typeface="Arial" pitchFamily="34" charset="-122"/>
                <a:cs typeface="Arial" pitchFamily="34" charset="-120"/>
              </a:rPr>
              <a:t>Same signature: classify(name, description) returns a class and a calibrated probability. Trained on the 26 assets and 220 findings, retrained when the registry grows; low confidence goes to a human.</a:t>
            </a:r>
            <a:endParaRPr lang="en-US" sz="1050" dirty="0"/>
          </a:p>
        </p:txBody>
      </p:sp>
      <p:sp>
        <p:nvSpPr>
          <p:cNvPr id="27" name="Text 25"/>
          <p:cNvSpPr/>
          <p:nvPr/>
        </p:nvSpPr>
        <p:spPr>
          <a:xfrm>
            <a:off x="812800" y="4445000"/>
            <a:ext cx="65405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Three more typed questions live in the same notebook: which record type to write, what severity and grade a description implies, and whether a turn needs retrieval at all. Next: where they plug in.</a:t>
            </a:r>
            <a:endParaRPr lang="en-US" sz="1200" dirty="0"/>
          </a:p>
        </p:txBody>
      </p:sp>
      <p:sp>
        <p:nvSpPr>
          <p:cNvPr id="28"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72</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The notebook as a reference architecture</a:t>
            </a:r>
            <a:endParaRPr lang="en-US" sz="2800" dirty="0"/>
          </a:p>
        </p:txBody>
      </p:sp>
      <p:sp>
        <p:nvSpPr>
          <p:cNvPr id="4" name="Shape 2"/>
          <p:cNvSpPr/>
          <p:nvPr/>
        </p:nvSpPr>
        <p:spPr>
          <a:xfrm>
            <a:off x="817563" y="14017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5" name="Text 3"/>
          <p:cNvSpPr/>
          <p:nvPr/>
        </p:nvSpPr>
        <p:spPr>
          <a:xfrm>
            <a:off x="965200" y="140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AEB9B7"/>
                </a:solidFill>
                <a:latin typeface="Courier New" pitchFamily="49" charset="0"/>
                <a:ea typeface="Courier New" pitchFamily="49" charset="-122"/>
                <a:cs typeface="Courier New" pitchFamily="49" charset="-120"/>
              </a:rPr>
              <a:t>APPLICATION LAYER</a:t>
            </a:r>
            <a:endParaRPr lang="en-US" sz="1100" dirty="0"/>
          </a:p>
        </p:txBody>
      </p:sp>
      <p:sp>
        <p:nvSpPr>
          <p:cNvPr id="6" name="Shape 4"/>
          <p:cNvSpPr/>
          <p:nvPr/>
        </p:nvSpPr>
        <p:spPr>
          <a:xfrm>
            <a:off x="817563" y="2671763"/>
            <a:ext cx="7432675" cy="1895475"/>
          </a:xfrm>
          <a:prstGeom prst="roundRect">
            <a:avLst>
              <a:gd name="adj" fmla="val 7119"/>
            </a:avLst>
          </a:prstGeom>
          <a:solidFill>
            <a:srgbClr val="FFFFFF">
              <a:alpha val="2000"/>
            </a:srgbClr>
          </a:solidFill>
          <a:ln w="9525">
            <a:solidFill>
              <a:srgbClr val="FFFFFF">
                <a:alpha val="16000"/>
              </a:srgbClr>
            </a:solidFill>
            <a:prstDash val="dash"/>
          </a:ln>
        </p:spPr>
      </p:sp>
      <p:sp>
        <p:nvSpPr>
          <p:cNvPr id="7" name="Text 5"/>
          <p:cNvSpPr/>
          <p:nvPr/>
        </p:nvSpPr>
        <p:spPr>
          <a:xfrm>
            <a:off x="965200" y="267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E8836F"/>
                </a:solidFill>
                <a:latin typeface="Courier New" pitchFamily="49" charset="0"/>
                <a:ea typeface="Courier New" pitchFamily="49" charset="-122"/>
                <a:cs typeface="Courier New" pitchFamily="49" charset="-120"/>
              </a:rPr>
              <a:t>MEMORY LAYER</a:t>
            </a:r>
            <a:endParaRPr lang="en-US" sz="1100" dirty="0"/>
          </a:p>
        </p:txBody>
      </p:sp>
      <p:sp>
        <p:nvSpPr>
          <p:cNvPr id="8" name="Shape 6"/>
          <p:cNvSpPr/>
          <p:nvPr/>
        </p:nvSpPr>
        <p:spPr>
          <a:xfrm>
            <a:off x="817563" y="48942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9" name="Text 7"/>
          <p:cNvSpPr/>
          <p:nvPr/>
        </p:nvSpPr>
        <p:spPr>
          <a:xfrm>
            <a:off x="965200" y="49022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DEB068"/>
                </a:solidFill>
                <a:latin typeface="Courier New" pitchFamily="49" charset="0"/>
                <a:ea typeface="Courier New" pitchFamily="49" charset="-122"/>
                <a:cs typeface="Courier New" pitchFamily="49" charset="-120"/>
              </a:rPr>
              <a:t>DATA LAYER</a:t>
            </a:r>
            <a:endParaRPr lang="en-US" sz="1100" dirty="0"/>
          </a:p>
        </p:txBody>
      </p:sp>
      <p:sp>
        <p:nvSpPr>
          <p:cNvPr id="10" name="Shape 8"/>
          <p:cNvSpPr/>
          <p:nvPr/>
        </p:nvSpPr>
        <p:spPr>
          <a:xfrm>
            <a:off x="8716963" y="1401763"/>
            <a:ext cx="2657475" cy="4435475"/>
          </a:xfrm>
          <a:prstGeom prst="roundRect">
            <a:avLst>
              <a:gd name="adj" fmla="val 5078"/>
            </a:avLst>
          </a:prstGeom>
          <a:solidFill>
            <a:srgbClr val="FFFFFF">
              <a:alpha val="2000"/>
            </a:srgbClr>
          </a:solidFill>
          <a:ln w="9525">
            <a:solidFill>
              <a:srgbClr val="FFFFFF">
                <a:alpha val="16000"/>
              </a:srgbClr>
            </a:solidFill>
            <a:prstDash val="dash"/>
          </a:ln>
        </p:spPr>
      </p:sp>
      <p:sp>
        <p:nvSpPr>
          <p:cNvPr id="11" name="Text 9"/>
          <p:cNvSpPr/>
          <p:nvPr/>
        </p:nvSpPr>
        <p:spPr>
          <a:xfrm>
            <a:off x="8864600" y="1409700"/>
            <a:ext cx="2433066"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7FC4DC"/>
                </a:solidFill>
                <a:latin typeface="Courier New" pitchFamily="49" charset="0"/>
                <a:ea typeface="Courier New" pitchFamily="49" charset="-122"/>
                <a:cs typeface="Courier New" pitchFamily="49" charset="-120"/>
              </a:rPr>
              <a:t>MODEL LAYER</a:t>
            </a:r>
            <a:endParaRPr lang="en-US" sz="1100" dirty="0"/>
          </a:p>
        </p:txBody>
      </p:sp>
      <p:sp>
        <p:nvSpPr>
          <p:cNvPr id="12" name="Shape 10"/>
          <p:cNvSpPr/>
          <p:nvPr/>
        </p:nvSpPr>
        <p:spPr>
          <a:xfrm>
            <a:off x="969963" y="1668463"/>
            <a:ext cx="2149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3" name="Image 0" descr="Book">    </p:cNvPr>
          <p:cNvPicPr>
            <a:picLocks noChangeAspect="1"/>
          </p:cNvPicPr>
          <p:nvPr/>
        </p:nvPicPr>
        <p:blipFill>
          <a:blip r:embed="rId1"/>
          <a:srcRect l="0" r="0" t="0" b="0"/>
          <a:stretch/>
        </p:blipFill>
        <p:spPr>
          <a:xfrm>
            <a:off x="1054100" y="1841500"/>
            <a:ext cx="254000" cy="254000"/>
          </a:xfrm>
          <a:prstGeom prst="rect">
            <a:avLst/>
          </a:prstGeom>
        </p:spPr>
      </p:pic>
      <p:sp>
        <p:nvSpPr>
          <p:cNvPr id="14" name="Text 11"/>
          <p:cNvSpPr/>
          <p:nvPr/>
        </p:nvSpPr>
        <p:spPr>
          <a:xfrm>
            <a:off x="1397000" y="1766590"/>
            <a:ext cx="160034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JupyterLab notebook</a:t>
            </a:r>
            <a:endParaRPr lang="en-US" sz="1200" dirty="0"/>
          </a:p>
        </p:txBody>
      </p:sp>
      <p:sp>
        <p:nvSpPr>
          <p:cNvPr id="15" name="Text 12"/>
          <p:cNvSpPr/>
          <p:nvPr/>
        </p:nvSpPr>
        <p:spPr>
          <a:xfrm>
            <a:off x="1397000" y="1992610"/>
            <a:ext cx="1600349"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in the LiveLabs sandbox</a:t>
            </a:r>
            <a:endParaRPr lang="en-US" sz="1000" dirty="0"/>
          </a:p>
        </p:txBody>
      </p:sp>
      <p:sp>
        <p:nvSpPr>
          <p:cNvPr id="16" name="Shape 13"/>
          <p:cNvSpPr/>
          <p:nvPr/>
        </p:nvSpPr>
        <p:spPr>
          <a:xfrm>
            <a:off x="3230563" y="1668463"/>
            <a:ext cx="22891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7" name="Image 1" descr="Link">    </p:cNvPr>
          <p:cNvPicPr>
            <a:picLocks noChangeAspect="1"/>
          </p:cNvPicPr>
          <p:nvPr/>
        </p:nvPicPr>
        <p:blipFill>
          <a:blip r:embed="rId2"/>
          <a:srcRect l="0" r="0" t="0" b="0"/>
          <a:stretch/>
        </p:blipFill>
        <p:spPr>
          <a:xfrm>
            <a:off x="3314700" y="1841500"/>
            <a:ext cx="254000" cy="254000"/>
          </a:xfrm>
          <a:prstGeom prst="rect">
            <a:avLst/>
          </a:prstGeom>
        </p:spPr>
      </p:pic>
      <p:sp>
        <p:nvSpPr>
          <p:cNvPr id="18" name="Text 14"/>
          <p:cNvSpPr/>
          <p:nvPr/>
        </p:nvSpPr>
        <p:spPr>
          <a:xfrm>
            <a:off x="3657600" y="1766590"/>
            <a:ext cx="164608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LangChain</a:t>
            </a:r>
            <a:endParaRPr lang="en-US" sz="1200" dirty="0"/>
          </a:p>
        </p:txBody>
      </p:sp>
      <p:sp>
        <p:nvSpPr>
          <p:cNvPr id="19" name="Text 15"/>
          <p:cNvSpPr/>
          <p:nvPr/>
        </p:nvSpPr>
        <p:spPr>
          <a:xfrm>
            <a:off x="3657600" y="1992610"/>
            <a:ext cx="1646089"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ChatOllama, message types</a:t>
            </a:r>
            <a:endParaRPr lang="en-US" sz="1000" dirty="0"/>
          </a:p>
        </p:txBody>
      </p:sp>
      <p:sp>
        <p:nvSpPr>
          <p:cNvPr id="20" name="Shape 16"/>
          <p:cNvSpPr/>
          <p:nvPr/>
        </p:nvSpPr>
        <p:spPr>
          <a:xfrm>
            <a:off x="5630863" y="1668463"/>
            <a:ext cx="2403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1" name="Image 2" descr="Settings">    </p:cNvPr>
          <p:cNvPicPr>
            <a:picLocks noChangeAspect="1"/>
          </p:cNvPicPr>
          <p:nvPr/>
        </p:nvPicPr>
        <p:blipFill>
          <a:blip r:embed="rId3"/>
          <a:srcRect l="0" r="0" t="0" b="0"/>
          <a:stretch/>
        </p:blipFill>
        <p:spPr>
          <a:xfrm>
            <a:off x="5715000" y="1841500"/>
            <a:ext cx="254000" cy="254000"/>
          </a:xfrm>
          <a:prstGeom prst="rect">
            <a:avLst/>
          </a:prstGeom>
        </p:spPr>
      </p:pic>
      <p:sp>
        <p:nvSpPr>
          <p:cNvPr id="22" name="Text 17"/>
          <p:cNvSpPr/>
          <p:nvPr/>
        </p:nvSpPr>
        <p:spPr>
          <a:xfrm>
            <a:off x="6057900" y="1766590"/>
            <a:ext cx="154746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call_copilot</a:t>
            </a:r>
            <a:endParaRPr lang="en-US" sz="1200" dirty="0"/>
          </a:p>
        </p:txBody>
      </p:sp>
      <p:sp>
        <p:nvSpPr>
          <p:cNvPr id="23" name="Text 18"/>
          <p:cNvSpPr/>
          <p:nvPr/>
        </p:nvSpPr>
        <p:spPr>
          <a:xfrm>
            <a:off x="6057900" y="1992610"/>
            <a:ext cx="1547465"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the harness, async Python</a:t>
            </a:r>
            <a:endParaRPr lang="en-US" sz="1000" dirty="0"/>
          </a:p>
        </p:txBody>
      </p:sp>
      <p:sp>
        <p:nvSpPr>
          <p:cNvPr id="24" name="Shape 19"/>
          <p:cNvSpPr/>
          <p:nvPr/>
        </p:nvSpPr>
        <p:spPr>
          <a:xfrm>
            <a:off x="8869363" y="1668463"/>
            <a:ext cx="23526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5" name="Image 3" descr="Lightbulb">    </p:cNvPr>
          <p:cNvPicPr>
            <a:picLocks noChangeAspect="1"/>
          </p:cNvPicPr>
          <p:nvPr/>
        </p:nvPicPr>
        <p:blipFill>
          <a:blip r:embed="rId4"/>
          <a:srcRect l="0" r="0" t="0" b="0"/>
          <a:stretch/>
        </p:blipFill>
        <p:spPr>
          <a:xfrm>
            <a:off x="8953500" y="1841500"/>
            <a:ext cx="254000" cy="254000"/>
          </a:xfrm>
          <a:prstGeom prst="rect">
            <a:avLst/>
          </a:prstGeom>
        </p:spPr>
      </p:pic>
      <p:sp>
        <p:nvSpPr>
          <p:cNvPr id="26" name="Text 20"/>
          <p:cNvSpPr/>
          <p:nvPr/>
        </p:nvSpPr>
        <p:spPr>
          <a:xfrm>
            <a:off x="9296400" y="1766590"/>
            <a:ext cx="145717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llama3.2 via Ollama</a:t>
            </a:r>
            <a:endParaRPr lang="en-US" sz="1200" dirty="0"/>
          </a:p>
        </p:txBody>
      </p:sp>
      <p:sp>
        <p:nvSpPr>
          <p:cNvPr id="27" name="Text 21"/>
          <p:cNvSpPr/>
          <p:nvPr/>
        </p:nvSpPr>
        <p:spPr>
          <a:xfrm>
            <a:off x="9296400" y="1992610"/>
            <a:ext cx="1457176"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the copilot LLM, local</a:t>
            </a:r>
            <a:endParaRPr lang="en-US" sz="1000" dirty="0"/>
          </a:p>
        </p:txBody>
      </p:sp>
      <p:sp>
        <p:nvSpPr>
          <p:cNvPr id="28" name="Shape 22"/>
          <p:cNvSpPr/>
          <p:nvPr/>
        </p:nvSpPr>
        <p:spPr>
          <a:xfrm>
            <a:off x="8869363" y="2874963"/>
            <a:ext cx="23526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9" name="Image 4" descr="Lightning">    </p:cNvPr>
          <p:cNvPicPr>
            <a:picLocks noChangeAspect="1"/>
          </p:cNvPicPr>
          <p:nvPr/>
        </p:nvPicPr>
        <p:blipFill>
          <a:blip r:embed="rId5"/>
          <a:srcRect l="0" r="0" t="0" b="0"/>
          <a:stretch/>
        </p:blipFill>
        <p:spPr>
          <a:xfrm>
            <a:off x="8953500" y="3048000"/>
            <a:ext cx="254000" cy="254000"/>
          </a:xfrm>
          <a:prstGeom prst="rect">
            <a:avLst/>
          </a:prstGeom>
        </p:spPr>
      </p:pic>
      <p:sp>
        <p:nvSpPr>
          <p:cNvPr id="30" name="Text 23"/>
          <p:cNvSpPr/>
          <p:nvPr/>
        </p:nvSpPr>
        <p:spPr>
          <a:xfrm>
            <a:off x="9296400" y="2973090"/>
            <a:ext cx="156850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llama3.2 via Ollama</a:t>
            </a:r>
            <a:endParaRPr lang="en-US" sz="1200" dirty="0"/>
          </a:p>
        </p:txBody>
      </p:sp>
      <p:sp>
        <p:nvSpPr>
          <p:cNvPr id="31" name="Text 24"/>
          <p:cNvSpPr/>
          <p:nvPr/>
        </p:nvSpPr>
        <p:spPr>
          <a:xfrm>
            <a:off x="9296400" y="3199110"/>
            <a:ext cx="1568500"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the SDK extractor, LiteLLM</a:t>
            </a:r>
            <a:endParaRPr lang="en-US" sz="1000" dirty="0"/>
          </a:p>
        </p:txBody>
      </p:sp>
      <p:sp>
        <p:nvSpPr>
          <p:cNvPr id="32" name="Shape 25"/>
          <p:cNvSpPr/>
          <p:nvPr/>
        </p:nvSpPr>
        <p:spPr>
          <a:xfrm>
            <a:off x="8869363" y="4094163"/>
            <a:ext cx="23526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33" name="Image 5" descr="Activity">    </p:cNvPr>
          <p:cNvPicPr>
            <a:picLocks noChangeAspect="1"/>
          </p:cNvPicPr>
          <p:nvPr/>
        </p:nvPicPr>
        <p:blipFill>
          <a:blip r:embed="rId6"/>
          <a:srcRect l="0" r="0" t="0" b="0"/>
          <a:stretch/>
        </p:blipFill>
        <p:spPr>
          <a:xfrm>
            <a:off x="8953500" y="4267200"/>
            <a:ext cx="254000" cy="254000"/>
          </a:xfrm>
          <a:prstGeom prst="rect">
            <a:avLst/>
          </a:prstGeom>
        </p:spPr>
      </p:pic>
      <p:sp>
        <p:nvSpPr>
          <p:cNvPr id="34" name="Text 26"/>
          <p:cNvSpPr/>
          <p:nvPr/>
        </p:nvSpPr>
        <p:spPr>
          <a:xfrm>
            <a:off x="9296400" y="4192290"/>
            <a:ext cx="171693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ALL_MINILM_L12_V2</a:t>
            </a:r>
            <a:endParaRPr lang="en-US" sz="1200" dirty="0"/>
          </a:p>
        </p:txBody>
      </p:sp>
      <p:sp>
        <p:nvSpPr>
          <p:cNvPr id="35" name="Text 27"/>
          <p:cNvSpPr/>
          <p:nvPr/>
        </p:nvSpPr>
        <p:spPr>
          <a:xfrm>
            <a:off x="9296400" y="4418310"/>
            <a:ext cx="1716931"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ONNX in the database, 384-d</a:t>
            </a:r>
            <a:endParaRPr lang="en-US" sz="1000" dirty="0"/>
          </a:p>
        </p:txBody>
      </p:sp>
      <p:sp>
        <p:nvSpPr>
          <p:cNvPr id="36" name="Text 28"/>
          <p:cNvSpPr/>
          <p:nvPr/>
        </p:nvSpPr>
        <p:spPr>
          <a:xfrm>
            <a:off x="8864600" y="4775200"/>
            <a:ext cx="2433066" cy="368300"/>
          </a:xfrm>
          <a:prstGeom prst="rect">
            <a:avLst/>
          </a:prstGeom>
          <a:noFill/>
          <a:ln/>
        </p:spPr>
        <p:txBody>
          <a:bodyPr wrap="square" lIns="0" tIns="0" rIns="0" bIns="0" rtlCol="0" anchor="t">
            <a:normAutofit/>
          </a:bodyPr>
          <a:lstStyle/>
          <a:p>
            <a:pPr algn="l" indent="0" marL="0">
              <a:lnSpc>
                <a:spcPts val="1350"/>
              </a:lnSpc>
              <a:buNone/>
            </a:pPr>
            <a:r>
              <a:rPr lang="en-US" sz="1000" i="1" dirty="0">
                <a:solidFill>
                  <a:srgbClr val="AEB9B7"/>
                </a:solidFill>
                <a:latin typeface="Arial" pitchFamily="34" charset="0"/>
                <a:ea typeface="Arial" pitchFamily="34" charset="-122"/>
                <a:cs typeface="Arial" pitchFamily="34" charset="-120"/>
              </a:rPr>
              <a:t>No reranker here: VECTOR_DISTANCE orders, SQL filters.</a:t>
            </a:r>
            <a:endParaRPr lang="en-US" sz="1000" dirty="0"/>
          </a:p>
        </p:txBody>
      </p:sp>
      <p:sp>
        <p:nvSpPr>
          <p:cNvPr id="37" name="Shape 29"/>
          <p:cNvSpPr/>
          <p:nvPr/>
        </p:nvSpPr>
        <p:spPr>
          <a:xfrm>
            <a:off x="969963" y="2874963"/>
            <a:ext cx="7064375" cy="1654175"/>
          </a:xfrm>
          <a:prstGeom prst="roundRect">
            <a:avLst>
              <a:gd name="adj" fmla="val 6622"/>
            </a:avLst>
          </a:prstGeom>
          <a:solidFill>
            <a:srgbClr val="FFFFFF">
              <a:alpha val="5000"/>
            </a:srgbClr>
          </a:solidFill>
          <a:ln w="9525">
            <a:solidFill>
              <a:srgbClr val="FFFFFF">
                <a:alpha val="22000"/>
              </a:srgbClr>
            </a:solidFill>
            <a:prstDash val="solid"/>
          </a:ln>
        </p:spPr>
      </p:sp>
      <p:pic>
        <p:nvPicPr>
          <p:cNvPr id="38" name="Image 6" descr="Activity">    </p:cNvPr>
          <p:cNvPicPr>
            <a:picLocks noChangeAspect="1"/>
          </p:cNvPicPr>
          <p:nvPr/>
        </p:nvPicPr>
        <p:blipFill>
          <a:blip r:embed="rId7"/>
          <a:srcRect l="0" r="0" t="0" b="0"/>
          <a:stretch/>
        </p:blipFill>
        <p:spPr>
          <a:xfrm>
            <a:off x="1092200" y="3006378"/>
            <a:ext cx="203200" cy="203200"/>
          </a:xfrm>
          <a:prstGeom prst="rect">
            <a:avLst/>
          </a:prstGeom>
        </p:spPr>
      </p:pic>
      <p:sp>
        <p:nvSpPr>
          <p:cNvPr id="39" name="Text 30"/>
          <p:cNvSpPr/>
          <p:nvPr/>
        </p:nvSpPr>
        <p:spPr>
          <a:xfrm>
            <a:off x="1397000" y="3001318"/>
            <a:ext cx="3073166"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FFFFFF"/>
                </a:solidFill>
                <a:latin typeface="Courier New" pitchFamily="49" charset="0"/>
                <a:ea typeface="Courier New" pitchFamily="49" charset="-122"/>
                <a:cs typeface="Courier New" pitchFamily="49" charset="-120"/>
              </a:rPr>
              <a:t>ORACLEAGENTMEMORY · THE SDK</a:t>
            </a:r>
            <a:endParaRPr lang="en-US" sz="1200" dirty="0"/>
          </a:p>
        </p:txBody>
      </p:sp>
      <p:sp>
        <p:nvSpPr>
          <p:cNvPr id="40" name="Text 31"/>
          <p:cNvSpPr/>
          <p:nvPr/>
        </p:nvSpPr>
        <p:spPr>
          <a:xfrm>
            <a:off x="1092200" y="3278088"/>
            <a:ext cx="1404838" cy="238621"/>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E8836F"/>
                </a:solidFill>
                <a:latin typeface="Courier New" pitchFamily="49" charset="0"/>
                <a:ea typeface="Courier New" pitchFamily="49" charset="-122"/>
                <a:cs typeface="Courier New" pitchFamily="49" charset="-120"/>
              </a:rPr>
              <a:t>WHAT YOU CALL</a:t>
            </a:r>
            <a:endParaRPr lang="en-US" sz="1200" dirty="0"/>
          </a:p>
        </p:txBody>
      </p:sp>
      <p:sp>
        <p:nvSpPr>
          <p:cNvPr id="41" name="Text 32"/>
          <p:cNvSpPr/>
          <p:nvPr/>
        </p:nvSpPr>
        <p:spPr>
          <a:xfrm>
            <a:off x="1092200" y="3554809"/>
            <a:ext cx="1143198"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create_thread</a:t>
            </a:r>
            <a:endParaRPr lang="en-US" sz="1000" dirty="0"/>
          </a:p>
        </p:txBody>
      </p:sp>
      <p:sp>
        <p:nvSpPr>
          <p:cNvPr id="42" name="Text 33"/>
          <p:cNvSpPr/>
          <p:nvPr/>
        </p:nvSpPr>
        <p:spPr>
          <a:xfrm>
            <a:off x="2311598" y="3554809"/>
            <a:ext cx="1524248"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add_messages_async</a:t>
            </a:r>
            <a:endParaRPr lang="en-US" sz="1000" dirty="0"/>
          </a:p>
        </p:txBody>
      </p:sp>
      <p:sp>
        <p:nvSpPr>
          <p:cNvPr id="43" name="Text 34"/>
          <p:cNvSpPr/>
          <p:nvPr/>
        </p:nvSpPr>
        <p:spPr>
          <a:xfrm>
            <a:off x="3912046" y="3554809"/>
            <a:ext cx="838349"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extractor</a:t>
            </a:r>
            <a:endParaRPr lang="en-US" sz="1000" dirty="0"/>
          </a:p>
        </p:txBody>
      </p:sp>
      <p:sp>
        <p:nvSpPr>
          <p:cNvPr id="44" name="Text 35"/>
          <p:cNvSpPr/>
          <p:nvPr/>
        </p:nvSpPr>
        <p:spPr>
          <a:xfrm>
            <a:off x="4826595" y="3554809"/>
            <a:ext cx="1829098"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get_context_card_async</a:t>
            </a:r>
            <a:endParaRPr lang="en-US" sz="1000" dirty="0"/>
          </a:p>
        </p:txBody>
      </p:sp>
      <p:sp>
        <p:nvSpPr>
          <p:cNvPr id="45" name="Text 36"/>
          <p:cNvSpPr/>
          <p:nvPr/>
        </p:nvSpPr>
        <p:spPr>
          <a:xfrm>
            <a:off x="6731893" y="3554809"/>
            <a:ext cx="1066949"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search_async</a:t>
            </a:r>
            <a:endParaRPr lang="en-US" sz="1000" dirty="0"/>
          </a:p>
        </p:txBody>
      </p:sp>
      <p:sp>
        <p:nvSpPr>
          <p:cNvPr id="46" name="Text 37"/>
          <p:cNvSpPr/>
          <p:nvPr/>
        </p:nvSpPr>
        <p:spPr>
          <a:xfrm>
            <a:off x="1092200" y="3872161"/>
            <a:ext cx="2145591" cy="238621"/>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7FC4DC"/>
                </a:solidFill>
                <a:latin typeface="Courier New" pitchFamily="49" charset="0"/>
                <a:ea typeface="Courier New" pitchFamily="49" charset="-122"/>
                <a:cs typeface="Courier New" pitchFamily="49" charset="-120"/>
              </a:rPr>
              <a:t>HOW IT IS CONFIGURED</a:t>
            </a:r>
            <a:endParaRPr lang="en-US" sz="1200" dirty="0"/>
          </a:p>
        </p:txBody>
      </p:sp>
      <p:sp>
        <p:nvSpPr>
          <p:cNvPr id="47" name="Text 38"/>
          <p:cNvSpPr/>
          <p:nvPr/>
        </p:nvSpPr>
        <p:spPr>
          <a:xfrm>
            <a:off x="1092200" y="4148882"/>
            <a:ext cx="1752898"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user · agent · thread</a:t>
            </a:r>
            <a:endParaRPr lang="en-US" sz="1000" dirty="0"/>
          </a:p>
        </p:txBody>
      </p:sp>
      <p:sp>
        <p:nvSpPr>
          <p:cNvPr id="48" name="Text 39"/>
          <p:cNvSpPr/>
          <p:nvPr/>
        </p:nvSpPr>
        <p:spPr>
          <a:xfrm>
            <a:off x="2921298" y="4148882"/>
            <a:ext cx="1752898"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extract_memories=True</a:t>
            </a:r>
            <a:endParaRPr lang="en-US" sz="1000" dirty="0"/>
          </a:p>
        </p:txBody>
      </p:sp>
      <p:sp>
        <p:nvSpPr>
          <p:cNvPr id="49" name="Text 40"/>
          <p:cNvSpPr/>
          <p:nvPr/>
        </p:nvSpPr>
        <p:spPr>
          <a:xfrm>
            <a:off x="4750395" y="4148882"/>
            <a:ext cx="1600448"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CREATE_IF_NECESSARY</a:t>
            </a:r>
            <a:endParaRPr lang="en-US" sz="1000" dirty="0"/>
          </a:p>
        </p:txBody>
      </p:sp>
      <p:sp>
        <p:nvSpPr>
          <p:cNvPr id="50" name="Text 41"/>
          <p:cNvSpPr/>
          <p:nvPr/>
        </p:nvSpPr>
        <p:spPr>
          <a:xfrm>
            <a:off x="6427043" y="4148882"/>
            <a:ext cx="1066949"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prefix CITY_</a:t>
            </a:r>
            <a:endParaRPr lang="en-US" sz="1000" dirty="0"/>
          </a:p>
        </p:txBody>
      </p:sp>
      <p:sp>
        <p:nvSpPr>
          <p:cNvPr id="51" name="Shape 42"/>
          <p:cNvSpPr/>
          <p:nvPr/>
        </p:nvSpPr>
        <p:spPr>
          <a:xfrm>
            <a:off x="969963" y="5097463"/>
            <a:ext cx="7064375" cy="688975"/>
          </a:xfrm>
          <a:prstGeom prst="roundRect">
            <a:avLst>
              <a:gd name="adj" fmla="val 15899"/>
            </a:avLst>
          </a:prstGeom>
          <a:solidFill>
            <a:srgbClr val="DEB068">
              <a:alpha val="6000"/>
            </a:srgbClr>
          </a:solidFill>
          <a:ln w="9525">
            <a:solidFill>
              <a:srgbClr val="DEB068">
                <a:alpha val="45000"/>
              </a:srgbClr>
            </a:solidFill>
            <a:prstDash val="solid"/>
          </a:ln>
        </p:spPr>
      </p:sp>
      <p:pic>
        <p:nvPicPr>
          <p:cNvPr id="52" name="Image 7" descr="Database">    </p:cNvPr>
          <p:cNvPicPr>
            <a:picLocks noChangeAspect="1"/>
          </p:cNvPicPr>
          <p:nvPr/>
        </p:nvPicPr>
        <p:blipFill>
          <a:blip r:embed="rId8"/>
          <a:srcRect l="0" r="0" t="0" b="0"/>
          <a:stretch/>
        </p:blipFill>
        <p:spPr>
          <a:xfrm>
            <a:off x="1066800" y="5192613"/>
            <a:ext cx="203200" cy="203200"/>
          </a:xfrm>
          <a:prstGeom prst="rect">
            <a:avLst/>
          </a:prstGeom>
        </p:spPr>
      </p:pic>
      <p:sp>
        <p:nvSpPr>
          <p:cNvPr id="53" name="Text 43"/>
          <p:cNvSpPr/>
          <p:nvPr/>
        </p:nvSpPr>
        <p:spPr>
          <a:xfrm>
            <a:off x="1371600" y="5187603"/>
            <a:ext cx="523572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ORACLE AI DATABASE 26AI · FREE, IN THE SANDBOX</a:t>
            </a:r>
            <a:endParaRPr lang="en-US" sz="1200" dirty="0"/>
          </a:p>
        </p:txBody>
      </p:sp>
      <p:sp>
        <p:nvSpPr>
          <p:cNvPr id="54" name="Text 44"/>
          <p:cNvSpPr/>
          <p:nvPr/>
        </p:nvSpPr>
        <p:spPr>
          <a:xfrm>
            <a:off x="1066800" y="5451525"/>
            <a:ext cx="845790" cy="244624"/>
          </a:xfrm>
          <a:custGeom>
            <a:avLst/>
            <a:gdLst/>
            <a:ahLst/>
            <a:cxnLst/>
            <a:rect l="l" t="t" r="r" b="b"/>
            <a:pathLst>
              <a:path w="845790" h="244624">
                <a:moveTo>
                  <a:pt x="122312" y="0"/>
                </a:moveTo>
                <a:lnTo>
                  <a:pt x="723478" y="0"/>
                </a:lnTo>
                <a:arcTo hR="122312" wR="122312" stAng="16200000" swAng="5400000"/>
                <a:lnTo>
                  <a:pt x="845790" y="122312"/>
                </a:lnTo>
                <a:arcTo hR="122312" wR="122312" stAng="0" swAng="5400000"/>
                <a:lnTo>
                  <a:pt x="122312" y="244624"/>
                </a:lnTo>
                <a:arcTo hR="122312" wR="122312" stAng="5400000" swAng="5400000"/>
                <a:lnTo>
                  <a:pt x="0" y="122312"/>
                </a:lnTo>
                <a:arcTo hR="122312" wR="122312" stAng="10800000" swAng="5400000"/>
                <a:close/>
              </a:path>
            </a:pathLst>
          </a:custGeom>
          <a:solidFill>
            <a:srgbClr val="DEB068">
              <a:alpha val="2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CITY_ASSET</a:t>
            </a:r>
            <a:endParaRPr lang="en-US" sz="950" dirty="0"/>
          </a:p>
        </p:txBody>
      </p:sp>
      <p:sp>
        <p:nvSpPr>
          <p:cNvPr id="55" name="Text 45"/>
          <p:cNvSpPr/>
          <p:nvPr/>
        </p:nvSpPr>
        <p:spPr>
          <a:xfrm>
            <a:off x="1976090" y="5451525"/>
            <a:ext cx="2663726" cy="244624"/>
          </a:xfrm>
          <a:custGeom>
            <a:avLst/>
            <a:gdLst/>
            <a:ahLst/>
            <a:cxnLst/>
            <a:rect l="l" t="t" r="r" b="b"/>
            <a:pathLst>
              <a:path w="2663726" h="244624">
                <a:moveTo>
                  <a:pt x="122312" y="0"/>
                </a:moveTo>
                <a:lnTo>
                  <a:pt x="2541414" y="0"/>
                </a:lnTo>
                <a:arcTo hR="122312" wR="122312" stAng="16200000" swAng="5400000"/>
                <a:lnTo>
                  <a:pt x="2663726" y="122312"/>
                </a:lnTo>
                <a:arcTo hR="122312" wR="122312" stAng="0" swAng="5400000"/>
                <a:lnTo>
                  <a:pt x="122312" y="244624"/>
                </a:lnTo>
                <a:arcTo hR="122312" wR="122312" stAng="5400000" swAng="5400000"/>
                <a:lnTo>
                  <a:pt x="0" y="122312"/>
                </a:lnTo>
                <a:arcTo hR="122312" wR="122312" stAng="10800000" swAng="5400000"/>
                <a:close/>
              </a:path>
            </a:pathLst>
          </a:custGeom>
          <a:solidFill>
            <a:srgbClr val="DEB068">
              <a:alpha val="2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CITY_INSPECTION_FINDING + VECTOR(384)</a:t>
            </a:r>
            <a:endParaRPr lang="en-US" sz="950" dirty="0"/>
          </a:p>
        </p:txBody>
      </p:sp>
      <p:sp>
        <p:nvSpPr>
          <p:cNvPr id="56" name="Text 46"/>
          <p:cNvSpPr/>
          <p:nvPr/>
        </p:nvSpPr>
        <p:spPr>
          <a:xfrm>
            <a:off x="4703316" y="5451525"/>
            <a:ext cx="1046907" cy="244624"/>
          </a:xfrm>
          <a:custGeom>
            <a:avLst/>
            <a:gdLst/>
            <a:ahLst/>
            <a:cxnLst/>
            <a:rect l="l" t="t" r="r" b="b"/>
            <a:pathLst>
              <a:path w="1046907" h="244624">
                <a:moveTo>
                  <a:pt x="122312" y="0"/>
                </a:moveTo>
                <a:lnTo>
                  <a:pt x="924595" y="0"/>
                </a:lnTo>
                <a:arcTo hR="122312" wR="122312" stAng="16200000" swAng="5400000"/>
                <a:lnTo>
                  <a:pt x="1046907" y="122312"/>
                </a:lnTo>
                <a:arcTo hR="122312" wR="122312" stAng="0" swAng="5400000"/>
                <a:lnTo>
                  <a:pt x="122312" y="244624"/>
                </a:lnTo>
                <a:arcTo hR="122312" wR="122312" stAng="5400000" swAng="5400000"/>
                <a:lnTo>
                  <a:pt x="0" y="122312"/>
                </a:lnTo>
                <a:arcTo hR="122312" wR="122312"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CITY_MESSAGE</a:t>
            </a:r>
            <a:endParaRPr lang="en-US" sz="950" dirty="0"/>
          </a:p>
        </p:txBody>
      </p:sp>
      <p:sp>
        <p:nvSpPr>
          <p:cNvPr id="57" name="Text 47"/>
          <p:cNvSpPr/>
          <p:nvPr/>
        </p:nvSpPr>
        <p:spPr>
          <a:xfrm>
            <a:off x="5813723" y="5451525"/>
            <a:ext cx="981968" cy="244624"/>
          </a:xfrm>
          <a:custGeom>
            <a:avLst/>
            <a:gdLst/>
            <a:ahLst/>
            <a:cxnLst/>
            <a:rect l="l" t="t" r="r" b="b"/>
            <a:pathLst>
              <a:path w="981968" h="244624">
                <a:moveTo>
                  <a:pt x="122312" y="0"/>
                </a:moveTo>
                <a:lnTo>
                  <a:pt x="859656" y="0"/>
                </a:lnTo>
                <a:arcTo hR="122312" wR="122312" stAng="16200000" swAng="5400000"/>
                <a:lnTo>
                  <a:pt x="981968" y="122312"/>
                </a:lnTo>
                <a:arcTo hR="122312" wR="122312" stAng="0" swAng="5400000"/>
                <a:lnTo>
                  <a:pt x="122312" y="244624"/>
                </a:lnTo>
                <a:arcTo hR="122312" wR="122312" stAng="5400000" swAng="5400000"/>
                <a:lnTo>
                  <a:pt x="0" y="122312"/>
                </a:lnTo>
                <a:arcTo hR="122312" wR="122312"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CITY_MEMORY</a:t>
            </a:r>
            <a:endParaRPr lang="en-US" sz="950" dirty="0"/>
          </a:p>
        </p:txBody>
      </p:sp>
      <p:sp>
        <p:nvSpPr>
          <p:cNvPr id="58" name="Text 48"/>
          <p:cNvSpPr/>
          <p:nvPr/>
        </p:nvSpPr>
        <p:spPr>
          <a:xfrm>
            <a:off x="6859191" y="5451525"/>
            <a:ext cx="946249" cy="244624"/>
          </a:xfrm>
          <a:custGeom>
            <a:avLst/>
            <a:gdLst/>
            <a:ahLst/>
            <a:cxnLst/>
            <a:rect l="l" t="t" r="r" b="b"/>
            <a:pathLst>
              <a:path w="946249" h="244624">
                <a:moveTo>
                  <a:pt x="122312" y="0"/>
                </a:moveTo>
                <a:lnTo>
                  <a:pt x="823937" y="0"/>
                </a:lnTo>
                <a:arcTo hR="122312" wR="122312" stAng="16200000" swAng="5400000"/>
                <a:lnTo>
                  <a:pt x="946249" y="122312"/>
                </a:lnTo>
                <a:arcTo hR="122312" wR="122312" stAng="0" swAng="5400000"/>
                <a:lnTo>
                  <a:pt x="122312" y="244624"/>
                </a:lnTo>
                <a:arcTo hR="122312" wR="122312" stAng="5400000" swAng="5400000"/>
                <a:lnTo>
                  <a:pt x="0" y="122312"/>
                </a:lnTo>
                <a:arcTo hR="122312" wR="122312"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CITY_THREAD</a:t>
            </a:r>
            <a:endParaRPr lang="en-US" sz="950" dirty="0"/>
          </a:p>
        </p:txBody>
      </p:sp>
      <p:sp>
        <p:nvSpPr>
          <p:cNvPr id="59" name="Text 49"/>
          <p:cNvSpPr/>
          <p:nvPr/>
        </p:nvSpPr>
        <p:spPr>
          <a:xfrm>
            <a:off x="8864600" y="5435600"/>
            <a:ext cx="2433066" cy="40253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AEB9B7"/>
                </a:solidFill>
                <a:latin typeface="Arial" pitchFamily="34" charset="0"/>
                <a:ea typeface="Arial" pitchFamily="34" charset="-122"/>
                <a:cs typeface="Arial" pitchFamily="34" charset="-120"/>
              </a:rPr>
              <a:t>Two tables are yours (sand); the SDK owns three.</a:t>
            </a:r>
            <a:endParaRPr lang="en-US" sz="1100" dirty="0"/>
          </a:p>
        </p:txBody>
      </p:sp>
      <p:sp>
        <p:nvSpPr>
          <p:cNvPr id="60" name="Text 5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73</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The same notebook, with decision models in place</a:t>
            </a:r>
            <a:endParaRPr lang="en-US" sz="2800" dirty="0"/>
          </a:p>
        </p:txBody>
      </p:sp>
      <p:sp>
        <p:nvSpPr>
          <p:cNvPr id="4" name="Shape 2"/>
          <p:cNvSpPr/>
          <p:nvPr/>
        </p:nvSpPr>
        <p:spPr>
          <a:xfrm>
            <a:off x="817563" y="14017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5" name="Text 3"/>
          <p:cNvSpPr/>
          <p:nvPr/>
        </p:nvSpPr>
        <p:spPr>
          <a:xfrm>
            <a:off x="965200" y="140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AEB9B7"/>
                </a:solidFill>
                <a:latin typeface="Courier New" pitchFamily="49" charset="0"/>
                <a:ea typeface="Courier New" pitchFamily="49" charset="-122"/>
                <a:cs typeface="Courier New" pitchFamily="49" charset="-120"/>
              </a:rPr>
              <a:t>APPLICATION LAYER</a:t>
            </a:r>
            <a:endParaRPr lang="en-US" sz="1100" dirty="0"/>
          </a:p>
        </p:txBody>
      </p:sp>
      <p:sp>
        <p:nvSpPr>
          <p:cNvPr id="6" name="Shape 4"/>
          <p:cNvSpPr/>
          <p:nvPr/>
        </p:nvSpPr>
        <p:spPr>
          <a:xfrm>
            <a:off x="817563" y="2671763"/>
            <a:ext cx="7432675" cy="1895475"/>
          </a:xfrm>
          <a:prstGeom prst="roundRect">
            <a:avLst>
              <a:gd name="adj" fmla="val 7119"/>
            </a:avLst>
          </a:prstGeom>
          <a:solidFill>
            <a:srgbClr val="FFFFFF">
              <a:alpha val="2000"/>
            </a:srgbClr>
          </a:solidFill>
          <a:ln w="9525">
            <a:solidFill>
              <a:srgbClr val="FFFFFF">
                <a:alpha val="16000"/>
              </a:srgbClr>
            </a:solidFill>
            <a:prstDash val="dash"/>
          </a:ln>
        </p:spPr>
      </p:sp>
      <p:sp>
        <p:nvSpPr>
          <p:cNvPr id="7" name="Text 5"/>
          <p:cNvSpPr/>
          <p:nvPr/>
        </p:nvSpPr>
        <p:spPr>
          <a:xfrm>
            <a:off x="965200" y="26797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E8836F"/>
                </a:solidFill>
                <a:latin typeface="Courier New" pitchFamily="49" charset="0"/>
                <a:ea typeface="Courier New" pitchFamily="49" charset="-122"/>
                <a:cs typeface="Courier New" pitchFamily="49" charset="-120"/>
              </a:rPr>
              <a:t>MEMORY LAYER</a:t>
            </a:r>
            <a:endParaRPr lang="en-US" sz="1100" dirty="0"/>
          </a:p>
        </p:txBody>
      </p:sp>
      <p:sp>
        <p:nvSpPr>
          <p:cNvPr id="8" name="Shape 6"/>
          <p:cNvSpPr/>
          <p:nvPr/>
        </p:nvSpPr>
        <p:spPr>
          <a:xfrm>
            <a:off x="817563" y="4894263"/>
            <a:ext cx="7432675" cy="942975"/>
          </a:xfrm>
          <a:prstGeom prst="roundRect">
            <a:avLst>
              <a:gd name="adj" fmla="val 14310"/>
            </a:avLst>
          </a:prstGeom>
          <a:solidFill>
            <a:srgbClr val="FFFFFF">
              <a:alpha val="2000"/>
            </a:srgbClr>
          </a:solidFill>
          <a:ln w="9525">
            <a:solidFill>
              <a:srgbClr val="FFFFFF">
                <a:alpha val="16000"/>
              </a:srgbClr>
            </a:solidFill>
            <a:prstDash val="dash"/>
          </a:ln>
        </p:spPr>
      </p:sp>
      <p:sp>
        <p:nvSpPr>
          <p:cNvPr id="9" name="Text 7"/>
          <p:cNvSpPr/>
          <p:nvPr/>
        </p:nvSpPr>
        <p:spPr>
          <a:xfrm>
            <a:off x="965200" y="4902200"/>
            <a:ext cx="7351522"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DEB068"/>
                </a:solidFill>
                <a:latin typeface="Courier New" pitchFamily="49" charset="0"/>
                <a:ea typeface="Courier New" pitchFamily="49" charset="-122"/>
                <a:cs typeface="Courier New" pitchFamily="49" charset="-120"/>
              </a:rPr>
              <a:t>DATA LAYER</a:t>
            </a:r>
            <a:endParaRPr lang="en-US" sz="1100" dirty="0"/>
          </a:p>
        </p:txBody>
      </p:sp>
      <p:sp>
        <p:nvSpPr>
          <p:cNvPr id="10" name="Shape 8"/>
          <p:cNvSpPr/>
          <p:nvPr/>
        </p:nvSpPr>
        <p:spPr>
          <a:xfrm>
            <a:off x="8716963" y="1401763"/>
            <a:ext cx="2657475" cy="4435475"/>
          </a:xfrm>
          <a:prstGeom prst="roundRect">
            <a:avLst>
              <a:gd name="adj" fmla="val 5078"/>
            </a:avLst>
          </a:prstGeom>
          <a:solidFill>
            <a:srgbClr val="FFFFFF">
              <a:alpha val="2000"/>
            </a:srgbClr>
          </a:solidFill>
          <a:ln w="9525">
            <a:solidFill>
              <a:srgbClr val="FFFFFF">
                <a:alpha val="16000"/>
              </a:srgbClr>
            </a:solidFill>
            <a:prstDash val="dash"/>
          </a:ln>
        </p:spPr>
      </p:sp>
      <p:sp>
        <p:nvSpPr>
          <p:cNvPr id="11" name="Text 9"/>
          <p:cNvSpPr/>
          <p:nvPr/>
        </p:nvSpPr>
        <p:spPr>
          <a:xfrm>
            <a:off x="8864600" y="1409700"/>
            <a:ext cx="2433066" cy="220960"/>
          </a:xfrm>
          <a:prstGeom prst="rect">
            <a:avLst/>
          </a:prstGeom>
          <a:noFill/>
          <a:ln/>
        </p:spPr>
        <p:txBody>
          <a:bodyPr wrap="square" lIns="0" tIns="0" rIns="0" bIns="0" rtlCol="0" anchor="t">
            <a:normAutofit/>
          </a:bodyPr>
          <a:lstStyle/>
          <a:p>
            <a:pPr algn="l" indent="0" marL="0">
              <a:lnSpc>
                <a:spcPts val="1540"/>
              </a:lnSpc>
              <a:buNone/>
            </a:pPr>
            <a:r>
              <a:rPr lang="en-US" sz="1100" spc="150" kern="0" dirty="0">
                <a:solidFill>
                  <a:srgbClr val="7FC4DC"/>
                </a:solidFill>
                <a:latin typeface="Courier New" pitchFamily="49" charset="0"/>
                <a:ea typeface="Courier New" pitchFamily="49" charset="-122"/>
                <a:cs typeface="Courier New" pitchFamily="49" charset="-120"/>
              </a:rPr>
              <a:t>MODEL LAYER</a:t>
            </a:r>
            <a:endParaRPr lang="en-US" sz="1100" dirty="0"/>
          </a:p>
        </p:txBody>
      </p:sp>
      <p:sp>
        <p:nvSpPr>
          <p:cNvPr id="12" name="Shape 10"/>
          <p:cNvSpPr/>
          <p:nvPr/>
        </p:nvSpPr>
        <p:spPr>
          <a:xfrm>
            <a:off x="969963" y="1668463"/>
            <a:ext cx="2149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3" name="Image 0" descr="Book">    </p:cNvPr>
          <p:cNvPicPr>
            <a:picLocks noChangeAspect="1"/>
          </p:cNvPicPr>
          <p:nvPr/>
        </p:nvPicPr>
        <p:blipFill>
          <a:blip r:embed="rId1"/>
          <a:srcRect l="0" r="0" t="0" b="0"/>
          <a:stretch/>
        </p:blipFill>
        <p:spPr>
          <a:xfrm>
            <a:off x="1054100" y="1841500"/>
            <a:ext cx="254000" cy="254000"/>
          </a:xfrm>
          <a:prstGeom prst="rect">
            <a:avLst/>
          </a:prstGeom>
        </p:spPr>
      </p:pic>
      <p:sp>
        <p:nvSpPr>
          <p:cNvPr id="14" name="Text 11"/>
          <p:cNvSpPr/>
          <p:nvPr/>
        </p:nvSpPr>
        <p:spPr>
          <a:xfrm>
            <a:off x="1397000" y="1766590"/>
            <a:ext cx="160034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JupyterLab notebook</a:t>
            </a:r>
            <a:endParaRPr lang="en-US" sz="1200" dirty="0"/>
          </a:p>
        </p:txBody>
      </p:sp>
      <p:sp>
        <p:nvSpPr>
          <p:cNvPr id="15" name="Text 12"/>
          <p:cNvSpPr/>
          <p:nvPr/>
        </p:nvSpPr>
        <p:spPr>
          <a:xfrm>
            <a:off x="1397000" y="1992610"/>
            <a:ext cx="1600349"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in the LiveLabs sandbox</a:t>
            </a:r>
            <a:endParaRPr lang="en-US" sz="1000" dirty="0"/>
          </a:p>
        </p:txBody>
      </p:sp>
      <p:sp>
        <p:nvSpPr>
          <p:cNvPr id="16" name="Shape 13"/>
          <p:cNvSpPr/>
          <p:nvPr/>
        </p:nvSpPr>
        <p:spPr>
          <a:xfrm>
            <a:off x="3230563" y="1668463"/>
            <a:ext cx="22891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17" name="Image 1" descr="Link">    </p:cNvPr>
          <p:cNvPicPr>
            <a:picLocks noChangeAspect="1"/>
          </p:cNvPicPr>
          <p:nvPr/>
        </p:nvPicPr>
        <p:blipFill>
          <a:blip r:embed="rId2"/>
          <a:srcRect l="0" r="0" t="0" b="0"/>
          <a:stretch/>
        </p:blipFill>
        <p:spPr>
          <a:xfrm>
            <a:off x="3314700" y="1841500"/>
            <a:ext cx="254000" cy="254000"/>
          </a:xfrm>
          <a:prstGeom prst="rect">
            <a:avLst/>
          </a:prstGeom>
        </p:spPr>
      </p:pic>
      <p:sp>
        <p:nvSpPr>
          <p:cNvPr id="18" name="Text 14"/>
          <p:cNvSpPr/>
          <p:nvPr/>
        </p:nvSpPr>
        <p:spPr>
          <a:xfrm>
            <a:off x="3657600" y="1766590"/>
            <a:ext cx="1646089"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LangChain</a:t>
            </a:r>
            <a:endParaRPr lang="en-US" sz="1200" dirty="0"/>
          </a:p>
        </p:txBody>
      </p:sp>
      <p:sp>
        <p:nvSpPr>
          <p:cNvPr id="19" name="Text 15"/>
          <p:cNvSpPr/>
          <p:nvPr/>
        </p:nvSpPr>
        <p:spPr>
          <a:xfrm>
            <a:off x="3657600" y="1992610"/>
            <a:ext cx="1646089"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ChatOllama, message types</a:t>
            </a:r>
            <a:endParaRPr lang="en-US" sz="1000" dirty="0"/>
          </a:p>
        </p:txBody>
      </p:sp>
      <p:sp>
        <p:nvSpPr>
          <p:cNvPr id="20" name="Shape 16"/>
          <p:cNvSpPr/>
          <p:nvPr/>
        </p:nvSpPr>
        <p:spPr>
          <a:xfrm>
            <a:off x="5630863" y="1668463"/>
            <a:ext cx="2403475" cy="600075"/>
          </a:xfrm>
          <a:prstGeom prst="roundRect">
            <a:avLst>
              <a:gd name="adj" fmla="val 16138"/>
            </a:avLst>
          </a:prstGeom>
          <a:solidFill>
            <a:srgbClr val="FFFFFF">
              <a:alpha val="6000"/>
            </a:srgbClr>
          </a:solidFill>
          <a:ln w="9525">
            <a:solidFill>
              <a:srgbClr val="FFFFFF">
                <a:alpha val="18000"/>
              </a:srgbClr>
            </a:solidFill>
            <a:prstDash val="solid"/>
          </a:ln>
        </p:spPr>
      </p:sp>
      <p:pic>
        <p:nvPicPr>
          <p:cNvPr id="21" name="Image 2" descr="Settings">    </p:cNvPr>
          <p:cNvPicPr>
            <a:picLocks noChangeAspect="1"/>
          </p:cNvPicPr>
          <p:nvPr/>
        </p:nvPicPr>
        <p:blipFill>
          <a:blip r:embed="rId3"/>
          <a:srcRect l="0" r="0" t="0" b="0"/>
          <a:stretch/>
        </p:blipFill>
        <p:spPr>
          <a:xfrm>
            <a:off x="5715000" y="1841500"/>
            <a:ext cx="254000" cy="254000"/>
          </a:xfrm>
          <a:prstGeom prst="rect">
            <a:avLst/>
          </a:prstGeom>
        </p:spPr>
      </p:pic>
      <p:sp>
        <p:nvSpPr>
          <p:cNvPr id="22" name="Text 17"/>
          <p:cNvSpPr/>
          <p:nvPr/>
        </p:nvSpPr>
        <p:spPr>
          <a:xfrm>
            <a:off x="6057900" y="1766590"/>
            <a:ext cx="154746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call_copilot</a:t>
            </a:r>
            <a:endParaRPr lang="en-US" sz="1200" dirty="0"/>
          </a:p>
        </p:txBody>
      </p:sp>
      <p:sp>
        <p:nvSpPr>
          <p:cNvPr id="23" name="Text 18"/>
          <p:cNvSpPr/>
          <p:nvPr/>
        </p:nvSpPr>
        <p:spPr>
          <a:xfrm>
            <a:off x="6057900" y="1992610"/>
            <a:ext cx="1547465"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the harness, async Python</a:t>
            </a:r>
            <a:endParaRPr lang="en-US" sz="1000" dirty="0"/>
          </a:p>
        </p:txBody>
      </p:sp>
      <p:sp>
        <p:nvSpPr>
          <p:cNvPr id="24" name="Shape 19"/>
          <p:cNvSpPr/>
          <p:nvPr/>
        </p:nvSpPr>
        <p:spPr>
          <a:xfrm>
            <a:off x="8869363" y="16684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25" name="Image 3" descr="Lightbulb">    </p:cNvPr>
          <p:cNvPicPr>
            <a:picLocks noChangeAspect="1"/>
          </p:cNvPicPr>
          <p:nvPr/>
        </p:nvPicPr>
        <p:blipFill>
          <a:blip r:embed="rId4"/>
          <a:srcRect l="0" r="0" t="0" b="0"/>
          <a:stretch/>
        </p:blipFill>
        <p:spPr>
          <a:xfrm>
            <a:off x="8928100" y="1778000"/>
            <a:ext cx="254000" cy="254000"/>
          </a:xfrm>
          <a:prstGeom prst="rect">
            <a:avLst/>
          </a:prstGeom>
        </p:spPr>
      </p:pic>
      <p:sp>
        <p:nvSpPr>
          <p:cNvPr id="26" name="Text 20"/>
          <p:cNvSpPr/>
          <p:nvPr/>
        </p:nvSpPr>
        <p:spPr>
          <a:xfrm>
            <a:off x="9271000" y="1703090"/>
            <a:ext cx="145717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llama3.2 via Ollama</a:t>
            </a:r>
            <a:endParaRPr lang="en-US" sz="1200" dirty="0"/>
          </a:p>
        </p:txBody>
      </p:sp>
      <p:sp>
        <p:nvSpPr>
          <p:cNvPr id="27" name="Text 21"/>
          <p:cNvSpPr/>
          <p:nvPr/>
        </p:nvSpPr>
        <p:spPr>
          <a:xfrm>
            <a:off x="9271000" y="1929110"/>
            <a:ext cx="1457176"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the copilot LLM, local</a:t>
            </a:r>
            <a:endParaRPr lang="en-US" sz="1000" dirty="0"/>
          </a:p>
        </p:txBody>
      </p:sp>
      <p:sp>
        <p:nvSpPr>
          <p:cNvPr id="28" name="Shape 22"/>
          <p:cNvSpPr/>
          <p:nvPr/>
        </p:nvSpPr>
        <p:spPr>
          <a:xfrm>
            <a:off x="8869363" y="22272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29" name="Image 4" descr="Lightning">    </p:cNvPr>
          <p:cNvPicPr>
            <a:picLocks noChangeAspect="1"/>
          </p:cNvPicPr>
          <p:nvPr/>
        </p:nvPicPr>
        <p:blipFill>
          <a:blip r:embed="rId5"/>
          <a:srcRect l="0" r="0" t="0" b="0"/>
          <a:stretch/>
        </p:blipFill>
        <p:spPr>
          <a:xfrm>
            <a:off x="8928100" y="2336800"/>
            <a:ext cx="254000" cy="254000"/>
          </a:xfrm>
          <a:prstGeom prst="rect">
            <a:avLst/>
          </a:prstGeom>
        </p:spPr>
      </p:pic>
      <p:sp>
        <p:nvSpPr>
          <p:cNvPr id="30" name="Text 23"/>
          <p:cNvSpPr/>
          <p:nvPr/>
        </p:nvSpPr>
        <p:spPr>
          <a:xfrm>
            <a:off x="9271000" y="2261890"/>
            <a:ext cx="156850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llama3.2 via Ollama</a:t>
            </a:r>
            <a:endParaRPr lang="en-US" sz="1200" dirty="0"/>
          </a:p>
        </p:txBody>
      </p:sp>
      <p:sp>
        <p:nvSpPr>
          <p:cNvPr id="31" name="Text 24"/>
          <p:cNvSpPr/>
          <p:nvPr/>
        </p:nvSpPr>
        <p:spPr>
          <a:xfrm>
            <a:off x="9271000" y="2487910"/>
            <a:ext cx="1568500"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the SDK extractor, LiteLLM</a:t>
            </a:r>
            <a:endParaRPr lang="en-US" sz="1000" dirty="0"/>
          </a:p>
        </p:txBody>
      </p:sp>
      <p:sp>
        <p:nvSpPr>
          <p:cNvPr id="32" name="Shape 25"/>
          <p:cNvSpPr/>
          <p:nvPr/>
        </p:nvSpPr>
        <p:spPr>
          <a:xfrm>
            <a:off x="8869363" y="2786063"/>
            <a:ext cx="2352675" cy="473075"/>
          </a:xfrm>
          <a:prstGeom prst="roundRect">
            <a:avLst>
              <a:gd name="adj" fmla="val 20470"/>
            </a:avLst>
          </a:prstGeom>
          <a:solidFill>
            <a:srgbClr val="FFFFFF">
              <a:alpha val="6000"/>
            </a:srgbClr>
          </a:solidFill>
          <a:ln w="9525">
            <a:solidFill>
              <a:srgbClr val="FFFFFF">
                <a:alpha val="18000"/>
              </a:srgbClr>
            </a:solidFill>
            <a:prstDash val="solid"/>
          </a:ln>
        </p:spPr>
      </p:sp>
      <p:pic>
        <p:nvPicPr>
          <p:cNvPr id="33" name="Image 5" descr="Activity">    </p:cNvPr>
          <p:cNvPicPr>
            <a:picLocks noChangeAspect="1"/>
          </p:cNvPicPr>
          <p:nvPr/>
        </p:nvPicPr>
        <p:blipFill>
          <a:blip r:embed="rId6"/>
          <a:srcRect l="0" r="0" t="0" b="0"/>
          <a:stretch/>
        </p:blipFill>
        <p:spPr>
          <a:xfrm>
            <a:off x="8928100" y="2895600"/>
            <a:ext cx="254000" cy="254000"/>
          </a:xfrm>
          <a:prstGeom prst="rect">
            <a:avLst/>
          </a:prstGeom>
        </p:spPr>
      </p:pic>
      <p:sp>
        <p:nvSpPr>
          <p:cNvPr id="34" name="Text 26"/>
          <p:cNvSpPr/>
          <p:nvPr/>
        </p:nvSpPr>
        <p:spPr>
          <a:xfrm>
            <a:off x="9271000" y="2820690"/>
            <a:ext cx="171693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FFFFF"/>
                </a:solidFill>
                <a:latin typeface="Arial" pitchFamily="34" charset="0"/>
                <a:ea typeface="Arial" pitchFamily="34" charset="-122"/>
                <a:cs typeface="Arial" pitchFamily="34" charset="-120"/>
              </a:rPr>
              <a:t>ALL_MINILM_L12_V2</a:t>
            </a:r>
            <a:endParaRPr lang="en-US" sz="1200" dirty="0"/>
          </a:p>
        </p:txBody>
      </p:sp>
      <p:sp>
        <p:nvSpPr>
          <p:cNvPr id="35" name="Text 27"/>
          <p:cNvSpPr/>
          <p:nvPr/>
        </p:nvSpPr>
        <p:spPr>
          <a:xfrm>
            <a:off x="9271000" y="3046710"/>
            <a:ext cx="1716931"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ONNX in the database, 384-d</a:t>
            </a:r>
            <a:endParaRPr lang="en-US" sz="1000" dirty="0"/>
          </a:p>
        </p:txBody>
      </p:sp>
      <p:sp>
        <p:nvSpPr>
          <p:cNvPr id="36" name="Shape 28"/>
          <p:cNvSpPr/>
          <p:nvPr/>
        </p:nvSpPr>
        <p:spPr>
          <a:xfrm>
            <a:off x="8869363" y="3433763"/>
            <a:ext cx="2352675" cy="473075"/>
          </a:xfrm>
          <a:prstGeom prst="roundRect">
            <a:avLst>
              <a:gd name="adj" fmla="val 20470"/>
            </a:avLst>
          </a:prstGeom>
          <a:solidFill>
            <a:srgbClr val="36677D">
              <a:alpha val="14000"/>
            </a:srgbClr>
          </a:solidFill>
          <a:ln w="9525">
            <a:solidFill>
              <a:srgbClr val="7FC4DC">
                <a:alpha val="80000"/>
              </a:srgbClr>
            </a:solidFill>
            <a:prstDash val="dash"/>
          </a:ln>
        </p:spPr>
      </p:sp>
      <p:pic>
        <p:nvPicPr>
          <p:cNvPr id="37" name="Image 6" descr="Check">    </p:cNvPr>
          <p:cNvPicPr>
            <a:picLocks noChangeAspect="1"/>
          </p:cNvPicPr>
          <p:nvPr/>
        </p:nvPicPr>
        <p:blipFill>
          <a:blip r:embed="rId7"/>
          <a:srcRect l="0" r="0" t="0" b="0"/>
          <a:stretch/>
        </p:blipFill>
        <p:spPr>
          <a:xfrm>
            <a:off x="8928100" y="3543300"/>
            <a:ext cx="254000" cy="254000"/>
          </a:xfrm>
          <a:prstGeom prst="rect">
            <a:avLst/>
          </a:prstGeom>
        </p:spPr>
      </p:pic>
      <p:sp>
        <p:nvSpPr>
          <p:cNvPr id="38" name="Text 29"/>
          <p:cNvSpPr/>
          <p:nvPr/>
        </p:nvSpPr>
        <p:spPr>
          <a:xfrm>
            <a:off x="9271000" y="3468390"/>
            <a:ext cx="1516261"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7FC4DC"/>
                </a:solidFill>
                <a:latin typeface="Arial" pitchFamily="34" charset="0"/>
                <a:ea typeface="Arial" pitchFamily="34" charset="-122"/>
                <a:cs typeface="Arial" pitchFamily="34" charset="-120"/>
              </a:rPr>
              <a:t>DM · asset classifier</a:t>
            </a:r>
            <a:endParaRPr lang="en-US" sz="1200" dirty="0"/>
          </a:p>
        </p:txBody>
      </p:sp>
      <p:sp>
        <p:nvSpPr>
          <p:cNvPr id="39" name="Text 30"/>
          <p:cNvSpPr/>
          <p:nvPr/>
        </p:nvSpPr>
        <p:spPr>
          <a:xfrm>
            <a:off x="9271000" y="3694410"/>
            <a:ext cx="1516261"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replaces classify_asset</a:t>
            </a:r>
            <a:endParaRPr lang="en-US" sz="1000" dirty="0"/>
          </a:p>
        </p:txBody>
      </p:sp>
      <p:sp>
        <p:nvSpPr>
          <p:cNvPr id="40" name="Shape 31"/>
          <p:cNvSpPr/>
          <p:nvPr/>
        </p:nvSpPr>
        <p:spPr>
          <a:xfrm>
            <a:off x="8869363" y="3992563"/>
            <a:ext cx="2352675" cy="473075"/>
          </a:xfrm>
          <a:prstGeom prst="roundRect">
            <a:avLst>
              <a:gd name="adj" fmla="val 20470"/>
            </a:avLst>
          </a:prstGeom>
          <a:solidFill>
            <a:srgbClr val="36677D">
              <a:alpha val="14000"/>
            </a:srgbClr>
          </a:solidFill>
          <a:ln w="9525">
            <a:solidFill>
              <a:srgbClr val="7FC4DC">
                <a:alpha val="80000"/>
              </a:srgbClr>
            </a:solidFill>
            <a:prstDash val="dash"/>
          </a:ln>
        </p:spPr>
      </p:sp>
      <p:pic>
        <p:nvPicPr>
          <p:cNvPr id="41" name="Image 7" descr="Check">    </p:cNvPr>
          <p:cNvPicPr>
            <a:picLocks noChangeAspect="1"/>
          </p:cNvPicPr>
          <p:nvPr/>
        </p:nvPicPr>
        <p:blipFill>
          <a:blip r:embed="rId8"/>
          <a:srcRect l="0" r="0" t="0" b="0"/>
          <a:stretch/>
        </p:blipFill>
        <p:spPr>
          <a:xfrm>
            <a:off x="8928100" y="4102100"/>
            <a:ext cx="254000" cy="254000"/>
          </a:xfrm>
          <a:prstGeom prst="rect">
            <a:avLst/>
          </a:prstGeom>
        </p:spPr>
      </p:pic>
      <p:sp>
        <p:nvSpPr>
          <p:cNvPr id="42" name="Text 32"/>
          <p:cNvSpPr/>
          <p:nvPr/>
        </p:nvSpPr>
        <p:spPr>
          <a:xfrm>
            <a:off x="9271000" y="4027190"/>
            <a:ext cx="164613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7FC4DC"/>
                </a:solidFill>
                <a:latin typeface="Arial" pitchFamily="34" charset="0"/>
                <a:ea typeface="Arial" pitchFamily="34" charset="-122"/>
                <a:cs typeface="Arial" pitchFamily="34" charset="-120"/>
              </a:rPr>
              <a:t>DM · write router</a:t>
            </a:r>
            <a:endParaRPr lang="en-US" sz="1200" dirty="0"/>
          </a:p>
        </p:txBody>
      </p:sp>
      <p:sp>
        <p:nvSpPr>
          <p:cNvPr id="43" name="Text 33"/>
          <p:cNvSpPr/>
          <p:nvPr/>
        </p:nvSpPr>
        <p:spPr>
          <a:xfrm>
            <a:off x="9271000" y="4253210"/>
            <a:ext cx="1646138"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record_type for the extractor</a:t>
            </a:r>
            <a:endParaRPr lang="en-US" sz="1000" dirty="0"/>
          </a:p>
        </p:txBody>
      </p:sp>
      <p:sp>
        <p:nvSpPr>
          <p:cNvPr id="44" name="Shape 34"/>
          <p:cNvSpPr/>
          <p:nvPr/>
        </p:nvSpPr>
        <p:spPr>
          <a:xfrm>
            <a:off x="8869363" y="4551363"/>
            <a:ext cx="2352675" cy="473075"/>
          </a:xfrm>
          <a:prstGeom prst="roundRect">
            <a:avLst>
              <a:gd name="adj" fmla="val 20470"/>
            </a:avLst>
          </a:prstGeom>
          <a:solidFill>
            <a:srgbClr val="36677D">
              <a:alpha val="14000"/>
            </a:srgbClr>
          </a:solidFill>
          <a:ln w="9525">
            <a:solidFill>
              <a:srgbClr val="7FC4DC">
                <a:alpha val="80000"/>
              </a:srgbClr>
            </a:solidFill>
            <a:prstDash val="dash"/>
          </a:ln>
        </p:spPr>
      </p:sp>
      <p:pic>
        <p:nvPicPr>
          <p:cNvPr id="45" name="Image 8" descr="Check">    </p:cNvPr>
          <p:cNvPicPr>
            <a:picLocks noChangeAspect="1"/>
          </p:cNvPicPr>
          <p:nvPr/>
        </p:nvPicPr>
        <p:blipFill>
          <a:blip r:embed="rId9"/>
          <a:srcRect l="0" r="0" t="0" b="0"/>
          <a:stretch/>
        </p:blipFill>
        <p:spPr>
          <a:xfrm>
            <a:off x="8928100" y="4660900"/>
            <a:ext cx="254000" cy="254000"/>
          </a:xfrm>
          <a:prstGeom prst="rect">
            <a:avLst/>
          </a:prstGeom>
        </p:spPr>
      </p:pic>
      <p:sp>
        <p:nvSpPr>
          <p:cNvPr id="46" name="Text 35"/>
          <p:cNvSpPr/>
          <p:nvPr/>
        </p:nvSpPr>
        <p:spPr>
          <a:xfrm>
            <a:off x="9271000" y="4585990"/>
            <a:ext cx="177084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7FC4DC"/>
                </a:solidFill>
                <a:latin typeface="Arial" pitchFamily="34" charset="0"/>
                <a:ea typeface="Arial" pitchFamily="34" charset="-122"/>
                <a:cs typeface="Arial" pitchFamily="34" charset="-120"/>
              </a:rPr>
              <a:t>DM · severity and grade</a:t>
            </a:r>
            <a:endParaRPr lang="en-US" sz="1200" dirty="0"/>
          </a:p>
        </p:txBody>
      </p:sp>
      <p:sp>
        <p:nvSpPr>
          <p:cNvPr id="47" name="Text 36"/>
          <p:cNvSpPr/>
          <p:nvPr/>
        </p:nvSpPr>
        <p:spPr>
          <a:xfrm>
            <a:off x="9271000" y="4812010"/>
            <a:ext cx="1770840"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proposes log_finding fields</a:t>
            </a:r>
            <a:endParaRPr lang="en-US" sz="1000" dirty="0"/>
          </a:p>
        </p:txBody>
      </p:sp>
      <p:sp>
        <p:nvSpPr>
          <p:cNvPr id="48" name="Shape 37"/>
          <p:cNvSpPr/>
          <p:nvPr/>
        </p:nvSpPr>
        <p:spPr>
          <a:xfrm>
            <a:off x="8869363" y="5110163"/>
            <a:ext cx="2352675" cy="473075"/>
          </a:xfrm>
          <a:prstGeom prst="roundRect">
            <a:avLst>
              <a:gd name="adj" fmla="val 20470"/>
            </a:avLst>
          </a:prstGeom>
          <a:solidFill>
            <a:srgbClr val="36677D">
              <a:alpha val="14000"/>
            </a:srgbClr>
          </a:solidFill>
          <a:ln w="9525">
            <a:solidFill>
              <a:srgbClr val="7FC4DC">
                <a:alpha val="80000"/>
              </a:srgbClr>
            </a:solidFill>
            <a:prstDash val="dash"/>
          </a:ln>
        </p:spPr>
      </p:sp>
      <p:pic>
        <p:nvPicPr>
          <p:cNvPr id="49" name="Image 9" descr="Check">    </p:cNvPr>
          <p:cNvPicPr>
            <a:picLocks noChangeAspect="1"/>
          </p:cNvPicPr>
          <p:nvPr/>
        </p:nvPicPr>
        <p:blipFill>
          <a:blip r:embed="rId10"/>
          <a:srcRect l="0" r="0" t="0" b="0"/>
          <a:stretch/>
        </p:blipFill>
        <p:spPr>
          <a:xfrm>
            <a:off x="8928100" y="5219700"/>
            <a:ext cx="254000" cy="254000"/>
          </a:xfrm>
          <a:prstGeom prst="rect">
            <a:avLst/>
          </a:prstGeom>
        </p:spPr>
      </p:pic>
      <p:sp>
        <p:nvSpPr>
          <p:cNvPr id="50" name="Text 38"/>
          <p:cNvSpPr/>
          <p:nvPr/>
        </p:nvSpPr>
        <p:spPr>
          <a:xfrm>
            <a:off x="9271000" y="5144790"/>
            <a:ext cx="167441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7FC4DC"/>
                </a:solidFill>
                <a:latin typeface="Arial" pitchFamily="34" charset="0"/>
                <a:ea typeface="Arial" pitchFamily="34" charset="-122"/>
                <a:cs typeface="Arial" pitchFamily="34" charset="-120"/>
              </a:rPr>
              <a:t>DM · retrieval gate</a:t>
            </a:r>
            <a:endParaRPr lang="en-US" sz="1200" dirty="0"/>
          </a:p>
        </p:txBody>
      </p:sp>
      <p:sp>
        <p:nvSpPr>
          <p:cNvPr id="51" name="Text 39"/>
          <p:cNvSpPr/>
          <p:nvPr/>
        </p:nvSpPr>
        <p:spPr>
          <a:xfrm>
            <a:off x="9271000" y="5370810"/>
            <a:ext cx="1674416" cy="203200"/>
          </a:xfrm>
          <a:prstGeom prst="rect">
            <a:avLst/>
          </a:prstGeom>
          <a:noFill/>
          <a:ln/>
        </p:spPr>
        <p:txBody>
          <a:bodyPr wrap="none" lIns="0" tIns="0" rIns="0" bIns="0" rtlCol="0" anchor="t">
            <a:normAutofit/>
          </a:bodyPr>
          <a:lstStyle/>
          <a:p>
            <a:pPr algn="l" indent="0" marL="0">
              <a:lnSpc>
                <a:spcPts val="1400"/>
              </a:lnSpc>
              <a:buNone/>
            </a:pPr>
            <a:r>
              <a:rPr lang="en-US" sz="1000" dirty="0">
                <a:solidFill>
                  <a:srgbClr val="AEB9B7"/>
                </a:solidFill>
                <a:latin typeface="Arial" pitchFamily="34" charset="0"/>
                <a:ea typeface="Arial" pitchFamily="34" charset="-122"/>
                <a:cs typeface="Arial" pitchFamily="34" charset="-120"/>
              </a:rPr>
              <a:t>skips search on routine turns</a:t>
            </a:r>
            <a:endParaRPr lang="en-US" sz="1000" dirty="0"/>
          </a:p>
        </p:txBody>
      </p:sp>
      <p:pic>
        <p:nvPicPr>
          <p:cNvPr id="52" name="Image 10" descr="the classifier feeds the asset registry">    </p:cNvPr>
          <p:cNvPicPr>
            <a:picLocks noChangeAspect="1"/>
          </p:cNvPicPr>
          <p:nvPr/>
        </p:nvPicPr>
        <p:blipFill>
          <a:blip r:embed="rId11"/>
          <a:srcRect l="0" r="0" t="0" b="0"/>
          <a:stretch/>
        </p:blipFill>
        <p:spPr>
          <a:xfrm>
            <a:off x="0" y="0"/>
            <a:ext cx="12192000" cy="6858000"/>
          </a:xfrm>
          <a:prstGeom prst="rect">
            <a:avLst/>
          </a:prstGeom>
        </p:spPr>
      </p:pic>
      <p:pic>
        <p:nvPicPr>
          <p:cNvPr id="53" name="Image 11" descr="the router sits in front of the extractor">    </p:cNvPr>
          <p:cNvPicPr>
            <a:picLocks noChangeAspect="1"/>
          </p:cNvPicPr>
          <p:nvPr/>
        </p:nvPicPr>
        <p:blipFill>
          <a:blip r:embed="rId12"/>
          <a:srcRect l="0" r="0" t="0" b="0"/>
          <a:stretch/>
        </p:blipFill>
        <p:spPr>
          <a:xfrm>
            <a:off x="0" y="0"/>
            <a:ext cx="12192000" cy="6858000"/>
          </a:xfrm>
          <a:prstGeom prst="rect">
            <a:avLst/>
          </a:prstGeom>
        </p:spPr>
      </p:pic>
      <p:pic>
        <p:nvPicPr>
          <p:cNvPr id="54" name="Image 12" descr="severity and grade proposed to the harness">    </p:cNvPr>
          <p:cNvPicPr>
            <a:picLocks noChangeAspect="1"/>
          </p:cNvPicPr>
          <p:nvPr/>
        </p:nvPicPr>
        <p:blipFill>
          <a:blip r:embed="rId13"/>
          <a:srcRect l="0" r="0" t="0" b="0"/>
          <a:stretch/>
        </p:blipFill>
        <p:spPr>
          <a:xfrm>
            <a:off x="0" y="0"/>
            <a:ext cx="12192000" cy="6858000"/>
          </a:xfrm>
          <a:prstGeom prst="rect">
            <a:avLst/>
          </a:prstGeom>
        </p:spPr>
      </p:pic>
      <p:pic>
        <p:nvPicPr>
          <p:cNvPr id="55" name="Image 13" descr="the gate sits in the harness">    </p:cNvPr>
          <p:cNvPicPr>
            <a:picLocks noChangeAspect="1"/>
          </p:cNvPicPr>
          <p:nvPr/>
        </p:nvPicPr>
        <p:blipFill>
          <a:blip r:embed="rId14"/>
          <a:srcRect l="0" r="0" t="0" b="0"/>
          <a:stretch/>
        </p:blipFill>
        <p:spPr>
          <a:xfrm>
            <a:off x="0" y="0"/>
            <a:ext cx="12192000" cy="6858000"/>
          </a:xfrm>
          <a:prstGeom prst="rect">
            <a:avLst/>
          </a:prstGeom>
        </p:spPr>
      </p:pic>
      <p:sp>
        <p:nvSpPr>
          <p:cNvPr id="56" name="Shape 40"/>
          <p:cNvSpPr/>
          <p:nvPr/>
        </p:nvSpPr>
        <p:spPr>
          <a:xfrm>
            <a:off x="969963" y="2874963"/>
            <a:ext cx="7064375" cy="1654175"/>
          </a:xfrm>
          <a:prstGeom prst="roundRect">
            <a:avLst>
              <a:gd name="adj" fmla="val 6622"/>
            </a:avLst>
          </a:prstGeom>
          <a:solidFill>
            <a:srgbClr val="FFFFFF">
              <a:alpha val="5000"/>
            </a:srgbClr>
          </a:solidFill>
          <a:ln w="9525">
            <a:solidFill>
              <a:srgbClr val="FFFFFF">
                <a:alpha val="22000"/>
              </a:srgbClr>
            </a:solidFill>
            <a:prstDash val="solid"/>
          </a:ln>
        </p:spPr>
      </p:sp>
      <p:pic>
        <p:nvPicPr>
          <p:cNvPr id="57" name="Image 14" descr="Activity">    </p:cNvPr>
          <p:cNvPicPr>
            <a:picLocks noChangeAspect="1"/>
          </p:cNvPicPr>
          <p:nvPr/>
        </p:nvPicPr>
        <p:blipFill>
          <a:blip r:embed="rId15"/>
          <a:srcRect l="0" r="0" t="0" b="0"/>
          <a:stretch/>
        </p:blipFill>
        <p:spPr>
          <a:xfrm>
            <a:off x="1092200" y="3006378"/>
            <a:ext cx="203200" cy="203200"/>
          </a:xfrm>
          <a:prstGeom prst="rect">
            <a:avLst/>
          </a:prstGeom>
        </p:spPr>
      </p:pic>
      <p:sp>
        <p:nvSpPr>
          <p:cNvPr id="58" name="Text 41"/>
          <p:cNvSpPr/>
          <p:nvPr/>
        </p:nvSpPr>
        <p:spPr>
          <a:xfrm>
            <a:off x="1397000" y="3001318"/>
            <a:ext cx="3073166"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FFFFFF"/>
                </a:solidFill>
                <a:latin typeface="Courier New" pitchFamily="49" charset="0"/>
                <a:ea typeface="Courier New" pitchFamily="49" charset="-122"/>
                <a:cs typeface="Courier New" pitchFamily="49" charset="-120"/>
              </a:rPr>
              <a:t>ORACLEAGENTMEMORY · THE SDK</a:t>
            </a:r>
            <a:endParaRPr lang="en-US" sz="1200" dirty="0"/>
          </a:p>
        </p:txBody>
      </p:sp>
      <p:sp>
        <p:nvSpPr>
          <p:cNvPr id="59" name="Text 42"/>
          <p:cNvSpPr/>
          <p:nvPr/>
        </p:nvSpPr>
        <p:spPr>
          <a:xfrm>
            <a:off x="1092200" y="3278088"/>
            <a:ext cx="1404838" cy="238621"/>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E8836F"/>
                </a:solidFill>
                <a:latin typeface="Courier New" pitchFamily="49" charset="0"/>
                <a:ea typeface="Courier New" pitchFamily="49" charset="-122"/>
                <a:cs typeface="Courier New" pitchFamily="49" charset="-120"/>
              </a:rPr>
              <a:t>WHAT YOU CALL</a:t>
            </a:r>
            <a:endParaRPr lang="en-US" sz="1200" dirty="0"/>
          </a:p>
        </p:txBody>
      </p:sp>
      <p:sp>
        <p:nvSpPr>
          <p:cNvPr id="60" name="Text 43"/>
          <p:cNvSpPr/>
          <p:nvPr/>
        </p:nvSpPr>
        <p:spPr>
          <a:xfrm>
            <a:off x="1092200" y="3554809"/>
            <a:ext cx="1143198"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create_thread</a:t>
            </a:r>
            <a:endParaRPr lang="en-US" sz="1000" dirty="0"/>
          </a:p>
        </p:txBody>
      </p:sp>
      <p:sp>
        <p:nvSpPr>
          <p:cNvPr id="61" name="Text 44"/>
          <p:cNvSpPr/>
          <p:nvPr/>
        </p:nvSpPr>
        <p:spPr>
          <a:xfrm>
            <a:off x="2311598" y="3554809"/>
            <a:ext cx="1524248"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add_messages_async</a:t>
            </a:r>
            <a:endParaRPr lang="en-US" sz="1000" dirty="0"/>
          </a:p>
        </p:txBody>
      </p:sp>
      <p:sp>
        <p:nvSpPr>
          <p:cNvPr id="62" name="Text 45"/>
          <p:cNvSpPr/>
          <p:nvPr/>
        </p:nvSpPr>
        <p:spPr>
          <a:xfrm>
            <a:off x="3912046" y="3554809"/>
            <a:ext cx="838349"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extractor</a:t>
            </a:r>
            <a:endParaRPr lang="en-US" sz="1000" dirty="0"/>
          </a:p>
        </p:txBody>
      </p:sp>
      <p:sp>
        <p:nvSpPr>
          <p:cNvPr id="63" name="Text 46"/>
          <p:cNvSpPr/>
          <p:nvPr/>
        </p:nvSpPr>
        <p:spPr>
          <a:xfrm>
            <a:off x="4826595" y="3554809"/>
            <a:ext cx="1829098"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get_context_card_async</a:t>
            </a:r>
            <a:endParaRPr lang="en-US" sz="1000" dirty="0"/>
          </a:p>
        </p:txBody>
      </p:sp>
      <p:sp>
        <p:nvSpPr>
          <p:cNvPr id="64" name="Text 47"/>
          <p:cNvSpPr/>
          <p:nvPr/>
        </p:nvSpPr>
        <p:spPr>
          <a:xfrm>
            <a:off x="6731893" y="3554809"/>
            <a:ext cx="1066949" cy="253851"/>
          </a:xfrm>
          <a:prstGeom prst="roundRect">
            <a:avLst>
              <a:gd name="adj" fmla="val 50000"/>
            </a:avLst>
          </a:prstGeom>
          <a:solidFill>
            <a:srgbClr val="C74634">
              <a:alpha val="3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search_async</a:t>
            </a:r>
            <a:endParaRPr lang="en-US" sz="1000" dirty="0"/>
          </a:p>
        </p:txBody>
      </p:sp>
      <p:sp>
        <p:nvSpPr>
          <p:cNvPr id="65" name="Text 48"/>
          <p:cNvSpPr/>
          <p:nvPr/>
        </p:nvSpPr>
        <p:spPr>
          <a:xfrm>
            <a:off x="1092200" y="3872161"/>
            <a:ext cx="2145591" cy="238621"/>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7FC4DC"/>
                </a:solidFill>
                <a:latin typeface="Courier New" pitchFamily="49" charset="0"/>
                <a:ea typeface="Courier New" pitchFamily="49" charset="-122"/>
                <a:cs typeface="Courier New" pitchFamily="49" charset="-120"/>
              </a:rPr>
              <a:t>HOW IT IS CONFIGURED</a:t>
            </a:r>
            <a:endParaRPr lang="en-US" sz="1200" dirty="0"/>
          </a:p>
        </p:txBody>
      </p:sp>
      <p:sp>
        <p:nvSpPr>
          <p:cNvPr id="66" name="Text 49"/>
          <p:cNvSpPr/>
          <p:nvPr/>
        </p:nvSpPr>
        <p:spPr>
          <a:xfrm>
            <a:off x="1092200" y="4148882"/>
            <a:ext cx="1752898"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user · agent · thread</a:t>
            </a:r>
            <a:endParaRPr lang="en-US" sz="1000" dirty="0"/>
          </a:p>
        </p:txBody>
      </p:sp>
      <p:sp>
        <p:nvSpPr>
          <p:cNvPr id="67" name="Text 50"/>
          <p:cNvSpPr/>
          <p:nvPr/>
        </p:nvSpPr>
        <p:spPr>
          <a:xfrm>
            <a:off x="2921298" y="4148882"/>
            <a:ext cx="1752898"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extract_memories=True</a:t>
            </a:r>
            <a:endParaRPr lang="en-US" sz="1000" dirty="0"/>
          </a:p>
        </p:txBody>
      </p:sp>
      <p:sp>
        <p:nvSpPr>
          <p:cNvPr id="68" name="Text 51"/>
          <p:cNvSpPr/>
          <p:nvPr/>
        </p:nvSpPr>
        <p:spPr>
          <a:xfrm>
            <a:off x="4750395" y="4148882"/>
            <a:ext cx="1600448"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CREATE_IF_NECESSARY</a:t>
            </a:r>
            <a:endParaRPr lang="en-US" sz="1000" dirty="0"/>
          </a:p>
        </p:txBody>
      </p:sp>
      <p:sp>
        <p:nvSpPr>
          <p:cNvPr id="69" name="Text 52"/>
          <p:cNvSpPr/>
          <p:nvPr/>
        </p:nvSpPr>
        <p:spPr>
          <a:xfrm>
            <a:off x="6427043" y="4148882"/>
            <a:ext cx="1066949" cy="253851"/>
          </a:xfrm>
          <a:prstGeom prst="roundRect">
            <a:avLst>
              <a:gd name="adj" fmla="val 50000"/>
            </a:avLst>
          </a:prstGeom>
          <a:solidFill>
            <a:srgbClr val="36677D">
              <a:alpha val="50000"/>
            </a:srgbClr>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Courier New" pitchFamily="49" charset="0"/>
                <a:ea typeface="Courier New" pitchFamily="49" charset="-122"/>
                <a:cs typeface="Courier New" pitchFamily="49" charset="-120"/>
              </a:rPr>
              <a:t>prefix CITY_</a:t>
            </a:r>
            <a:endParaRPr lang="en-US" sz="1000" dirty="0"/>
          </a:p>
        </p:txBody>
      </p:sp>
      <p:sp>
        <p:nvSpPr>
          <p:cNvPr id="70" name="Shape 53"/>
          <p:cNvSpPr/>
          <p:nvPr/>
        </p:nvSpPr>
        <p:spPr>
          <a:xfrm>
            <a:off x="969963" y="5097463"/>
            <a:ext cx="7064375" cy="688975"/>
          </a:xfrm>
          <a:prstGeom prst="roundRect">
            <a:avLst>
              <a:gd name="adj" fmla="val 15899"/>
            </a:avLst>
          </a:prstGeom>
          <a:solidFill>
            <a:srgbClr val="DEB068">
              <a:alpha val="6000"/>
            </a:srgbClr>
          </a:solidFill>
          <a:ln w="9525">
            <a:solidFill>
              <a:srgbClr val="DEB068">
                <a:alpha val="45000"/>
              </a:srgbClr>
            </a:solidFill>
            <a:prstDash val="solid"/>
          </a:ln>
        </p:spPr>
      </p:sp>
      <p:pic>
        <p:nvPicPr>
          <p:cNvPr id="71" name="Image 15" descr="Database">    </p:cNvPr>
          <p:cNvPicPr>
            <a:picLocks noChangeAspect="1"/>
          </p:cNvPicPr>
          <p:nvPr/>
        </p:nvPicPr>
        <p:blipFill>
          <a:blip r:embed="rId16"/>
          <a:srcRect l="0" r="0" t="0" b="0"/>
          <a:stretch/>
        </p:blipFill>
        <p:spPr>
          <a:xfrm>
            <a:off x="1066800" y="5192613"/>
            <a:ext cx="203200" cy="203200"/>
          </a:xfrm>
          <a:prstGeom prst="rect">
            <a:avLst/>
          </a:prstGeom>
        </p:spPr>
      </p:pic>
      <p:sp>
        <p:nvSpPr>
          <p:cNvPr id="72" name="Text 54"/>
          <p:cNvSpPr/>
          <p:nvPr/>
        </p:nvSpPr>
        <p:spPr>
          <a:xfrm>
            <a:off x="1371600" y="5187603"/>
            <a:ext cx="5235721"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DEB068"/>
                </a:solidFill>
                <a:latin typeface="Courier New" pitchFamily="49" charset="0"/>
                <a:ea typeface="Courier New" pitchFamily="49" charset="-122"/>
                <a:cs typeface="Courier New" pitchFamily="49" charset="-120"/>
              </a:rPr>
              <a:t>ORACLE AI DATABASE 26AI · FREE, IN THE SANDBOX</a:t>
            </a:r>
            <a:endParaRPr lang="en-US" sz="1200" dirty="0"/>
          </a:p>
        </p:txBody>
      </p:sp>
      <p:sp>
        <p:nvSpPr>
          <p:cNvPr id="73" name="Text 55"/>
          <p:cNvSpPr/>
          <p:nvPr/>
        </p:nvSpPr>
        <p:spPr>
          <a:xfrm>
            <a:off x="1066800" y="5451525"/>
            <a:ext cx="845790" cy="244624"/>
          </a:xfrm>
          <a:custGeom>
            <a:avLst/>
            <a:gdLst/>
            <a:ahLst/>
            <a:cxnLst/>
            <a:rect l="l" t="t" r="r" b="b"/>
            <a:pathLst>
              <a:path w="845790" h="244624">
                <a:moveTo>
                  <a:pt x="122312" y="0"/>
                </a:moveTo>
                <a:lnTo>
                  <a:pt x="723478" y="0"/>
                </a:lnTo>
                <a:arcTo hR="122312" wR="122312" stAng="16200000" swAng="5400000"/>
                <a:lnTo>
                  <a:pt x="845790" y="122312"/>
                </a:lnTo>
                <a:arcTo hR="122312" wR="122312" stAng="0" swAng="5400000"/>
                <a:lnTo>
                  <a:pt x="122312" y="244624"/>
                </a:lnTo>
                <a:arcTo hR="122312" wR="122312" stAng="5400000" swAng="5400000"/>
                <a:lnTo>
                  <a:pt x="0" y="122312"/>
                </a:lnTo>
                <a:arcTo hR="122312" wR="122312" stAng="10800000" swAng="5400000"/>
                <a:close/>
              </a:path>
            </a:pathLst>
          </a:custGeom>
          <a:solidFill>
            <a:srgbClr val="DEB068">
              <a:alpha val="2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CITY_ASSET</a:t>
            </a:r>
            <a:endParaRPr lang="en-US" sz="950" dirty="0"/>
          </a:p>
        </p:txBody>
      </p:sp>
      <p:sp>
        <p:nvSpPr>
          <p:cNvPr id="74" name="Text 56"/>
          <p:cNvSpPr/>
          <p:nvPr/>
        </p:nvSpPr>
        <p:spPr>
          <a:xfrm>
            <a:off x="1976090" y="5451525"/>
            <a:ext cx="2663726" cy="244624"/>
          </a:xfrm>
          <a:custGeom>
            <a:avLst/>
            <a:gdLst/>
            <a:ahLst/>
            <a:cxnLst/>
            <a:rect l="l" t="t" r="r" b="b"/>
            <a:pathLst>
              <a:path w="2663726" h="244624">
                <a:moveTo>
                  <a:pt x="122312" y="0"/>
                </a:moveTo>
                <a:lnTo>
                  <a:pt x="2541414" y="0"/>
                </a:lnTo>
                <a:arcTo hR="122312" wR="122312" stAng="16200000" swAng="5400000"/>
                <a:lnTo>
                  <a:pt x="2663726" y="122312"/>
                </a:lnTo>
                <a:arcTo hR="122312" wR="122312" stAng="0" swAng="5400000"/>
                <a:lnTo>
                  <a:pt x="122312" y="244624"/>
                </a:lnTo>
                <a:arcTo hR="122312" wR="122312" stAng="5400000" swAng="5400000"/>
                <a:lnTo>
                  <a:pt x="0" y="122312"/>
                </a:lnTo>
                <a:arcTo hR="122312" wR="122312" stAng="10800000" swAng="5400000"/>
                <a:close/>
              </a:path>
            </a:pathLst>
          </a:custGeom>
          <a:solidFill>
            <a:srgbClr val="DEB068">
              <a:alpha val="2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CITY_INSPECTION_FINDING + VECTOR(384)</a:t>
            </a:r>
            <a:endParaRPr lang="en-US" sz="950" dirty="0"/>
          </a:p>
        </p:txBody>
      </p:sp>
      <p:sp>
        <p:nvSpPr>
          <p:cNvPr id="75" name="Text 57"/>
          <p:cNvSpPr/>
          <p:nvPr/>
        </p:nvSpPr>
        <p:spPr>
          <a:xfrm>
            <a:off x="4703316" y="5451525"/>
            <a:ext cx="1046907" cy="244624"/>
          </a:xfrm>
          <a:custGeom>
            <a:avLst/>
            <a:gdLst/>
            <a:ahLst/>
            <a:cxnLst/>
            <a:rect l="l" t="t" r="r" b="b"/>
            <a:pathLst>
              <a:path w="1046907" h="244624">
                <a:moveTo>
                  <a:pt x="122312" y="0"/>
                </a:moveTo>
                <a:lnTo>
                  <a:pt x="924595" y="0"/>
                </a:lnTo>
                <a:arcTo hR="122312" wR="122312" stAng="16200000" swAng="5400000"/>
                <a:lnTo>
                  <a:pt x="1046907" y="122312"/>
                </a:lnTo>
                <a:arcTo hR="122312" wR="122312" stAng="0" swAng="5400000"/>
                <a:lnTo>
                  <a:pt x="122312" y="244624"/>
                </a:lnTo>
                <a:arcTo hR="122312" wR="122312" stAng="5400000" swAng="5400000"/>
                <a:lnTo>
                  <a:pt x="0" y="122312"/>
                </a:lnTo>
                <a:arcTo hR="122312" wR="122312"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CITY_MESSAGE</a:t>
            </a:r>
            <a:endParaRPr lang="en-US" sz="950" dirty="0"/>
          </a:p>
        </p:txBody>
      </p:sp>
      <p:sp>
        <p:nvSpPr>
          <p:cNvPr id="76" name="Text 58"/>
          <p:cNvSpPr/>
          <p:nvPr/>
        </p:nvSpPr>
        <p:spPr>
          <a:xfrm>
            <a:off x="5813723" y="5451525"/>
            <a:ext cx="981968" cy="244624"/>
          </a:xfrm>
          <a:custGeom>
            <a:avLst/>
            <a:gdLst/>
            <a:ahLst/>
            <a:cxnLst/>
            <a:rect l="l" t="t" r="r" b="b"/>
            <a:pathLst>
              <a:path w="981968" h="244624">
                <a:moveTo>
                  <a:pt x="122312" y="0"/>
                </a:moveTo>
                <a:lnTo>
                  <a:pt x="859656" y="0"/>
                </a:lnTo>
                <a:arcTo hR="122312" wR="122312" stAng="16200000" swAng="5400000"/>
                <a:lnTo>
                  <a:pt x="981968" y="122312"/>
                </a:lnTo>
                <a:arcTo hR="122312" wR="122312" stAng="0" swAng="5400000"/>
                <a:lnTo>
                  <a:pt x="122312" y="244624"/>
                </a:lnTo>
                <a:arcTo hR="122312" wR="122312" stAng="5400000" swAng="5400000"/>
                <a:lnTo>
                  <a:pt x="0" y="122312"/>
                </a:lnTo>
                <a:arcTo hR="122312" wR="122312"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CITY_MEMORY</a:t>
            </a:r>
            <a:endParaRPr lang="en-US" sz="950" dirty="0"/>
          </a:p>
        </p:txBody>
      </p:sp>
      <p:sp>
        <p:nvSpPr>
          <p:cNvPr id="77" name="Text 59"/>
          <p:cNvSpPr/>
          <p:nvPr/>
        </p:nvSpPr>
        <p:spPr>
          <a:xfrm>
            <a:off x="6859191" y="5451525"/>
            <a:ext cx="946249" cy="244624"/>
          </a:xfrm>
          <a:custGeom>
            <a:avLst/>
            <a:gdLst/>
            <a:ahLst/>
            <a:cxnLst/>
            <a:rect l="l" t="t" r="r" b="b"/>
            <a:pathLst>
              <a:path w="946249" h="244624">
                <a:moveTo>
                  <a:pt x="122312" y="0"/>
                </a:moveTo>
                <a:lnTo>
                  <a:pt x="823937" y="0"/>
                </a:lnTo>
                <a:arcTo hR="122312" wR="122312" stAng="16200000" swAng="5400000"/>
                <a:lnTo>
                  <a:pt x="946249" y="122312"/>
                </a:lnTo>
                <a:arcTo hR="122312" wR="122312" stAng="0" swAng="5400000"/>
                <a:lnTo>
                  <a:pt x="122312" y="244624"/>
                </a:lnTo>
                <a:arcTo hR="122312" wR="122312" stAng="5400000" swAng="5400000"/>
                <a:lnTo>
                  <a:pt x="0" y="122312"/>
                </a:lnTo>
                <a:arcTo hR="122312" wR="122312" stAng="10800000" swAng="5400000"/>
                <a:close/>
              </a:path>
            </a:pathLst>
          </a:custGeom>
          <a:solidFill>
            <a:srgbClr val="FFFFFF">
              <a:alpha val="12000"/>
            </a:srgbClr>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Arial" pitchFamily="34" charset="0"/>
                <a:ea typeface="Arial" pitchFamily="34" charset="-122"/>
                <a:cs typeface="Arial" pitchFamily="34" charset="-120"/>
              </a:rPr>
              <a:t>CITY_THREAD</a:t>
            </a:r>
            <a:endParaRPr lang="en-US" sz="950" dirty="0"/>
          </a:p>
        </p:txBody>
      </p:sp>
      <p:sp>
        <p:nvSpPr>
          <p:cNvPr id="78" name="Text 60"/>
          <p:cNvSpPr/>
          <p:nvPr/>
        </p:nvSpPr>
        <p:spPr>
          <a:xfrm>
            <a:off x="812800" y="59690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Each one sits behind an existing function signature, returns a class or a score with a probability, and is trained on the registry, the findings and the traces the notebook already writes.</a:t>
            </a:r>
            <a:endParaRPr lang="en-US" sz="1200" dirty="0"/>
          </a:p>
        </p:txBody>
      </p:sp>
      <p:sp>
        <p:nvSpPr>
          <p:cNvPr id="79" name="Text 6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FFFFFF"/>
                </a:solidFill>
                <a:latin typeface="Arial" pitchFamily="34" charset="0"/>
                <a:ea typeface="Arial" pitchFamily="34" charset="-122"/>
                <a:cs typeface="Arial" pitchFamily="34" charset="-120"/>
              </a:rPr>
              <a:t>Memory is the on-ramp, continual learning is the highway</a:t>
            </a:r>
            <a:endParaRPr lang="en-US" sz="2800" dirty="0"/>
          </a:p>
        </p:txBody>
      </p:sp>
      <p:sp>
        <p:nvSpPr>
          <p:cNvPr id="4" name="Shape 2"/>
          <p:cNvSpPr/>
          <p:nvPr/>
        </p:nvSpPr>
        <p:spPr>
          <a:xfrm>
            <a:off x="819150" y="2419350"/>
            <a:ext cx="1574800" cy="939800"/>
          </a:xfrm>
          <a:prstGeom prst="roundRect">
            <a:avLst>
              <a:gd name="adj" fmla="val 10135"/>
            </a:avLst>
          </a:prstGeom>
          <a:solidFill>
            <a:srgbClr val="C74634">
              <a:alpha val="16000"/>
            </a:srgbClr>
          </a:solidFill>
          <a:ln w="12700">
            <a:solidFill>
              <a:srgbClr val="C74634"/>
            </a:solidFill>
            <a:prstDash val="solid"/>
          </a:ln>
        </p:spPr>
      </p:sp>
      <p:sp>
        <p:nvSpPr>
          <p:cNvPr id="5" name="Text 3"/>
          <p:cNvSpPr/>
          <p:nvPr/>
        </p:nvSpPr>
        <p:spPr>
          <a:xfrm>
            <a:off x="1299369" y="2651770"/>
            <a:ext cx="614363" cy="274290"/>
          </a:xfrm>
          <a:prstGeom prst="rect">
            <a:avLst/>
          </a:prstGeom>
          <a:noFill/>
          <a:ln/>
        </p:spPr>
        <p:txBody>
          <a:bodyPr wrap="none" lIns="0" tIns="0" rIns="0" bIns="0" rtlCol="0" anchor="t">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Traces</a:t>
            </a:r>
            <a:endParaRPr lang="en-US" sz="1400" dirty="0"/>
          </a:p>
        </p:txBody>
      </p:sp>
      <p:sp>
        <p:nvSpPr>
          <p:cNvPr id="6" name="Text 4"/>
          <p:cNvSpPr/>
          <p:nvPr/>
        </p:nvSpPr>
        <p:spPr>
          <a:xfrm>
            <a:off x="1242318" y="2913360"/>
            <a:ext cx="728414"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AEB9B7"/>
                </a:solidFill>
                <a:latin typeface="Arial" pitchFamily="34" charset="0"/>
                <a:ea typeface="Arial" pitchFamily="34" charset="-122"/>
                <a:cs typeface="Arial" pitchFamily="34" charset="-120"/>
              </a:rPr>
              <a:t>every turn</a:t>
            </a:r>
            <a:endParaRPr lang="en-US" sz="1200" dirty="0"/>
          </a:p>
        </p:txBody>
      </p:sp>
      <p:sp>
        <p:nvSpPr>
          <p:cNvPr id="7" name="Shape 5"/>
          <p:cNvSpPr/>
          <p:nvPr/>
        </p:nvSpPr>
        <p:spPr>
          <a:xfrm>
            <a:off x="2609850" y="2419350"/>
            <a:ext cx="1574800" cy="939800"/>
          </a:xfrm>
          <a:prstGeom prst="roundRect">
            <a:avLst>
              <a:gd name="adj" fmla="val 10135"/>
            </a:avLst>
          </a:prstGeom>
          <a:solidFill>
            <a:srgbClr val="C74634">
              <a:alpha val="16000"/>
            </a:srgbClr>
          </a:solidFill>
          <a:ln w="12700">
            <a:solidFill>
              <a:srgbClr val="C74634"/>
            </a:solidFill>
            <a:prstDash val="solid"/>
          </a:ln>
        </p:spPr>
      </p:sp>
      <p:sp>
        <p:nvSpPr>
          <p:cNvPr id="8" name="Text 6"/>
          <p:cNvSpPr/>
          <p:nvPr/>
        </p:nvSpPr>
        <p:spPr>
          <a:xfrm>
            <a:off x="2788841" y="2651770"/>
            <a:ext cx="1216769" cy="274290"/>
          </a:xfrm>
          <a:prstGeom prst="rect">
            <a:avLst/>
          </a:prstGeom>
          <a:noFill/>
          <a:ln/>
        </p:spPr>
        <p:txBody>
          <a:bodyPr wrap="none" lIns="0" tIns="0" rIns="0" bIns="0" rtlCol="0" anchor="t">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Memory store</a:t>
            </a:r>
            <a:endParaRPr lang="en-US" sz="1400" dirty="0"/>
          </a:p>
        </p:txBody>
      </p:sp>
      <p:sp>
        <p:nvSpPr>
          <p:cNvPr id="9" name="Text 7"/>
          <p:cNvSpPr/>
          <p:nvPr/>
        </p:nvSpPr>
        <p:spPr>
          <a:xfrm>
            <a:off x="2897386" y="2913360"/>
            <a:ext cx="999728"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AEB9B7"/>
                </a:solidFill>
                <a:latin typeface="Arial" pitchFamily="34" charset="0"/>
                <a:ea typeface="Arial" pitchFamily="34" charset="-122"/>
                <a:cs typeface="Arial" pitchFamily="34" charset="-120"/>
              </a:rPr>
              <a:t>typed, scoped</a:t>
            </a:r>
            <a:endParaRPr lang="en-US" sz="1200" dirty="0"/>
          </a:p>
        </p:txBody>
      </p:sp>
      <p:sp>
        <p:nvSpPr>
          <p:cNvPr id="10" name="Shape 8"/>
          <p:cNvSpPr/>
          <p:nvPr/>
        </p:nvSpPr>
        <p:spPr>
          <a:xfrm>
            <a:off x="4400550" y="2419350"/>
            <a:ext cx="1574800" cy="939800"/>
          </a:xfrm>
          <a:prstGeom prst="roundRect">
            <a:avLst>
              <a:gd name="adj" fmla="val 10135"/>
            </a:avLst>
          </a:prstGeom>
          <a:solidFill>
            <a:srgbClr val="36677D">
              <a:alpha val="22000"/>
            </a:srgbClr>
          </a:solidFill>
          <a:ln w="12700">
            <a:solidFill>
              <a:srgbClr val="36677D"/>
            </a:solidFill>
            <a:prstDash val="solid"/>
          </a:ln>
        </p:spPr>
      </p:sp>
      <p:sp>
        <p:nvSpPr>
          <p:cNvPr id="11" name="Text 9"/>
          <p:cNvSpPr/>
          <p:nvPr/>
        </p:nvSpPr>
        <p:spPr>
          <a:xfrm>
            <a:off x="4841329" y="2651770"/>
            <a:ext cx="693192" cy="274290"/>
          </a:xfrm>
          <a:prstGeom prst="rect">
            <a:avLst/>
          </a:prstGeom>
          <a:noFill/>
          <a:ln/>
        </p:spPr>
        <p:txBody>
          <a:bodyPr wrap="none" lIns="0" tIns="0" rIns="0" bIns="0" rtlCol="0" anchor="t">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Dataset</a:t>
            </a:r>
            <a:endParaRPr lang="en-US" sz="1400" dirty="0"/>
          </a:p>
        </p:txBody>
      </p:sp>
      <p:sp>
        <p:nvSpPr>
          <p:cNvPr id="12" name="Text 10"/>
          <p:cNvSpPr/>
          <p:nvPr/>
        </p:nvSpPr>
        <p:spPr>
          <a:xfrm>
            <a:off x="4789884" y="2913360"/>
            <a:ext cx="796082"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AEB9B7"/>
                </a:solidFill>
                <a:latin typeface="Arial" pitchFamily="34" charset="0"/>
                <a:ea typeface="Arial" pitchFamily="34" charset="-122"/>
                <a:cs typeface="Arial" pitchFamily="34" charset="-120"/>
              </a:rPr>
              <a:t>filtered first</a:t>
            </a:r>
            <a:endParaRPr lang="en-US" sz="1200" dirty="0"/>
          </a:p>
        </p:txBody>
      </p:sp>
      <p:sp>
        <p:nvSpPr>
          <p:cNvPr id="13" name="Shape 11"/>
          <p:cNvSpPr/>
          <p:nvPr/>
        </p:nvSpPr>
        <p:spPr>
          <a:xfrm>
            <a:off x="6191250" y="2419350"/>
            <a:ext cx="1574800" cy="939800"/>
          </a:xfrm>
          <a:prstGeom prst="roundRect">
            <a:avLst>
              <a:gd name="adj" fmla="val 10135"/>
            </a:avLst>
          </a:prstGeom>
          <a:solidFill>
            <a:srgbClr val="36677D">
              <a:alpha val="22000"/>
            </a:srgbClr>
          </a:solidFill>
          <a:ln w="12700">
            <a:solidFill>
              <a:srgbClr val="36677D"/>
            </a:solidFill>
            <a:prstDash val="solid"/>
          </a:ln>
        </p:spPr>
      </p:sp>
      <p:sp>
        <p:nvSpPr>
          <p:cNvPr id="14" name="Text 12"/>
          <p:cNvSpPr/>
          <p:nvPr/>
        </p:nvSpPr>
        <p:spPr>
          <a:xfrm>
            <a:off x="6740773" y="2651770"/>
            <a:ext cx="475704" cy="274290"/>
          </a:xfrm>
          <a:prstGeom prst="rect">
            <a:avLst/>
          </a:prstGeom>
          <a:noFill/>
          <a:ln/>
        </p:spPr>
        <p:txBody>
          <a:bodyPr wrap="none" lIns="0" tIns="0" rIns="0" bIns="0" rtlCol="0" anchor="t">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Train</a:t>
            </a:r>
            <a:endParaRPr lang="en-US" sz="1400" dirty="0"/>
          </a:p>
        </p:txBody>
      </p:sp>
      <p:sp>
        <p:nvSpPr>
          <p:cNvPr id="15" name="Text 13"/>
          <p:cNvSpPr/>
          <p:nvPr/>
        </p:nvSpPr>
        <p:spPr>
          <a:xfrm>
            <a:off x="6275636" y="2913360"/>
            <a:ext cx="1405979"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AEB9B7"/>
                </a:solidFill>
                <a:latin typeface="Arial" pitchFamily="34" charset="0"/>
                <a:ea typeface="Arial" pitchFamily="34" charset="-122"/>
                <a:cs typeface="Arial" pitchFamily="34" charset="-120"/>
              </a:rPr>
              <a:t>LoRA, small models</a:t>
            </a:r>
            <a:endParaRPr lang="en-US" sz="1200" dirty="0"/>
          </a:p>
        </p:txBody>
      </p:sp>
      <p:sp>
        <p:nvSpPr>
          <p:cNvPr id="16" name="Shape 14"/>
          <p:cNvSpPr/>
          <p:nvPr/>
        </p:nvSpPr>
        <p:spPr>
          <a:xfrm>
            <a:off x="7981950" y="2419350"/>
            <a:ext cx="1574800" cy="939800"/>
          </a:xfrm>
          <a:prstGeom prst="roundRect">
            <a:avLst>
              <a:gd name="adj" fmla="val 10135"/>
            </a:avLst>
          </a:prstGeom>
          <a:solidFill>
            <a:srgbClr val="36677D">
              <a:alpha val="22000"/>
            </a:srgbClr>
          </a:solidFill>
          <a:ln w="12700">
            <a:solidFill>
              <a:srgbClr val="36677D"/>
            </a:solidFill>
            <a:prstDash val="solid"/>
          </a:ln>
        </p:spPr>
      </p:sp>
      <p:sp>
        <p:nvSpPr>
          <p:cNvPr id="17" name="Text 15"/>
          <p:cNvSpPr/>
          <p:nvPr/>
        </p:nvSpPr>
        <p:spPr>
          <a:xfrm>
            <a:off x="8378279" y="2651770"/>
            <a:ext cx="782141" cy="274290"/>
          </a:xfrm>
          <a:prstGeom prst="rect">
            <a:avLst/>
          </a:prstGeom>
          <a:noFill/>
          <a:ln/>
        </p:spPr>
        <p:txBody>
          <a:bodyPr wrap="none" lIns="0" tIns="0" rIns="0" bIns="0" rtlCol="0" anchor="t">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Evaluate</a:t>
            </a:r>
            <a:endParaRPr lang="en-US" sz="1400" dirty="0"/>
          </a:p>
        </p:txBody>
      </p:sp>
      <p:sp>
        <p:nvSpPr>
          <p:cNvPr id="18" name="Text 16"/>
          <p:cNvSpPr/>
          <p:nvPr/>
        </p:nvSpPr>
        <p:spPr>
          <a:xfrm>
            <a:off x="8388152" y="2913360"/>
            <a:ext cx="762347"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AEB9B7"/>
                </a:solidFill>
                <a:latin typeface="Arial" pitchFamily="34" charset="0"/>
                <a:ea typeface="Arial" pitchFamily="34" charset="-122"/>
                <a:cs typeface="Arial" pitchFamily="34" charset="-120"/>
              </a:rPr>
              <a:t>a gate first</a:t>
            </a:r>
            <a:endParaRPr lang="en-US" sz="1200" dirty="0"/>
          </a:p>
        </p:txBody>
      </p:sp>
      <p:sp>
        <p:nvSpPr>
          <p:cNvPr id="19" name="Shape 17"/>
          <p:cNvSpPr/>
          <p:nvPr/>
        </p:nvSpPr>
        <p:spPr>
          <a:xfrm>
            <a:off x="9771063" y="2417763"/>
            <a:ext cx="1577975" cy="942975"/>
          </a:xfrm>
          <a:prstGeom prst="roundRect">
            <a:avLst>
              <a:gd name="adj" fmla="val 10269"/>
            </a:avLst>
          </a:prstGeom>
          <a:solidFill>
            <a:srgbClr val="FFFFFF">
              <a:alpha val="6000"/>
            </a:srgbClr>
          </a:solidFill>
          <a:ln w="9525">
            <a:solidFill>
              <a:srgbClr val="FFFFFF">
                <a:alpha val="18000"/>
              </a:srgbClr>
            </a:solidFill>
            <a:prstDash val="solid"/>
          </a:ln>
        </p:spPr>
      </p:sp>
      <p:sp>
        <p:nvSpPr>
          <p:cNvPr id="20" name="Text 18"/>
          <p:cNvSpPr/>
          <p:nvPr/>
        </p:nvSpPr>
        <p:spPr>
          <a:xfrm>
            <a:off x="10238234" y="2651770"/>
            <a:ext cx="643582" cy="274290"/>
          </a:xfrm>
          <a:prstGeom prst="rect">
            <a:avLst/>
          </a:prstGeom>
          <a:noFill/>
          <a:ln/>
        </p:spPr>
        <p:txBody>
          <a:bodyPr wrap="none" lIns="0" tIns="0" rIns="0" bIns="0" rtlCol="0" anchor="t">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Deploy</a:t>
            </a:r>
            <a:endParaRPr lang="en-US" sz="1400" dirty="0"/>
          </a:p>
        </p:txBody>
      </p:sp>
      <p:sp>
        <p:nvSpPr>
          <p:cNvPr id="21" name="Text 19"/>
          <p:cNvSpPr/>
          <p:nvPr/>
        </p:nvSpPr>
        <p:spPr>
          <a:xfrm>
            <a:off x="9865519" y="2913360"/>
            <a:ext cx="1389063"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AEB9B7"/>
                </a:solidFill>
                <a:latin typeface="Arial" pitchFamily="34" charset="0"/>
                <a:ea typeface="Arial" pitchFamily="34" charset="-122"/>
                <a:cs typeface="Arial" pitchFamily="34" charset="-120"/>
              </a:rPr>
              <a:t>a small model ships</a:t>
            </a:r>
            <a:endParaRPr lang="en-US" sz="1200" dirty="0"/>
          </a:p>
        </p:txBody>
      </p:sp>
      <p:pic>
        <p:nvPicPr>
          <p:cNvPr id="22" name="Image 0" descr="traces to deploy">    </p:cNvPr>
          <p:cNvPicPr>
            <a:picLocks noChangeAspect="1"/>
          </p:cNvPicPr>
          <p:nvPr/>
        </p:nvPicPr>
        <p:blipFill>
          <a:blip r:embed="rId1"/>
          <a:srcRect l="0" r="0" t="0" b="0"/>
          <a:stretch/>
        </p:blipFill>
        <p:spPr>
          <a:xfrm>
            <a:off x="0" y="0"/>
            <a:ext cx="12192000" cy="6858000"/>
          </a:xfrm>
          <a:prstGeom prst="rect">
            <a:avLst/>
          </a:prstGeom>
        </p:spPr>
      </p:pic>
      <p:pic>
        <p:nvPicPr>
          <p:cNvPr id="23" name="Image 1" descr="the deployed model produces new traces">    </p:cNvPr>
          <p:cNvPicPr>
            <a:picLocks noChangeAspect="1"/>
          </p:cNvPicPr>
          <p:nvPr/>
        </p:nvPicPr>
        <p:blipFill>
          <a:blip r:embed="rId2"/>
          <a:srcRect l="0" r="0" t="0" b="0"/>
          <a:stretch/>
        </p:blipFill>
        <p:spPr>
          <a:xfrm>
            <a:off x="0" y="0"/>
            <a:ext cx="12192000" cy="6858000"/>
          </a:xfrm>
          <a:prstGeom prst="rect">
            <a:avLst/>
          </a:prstGeom>
        </p:spPr>
      </p:pic>
      <p:sp>
        <p:nvSpPr>
          <p:cNvPr id="24" name="Text 20"/>
          <p:cNvSpPr/>
          <p:nvPr/>
        </p:nvSpPr>
        <p:spPr>
          <a:xfrm>
            <a:off x="4003040" y="4152900"/>
            <a:ext cx="418592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EB068"/>
                </a:solidFill>
                <a:latin typeface="Courier New" pitchFamily="49" charset="0"/>
                <a:ea typeface="Courier New" pitchFamily="49" charset="-122"/>
                <a:cs typeface="Courier New" pitchFamily="49" charset="-120"/>
              </a:rPr>
              <a:t>recall, new traces, the loop runs again</a:t>
            </a:r>
            <a:endParaRPr lang="en-US" sz="1200" dirty="0"/>
          </a:p>
        </p:txBody>
      </p:sp>
      <p:sp>
        <p:nvSpPr>
          <p:cNvPr id="25" name="Shape 21"/>
          <p:cNvSpPr/>
          <p:nvPr/>
        </p:nvSpPr>
        <p:spPr>
          <a:xfrm>
            <a:off x="817563" y="4513263"/>
            <a:ext cx="3375025" cy="1362075"/>
          </a:xfrm>
          <a:prstGeom prst="roundRect">
            <a:avLst>
              <a:gd name="adj" fmla="val 9907"/>
            </a:avLst>
          </a:prstGeom>
          <a:solidFill>
            <a:srgbClr val="FFFFFF">
              <a:alpha val="6000"/>
            </a:srgbClr>
          </a:solidFill>
          <a:ln w="9525">
            <a:solidFill>
              <a:srgbClr val="FFFFFF">
                <a:alpha val="18000"/>
              </a:srgbClr>
            </a:solidFill>
            <a:prstDash val="solid"/>
          </a:ln>
        </p:spPr>
      </p:sp>
      <p:sp>
        <p:nvSpPr>
          <p:cNvPr id="26" name="Text 22"/>
          <p:cNvSpPr/>
          <p:nvPr/>
        </p:nvSpPr>
        <p:spPr>
          <a:xfrm>
            <a:off x="965200" y="4670425"/>
            <a:ext cx="104536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E8836F"/>
                </a:solidFill>
                <a:latin typeface="Courier New" pitchFamily="49" charset="0"/>
                <a:ea typeface="Courier New" pitchFamily="49" charset="-122"/>
                <a:cs typeface="Courier New" pitchFamily="49" charset="-120"/>
              </a:rPr>
              <a:t>FRONT END</a:t>
            </a:r>
            <a:endParaRPr lang="en-US" sz="1200" dirty="0"/>
          </a:p>
        </p:txBody>
      </p:sp>
      <p:sp>
        <p:nvSpPr>
          <p:cNvPr id="27" name="Text 23"/>
          <p:cNvSpPr/>
          <p:nvPr/>
        </p:nvSpPr>
        <p:spPr>
          <a:xfrm>
            <a:off x="965200" y="4934545"/>
            <a:ext cx="14227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fills the store</a:t>
            </a:r>
            <a:endParaRPr lang="en-US" sz="1500" dirty="0"/>
          </a:p>
        </p:txBody>
      </p:sp>
      <p:sp>
        <p:nvSpPr>
          <p:cNvPr id="28" name="Text 24"/>
          <p:cNvSpPr/>
          <p:nvPr/>
        </p:nvSpPr>
        <p:spPr>
          <a:xfrm>
            <a:off x="965200" y="5213945"/>
            <a:ext cx="317214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Today. Extraction, scoping, recall, retention: the notebook you just ran.</a:t>
            </a:r>
            <a:endParaRPr lang="en-US" sz="1200" dirty="0"/>
          </a:p>
        </p:txBody>
      </p:sp>
      <p:sp>
        <p:nvSpPr>
          <p:cNvPr id="29" name="Shape 25"/>
          <p:cNvSpPr/>
          <p:nvPr/>
        </p:nvSpPr>
        <p:spPr>
          <a:xfrm>
            <a:off x="4405313" y="4513263"/>
            <a:ext cx="3375025" cy="1362075"/>
          </a:xfrm>
          <a:prstGeom prst="roundRect">
            <a:avLst>
              <a:gd name="adj" fmla="val 9907"/>
            </a:avLst>
          </a:prstGeom>
          <a:solidFill>
            <a:srgbClr val="FFFFFF">
              <a:alpha val="6000"/>
            </a:srgbClr>
          </a:solidFill>
          <a:ln w="9525">
            <a:solidFill>
              <a:srgbClr val="FFFFFF">
                <a:alpha val="18000"/>
              </a:srgbClr>
            </a:solidFill>
            <a:prstDash val="solid"/>
          </a:ln>
        </p:spPr>
      </p:sp>
      <p:sp>
        <p:nvSpPr>
          <p:cNvPr id="30" name="Text 26"/>
          <p:cNvSpPr/>
          <p:nvPr/>
        </p:nvSpPr>
        <p:spPr>
          <a:xfrm>
            <a:off x="4552950" y="4605089"/>
            <a:ext cx="932557" cy="237728"/>
          </a:xfrm>
          <a:prstGeom prst="rect">
            <a:avLst/>
          </a:prstGeom>
          <a:noFill/>
          <a:ln/>
        </p:spPr>
        <p:txBody>
          <a:bodyPr wrap="none" lIns="0" tIns="0" rIns="0" bIns="0" rtlCol="0" anchor="t">
            <a:normAutofit/>
          </a:bodyPr>
          <a:lstStyle/>
          <a:p>
            <a:pPr algn="l" indent="0" marL="0">
              <a:lnSpc>
                <a:spcPts val="1675"/>
              </a:lnSpc>
              <a:buNone/>
            </a:pPr>
            <a:r>
              <a:rPr lang="en-US" sz="1196" spc="150" kern="0" dirty="0">
                <a:solidFill>
                  <a:srgbClr val="7FC4DC"/>
                </a:solidFill>
                <a:latin typeface="Courier New" pitchFamily="49" charset="0"/>
                <a:ea typeface="Courier New" pitchFamily="49" charset="-122"/>
                <a:cs typeface="Courier New" pitchFamily="49" charset="-120"/>
              </a:rPr>
              <a:t>BACK END</a:t>
            </a:r>
            <a:endParaRPr lang="en-US" sz="1196" dirty="0"/>
          </a:p>
        </p:txBody>
      </p:sp>
      <p:sp>
        <p:nvSpPr>
          <p:cNvPr id="31" name="Text 27"/>
          <p:cNvSpPr/>
          <p:nvPr/>
        </p:nvSpPr>
        <p:spPr>
          <a:xfrm>
            <a:off x="4552950" y="4868218"/>
            <a:ext cx="2171640" cy="252909"/>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turns it into weights</a:t>
            </a:r>
            <a:endParaRPr lang="en-US" sz="1500" dirty="0"/>
          </a:p>
        </p:txBody>
      </p:sp>
      <p:sp>
        <p:nvSpPr>
          <p:cNvPr id="32" name="Text 28"/>
          <p:cNvSpPr/>
          <p:nvPr/>
        </p:nvSpPr>
        <p:spPr>
          <a:xfrm>
            <a:off x="4552950" y="5146526"/>
            <a:ext cx="3172143" cy="662335"/>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F2EFEA"/>
                </a:solidFill>
                <a:latin typeface="Arial" pitchFamily="34" charset="0"/>
                <a:ea typeface="Arial" pitchFamily="34" charset="-122"/>
                <a:cs typeface="Arial" pitchFamily="34" charset="-120"/>
              </a:rPr>
              <a:t>Next. Datasets from memory and traces, fine-tuned decision models and SLMs, an evaluation gate.</a:t>
            </a:r>
            <a:endParaRPr lang="en-US" sz="1196" dirty="0"/>
          </a:p>
        </p:txBody>
      </p:sp>
      <p:sp>
        <p:nvSpPr>
          <p:cNvPr id="33" name="Shape 29"/>
          <p:cNvSpPr/>
          <p:nvPr/>
        </p:nvSpPr>
        <p:spPr>
          <a:xfrm>
            <a:off x="7993063" y="4513263"/>
            <a:ext cx="3381375" cy="1362075"/>
          </a:xfrm>
          <a:prstGeom prst="roundRect">
            <a:avLst>
              <a:gd name="adj" fmla="val 9907"/>
            </a:avLst>
          </a:prstGeom>
          <a:solidFill>
            <a:srgbClr val="FFFFFF">
              <a:alpha val="6000"/>
            </a:srgbClr>
          </a:solidFill>
          <a:ln w="9525">
            <a:solidFill>
              <a:srgbClr val="FFFFFF">
                <a:alpha val="18000"/>
              </a:srgbClr>
            </a:solidFill>
            <a:prstDash val="solid"/>
          </a:ln>
        </p:spPr>
      </p:sp>
      <p:sp>
        <p:nvSpPr>
          <p:cNvPr id="34" name="Text 30"/>
          <p:cNvSpPr/>
          <p:nvPr/>
        </p:nvSpPr>
        <p:spPr>
          <a:xfrm>
            <a:off x="8140700" y="4605089"/>
            <a:ext cx="1263253" cy="237728"/>
          </a:xfrm>
          <a:prstGeom prst="rect">
            <a:avLst/>
          </a:prstGeom>
          <a:noFill/>
          <a:ln/>
        </p:spPr>
        <p:txBody>
          <a:bodyPr wrap="none" lIns="0" tIns="0" rIns="0" bIns="0" rtlCol="0" anchor="t">
            <a:normAutofit/>
          </a:bodyPr>
          <a:lstStyle/>
          <a:p>
            <a:pPr algn="l" indent="0" marL="0">
              <a:lnSpc>
                <a:spcPts val="1675"/>
              </a:lnSpc>
              <a:buNone/>
            </a:pPr>
            <a:r>
              <a:rPr lang="en-US" sz="1196" spc="150" kern="0" dirty="0">
                <a:solidFill>
                  <a:srgbClr val="DEB068"/>
                </a:solidFill>
                <a:latin typeface="Courier New" pitchFamily="49" charset="0"/>
                <a:ea typeface="Courier New" pitchFamily="49" charset="-122"/>
                <a:cs typeface="Courier New" pitchFamily="49" charset="-120"/>
              </a:rPr>
              <a:t>THE HARNESS</a:t>
            </a:r>
            <a:endParaRPr lang="en-US" sz="1196" dirty="0"/>
          </a:p>
        </p:txBody>
      </p:sp>
      <p:sp>
        <p:nvSpPr>
          <p:cNvPr id="35" name="Text 31"/>
          <p:cNvSpPr/>
          <p:nvPr/>
        </p:nvSpPr>
        <p:spPr>
          <a:xfrm>
            <a:off x="8140700" y="4868218"/>
            <a:ext cx="2871133" cy="252909"/>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keeps the loop observable</a:t>
            </a:r>
            <a:endParaRPr lang="en-US" sz="1500" dirty="0"/>
          </a:p>
        </p:txBody>
      </p:sp>
      <p:sp>
        <p:nvSpPr>
          <p:cNvPr id="36" name="Text 32"/>
          <p:cNvSpPr/>
          <p:nvPr/>
        </p:nvSpPr>
        <p:spPr>
          <a:xfrm>
            <a:off x="8140700" y="5146526"/>
            <a:ext cx="3178683" cy="662335"/>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F2EFEA"/>
                </a:solidFill>
                <a:latin typeface="Arial" pitchFamily="34" charset="0"/>
                <a:ea typeface="Arial" pitchFamily="34" charset="-122"/>
                <a:cs typeface="Arial" pitchFamily="34" charset="-120"/>
              </a:rPr>
              <a:t>What changed, why it changed, whether performance improved. That is the intelligence plane.</a:t>
            </a:r>
            <a:endParaRPr lang="en-US" sz="1196" dirty="0"/>
          </a:p>
        </p:txBody>
      </p:sp>
      <p:sp>
        <p:nvSpPr>
          <p:cNvPr id="37" name="Text 3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75</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15875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FFFFF"/>
                </a:solidFill>
                <a:latin typeface="Arial" pitchFamily="34" charset="0"/>
                <a:ea typeface="Arial" pitchFamily="34" charset="-122"/>
                <a:cs typeface="Arial" pitchFamily="34" charset="-120"/>
              </a:rPr>
              <a:t>Memory is the only moat.</a:t>
            </a:r>
            <a:endParaRPr lang="en-US" sz="6000" dirty="0"/>
          </a:p>
          <a:p>
            <a:pPr algn="l" indent="0" marL="0">
              <a:lnSpc>
                <a:spcPts val="6300"/>
              </a:lnSpc>
              <a:buNone/>
            </a:pPr>
            <a:r>
              <a:rPr lang="en-US" sz="6000" b="1" i="0" spc="-150" kern="0" dirty="0">
                <a:solidFill>
                  <a:srgbClr val="C74634"/>
                </a:solidFill>
                <a:latin typeface="Arial" pitchFamily="34" charset="0"/>
                <a:ea typeface="Arial" pitchFamily="34" charset="-122"/>
                <a:cs typeface="Arial" pitchFamily="34" charset="-120"/>
              </a:rPr>
              <a:t>You should own it.</a:t>
            </a:r>
            <a:endParaRPr lang="en-US" sz="6000" dirty="0"/>
          </a:p>
        </p:txBody>
      </p:sp>
      <p:sp>
        <p:nvSpPr>
          <p:cNvPr id="4" name="Text 2"/>
          <p:cNvSpPr/>
          <p:nvPr/>
        </p:nvSpPr>
        <p:spPr>
          <a:xfrm>
            <a:off x="817563" y="3814763"/>
            <a:ext cx="3934420" cy="479425"/>
          </a:xfrm>
          <a:prstGeom prst="roundRect">
            <a:avLst>
              <a:gd name="adj" fmla="val 50000"/>
            </a:avLst>
          </a:prstGeom>
          <a:solidFill>
            <a:srgbClr val="FFFFFF">
              <a:alpha val="8000"/>
            </a:srgbClr>
          </a:solidFill>
          <a:ln w="9525">
            <a:solidFill>
              <a:srgbClr val="FFFFFF">
                <a:alpha val="20000"/>
              </a:srgbClr>
            </a:solidFill>
            <a:prstDash val="solid"/>
          </a:ln>
        </p:spPr>
        <p:txBody>
          <a:bodyPr wrap="none" lIns="0" tIns="0" rIns="0" bIns="0" rtlCol="0" anchor="ctr">
            <a:normAutofit/>
          </a:bodyPr>
          <a:lstStyle/>
          <a:p>
            <a:pPr algn="ctr" indent="0" marL="0">
              <a:lnSpc>
                <a:spcPts val="2100"/>
              </a:lnSpc>
              <a:buNone/>
            </a:pPr>
            <a:r>
              <a:rPr lang="en-US" sz="1500" dirty="0">
                <a:solidFill>
                  <a:srgbClr val="F2EFEA"/>
                </a:solidFill>
                <a:latin typeface="Courier New" pitchFamily="49" charset="0"/>
                <a:ea typeface="Courier New" pitchFamily="49" charset="-122"/>
                <a:cs typeface="Courier New" pitchFamily="49" charset="-120"/>
              </a:rPr>
              <a:t>$ pip install oracleagentmemory</a:t>
            </a:r>
            <a:endParaRPr lang="en-US" sz="1500" dirty="0"/>
          </a:p>
        </p:txBody>
      </p:sp>
      <p:sp>
        <p:nvSpPr>
          <p:cNvPr id="5" name="Text 3"/>
          <p:cNvSpPr/>
          <p:nvPr/>
        </p:nvSpPr>
        <p:spPr>
          <a:xfrm>
            <a:off x="812800" y="5372100"/>
            <a:ext cx="85026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docs.oracle.com/en/database/oracle/agent-memory</a:t>
            </a:r>
            <a:endParaRPr lang="en-US" sz="1200" dirty="0"/>
          </a:p>
        </p:txBody>
      </p:sp>
      <p:sp>
        <p:nvSpPr>
          <p:cNvPr id="6" name="Text 4"/>
          <p:cNvSpPr/>
          <p:nvPr/>
        </p:nvSpPr>
        <p:spPr>
          <a:xfrm>
            <a:off x="812800" y="5600700"/>
            <a:ext cx="850265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github.com/oracle-devrel/oracle-ai-developer-hub</a:t>
            </a:r>
            <a:endParaRPr lang="en-US" sz="1200" dirty="0"/>
          </a:p>
        </p:txBody>
      </p:sp>
      <p:sp>
        <p:nvSpPr>
          <p:cNvPr id="7" name="Shape 5"/>
          <p:cNvSpPr/>
          <p:nvPr/>
        </p:nvSpPr>
        <p:spPr>
          <a:xfrm>
            <a:off x="9347200" y="3429000"/>
            <a:ext cx="2032000" cy="2032000"/>
          </a:xfrm>
          <a:prstGeom prst="roundRect">
            <a:avLst>
              <a:gd name="adj" fmla="val 6250"/>
            </a:avLst>
          </a:prstGeom>
          <a:solidFill>
            <a:srgbClr val="FFFFFF"/>
          </a:solidFill>
          <a:ln/>
        </p:spPr>
      </p:sp>
      <p:pic>
        <p:nvPicPr>
          <p:cNvPr id="8" name="Image 0" descr="QR code for the Oracle AI Developer Hub">    </p:cNvPr>
          <p:cNvPicPr>
            <a:picLocks noChangeAspect="1"/>
          </p:cNvPicPr>
          <p:nvPr/>
        </p:nvPicPr>
        <p:blipFill>
          <a:blip r:embed="rId1"/>
          <a:srcRect l="0" r="0" t="0" b="0"/>
          <a:stretch/>
        </p:blipFill>
        <p:spPr>
          <a:xfrm>
            <a:off x="9474200" y="3556000"/>
            <a:ext cx="1778000" cy="1778000"/>
          </a:xfrm>
          <a:prstGeom prst="rect">
            <a:avLst/>
          </a:prstGeom>
        </p:spPr>
      </p:pic>
      <p:sp>
        <p:nvSpPr>
          <p:cNvPr id="9" name="Text 6"/>
          <p:cNvSpPr/>
          <p:nvPr/>
        </p:nvSpPr>
        <p:spPr>
          <a:xfrm>
            <a:off x="9316720" y="5524500"/>
            <a:ext cx="2092960" cy="203200"/>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AEB9B7"/>
                </a:solidFill>
                <a:latin typeface="Courier New" pitchFamily="49" charset="0"/>
                <a:ea typeface="Courier New" pitchFamily="49" charset="-122"/>
                <a:cs typeface="Courier New" pitchFamily="49" charset="-120"/>
              </a:rPr>
              <a:t>Oracle AI Developer Hub</a:t>
            </a:r>
            <a:endParaRPr lang="en-US" sz="1000" dirty="0"/>
          </a:p>
        </p:txBody>
      </p:sp>
      <p:sp>
        <p:nvSpPr>
          <p:cNvPr id="10" name="Text 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812800" y="457200"/>
            <a:ext cx="355600" cy="38100"/>
          </a:xfrm>
          <a:prstGeom prst="roundRect">
            <a:avLst>
              <a:gd name="adj" fmla="val 50000"/>
            </a:avLst>
          </a:prstGeom>
          <a:solidFill>
            <a:srgbClr val="C74634"/>
          </a:solidFill>
          <a:ln/>
        </p:spPr>
      </p:sp>
      <p:sp>
        <p:nvSpPr>
          <p:cNvPr id="3" name="Text 1"/>
          <p:cNvSpPr/>
          <p:nvPr>
            <p:ph type="title"/>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spc="-50" kern="0" dirty="0">
                <a:solidFill>
                  <a:srgbClr val="2D2D2D"/>
                </a:solidFill>
                <a:latin typeface="Arial" pitchFamily="34" charset="0"/>
                <a:ea typeface="Arial" pitchFamily="34" charset="-122"/>
                <a:cs typeface="Arial" pitchFamily="34" charset="-120"/>
              </a:rPr>
              <a:t>Where to go next</a:t>
            </a:r>
            <a:endParaRPr lang="en-US" sz="2800" dirty="0"/>
          </a:p>
        </p:txBody>
      </p:sp>
      <p:sp>
        <p:nvSpPr>
          <p:cNvPr id="4" name="Shape 2"/>
          <p:cNvSpPr/>
          <p:nvPr/>
        </p:nvSpPr>
        <p:spPr>
          <a:xfrm>
            <a:off x="815975" y="1501775"/>
            <a:ext cx="2559050" cy="2406650"/>
          </a:xfrm>
          <a:prstGeom prst="roundRect">
            <a:avLst>
              <a:gd name="adj" fmla="val 6201"/>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5" name="Text 3"/>
          <p:cNvSpPr/>
          <p:nvPr/>
        </p:nvSpPr>
        <p:spPr>
          <a:xfrm>
            <a:off x="1003300" y="1695450"/>
            <a:ext cx="82435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INSTALL</a:t>
            </a:r>
            <a:endParaRPr lang="en-US" sz="1200" dirty="0"/>
          </a:p>
        </p:txBody>
      </p:sp>
      <p:sp>
        <p:nvSpPr>
          <p:cNvPr id="6" name="Text 4"/>
          <p:cNvSpPr/>
          <p:nvPr/>
        </p:nvSpPr>
        <p:spPr>
          <a:xfrm>
            <a:off x="1003300" y="1984970"/>
            <a:ext cx="2249932"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D2D2D"/>
                </a:solidFill>
                <a:latin typeface="Arial" pitchFamily="34" charset="0"/>
                <a:ea typeface="Arial" pitchFamily="34" charset="-122"/>
                <a:cs typeface="Arial" pitchFamily="34" charset="-120"/>
              </a:rPr>
              <a:t>pip install oracleagentmemory</a:t>
            </a:r>
            <a:endParaRPr lang="en-US" sz="1400" dirty="0"/>
          </a:p>
        </p:txBody>
      </p:sp>
      <p:sp>
        <p:nvSpPr>
          <p:cNvPr id="7" name="Text 5"/>
          <p:cNvSpPr/>
          <p:nvPr/>
        </p:nvSpPr>
        <p:spPr>
          <a:xfrm>
            <a:off x="1003300" y="2505670"/>
            <a:ext cx="2249932" cy="63872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6B6B6B"/>
                </a:solidFill>
                <a:latin typeface="Arial" pitchFamily="34" charset="0"/>
                <a:ea typeface="Arial" pitchFamily="34" charset="-122"/>
                <a:cs typeface="Arial" pitchFamily="34" charset="-120"/>
              </a:rPr>
              <a:t>The 26.6 docs for the API, and the notebooks on the Oracle AI Developer Hub.</a:t>
            </a:r>
            <a:endParaRPr lang="en-US" sz="1150" dirty="0"/>
          </a:p>
        </p:txBody>
      </p:sp>
      <p:sp>
        <p:nvSpPr>
          <p:cNvPr id="8" name="Shape 6"/>
          <p:cNvSpPr/>
          <p:nvPr/>
        </p:nvSpPr>
        <p:spPr>
          <a:xfrm>
            <a:off x="3533775" y="1501775"/>
            <a:ext cx="2559050" cy="2406650"/>
          </a:xfrm>
          <a:prstGeom prst="roundRect">
            <a:avLst>
              <a:gd name="adj" fmla="val 6201"/>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9" name="Text 7"/>
          <p:cNvSpPr/>
          <p:nvPr/>
        </p:nvSpPr>
        <p:spPr>
          <a:xfrm>
            <a:off x="3721100" y="1695450"/>
            <a:ext cx="60334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LEARN</a:t>
            </a:r>
            <a:endParaRPr lang="en-US" sz="1200" dirty="0"/>
          </a:p>
        </p:txBody>
      </p:sp>
      <p:sp>
        <p:nvSpPr>
          <p:cNvPr id="10" name="Text 8"/>
          <p:cNvSpPr/>
          <p:nvPr/>
        </p:nvSpPr>
        <p:spPr>
          <a:xfrm>
            <a:off x="3721100" y="1984970"/>
            <a:ext cx="2249932"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D2D2D"/>
                </a:solidFill>
                <a:latin typeface="Arial" pitchFamily="34" charset="0"/>
                <a:ea typeface="Arial" pitchFamily="34" charset="-122"/>
                <a:cs typeface="Arial" pitchFamily="34" charset="-120"/>
              </a:rPr>
              <a:t>Agent Memory: Building Memory-Aware Agents</a:t>
            </a:r>
            <a:endParaRPr lang="en-US" sz="1400" dirty="0"/>
          </a:p>
        </p:txBody>
      </p:sp>
      <p:sp>
        <p:nvSpPr>
          <p:cNvPr id="11" name="Text 9"/>
          <p:cNvSpPr/>
          <p:nvPr/>
        </p:nvSpPr>
        <p:spPr>
          <a:xfrm>
            <a:off x="3721100" y="2505670"/>
            <a:ext cx="2249932" cy="84316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6B6B6B"/>
                </a:solidFill>
                <a:latin typeface="Arial" pitchFamily="34" charset="0"/>
                <a:ea typeface="Arial" pitchFamily="34" charset="-122"/>
                <a:cs typeface="Arial" pitchFamily="34" charset="-120"/>
              </a:rPr>
              <a:t>The DeepLearning.AI short course with Oracle, and 100 Days of Continual Learning on LinkedIn.</a:t>
            </a:r>
            <a:endParaRPr lang="en-US" sz="1150" dirty="0"/>
          </a:p>
        </p:txBody>
      </p:sp>
      <p:sp>
        <p:nvSpPr>
          <p:cNvPr id="12" name="Shape 10"/>
          <p:cNvSpPr/>
          <p:nvPr/>
        </p:nvSpPr>
        <p:spPr>
          <a:xfrm>
            <a:off x="6251575" y="1501775"/>
            <a:ext cx="2559050" cy="2406650"/>
          </a:xfrm>
          <a:prstGeom prst="roundRect">
            <a:avLst>
              <a:gd name="adj" fmla="val 6201"/>
            </a:avLst>
          </a:prstGeom>
          <a:solidFill>
            <a:srgbClr val="FFFFFF">
              <a:alpha val="70000"/>
            </a:srgbClr>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sp>
        <p:nvSpPr>
          <p:cNvPr id="13" name="Text 11"/>
          <p:cNvSpPr/>
          <p:nvPr/>
        </p:nvSpPr>
        <p:spPr>
          <a:xfrm>
            <a:off x="6438900" y="1695450"/>
            <a:ext cx="104536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C74634"/>
                </a:solidFill>
                <a:latin typeface="Courier New" pitchFamily="49" charset="0"/>
                <a:ea typeface="Courier New" pitchFamily="49" charset="-122"/>
                <a:cs typeface="Courier New" pitchFamily="49" charset="-120"/>
              </a:rPr>
              <a:t>REPRODUCE</a:t>
            </a:r>
            <a:endParaRPr lang="en-US" sz="1200" dirty="0"/>
          </a:p>
        </p:txBody>
      </p:sp>
      <p:sp>
        <p:nvSpPr>
          <p:cNvPr id="14" name="Text 12"/>
          <p:cNvSpPr/>
          <p:nvPr/>
        </p:nvSpPr>
        <p:spPr>
          <a:xfrm>
            <a:off x="6438900" y="1984970"/>
            <a:ext cx="180183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D2D2D"/>
                </a:solidFill>
                <a:latin typeface="Arial" pitchFamily="34" charset="0"/>
                <a:ea typeface="Arial" pitchFamily="34" charset="-122"/>
                <a:cs typeface="Arial" pitchFamily="34" charset="-120"/>
              </a:rPr>
              <a:t>Today’s notebook</a:t>
            </a:r>
            <a:endParaRPr lang="en-US" sz="1400" dirty="0"/>
          </a:p>
        </p:txBody>
      </p:sp>
      <p:sp>
        <p:nvSpPr>
          <p:cNvPr id="15" name="Text 13"/>
          <p:cNvSpPr/>
          <p:nvPr/>
        </p:nvSpPr>
        <p:spPr>
          <a:xfrm>
            <a:off x="6438900" y="2283420"/>
            <a:ext cx="2249932" cy="84316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6B6B6B"/>
                </a:solidFill>
                <a:latin typeface="Arial" pitchFamily="34" charset="0"/>
                <a:ea typeface="Arial" pitchFamily="34" charset="-122"/>
                <a:cs typeface="Arial" pitchFamily="34" charset="-120"/>
              </a:rPr>
              <a:t>On the Developer Hub. Your harness, your rows; extend it with your own memory types and a retention policy.</a:t>
            </a:r>
            <a:endParaRPr lang="en-US" sz="1150" dirty="0"/>
          </a:p>
        </p:txBody>
      </p:sp>
      <p:sp>
        <p:nvSpPr>
          <p:cNvPr id="16" name="Shape 14"/>
          <p:cNvSpPr/>
          <p:nvPr/>
        </p:nvSpPr>
        <p:spPr>
          <a:xfrm>
            <a:off x="8969375" y="1501775"/>
            <a:ext cx="2406650" cy="2406650"/>
          </a:xfrm>
          <a:prstGeom prst="roundRect">
            <a:avLst>
              <a:gd name="adj" fmla="val 6201"/>
            </a:avLst>
          </a:prstGeom>
          <a:solidFill>
            <a:srgbClr val="FFFFFF"/>
          </a:solidFill>
          <a:ln w="6350">
            <a:solidFill>
              <a:srgbClr val="31535C">
                <a:alpha val="16000"/>
              </a:srgbClr>
            </a:solidFill>
            <a:prstDash val="solid"/>
          </a:ln>
          <a:effectLst>
            <a:outerShdw sx="100000" sy="100000" kx="0" ky="0" algn="bl" rotWithShape="0" blurRad="304800" dist="101600" dir="5400000">
              <a:srgbClr val="1E2A2A">
                <a:alpha val="7000"/>
              </a:srgbClr>
            </a:outerShdw>
          </a:effectLst>
        </p:spPr>
      </p:sp>
      <p:pic>
        <p:nvPicPr>
          <p:cNvPr id="17" name="Image 0" descr="QR code for the Oracle AI Developer Hub">    </p:cNvPr>
          <p:cNvPicPr>
            <a:picLocks noChangeAspect="1"/>
          </p:cNvPicPr>
          <p:nvPr/>
        </p:nvPicPr>
        <p:blipFill>
          <a:blip r:embed="rId1"/>
          <a:srcRect l="0" r="0" t="0" b="0"/>
          <a:stretch/>
        </p:blipFill>
        <p:spPr>
          <a:xfrm>
            <a:off x="9220200" y="1587500"/>
            <a:ext cx="1905000" cy="1905000"/>
          </a:xfrm>
          <a:prstGeom prst="rect">
            <a:avLst/>
          </a:prstGeom>
        </p:spPr>
      </p:pic>
      <p:sp>
        <p:nvSpPr>
          <p:cNvPr id="18" name="Text 15"/>
          <p:cNvSpPr/>
          <p:nvPr/>
        </p:nvSpPr>
        <p:spPr>
          <a:xfrm>
            <a:off x="8930005" y="3517900"/>
            <a:ext cx="2485390" cy="185390"/>
          </a:xfrm>
          <a:prstGeom prst="rect">
            <a:avLst/>
          </a:prstGeom>
          <a:noFill/>
          <a:ln/>
        </p:spPr>
        <p:txBody>
          <a:bodyPr wrap="square" lIns="0" tIns="0" rIns="0" bIns="0" rtlCol="0" anchor="t">
            <a:normAutofit/>
          </a:bodyPr>
          <a:lstStyle/>
          <a:p>
            <a:pPr algn="ctr" indent="0" marL="0">
              <a:lnSpc>
                <a:spcPts val="1260"/>
              </a:lnSpc>
              <a:buNone/>
            </a:pPr>
            <a:r>
              <a:rPr lang="en-US" sz="900" spc="50" kern="0" dirty="0">
                <a:solidFill>
                  <a:srgbClr val="C74634"/>
                </a:solidFill>
                <a:latin typeface="Courier New" pitchFamily="49" charset="0"/>
                <a:ea typeface="Courier New" pitchFamily="49" charset="-122"/>
                <a:cs typeface="Courier New" pitchFamily="49" charset="-120"/>
              </a:rPr>
              <a:t>ORACLE AI DEVELOPER HUB</a:t>
            </a:r>
            <a:endParaRPr lang="en-US" sz="900" dirty="0"/>
          </a:p>
        </p:txBody>
      </p:sp>
      <p:sp>
        <p:nvSpPr>
          <p:cNvPr id="19" name="Text 16"/>
          <p:cNvSpPr/>
          <p:nvPr/>
        </p:nvSpPr>
        <p:spPr>
          <a:xfrm>
            <a:off x="8930005" y="3683000"/>
            <a:ext cx="2485390" cy="185390"/>
          </a:xfrm>
          <a:prstGeom prst="rect">
            <a:avLst/>
          </a:prstGeom>
          <a:noFill/>
          <a:ln/>
        </p:spPr>
        <p:txBody>
          <a:bodyPr wrap="square" lIns="0" tIns="0" rIns="0" bIns="0" rtlCol="0" anchor="t">
            <a:normAutofit/>
          </a:bodyPr>
          <a:lstStyle/>
          <a:p>
            <a:pPr algn="ctr" indent="0" marL="0">
              <a:lnSpc>
                <a:spcPts val="1260"/>
              </a:lnSpc>
              <a:buNone/>
            </a:pPr>
            <a:r>
              <a:rPr lang="en-US" sz="900" dirty="0">
                <a:solidFill>
                  <a:srgbClr val="6B6B6B"/>
                </a:solidFill>
                <a:latin typeface="Courier New" pitchFamily="49" charset="0"/>
                <a:ea typeface="Courier New" pitchFamily="49" charset="-122"/>
                <a:cs typeface="Courier New" pitchFamily="49" charset="-120"/>
              </a:rPr>
              <a:t>all the technical assets</a:t>
            </a:r>
            <a:endParaRPr lang="en-US" sz="900" dirty="0"/>
          </a:p>
        </p:txBody>
      </p:sp>
      <p:sp>
        <p:nvSpPr>
          <p:cNvPr id="20" name="Shape 17"/>
          <p:cNvSpPr/>
          <p:nvPr/>
        </p:nvSpPr>
        <p:spPr>
          <a:xfrm>
            <a:off x="815975" y="4244975"/>
            <a:ext cx="10560050" cy="1009650"/>
          </a:xfrm>
          <a:prstGeom prst="roundRect">
            <a:avLst>
              <a:gd name="adj" fmla="val 14780"/>
            </a:avLst>
          </a:prstGeom>
          <a:solidFill>
            <a:srgbClr val="1E2A2A"/>
          </a:solidFill>
          <a:ln w="6350">
            <a:solidFill>
              <a:srgbClr val="1E2A2A"/>
            </a:solidFill>
            <a:prstDash val="solid"/>
          </a:ln>
        </p:spPr>
      </p:sp>
      <p:sp>
        <p:nvSpPr>
          <p:cNvPr id="21" name="Text 18"/>
          <p:cNvSpPr/>
          <p:nvPr/>
        </p:nvSpPr>
        <p:spPr>
          <a:xfrm>
            <a:off x="1117600" y="4439940"/>
            <a:ext cx="20400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CONNECT</a:t>
            </a:r>
            <a:endParaRPr lang="en-US" sz="1200" dirty="0"/>
          </a:p>
        </p:txBody>
      </p:sp>
      <p:sp>
        <p:nvSpPr>
          <p:cNvPr id="22" name="Text 19"/>
          <p:cNvSpPr/>
          <p:nvPr/>
        </p:nvSpPr>
        <p:spPr>
          <a:xfrm>
            <a:off x="1117600" y="4704060"/>
            <a:ext cx="237678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FFFF"/>
                </a:solidFill>
                <a:latin typeface="Arial" pitchFamily="34" charset="0"/>
                <a:ea typeface="Arial" pitchFamily="34" charset="-122"/>
                <a:cs typeface="Arial" pitchFamily="34" charset="-120"/>
              </a:rPr>
              <a:t>Richmond Alake</a:t>
            </a:r>
            <a:endParaRPr lang="en-US" sz="2000" dirty="0"/>
          </a:p>
        </p:txBody>
      </p:sp>
      <p:sp>
        <p:nvSpPr>
          <p:cNvPr id="23" name="Text 20"/>
          <p:cNvSpPr/>
          <p:nvPr/>
        </p:nvSpPr>
        <p:spPr>
          <a:xfrm>
            <a:off x="9260532" y="4625330"/>
            <a:ext cx="21123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A"/>
                </a:solidFill>
                <a:latin typeface="Courier New" pitchFamily="49" charset="0"/>
                <a:ea typeface="Courier New" pitchFamily="49" charset="-122"/>
                <a:cs typeface="Courier New" pitchFamily="49" charset="-120"/>
              </a:rPr>
              <a:t>[LinkedIn / site]</a:t>
            </a:r>
            <a:endParaRPr lang="en-US" sz="1400" dirty="0"/>
          </a:p>
        </p:txBody>
      </p:sp>
      <p:sp>
        <p:nvSpPr>
          <p:cNvPr id="24"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Courier New" pitchFamily="49" charset="0"/>
                <a:ea typeface="Courier New" pitchFamily="49" charset="-122"/>
                <a:cs typeface="Courier New" pitchFamily="49" charset="-120"/>
              </a:rPr>
              <a:t>77</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7937500" y="0"/>
            <a:ext cx="4254500" cy="4953000"/>
          </a:xfrm>
          <a:prstGeom prst="rect">
            <a:avLst/>
          </a:prstGeom>
          <a:gradFill rotWithShape="1">
            <a:gsLst>
              <a:gs pos="0">
                <a:srgbClr val="C74634">
                  <a:alpha val="16000"/>
                </a:srgbClr>
              </a:gs>
              <a:gs pos="70000">
                <a:srgbClr val="C74634">
                  <a:alpha val="0"/>
                </a:srgbClr>
              </a:gs>
            </a:gsLst>
            <a:path path="circle">
              <a:fillToRect l="50000" t="50000" r="50000" b="50000"/>
            </a:path>
          </a:gradFill>
          <a:ln/>
        </p:spPr>
      </p:sp>
      <p:sp>
        <p:nvSpPr>
          <p:cNvPr id="3" name="Shape 1"/>
          <p:cNvSpPr/>
          <p:nvPr/>
        </p:nvSpPr>
        <p:spPr>
          <a:xfrm>
            <a:off x="812800" y="457200"/>
            <a:ext cx="355600" cy="38100"/>
          </a:xfrm>
          <a:prstGeom prst="roundRect">
            <a:avLst>
              <a:gd name="adj" fmla="val 50000"/>
            </a:avLst>
          </a:prstGeom>
          <a:solidFill>
            <a:srgbClr val="C74634"/>
          </a:solidFill>
          <a:ln/>
        </p:spPr>
      </p:sp>
      <p:sp>
        <p:nvSpPr>
          <p:cNvPr id="4" name="Text 2"/>
          <p:cNvSpPr/>
          <p:nvPr/>
        </p:nvSpPr>
        <p:spPr>
          <a:xfrm>
            <a:off x="812800" y="6604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836F"/>
                </a:solidFill>
                <a:latin typeface="Courier New" pitchFamily="49" charset="0"/>
                <a:ea typeface="Courier New" pitchFamily="49" charset="-122"/>
                <a:cs typeface="Courier New" pitchFamily="49" charset="-120"/>
              </a:rPr>
              <a:t>LATER TODAY · ORACLE AI WORLD HUB, THEATER 1</a:t>
            </a:r>
            <a:endParaRPr lang="en-US" sz="1200" dirty="0"/>
          </a:p>
        </p:txBody>
      </p:sp>
      <p:sp>
        <p:nvSpPr>
          <p:cNvPr id="5" name="Text 3"/>
          <p:cNvSpPr/>
          <p:nvPr>
            <p:ph type="title"/>
          </p:nvPr>
        </p:nvSpPr>
        <p:spPr>
          <a:xfrm>
            <a:off x="812800" y="8890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FFFFFF"/>
                </a:solidFill>
                <a:latin typeface="Arial" pitchFamily="34" charset="0"/>
                <a:ea typeface="Arial" pitchFamily="34" charset="-122"/>
                <a:cs typeface="Arial" pitchFamily="34" charset="-120"/>
              </a:rPr>
              <a:t>The AI Developer’s Guide to Oracle AI Database</a:t>
            </a:r>
            <a:endParaRPr lang="en-US" sz="3200" dirty="0"/>
          </a:p>
        </p:txBody>
      </p:sp>
      <p:sp>
        <p:nvSpPr>
          <p:cNvPr id="6" name="Text 4"/>
          <p:cNvSpPr/>
          <p:nvPr/>
        </p:nvSpPr>
        <p:spPr>
          <a:xfrm>
            <a:off x="812800" y="1498600"/>
            <a:ext cx="8502650"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AEB9B7"/>
                </a:solidFill>
                <a:latin typeface="Arial" pitchFamily="34" charset="0"/>
                <a:ea typeface="Arial" pitchFamily="34" charset="-122"/>
                <a:cs typeface="Arial" pitchFamily="34" charset="-120"/>
              </a:rPr>
              <a:t>Integrations, education and tools [THR6107]</a:t>
            </a:r>
            <a:endParaRPr lang="en-US" sz="1800" dirty="0"/>
          </a:p>
        </p:txBody>
      </p:sp>
      <p:sp>
        <p:nvSpPr>
          <p:cNvPr id="7" name="Shape 5"/>
          <p:cNvSpPr/>
          <p:nvPr/>
        </p:nvSpPr>
        <p:spPr>
          <a:xfrm>
            <a:off x="817563" y="2163763"/>
            <a:ext cx="3292475" cy="1260475"/>
          </a:xfrm>
          <a:prstGeom prst="roundRect">
            <a:avLst>
              <a:gd name="adj" fmla="val 10705"/>
            </a:avLst>
          </a:prstGeom>
          <a:solidFill>
            <a:srgbClr val="FFFFFF">
              <a:alpha val="6000"/>
            </a:srgbClr>
          </a:solidFill>
          <a:ln w="9525">
            <a:solidFill>
              <a:srgbClr val="FFFFFF">
                <a:alpha val="18000"/>
              </a:srgbClr>
            </a:solidFill>
            <a:prstDash val="solid"/>
          </a:ln>
        </p:spPr>
      </p:sp>
      <p:sp>
        <p:nvSpPr>
          <p:cNvPr id="8" name="Text 6"/>
          <p:cNvSpPr/>
          <p:nvPr/>
        </p:nvSpPr>
        <p:spPr>
          <a:xfrm>
            <a:off x="1003300" y="2359025"/>
            <a:ext cx="492820"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E8836F"/>
                </a:solidFill>
                <a:latin typeface="Courier New" pitchFamily="49" charset="0"/>
                <a:ea typeface="Courier New" pitchFamily="49" charset="-122"/>
                <a:cs typeface="Courier New" pitchFamily="49" charset="-120"/>
              </a:rPr>
              <a:t>WHEN</a:t>
            </a:r>
            <a:endParaRPr lang="en-US" sz="1200" dirty="0"/>
          </a:p>
        </p:txBody>
      </p:sp>
      <p:sp>
        <p:nvSpPr>
          <p:cNvPr id="9" name="Text 7"/>
          <p:cNvSpPr/>
          <p:nvPr/>
        </p:nvSpPr>
        <p:spPr>
          <a:xfrm>
            <a:off x="1003300" y="2623145"/>
            <a:ext cx="29133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Arial" pitchFamily="34" charset="0"/>
                <a:ea typeface="Arial" pitchFamily="34" charset="-122"/>
                <a:cs typeface="Arial" pitchFamily="34" charset="-120"/>
              </a:rPr>
              <a:t>1:10 to 1:30 PM PDT</a:t>
            </a:r>
            <a:endParaRPr lang="en-US" sz="2000" dirty="0"/>
          </a:p>
        </p:txBody>
      </p:sp>
      <p:sp>
        <p:nvSpPr>
          <p:cNvPr id="10" name="Text 8"/>
          <p:cNvSpPr/>
          <p:nvPr/>
        </p:nvSpPr>
        <p:spPr>
          <a:xfrm>
            <a:off x="1003300" y="2978745"/>
            <a:ext cx="178772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Tuesday 27 October</a:t>
            </a:r>
            <a:endParaRPr lang="en-US" sz="1300" dirty="0"/>
          </a:p>
        </p:txBody>
      </p:sp>
      <p:sp>
        <p:nvSpPr>
          <p:cNvPr id="11" name="Shape 9"/>
          <p:cNvSpPr/>
          <p:nvPr/>
        </p:nvSpPr>
        <p:spPr>
          <a:xfrm>
            <a:off x="4297363" y="2163763"/>
            <a:ext cx="3292475" cy="1260475"/>
          </a:xfrm>
          <a:prstGeom prst="roundRect">
            <a:avLst>
              <a:gd name="adj" fmla="val 10705"/>
            </a:avLst>
          </a:prstGeom>
          <a:solidFill>
            <a:srgbClr val="FFFFFF">
              <a:alpha val="6000"/>
            </a:srgbClr>
          </a:solidFill>
          <a:ln w="9525">
            <a:solidFill>
              <a:srgbClr val="FFFFFF">
                <a:alpha val="18000"/>
              </a:srgbClr>
            </a:solidFill>
            <a:prstDash val="solid"/>
          </a:ln>
        </p:spPr>
      </p:sp>
      <p:sp>
        <p:nvSpPr>
          <p:cNvPr id="12" name="Text 10"/>
          <p:cNvSpPr/>
          <p:nvPr/>
        </p:nvSpPr>
        <p:spPr>
          <a:xfrm>
            <a:off x="4483100" y="2359025"/>
            <a:ext cx="603349"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E8836F"/>
                </a:solidFill>
                <a:latin typeface="Courier New" pitchFamily="49" charset="0"/>
                <a:ea typeface="Courier New" pitchFamily="49" charset="-122"/>
                <a:cs typeface="Courier New" pitchFamily="49" charset="-120"/>
              </a:rPr>
              <a:t>WHERE</a:t>
            </a:r>
            <a:endParaRPr lang="en-US" sz="1200" dirty="0"/>
          </a:p>
        </p:txBody>
      </p:sp>
      <p:sp>
        <p:nvSpPr>
          <p:cNvPr id="13" name="Text 11"/>
          <p:cNvSpPr/>
          <p:nvPr/>
        </p:nvSpPr>
        <p:spPr>
          <a:xfrm>
            <a:off x="4483100" y="2623145"/>
            <a:ext cx="135522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Arial" pitchFamily="34" charset="0"/>
                <a:ea typeface="Arial" pitchFamily="34" charset="-122"/>
                <a:cs typeface="Arial" pitchFamily="34" charset="-120"/>
              </a:rPr>
              <a:t>Theater 1</a:t>
            </a:r>
            <a:endParaRPr lang="en-US" sz="2000" dirty="0"/>
          </a:p>
        </p:txBody>
      </p:sp>
      <p:sp>
        <p:nvSpPr>
          <p:cNvPr id="14" name="Text 12"/>
          <p:cNvSpPr/>
          <p:nvPr/>
        </p:nvSpPr>
        <p:spPr>
          <a:xfrm>
            <a:off x="4483100" y="2978745"/>
            <a:ext cx="288137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Oracle AI World Hub, 20 minutes</a:t>
            </a:r>
            <a:endParaRPr lang="en-US" sz="1300" dirty="0"/>
          </a:p>
        </p:txBody>
      </p:sp>
      <p:sp>
        <p:nvSpPr>
          <p:cNvPr id="15" name="Shape 13"/>
          <p:cNvSpPr/>
          <p:nvPr/>
        </p:nvSpPr>
        <p:spPr>
          <a:xfrm>
            <a:off x="7777163" y="2163763"/>
            <a:ext cx="3597275" cy="1260475"/>
          </a:xfrm>
          <a:prstGeom prst="roundRect">
            <a:avLst>
              <a:gd name="adj" fmla="val 10705"/>
            </a:avLst>
          </a:prstGeom>
          <a:solidFill>
            <a:srgbClr val="FFFFFF">
              <a:alpha val="6000"/>
            </a:srgbClr>
          </a:solidFill>
          <a:ln w="9525">
            <a:solidFill>
              <a:srgbClr val="FFFFFF">
                <a:alpha val="18000"/>
              </a:srgbClr>
            </a:solidFill>
            <a:prstDash val="solid"/>
          </a:ln>
        </p:spPr>
      </p:sp>
      <p:sp>
        <p:nvSpPr>
          <p:cNvPr id="16" name="Text 14"/>
          <p:cNvSpPr/>
          <p:nvPr/>
        </p:nvSpPr>
        <p:spPr>
          <a:xfrm>
            <a:off x="7962900" y="2255937"/>
            <a:ext cx="381496" cy="237430"/>
          </a:xfrm>
          <a:prstGeom prst="rect">
            <a:avLst/>
          </a:prstGeom>
          <a:noFill/>
          <a:ln/>
        </p:spPr>
        <p:txBody>
          <a:bodyPr wrap="none" lIns="0" tIns="0" rIns="0" bIns="0" rtlCol="0" anchor="t">
            <a:normAutofit/>
          </a:bodyPr>
          <a:lstStyle/>
          <a:p>
            <a:pPr algn="l" indent="0" marL="0">
              <a:lnSpc>
                <a:spcPts val="1675"/>
              </a:lnSpc>
              <a:buNone/>
            </a:pPr>
            <a:r>
              <a:rPr lang="en-US" sz="1196" spc="150" kern="0" dirty="0">
                <a:solidFill>
                  <a:srgbClr val="E8836F"/>
                </a:solidFill>
                <a:latin typeface="Courier New" pitchFamily="49" charset="0"/>
                <a:ea typeface="Courier New" pitchFamily="49" charset="-122"/>
                <a:cs typeface="Courier New" pitchFamily="49" charset="-120"/>
              </a:rPr>
              <a:t>FOR</a:t>
            </a:r>
            <a:endParaRPr lang="en-US" sz="1196" dirty="0"/>
          </a:p>
        </p:txBody>
      </p:sp>
      <p:sp>
        <p:nvSpPr>
          <p:cNvPr id="17" name="Text 15"/>
          <p:cNvSpPr/>
          <p:nvPr/>
        </p:nvSpPr>
        <p:spPr>
          <a:xfrm>
            <a:off x="7962900" y="2518767"/>
            <a:ext cx="3202186" cy="328414"/>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Arial" pitchFamily="34" charset="0"/>
                <a:ea typeface="Arial" pitchFamily="34" charset="-122"/>
                <a:cs typeface="Arial" pitchFamily="34" charset="-120"/>
              </a:rPr>
              <a:t>Developers, any stack</a:t>
            </a:r>
            <a:endParaRPr lang="en-US" sz="2000" dirty="0"/>
          </a:p>
        </p:txBody>
      </p:sp>
      <p:sp>
        <p:nvSpPr>
          <p:cNvPr id="18" name="Text 16"/>
          <p:cNvSpPr/>
          <p:nvPr/>
        </p:nvSpPr>
        <p:spPr>
          <a:xfrm>
            <a:off x="7962900" y="2872581"/>
            <a:ext cx="3322574" cy="484882"/>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F2EFEA"/>
                </a:solidFill>
                <a:latin typeface="Arial" pitchFamily="34" charset="0"/>
                <a:ea typeface="Arial" pitchFamily="34" charset="-122"/>
                <a:cs typeface="Arial" pitchFamily="34" charset="-120"/>
              </a:rPr>
              <a:t>Beginner-friendly, no Oracle background needed</a:t>
            </a:r>
            <a:endParaRPr lang="en-US" sz="1292" dirty="0"/>
          </a:p>
        </p:txBody>
      </p:sp>
      <p:sp>
        <p:nvSpPr>
          <p:cNvPr id="19" name="Shape 17"/>
          <p:cNvSpPr/>
          <p:nvPr/>
        </p:nvSpPr>
        <p:spPr>
          <a:xfrm>
            <a:off x="817563" y="3687762"/>
            <a:ext cx="3375025" cy="1577975"/>
          </a:xfrm>
          <a:prstGeom prst="roundRect">
            <a:avLst>
              <a:gd name="adj" fmla="val 8551"/>
            </a:avLst>
          </a:prstGeom>
          <a:solidFill>
            <a:srgbClr val="C74634">
              <a:alpha val="10000"/>
            </a:srgbClr>
          </a:solidFill>
          <a:ln w="9525">
            <a:solidFill>
              <a:srgbClr val="C74634">
                <a:alpha val="45000"/>
              </a:srgbClr>
            </a:solidFill>
            <a:prstDash val="solid"/>
          </a:ln>
        </p:spPr>
      </p:sp>
      <p:pic>
        <p:nvPicPr>
          <p:cNvPr id="20" name="Image 0" descr="Link">    </p:cNvPr>
          <p:cNvPicPr>
            <a:picLocks noChangeAspect="1"/>
          </p:cNvPicPr>
          <p:nvPr/>
        </p:nvPicPr>
        <p:blipFill>
          <a:blip r:embed="rId1"/>
          <a:srcRect l="-59" r="-59" t="0" b="0"/>
          <a:stretch/>
        </p:blipFill>
        <p:spPr>
          <a:xfrm>
            <a:off x="990600" y="3852565"/>
            <a:ext cx="254000" cy="253702"/>
          </a:xfrm>
          <a:prstGeom prst="rect">
            <a:avLst/>
          </a:prstGeom>
        </p:spPr>
      </p:pic>
      <p:sp>
        <p:nvSpPr>
          <p:cNvPr id="21" name="Text 18"/>
          <p:cNvSpPr/>
          <p:nvPr/>
        </p:nvSpPr>
        <p:spPr>
          <a:xfrm>
            <a:off x="990600" y="4169767"/>
            <a:ext cx="1308199" cy="253752"/>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Integrations</a:t>
            </a:r>
            <a:endParaRPr lang="en-US" sz="1500" dirty="0"/>
          </a:p>
        </p:txBody>
      </p:sp>
      <p:sp>
        <p:nvSpPr>
          <p:cNvPr id="22" name="Text 19"/>
          <p:cNvSpPr/>
          <p:nvPr/>
        </p:nvSpPr>
        <p:spPr>
          <a:xfrm>
            <a:off x="990600" y="4461619"/>
            <a:ext cx="3119819" cy="6646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LangChain, LangGraph, Deep Agents, Mem0, Hindsight and community projects, and where each fits</a:t>
            </a:r>
            <a:endParaRPr lang="en-US" sz="1200" dirty="0"/>
          </a:p>
        </p:txBody>
      </p:sp>
      <p:sp>
        <p:nvSpPr>
          <p:cNvPr id="23" name="Shape 20"/>
          <p:cNvSpPr/>
          <p:nvPr/>
        </p:nvSpPr>
        <p:spPr>
          <a:xfrm>
            <a:off x="4405313" y="3687762"/>
            <a:ext cx="3375025" cy="1577975"/>
          </a:xfrm>
          <a:prstGeom prst="roundRect">
            <a:avLst>
              <a:gd name="adj" fmla="val 8551"/>
            </a:avLst>
          </a:prstGeom>
          <a:solidFill>
            <a:srgbClr val="C74634">
              <a:alpha val="10000"/>
            </a:srgbClr>
          </a:solidFill>
          <a:ln w="9525">
            <a:solidFill>
              <a:srgbClr val="C74634">
                <a:alpha val="45000"/>
              </a:srgbClr>
            </a:solidFill>
            <a:prstDash val="solid"/>
          </a:ln>
        </p:spPr>
      </p:sp>
      <p:pic>
        <p:nvPicPr>
          <p:cNvPr id="24" name="Image 1" descr="GraduationCap">    </p:cNvPr>
          <p:cNvPicPr>
            <a:picLocks noChangeAspect="1"/>
          </p:cNvPicPr>
          <p:nvPr/>
        </p:nvPicPr>
        <p:blipFill>
          <a:blip r:embed="rId2"/>
          <a:srcRect l="0" r="0" t="0" b="0"/>
          <a:stretch/>
        </p:blipFill>
        <p:spPr>
          <a:xfrm>
            <a:off x="4578350" y="3870325"/>
            <a:ext cx="254000" cy="254000"/>
          </a:xfrm>
          <a:prstGeom prst="rect">
            <a:avLst/>
          </a:prstGeom>
        </p:spPr>
      </p:pic>
      <p:sp>
        <p:nvSpPr>
          <p:cNvPr id="25" name="Text 21"/>
          <p:cNvSpPr/>
          <p:nvPr/>
        </p:nvSpPr>
        <p:spPr>
          <a:xfrm>
            <a:off x="4578350" y="4187825"/>
            <a:ext cx="11049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Education</a:t>
            </a:r>
            <a:endParaRPr lang="en-US" sz="1500" dirty="0"/>
          </a:p>
        </p:txBody>
      </p:sp>
      <p:sp>
        <p:nvSpPr>
          <p:cNvPr id="26" name="Text 22"/>
          <p:cNvSpPr/>
          <p:nvPr/>
        </p:nvSpPr>
        <p:spPr>
          <a:xfrm>
            <a:off x="4578350" y="4479925"/>
            <a:ext cx="31198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The DeepLearning.AI courses, DataCamp, and the hands-on AI Engineer workshops</a:t>
            </a:r>
            <a:endParaRPr lang="en-US" sz="1200" dirty="0"/>
          </a:p>
        </p:txBody>
      </p:sp>
      <p:sp>
        <p:nvSpPr>
          <p:cNvPr id="27" name="Shape 23"/>
          <p:cNvSpPr/>
          <p:nvPr/>
        </p:nvSpPr>
        <p:spPr>
          <a:xfrm>
            <a:off x="7993063" y="3687762"/>
            <a:ext cx="3381375" cy="1577975"/>
          </a:xfrm>
          <a:prstGeom prst="roundRect">
            <a:avLst>
              <a:gd name="adj" fmla="val 8551"/>
            </a:avLst>
          </a:prstGeom>
          <a:solidFill>
            <a:srgbClr val="C74634">
              <a:alpha val="10000"/>
            </a:srgbClr>
          </a:solidFill>
          <a:ln w="9525">
            <a:solidFill>
              <a:srgbClr val="C74634">
                <a:alpha val="45000"/>
              </a:srgbClr>
            </a:solidFill>
            <a:prstDash val="solid"/>
          </a:ln>
        </p:spPr>
      </p:sp>
      <p:pic>
        <p:nvPicPr>
          <p:cNvPr id="28" name="Image 2" descr="Code">    </p:cNvPr>
          <p:cNvPicPr>
            <a:picLocks noChangeAspect="1"/>
          </p:cNvPicPr>
          <p:nvPr/>
        </p:nvPicPr>
        <p:blipFill>
          <a:blip r:embed="rId3"/>
          <a:srcRect l="-59" r="-59" t="0" b="0"/>
          <a:stretch/>
        </p:blipFill>
        <p:spPr>
          <a:xfrm>
            <a:off x="8166100" y="3852565"/>
            <a:ext cx="254000" cy="253702"/>
          </a:xfrm>
          <a:prstGeom prst="rect">
            <a:avLst/>
          </a:prstGeom>
        </p:spPr>
      </p:pic>
      <p:sp>
        <p:nvSpPr>
          <p:cNvPr id="29" name="Text 24"/>
          <p:cNvSpPr/>
          <p:nvPr/>
        </p:nvSpPr>
        <p:spPr>
          <a:xfrm>
            <a:off x="8166100" y="4169767"/>
            <a:ext cx="592634" cy="253752"/>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Arial" pitchFamily="34" charset="0"/>
                <a:ea typeface="Arial" pitchFamily="34" charset="-122"/>
                <a:cs typeface="Arial" pitchFamily="34" charset="-120"/>
              </a:rPr>
              <a:t>Tools</a:t>
            </a:r>
            <a:endParaRPr lang="en-US" sz="1500" dirty="0"/>
          </a:p>
        </p:txBody>
      </p:sp>
      <p:sp>
        <p:nvSpPr>
          <p:cNvPr id="30" name="Text 25"/>
          <p:cNvSpPr/>
          <p:nvPr/>
        </p:nvSpPr>
        <p:spPr>
          <a:xfrm>
            <a:off x="8166100" y="4461619"/>
            <a:ext cx="3126359" cy="6646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A"/>
                </a:solidFill>
                <a:latin typeface="Arial" pitchFamily="34" charset="0"/>
                <a:ea typeface="Arial" pitchFamily="34" charset="-122"/>
                <a:cs typeface="Arial" pitchFamily="34" charset="-120"/>
              </a:rPr>
              <a:t>The Oracle AI Developer Hub on GitHub, and Oracle Agent Memory across the product surfaces</a:t>
            </a:r>
            <a:endParaRPr lang="en-US" sz="1200" dirty="0"/>
          </a:p>
        </p:txBody>
      </p:sp>
      <p:sp>
        <p:nvSpPr>
          <p:cNvPr id="31" name="Text 26"/>
          <p:cNvSpPr/>
          <p:nvPr/>
        </p:nvSpPr>
        <p:spPr>
          <a:xfrm>
            <a:off x="812800" y="5588000"/>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A"/>
                </a:solidFill>
                <a:latin typeface="Arial" pitchFamily="34" charset="0"/>
                <a:ea typeface="Arial" pitchFamily="34" charset="-122"/>
                <a:cs typeface="Arial" pitchFamily="34" charset="-120"/>
              </a:rPr>
              <a:t>Twenty minutes on everything around today’s session: what to install, where to learn it, which notebooks to start from, and where to find us next. Bring the questions you did not get to ask this morning.</a:t>
            </a:r>
            <a:endParaRPr lang="en-US" sz="1300" dirty="0"/>
          </a:p>
        </p:txBody>
      </p:sp>
      <p:sp>
        <p:nvSpPr>
          <p:cNvPr id="32" name="Text 2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B7"/>
                </a:solidFill>
                <a:latin typeface="Courier New" pitchFamily="49" charset="0"/>
                <a:ea typeface="Courier New" pitchFamily="49" charset="-122"/>
                <a:cs typeface="Courier New" pitchFamily="49" charset="-120"/>
              </a:rPr>
              <a:t>78</a:t>
            </a:r>
            <a:endParaRPr lang="en-US" sz="1200" dirty="0"/>
          </a:p>
        </p:txBody>
      </p:sp>
    </p:spTree>
  </p:cSld>
  <p:clrMapOvr>
    <a:masterClrMapping/>
  </p:clrMapOvr>
</p:sld>
</file>

<file path=ppt/theme/theme1.xml><?xml version="1.0" encoding="utf-8"?>
<a:theme xmlns:a="http://schemas.openxmlformats.org/drawingml/2006/main" name="Teach Agents What To Remember">
  <a:themeElements>
    <a:clrScheme name="Teach Agents What To Remember">
      <a:dk1>
        <a:srgbClr val="1E2A2A"/>
      </a:dk1>
      <a:lt1>
        <a:srgbClr val="FFFFFF"/>
      </a:lt1>
      <a:dk2>
        <a:srgbClr val="353F3F"/>
      </a:dk2>
      <a:lt2>
        <a:srgbClr val="C7CACA"/>
      </a:lt2>
      <a:accent1>
        <a:srgbClr val="C74634"/>
      </a:accent1>
      <a:accent2>
        <a:srgbClr val="E8836F"/>
      </a:accent2>
      <a:accent3>
        <a:srgbClr val="7FC4DC"/>
      </a:accent3>
      <a:accent4>
        <a:srgbClr val="36677D"/>
      </a:accent4>
      <a:accent5>
        <a:srgbClr val="DEB068"/>
      </a:accent5>
      <a:accent6>
        <a:srgbClr val="A87A2A"/>
      </a:accent6>
      <a:hlink>
        <a:srgbClr val="0563C1"/>
      </a:hlink>
      <a:folHlink>
        <a:srgbClr val="954F72"/>
      </a:folHlink>
    </a:clrScheme>
    <a:fontScheme name="Teach Agents What To Rememb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 Agents What To Remember</dc:title>
  <dc:subject/>
  <dc:creator/>
  <cp:lastModifiedBy/>
  <cp:revision>1</cp:revision>
  <dcterms:created xsi:type="dcterms:W3CDTF">2026-10-27T19:02:15Z</dcterms:created>
  <dcterms:modified xsi:type="dcterms:W3CDTF">2026-10-27T19:02:15Z</dcterms:modified>
</cp:coreProperties>
</file>